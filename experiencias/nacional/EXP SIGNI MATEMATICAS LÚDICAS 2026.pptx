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34561" y="5066574"/>
            <a:ext cx="9144000" cy="978877"/>
          </a:xfrm>
        </p:spPr>
        <p:txBody>
          <a:bodyPr>
            <a:normAutofit/>
          </a:bodyPr>
          <a:lstStyle/>
          <a:p>
            <a:r>
              <a:rPr lang="es-ES" dirty="0" smtClean="0"/>
              <a:t>LÍDER : LILIANA MORENO MANRIQUE </a:t>
            </a:r>
          </a:p>
          <a:p>
            <a:r>
              <a:rPr lang="es-ES" dirty="0" smtClean="0"/>
              <a:t>I E M  NACIONAL PITALITO HUILA</a:t>
            </a:r>
            <a:endParaRPr lang="es-ES" dirty="0"/>
          </a:p>
          <a:p>
            <a:endParaRPr lang="es-CO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9" b="50000"/>
          <a:stretch/>
        </p:blipFill>
        <p:spPr bwMode="auto">
          <a:xfrm>
            <a:off x="135801" y="144855"/>
            <a:ext cx="11941521" cy="3874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04614"/>
              </p:ext>
            </p:extLst>
          </p:nvPr>
        </p:nvGraphicFramePr>
        <p:xfrm>
          <a:off x="389300" y="887240"/>
          <a:ext cx="11200296" cy="54170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4436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8755860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843791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s-CO" sz="1400" b="1" u="none" strike="noStrike" dirty="0" smtClean="0">
                          <a:effectLst/>
                        </a:rPr>
                        <a:t>Fundamentación</a:t>
                      </a:r>
                      <a:endParaRPr lang="es-CO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400" b="1" dirty="0" smtClean="0"/>
                        <a:t>Articulación con el PEI</a:t>
                      </a:r>
                      <a:r>
                        <a:rPr lang="es-MX" sz="1400" dirty="0" smtClean="0"/>
                        <a:t/>
                      </a:r>
                      <a:br>
                        <a:rPr lang="es-MX" sz="1400" dirty="0" smtClean="0"/>
                      </a:br>
                      <a:r>
                        <a:rPr lang="es-MX" sz="1400" dirty="0" smtClean="0"/>
                        <a:t>La experiencia </a:t>
                      </a:r>
                      <a:r>
                        <a:rPr lang="es-MX" sz="1400" i="1" dirty="0" smtClean="0"/>
                        <a:t>Matemáticas Lúdicas</a:t>
                      </a:r>
                      <a:r>
                        <a:rPr lang="es-MX" sz="1400" dirty="0" smtClean="0"/>
                        <a:t> se articula al PEI y al Plan de Mejoramiento Institucional, fortaleciendo el aprendizaje de las matemáticas mediante estrategias lúdicas e innovadoras.</a:t>
                      </a:r>
                      <a:endParaRPr lang="es-CO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12479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400" b="1" dirty="0" smtClean="0"/>
                        <a:t>Misión, visión, valores y principios</a:t>
                      </a:r>
                      <a:r>
                        <a:rPr lang="es-MX" sz="1400" dirty="0" smtClean="0"/>
                        <a:t/>
                      </a:r>
                      <a:br>
                        <a:rPr lang="es-MX" sz="1400" dirty="0" smtClean="0"/>
                      </a:br>
                      <a:r>
                        <a:rPr lang="es-MX" sz="1400" dirty="0" smtClean="0"/>
                        <a:t>Responde a la misión de formación integral, a la visión de una escuela innovadora y promueve valores de inclusión, equidad, respeto, convivencia y trabajo en equipo.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165544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400" b="1" dirty="0" smtClean="0"/>
                        <a:t>Acciones de mejoramiento institucional</a:t>
                      </a:r>
                      <a:r>
                        <a:rPr lang="es-MX" sz="1400" dirty="0" smtClean="0"/>
                        <a:t/>
                      </a:r>
                      <a:br>
                        <a:rPr lang="es-MX" sz="1400" dirty="0" smtClean="0"/>
                      </a:br>
                      <a:r>
                        <a:rPr lang="es-MX" sz="1400" dirty="0" smtClean="0"/>
                        <a:t>Reorienta acciones pedagógicas del PMI, contribuyendo al fortalecimiento académico, la motivación estudiantil y la mejora del clima escolar.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  <a:tr h="165544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400" b="1" dirty="0" smtClean="0"/>
                        <a:t>Fundamentación teórica y metodológica</a:t>
                      </a:r>
                      <a:r>
                        <a:rPr lang="es-MX" sz="1400" dirty="0" smtClean="0"/>
                        <a:t/>
                      </a:r>
                      <a:br>
                        <a:rPr lang="es-MX" sz="1400" dirty="0" smtClean="0"/>
                      </a:br>
                      <a:r>
                        <a:rPr lang="es-MX" sz="1400" dirty="0" smtClean="0"/>
                        <a:t>Se sustenta en el aprendizaje significativo (Ausubel) y el constructivismo (Piaget y Vygotsky), mediante metodologías activas y lúdicas.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062487577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41" y="1050202"/>
            <a:ext cx="2218099" cy="1836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42" y="3947311"/>
            <a:ext cx="2218098" cy="1937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38475"/>
              </p:ext>
            </p:extLst>
          </p:nvPr>
        </p:nvGraphicFramePr>
        <p:xfrm>
          <a:off x="848992" y="769545"/>
          <a:ext cx="10251832" cy="2805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4295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14753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805528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u="none" strike="noStrike" dirty="0" smtClean="0">
                          <a:effectLst/>
                        </a:rPr>
                        <a:t>    </a:t>
                      </a:r>
                      <a:r>
                        <a:rPr lang="es-CO" sz="1800" b="1" u="none" strike="noStrike" dirty="0" smtClean="0">
                          <a:effectLst/>
                        </a:rPr>
                        <a:t>Pertinencia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endParaRPr lang="es-MX" b="1" dirty="0" smtClean="0"/>
                    </a:p>
                    <a:p>
                      <a:r>
                        <a:rPr lang="es-MX" sz="1600" dirty="0" smtClean="0"/>
                        <a:t>Responde a problemáticas locales en el aprendizaje de las matemáticas, previamente identificadas y documentadas, relacionadas con bajos niveles de motivación, dificultades en la comprensión de conceptos y escaso uso de metodologías activas, atendiendo sus causas mediante estrategias lúdicas contextualizadas.</a:t>
                      </a:r>
                      <a:endParaRPr lang="es-MX" sz="1600" dirty="0"/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0" y="3845458"/>
            <a:ext cx="3508721" cy="2631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C:\Users\PC\Documents\BACKUP06092022\AÑO 2025\Matematicas Lúdicas\fotos 19 sep 2025\08f8adcc-5818-4b49-a856-e36c4746c77f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79397" y="3755317"/>
            <a:ext cx="3645528" cy="273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30713"/>
              </p:ext>
            </p:extLst>
          </p:nvPr>
        </p:nvGraphicFramePr>
        <p:xfrm>
          <a:off x="747665" y="893117"/>
          <a:ext cx="10287000" cy="25290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3277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393723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529093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1" u="none" strike="noStrike" dirty="0">
                          <a:effectLst/>
                        </a:rPr>
                        <a:t>Consistencia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r>
                        <a:rPr lang="es-MX" sz="2000" dirty="0" smtClean="0"/>
                        <a:t>Articula de manera coherente la fundamentación teórica, el contexto institucional, la metodología lúdica y los resultados esperados, a partir de procesos permanentes de autorreflexión y autocrítica que permiten ajustar y fortalecer la experiencia.</a:t>
                      </a:r>
                    </a:p>
                    <a:p>
                      <a:pPr algn="l" fontAlgn="ctr"/>
                      <a:r>
                        <a:rPr lang="es-ES" sz="2000" u="none" strike="noStrike" dirty="0" smtClean="0">
                          <a:effectLst/>
                        </a:rPr>
                        <a:t>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12" y="3620380"/>
            <a:ext cx="3621386" cy="2887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63" y="3620380"/>
            <a:ext cx="3829616" cy="2913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11" y="-99588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404519"/>
              </p:ext>
            </p:extLst>
          </p:nvPr>
        </p:nvGraphicFramePr>
        <p:xfrm>
          <a:off x="801986" y="811636"/>
          <a:ext cx="10333892" cy="2185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8006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93588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185062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b="1" u="none" strike="noStrike" dirty="0">
                          <a:effectLst/>
                        </a:rPr>
                        <a:t>Madurez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dirty="0" smtClean="0"/>
                        <a:t>Reflexión sobre su tiempo de desarrollo, fortaleciéndose a lo largo de los años lectivos mediante el análisis crítico de los resultados obtenidos y la optimización del tiempo invertido en su implementación.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729" y="2673036"/>
            <a:ext cx="5071952" cy="3803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718214"/>
              </p:ext>
            </p:extLst>
          </p:nvPr>
        </p:nvGraphicFramePr>
        <p:xfrm>
          <a:off x="838198" y="887241"/>
          <a:ext cx="10451124" cy="17473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3109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528015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747317">
                <a:tc>
                  <a:txBody>
                    <a:bodyPr/>
                    <a:lstStyle/>
                    <a:p>
                      <a:pPr algn="l" fontAlgn="ctr"/>
                      <a:r>
                        <a:rPr lang="es-CO" sz="1800" b="1" u="none" strike="noStrike" dirty="0">
                          <a:effectLst/>
                        </a:rPr>
                        <a:t>Empoderamiento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dirty="0" smtClean="0"/>
                        <a:t>Involucra a maestros, directivos, padres de familia, estudiantes y el sector productivo, de acuerdo con sus roles y niveles de participación, promoviendo el fortalecimiento y mejoramiento continuo de la experiencia.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597408403"/>
                  </a:ext>
                </a:extLst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729" y="3268301"/>
            <a:ext cx="3578131" cy="2683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923" y="3087231"/>
            <a:ext cx="3686772" cy="2765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114855"/>
              </p:ext>
            </p:extLst>
          </p:nvPr>
        </p:nvGraphicFramePr>
        <p:xfrm>
          <a:off x="226337" y="905346"/>
          <a:ext cx="11479794" cy="6039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847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51131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5323437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1" u="none" strike="noStrike" dirty="0">
                          <a:effectLst/>
                        </a:rPr>
                        <a:t>Evaluación y seguimiento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800" dirty="0" smtClean="0"/>
                        <a:t>Dispone de una metodología definida, instrumentos y mecanismos pertinentes de seguimiento, evaluación, registro y análisis, que permiten organizar los aprendizajes y retroalimentar continuamente la experiencia para su fortalecimiento.</a:t>
                      </a:r>
                    </a:p>
                    <a:p>
                      <a:pPr algn="l" fontAlgn="ctr"/>
                      <a:r>
                        <a:rPr lang="es-MX" sz="1800" dirty="0" smtClean="0"/>
                        <a:t>Se implementa una </a:t>
                      </a:r>
                      <a:r>
                        <a:rPr lang="es-MX" sz="1800" b="1" dirty="0" smtClean="0"/>
                        <a:t>metodología activa y lúdica</a:t>
                      </a:r>
                      <a:r>
                        <a:rPr lang="es-MX" sz="1800" dirty="0" smtClean="0"/>
                        <a:t>, con enfoque </a:t>
                      </a:r>
                      <a:r>
                        <a:rPr lang="es-MX" sz="1800" b="1" dirty="0" smtClean="0"/>
                        <a:t>constructivista</a:t>
                      </a:r>
                      <a:r>
                        <a:rPr lang="es-MX" sz="1800" dirty="0" smtClean="0"/>
                        <a:t>, centrada en el aprendizaje significativo. Los estudiantes aprenden mediante el juego, la resolución de problemas, el trabajo colaborativo y el uso de material didáctico, favoreciendo la participación, la motivación y la construcción del conocimiento matemático a partir de situaciones reales y contextualizadas.</a:t>
                      </a:r>
                      <a:endParaRPr lang="es-ES" sz="1800" u="none" strike="noStrike" dirty="0" smtClean="0">
                        <a:effectLst/>
                      </a:endParaRPr>
                    </a:p>
                    <a:p>
                      <a:r>
                        <a:rPr lang="es-MX" sz="1800" b="1" dirty="0" smtClean="0"/>
                        <a:t>Instrumentos:</a:t>
                      </a:r>
                      <a:r>
                        <a:rPr lang="es-MX" sz="1800" dirty="0" smtClean="0"/>
                        <a:t/>
                      </a:r>
                      <a:br>
                        <a:rPr lang="es-MX" sz="1800" dirty="0" smtClean="0"/>
                      </a:br>
                      <a:r>
                        <a:rPr lang="es-MX" sz="1800" dirty="0" smtClean="0"/>
                        <a:t>Se utilizan listas de chequeo, rúbricas de desempeño, registros de observación, diarios de campo y evaluaciones formativas, que permiten valorar la participación, el desarrollo de competencias matemáticas y el logro de los aprendizajes esperados.</a:t>
                      </a:r>
                    </a:p>
                    <a:p>
                      <a:r>
                        <a:rPr lang="es-MX" sz="1800" b="1" dirty="0" smtClean="0"/>
                        <a:t>Mecanismos:</a:t>
                      </a:r>
                      <a:r>
                        <a:rPr lang="es-MX" sz="1800" dirty="0" smtClean="0"/>
                        <a:t/>
                      </a:r>
                      <a:br>
                        <a:rPr lang="es-MX" sz="1800" dirty="0" smtClean="0"/>
                      </a:br>
                      <a:r>
                        <a:rPr lang="es-MX" sz="1800" dirty="0" smtClean="0"/>
                        <a:t>El seguimiento se realiza mediante la observación sistemática en las actividades lúdicas, la retroalimentación permanente, el análisis de resultados académicos, la socialización de avances en reuniones pedagógicas y el registro continuo de evidencias, lo que posibilita ajustar y fortalecer la experiencia.</a:t>
                      </a:r>
                    </a:p>
                    <a:p>
                      <a:pPr algn="l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243005599"/>
                  </a:ext>
                </a:extLst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51" y="1086414"/>
            <a:ext cx="1674891" cy="169733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527102"/>
              </p:ext>
            </p:extLst>
          </p:nvPr>
        </p:nvGraphicFramePr>
        <p:xfrm>
          <a:off x="325925" y="851026"/>
          <a:ext cx="11209582" cy="55679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950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77008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2218099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s-CO" sz="2000" b="1" u="none" strike="noStrike" dirty="0">
                          <a:effectLst/>
                        </a:rPr>
                        <a:t>Resultados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800" dirty="0" smtClean="0"/>
                        <a:t>A partir del análisis y la sistematización de la experiencia, se replantean resultados a corto, mediano y largo plazo, fortaleciendo continuamente la propuesta. Participa en convocatorias institucionales y externas como estrategia de mejoramiento y proyección. Asimismo, permite identificar avances en aspectos cognitivos, éticos y comportamentales, así como en el desarrollo de competencias matemáticas y sociales en los estudiantes.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279163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800" b="1" dirty="0" smtClean="0"/>
                        <a:t>Corto plazo</a:t>
                      </a:r>
                      <a:r>
                        <a:rPr lang="es-MX" sz="1800" dirty="0" smtClean="0"/>
                        <a:t/>
                      </a:r>
                      <a:br>
                        <a:rPr lang="es-MX" sz="1800" dirty="0" smtClean="0"/>
                      </a:br>
                      <a:r>
                        <a:rPr lang="es-MX" sz="1800" dirty="0" smtClean="0"/>
                        <a:t>Incremento de la motivación y participación de los estudiantes, mayor interés por las matemáticas y mejora en la comprensión de conceptos básicos mediante actividades lúdicas.</a:t>
                      </a:r>
                    </a:p>
                    <a:p>
                      <a:r>
                        <a:rPr lang="es-MX" sz="1800" b="1" dirty="0" smtClean="0"/>
                        <a:t>Mediano plazo</a:t>
                      </a:r>
                      <a:r>
                        <a:rPr lang="es-MX" sz="1800" dirty="0" smtClean="0"/>
                        <a:t/>
                      </a:r>
                      <a:br>
                        <a:rPr lang="es-MX" sz="1800" dirty="0" smtClean="0"/>
                      </a:br>
                      <a:r>
                        <a:rPr lang="es-MX" sz="1800" dirty="0" smtClean="0"/>
                        <a:t>Fortalecimiento de las competencias matemáticas, mejora en el rendimiento académico, consolidación de metodologías lúdicas en la práctica docente y mejor clima de aula.</a:t>
                      </a:r>
                    </a:p>
                    <a:p>
                      <a:r>
                        <a:rPr lang="es-MX" sz="1800" b="1" dirty="0" smtClean="0"/>
                        <a:t>Largo plazo</a:t>
                      </a:r>
                      <a:r>
                        <a:rPr lang="es-MX" sz="1800" dirty="0" smtClean="0"/>
                        <a:t/>
                      </a:r>
                      <a:br>
                        <a:rPr lang="es-MX" sz="1800" dirty="0" smtClean="0"/>
                      </a:br>
                      <a:r>
                        <a:rPr lang="es-MX" sz="1800" dirty="0" smtClean="0"/>
                        <a:t>Transformación de las prácticas pedagógicas institucionales, consolidación de la experiencia como estrategia permanente, impacto positivo en los resultados académicos y posibilidad de transferencia a otras áreas e instituciones.</a:t>
                      </a:r>
                      <a:endParaRPr lang="es-MX" sz="1800" dirty="0"/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214485"/>
              </p:ext>
            </p:extLst>
          </p:nvPr>
        </p:nvGraphicFramePr>
        <p:xfrm>
          <a:off x="642797" y="941561"/>
          <a:ext cx="10846052" cy="188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110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13494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883120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1" u="none" strike="noStrike" dirty="0">
                          <a:effectLst/>
                        </a:rPr>
                        <a:t>Transferencia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2000" dirty="0" smtClean="0"/>
                        <a:t>Se reorganiza y sistematiza instrumentos y mecanismos para socializar la experiencia en otros establecimientos educativos, dando a conocer la propuesta, su desarrollo, la metodología implementada y los resultados obtenidos, favoreciendo su replicabilidad y adaptación a otros contextos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878609262"/>
                  </a:ext>
                </a:extLst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487" y="3148343"/>
            <a:ext cx="40640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360" y="3005750"/>
            <a:ext cx="6598887" cy="3190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26273"/>
              </p:ext>
            </p:extLst>
          </p:nvPr>
        </p:nvGraphicFramePr>
        <p:xfrm>
          <a:off x="523417" y="959669"/>
          <a:ext cx="11046912" cy="1711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989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885701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711104">
                <a:tc>
                  <a:txBody>
                    <a:bodyPr/>
                    <a:lstStyle/>
                    <a:p>
                      <a:pPr algn="l" fontAlgn="ctr"/>
                      <a:r>
                        <a:rPr lang="es-CO" sz="2000" b="1" u="none" strike="noStrike" dirty="0">
                          <a:effectLst/>
                        </a:rPr>
                        <a:t>Sostenibilidad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2000" dirty="0" smtClean="0"/>
                        <a:t>Amplía la participación de la comunidad educativa mediante espacios permanentes de retroalimentación, socialización y validación, garantizando la continuidad de la experiencia como estrategia de fortalecimiento institucional.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</a:tbl>
          </a:graphicData>
        </a:graphic>
      </p:graphicFrame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57" y="2915214"/>
            <a:ext cx="4888873" cy="3431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6289" y="2811030"/>
            <a:ext cx="5080289" cy="363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33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276725"/>
              </p:ext>
            </p:extLst>
          </p:nvPr>
        </p:nvGraphicFramePr>
        <p:xfrm>
          <a:off x="486856" y="869134"/>
          <a:ext cx="11291702" cy="41464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95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9662748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234866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s-CO" sz="2000" b="1" u="none" strike="noStrike" dirty="0">
                          <a:effectLst/>
                        </a:rPr>
                        <a:t>Innovación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800" dirty="0" smtClean="0"/>
                        <a:t>Identifica y reorganiza prácticas pedagógicas, estrategias didácticas y recursos lúdicos, incorporando nuevas formas de enseñanza que fortalecen el aprendizaje de las matemáticas y generan mejoras significativas en las prácticas docentes.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990812606"/>
                  </a:ext>
                </a:extLst>
              </a:tr>
              <a:tr h="115708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800" dirty="0" smtClean="0"/>
                        <a:t>Identifica y reorganiza elementos conceptuales y metodológicos que permiten mejorar la gestión educativa y fortalecer la práctica pedagógica mediante estrategias lúdicas e innovadoras.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4166287931"/>
                  </a:ext>
                </a:extLst>
              </a:tr>
              <a:tr h="175453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1800" dirty="0" smtClean="0"/>
                        <a:t>Incorpora elementos conceptuales y metodológicos que fortalecen la gestión y la práctica pedagógica, permitiendo trascender como proyecto de investigación o de acción educativa y aportando nuevo conocimiento al contexto institucional</a:t>
                      </a:r>
                      <a:r>
                        <a:rPr lang="es-MX" sz="1800" dirty="0" smtClean="0"/>
                        <a:t>.</a:t>
                      </a: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724067045"/>
                  </a:ext>
                </a:extLst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975" y="4677641"/>
            <a:ext cx="4463358" cy="2112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517</Words>
  <Application>Microsoft Office PowerPoint</Application>
  <PresentationFormat>Panorámica</PresentationFormat>
  <Paragraphs>35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17</cp:revision>
  <dcterms:created xsi:type="dcterms:W3CDTF">2025-07-23T15:35:07Z</dcterms:created>
  <dcterms:modified xsi:type="dcterms:W3CDTF">2026-06-10T21:09:06Z</dcterms:modified>
</cp:coreProperties>
</file>