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74" r:id="rId4"/>
    <p:sldId id="27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16" autoAdjust="0"/>
    <p:restoredTop sz="94669"/>
  </p:normalViewPr>
  <p:slideViewPr>
    <p:cSldViewPr snapToGrid="0">
      <p:cViewPr varScale="1">
        <p:scale>
          <a:sx n="40" d="100"/>
          <a:sy n="40" d="100"/>
        </p:scale>
        <p:origin x="5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B3AB4-6410-5B4F-81B1-27C059D1E85F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E9E4F-BEBC-4543-A8D5-7A6E96CAC5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745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E9E4F-BEBC-4543-A8D5-7A6E96CAC5D1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7162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35892"/>
            <a:ext cx="9144000" cy="1806583"/>
          </a:xfrm>
        </p:spPr>
        <p:txBody>
          <a:bodyPr anchor="ctr">
            <a:norm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La paz, sí es un juego de niños.</a:t>
            </a:r>
            <a:endParaRPr lang="es-C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32849" y="3009030"/>
            <a:ext cx="10363448" cy="2713078"/>
          </a:xfrm>
        </p:spPr>
        <p:txBody>
          <a:bodyPr>
            <a:noAutofit/>
          </a:bodyPr>
          <a:lstStyle/>
          <a:p>
            <a:pPr algn="l"/>
            <a:endParaRPr lang="es-ES" b="1" dirty="0">
              <a:latin typeface="Century Gothic" panose="020B0502020202020204" pitchFamily="34" charset="0"/>
            </a:endParaRPr>
          </a:p>
          <a:p>
            <a:pPr algn="l"/>
            <a:r>
              <a:rPr lang="es-ES" b="1" dirty="0">
                <a:latin typeface="Century Gothic" panose="020B0502020202020204" pitchFamily="34" charset="0"/>
              </a:rPr>
              <a:t>Lidera: </a:t>
            </a:r>
            <a:r>
              <a:rPr lang="es-ES" dirty="0">
                <a:latin typeface="Century Gothic" panose="020B0502020202020204" pitchFamily="34" charset="0"/>
              </a:rPr>
              <a:t>Claudia </a:t>
            </a:r>
            <a:r>
              <a:rPr lang="es-ES" dirty="0" err="1">
                <a:latin typeface="Century Gothic" panose="020B0502020202020204" pitchFamily="34" charset="0"/>
              </a:rPr>
              <a:t>Yanuba</a:t>
            </a:r>
            <a:r>
              <a:rPr lang="es-ES" dirty="0">
                <a:latin typeface="Century Gothic" panose="020B0502020202020204" pitchFamily="34" charset="0"/>
              </a:rPr>
              <a:t> Burgos Parra</a:t>
            </a:r>
          </a:p>
          <a:p>
            <a:pPr algn="l"/>
            <a:r>
              <a:rPr lang="es-ES" dirty="0">
                <a:latin typeface="Century Gothic" panose="020B0502020202020204" pitchFamily="34" charset="0"/>
              </a:rPr>
              <a:t>Docente Grado Transición de la Sede San Antonio</a:t>
            </a:r>
          </a:p>
          <a:p>
            <a:pPr algn="l"/>
            <a:r>
              <a:rPr lang="es-ES" dirty="0">
                <a:latin typeface="Century Gothic" panose="020B0502020202020204" pitchFamily="34" charset="0"/>
              </a:rPr>
              <a:t>Jornada de la tarde.</a:t>
            </a:r>
          </a:p>
          <a:p>
            <a:pPr algn="l"/>
            <a:endParaRPr lang="es-ES" dirty="0">
              <a:latin typeface="Century Gothic" panose="020B0502020202020204" pitchFamily="34" charset="0"/>
            </a:endParaRPr>
          </a:p>
          <a:p>
            <a:pPr algn="r"/>
            <a:r>
              <a:rPr lang="es-ES" dirty="0">
                <a:latin typeface="Century Gothic" panose="020B0502020202020204" pitchFamily="34" charset="0"/>
              </a:rPr>
              <a:t>Institución Educativa Municipal Nacional</a:t>
            </a:r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21777-BE18-B779-0643-E3FA149D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57C677-CEA5-911A-E550-7B78AB22B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8"/>
            <a:ext cx="12192000" cy="6858000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E798560-5D3B-BEF9-4D0D-446129F95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558342"/>
              </p:ext>
            </p:extLst>
          </p:nvPr>
        </p:nvGraphicFramePr>
        <p:xfrm>
          <a:off x="651580" y="1051064"/>
          <a:ext cx="10888839" cy="4959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492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10276347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80949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just" fontAlgn="ctr">
                        <a:tabLst/>
                      </a:pPr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¿Quiénes somos?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39749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Ubicación y contexto geográfico</a:t>
                      </a:r>
                    </a:p>
                    <a:p>
                      <a:pPr marL="342900" indent="-342900" rtl="0">
                        <a:buAutoNum type="arabicPeriod"/>
                      </a:pP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rtl="0"/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Sede principal: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Barrio Cálamo (Calle 5 # 12 – 99), Pitalito, Huila.</a:t>
                      </a:r>
                    </a:p>
                    <a:p>
                      <a:pPr rtl="0"/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Institución urbana con presencia estratégica en zona céntrica.</a:t>
                      </a:r>
                    </a:p>
                    <a:p>
                      <a:pPr rtl="0"/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rtl="0"/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Red de sedes: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Sistema multisede compuesto por </a:t>
                      </a: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 unidades, urbanas y </a:t>
                      </a:r>
                    </a:p>
                    <a:p>
                      <a:pPr rtl="0"/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rurales, así: </a:t>
                      </a: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Nacional, Nelson Carvajal, Víctor Manuel </a:t>
                      </a:r>
                    </a:p>
                    <a:p>
                      <a:pPr rtl="0"/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Meneses, San Antonio, </a:t>
                      </a:r>
                      <a:r>
                        <a:rPr lang="es-CO" sz="1600" b="1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Las Américas, Aguadas </a:t>
                      </a: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 La Paz.</a:t>
                      </a:r>
                    </a:p>
                    <a:p>
                      <a:pPr rtl="0"/>
                      <a:endParaRPr lang="es-CO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rtl="0"/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Cobertura y modelo de gestión</a:t>
                      </a:r>
                    </a:p>
                    <a:p>
                      <a:pPr rtl="0"/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rtl="0"/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Población: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4.122 estudiantes matriculados.</a:t>
                      </a:r>
                    </a:p>
                    <a:p>
                      <a:pPr rtl="0"/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Alcance: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Oferta educativa completa desde </a:t>
                      </a: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Preescolar, hasta media.</a:t>
                      </a:r>
                    </a:p>
                    <a:p>
                      <a:pPr rtl="0"/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Talento humano: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Equipo de 150 docentes liderados por rectoría.</a:t>
                      </a:r>
                    </a:p>
                    <a:p>
                      <a:pPr rtl="0"/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Gestión integral: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Operación bajo los 4 componentes de calidad: </a:t>
                      </a:r>
                    </a:p>
                    <a:p>
                      <a:pPr rtl="0"/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Directivo, administrativo, académico y comunitario.</a:t>
                      </a:r>
                    </a:p>
                    <a:p>
                      <a:pPr marL="139700" indent="0">
                        <a:buAutoNum type="arabicPeriod"/>
                        <a:tabLst/>
                      </a:pPr>
                      <a:endParaRPr lang="es-CO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51EE3205-E1C8-9A73-4EE0-6F1FD96E1FB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227" y="2109143"/>
            <a:ext cx="2894516" cy="350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4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874F-0511-36F4-F1D8-7BE2161A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DA347A9-9CA5-70C9-DFDA-2F6941931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8"/>
            <a:ext cx="12192000" cy="6858000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5EA17B6-8F3A-3B37-CB34-B69915B04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917986"/>
              </p:ext>
            </p:extLst>
          </p:nvPr>
        </p:nvGraphicFramePr>
        <p:xfrm>
          <a:off x="829705" y="1348154"/>
          <a:ext cx="10511225" cy="43375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1251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9919974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102126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just" fontAlgn="ctr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Objetivo general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331627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Promover una cultura de convivencia pacífica en </a:t>
                      </a: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 estudiantes de educación inicial de la Institución </a:t>
                      </a: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Educativa Municipal Nacional, Sede San Antonio, </a:t>
                      </a: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jornada tarde, mediante el fortalecimiento de </a:t>
                      </a: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competencias socioemocionales y hábitos lectores </a:t>
                      </a: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 vinculen activamente al entorno familiar, con </a:t>
                      </a: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fin de consolidar actitudes de respeto, diálogo y </a:t>
                      </a: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resolución no violenta de conflictos en la primera </a:t>
                      </a: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infancia.</a:t>
                      </a:r>
                    </a:p>
                    <a:p>
                      <a:pPr marL="139700" indent="0">
                        <a:tabLst/>
                      </a:pP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9700" indent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  <a:tabLst/>
                      </a:pPr>
                      <a:endParaRPr lang="es-CO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7EE2EE36-D9A7-98F8-B605-B6AA621DE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291" y="2524857"/>
            <a:ext cx="3979985" cy="298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71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398C-CFF4-2E1C-D0FB-214B580A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4186903-5614-277D-16E1-8FD79442E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8"/>
            <a:ext cx="12192000" cy="6858000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BC958DB6-1DE9-9BB5-C930-38951EBE1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703750"/>
              </p:ext>
            </p:extLst>
          </p:nvPr>
        </p:nvGraphicFramePr>
        <p:xfrm>
          <a:off x="829705" y="1051066"/>
          <a:ext cx="10511225" cy="5126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1251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9919974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6271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Objetivos específicos: 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449980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indent="0">
                        <a:tabLst/>
                      </a:pPr>
                      <a:endParaRPr lang="es-CO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CDE9F840-BA0D-0963-DDFA-ED940C6B780D}"/>
              </a:ext>
            </a:extLst>
          </p:cNvPr>
          <p:cNvSpPr/>
          <p:nvPr/>
        </p:nvSpPr>
        <p:spPr>
          <a:xfrm>
            <a:off x="1453662" y="1674386"/>
            <a:ext cx="9753600" cy="4456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CO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1775" indent="-220663">
              <a:buFont typeface="+mj-lt"/>
              <a:buAutoNum type="arabicPeriod"/>
            </a:pPr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Implementar la estrategia pedagógica “Mi escuela, un lugar mágico para crear cuentos” como eje dinamizador para el desarrollo de la creatividad, la expresión de emociones y la promoción de la convivencia pacífica en los niños y niñas de transición.</a:t>
            </a:r>
          </a:p>
          <a:p>
            <a:pPr marL="231775" indent="-220663"/>
            <a:endParaRPr lang="es-CO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00" indent="-220663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Fortalecer, en los estudiantes, las capacidades de interacción social y principios éticos (tolerancia, solidaridad y respeto), mediante actividades lúdicas que </a:t>
            </a:r>
          </a:p>
          <a:p>
            <a:pPr marL="266700" indent="-220663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fomenten actitudes democráticas y la resolución dialógica </a:t>
            </a:r>
          </a:p>
          <a:p>
            <a:pPr marL="266700" indent="-220663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de conflictos.</a:t>
            </a:r>
          </a:p>
          <a:p>
            <a:pPr marL="342900" indent="-342900">
              <a:buFont typeface="+mj-lt"/>
              <a:buAutoNum type="arabicPeriod"/>
            </a:pPr>
            <a:endParaRPr lang="es-CO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Generar espacios de encuentro entre familia, escuela y </a:t>
            </a:r>
          </a:p>
          <a:p>
            <a:pPr marL="266700" lvl="0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comunidad que impulsen la práctica de valores humanos y </a:t>
            </a:r>
          </a:p>
          <a:p>
            <a:pPr marL="266700" lvl="0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acompañamiento en casa, garantizando la </a:t>
            </a:r>
          </a:p>
          <a:p>
            <a:pPr marL="266700" lvl="0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corresponsabilidad en la formación de hábitos de convivencia </a:t>
            </a:r>
          </a:p>
          <a:p>
            <a:pPr marL="266700" lvl="0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lectura.</a:t>
            </a:r>
          </a:p>
          <a:p>
            <a:pPr marL="342900" indent="-342900">
              <a:buFont typeface="+mj-lt"/>
              <a:buAutoNum type="arabicPeriod"/>
            </a:pPr>
            <a:endParaRPr lang="es-CO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Vincular a la comunidad educativa en la ejecución y seguimiento </a:t>
            </a:r>
          </a:p>
          <a:p>
            <a:pPr marL="266700" lvl="0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proyecto, mediante talleres y jornadas participativas que </a:t>
            </a:r>
          </a:p>
          <a:p>
            <a:pPr marL="266700" lvl="0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estrechen los lazos afectivos y la participación responsable de </a:t>
            </a:r>
          </a:p>
          <a:p>
            <a:pPr marL="266700" lvl="0"/>
            <a:r>
              <a:rPr lang="es-CO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acudientes, en el proceso formativo.</a:t>
            </a:r>
          </a:p>
          <a:p>
            <a:pPr marL="482600" lvl="0" indent="-342900">
              <a:buFont typeface="+mj-lt"/>
              <a:buAutoNum type="arabicPeriod"/>
              <a:defRPr/>
            </a:pPr>
            <a:endParaRPr lang="es-CO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539CAA6-5DD4-4EBA-AD26-B2A90D20D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85"/>
          <a:stretch>
            <a:fillRect/>
          </a:stretch>
        </p:blipFill>
        <p:spPr bwMode="auto">
          <a:xfrm>
            <a:off x="7807570" y="2967581"/>
            <a:ext cx="3282461" cy="3063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63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800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430994"/>
              </p:ext>
            </p:extLst>
          </p:nvPr>
        </p:nvGraphicFramePr>
        <p:xfrm>
          <a:off x="355424" y="1241909"/>
          <a:ext cx="11481152" cy="49528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5809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10835343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95385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ES_tradnl" sz="1600" b="1" u="none" strike="noStrike" noProof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Ó</a:t>
                      </a:r>
                      <a:endParaRPr lang="es-ES_tradnl" sz="1600" b="1" u="none" strike="noStrike" noProof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s-ES_tradnl" sz="16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s-ES_tradnl" sz="16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0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Articulación al PEI: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El proyecto está plenamente registrado y articulado al PEI como eje transversal de formación integral.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105152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5738" indent="0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Misión, valores y principios: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Se alinea con la misión de formar ciudadanos mediante la </a:t>
                      </a: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Cultura de Paz y valores de tolerancia, solidaridad y respeto.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  <a:tr h="144190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5738" indent="0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Impacto en el PMI y base teórica: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Reorienta el Plan de </a:t>
                      </a:r>
                    </a:p>
                    <a:p>
                      <a:pPr marL="185738" indent="0">
                        <a:tabLst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Mejoramiento Institucional al fortalecer la </a:t>
                      </a: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Gestión Comunitaria </a:t>
                      </a:r>
                    </a:p>
                    <a:p>
                      <a:pPr marL="185738" indent="0">
                        <a:tabLst/>
                      </a:pP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 la corresponsabilidad familia-escuela, que se sustenta en las </a:t>
                      </a:r>
                    </a:p>
                    <a:p>
                      <a:pPr marL="185738" indent="0">
                        <a:tabLst/>
                      </a:pP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actividades rectoras (MEN), Cultura de Paz (UNESCO) y el </a:t>
                      </a:r>
                    </a:p>
                    <a:p>
                      <a:pPr marL="185738" indent="0">
                        <a:tabLst/>
                      </a:pP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aprendizaje significativo.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883621"/>
                  </a:ext>
                </a:extLst>
              </a:tr>
              <a:tr h="150553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5738" indent="0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Metodología y evaluación: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Basada en </a:t>
                      </a: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Investigación-Acción </a:t>
                      </a:r>
                    </a:p>
                    <a:p>
                      <a:pPr marL="185738" indent="0">
                        <a:tabLst/>
                      </a:pP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Participativa mediante "Vitaminas de Paz", "Carpeta Viajera" </a:t>
                      </a:r>
                    </a:p>
                    <a:p>
                      <a:pPr marL="185738" indent="0">
                        <a:tabLst/>
                      </a:pP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 bits de lectura; con un enfoque cualitativo y formativo que mide </a:t>
                      </a:r>
                    </a:p>
                    <a:p>
                      <a:pPr marL="185738" indent="0">
                        <a:tabLst/>
                      </a:pP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 resolución dialógica de conflictos y cambios actitudinales.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487577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6512BB68-02CA-6C8D-DF00-7ABA363C1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431" y="2959070"/>
            <a:ext cx="4091354" cy="306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52277"/>
              </p:ext>
            </p:extLst>
          </p:nvPr>
        </p:nvGraphicFramePr>
        <p:xfrm>
          <a:off x="944622" y="1017878"/>
          <a:ext cx="10302754" cy="5031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03123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Responde a situaciones contextuales o problemáticas locales, que son explicitadas y documentadas con sus causas:</a:t>
                      </a:r>
                    </a:p>
                    <a:p>
                      <a:pPr marL="139700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9700" indent="0" rtl="0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Pertinencia: </a:t>
                      </a: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Respuesta al contexto local.</a:t>
                      </a:r>
                    </a:p>
                    <a:p>
                      <a:pPr marL="139700" indent="0" rtl="0">
                        <a:tabLst/>
                      </a:pPr>
                      <a:endParaRPr lang="es-CO" sz="8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9700" indent="0" rtl="0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Situación problemática: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Se detectó una desconexión crítica entre los procesos pedagógicos del aula y el acompañamiento familiar en la sede San Antonio.</a:t>
                      </a:r>
                    </a:p>
                    <a:p>
                      <a:pPr marL="139700" indent="0" rtl="0">
                        <a:tabLst/>
                      </a:pPr>
                      <a:endParaRPr lang="es-CO" sz="8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9700" indent="0" rtl="0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Causas identificadas: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La ausencia de refuerzo sistemático en casa </a:t>
                      </a:r>
                    </a:p>
                    <a:p>
                      <a:pPr marL="139700" indent="0" rtl="0">
                        <a:tabLst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limitaba la consolidación de valores y procesos de alfabetización inicial.</a:t>
                      </a:r>
                    </a:p>
                    <a:p>
                      <a:pPr marL="139700" indent="0" rtl="0">
                        <a:tabLst/>
                      </a:pPr>
                      <a:endParaRPr lang="es-CO" sz="8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9700" indent="0" rtl="0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Contexto de aplicación: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El proyecto interviene en un </a:t>
                      </a:r>
                    </a:p>
                    <a:p>
                      <a:pPr marL="139700" indent="0" rtl="0">
                        <a:tabLst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entorno donde la responsabilidad del tejido afectivo y </a:t>
                      </a:r>
                    </a:p>
                    <a:p>
                      <a:pPr marL="139700" indent="0" rtl="0">
                        <a:tabLst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cognitivo recaía exclusivamente en el docente.</a:t>
                      </a:r>
                    </a:p>
                    <a:p>
                      <a:pPr marL="139700" indent="0" rtl="0">
                        <a:tabLst/>
                      </a:pPr>
                      <a:endParaRPr lang="es-CO" sz="8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9700" indent="0" rtl="0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Solución documentada: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Implementación de una estrategia </a:t>
                      </a:r>
                    </a:p>
                    <a:p>
                      <a:pPr marL="139700" indent="0" rtl="0">
                        <a:tabLst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itinerante (escuela-hogar) que vincula a las familias como </a:t>
                      </a:r>
                    </a:p>
                    <a:p>
                      <a:pPr marL="139700" indent="0" rtl="0">
                        <a:tabLst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coequiperas en la construcción de paz y hábitos lectores.</a:t>
                      </a:r>
                    </a:p>
                    <a:p>
                      <a:pPr marL="139700" indent="0" rtl="0">
                        <a:tabLst/>
                      </a:pPr>
                      <a:endParaRPr lang="es-CO" sz="8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39700" indent="0" rtl="0">
                        <a:tabLst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Adaptabilidad: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La experiencia ha evolucionado para responder </a:t>
                      </a:r>
                    </a:p>
                    <a:p>
                      <a:pPr marL="139700" indent="0" rtl="0">
                        <a:tabLst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hitos locales como el confinamiento, el reencuentro escolar y </a:t>
                      </a:r>
                    </a:p>
                    <a:p>
                      <a:pPr marL="139700" indent="0" rtl="0">
                        <a:tabLst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 impacto tecnológico.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3074" name="Picture 2" descr="Imagen de Story Pin">
            <a:extLst>
              <a:ext uri="{FF2B5EF4-FFF2-40B4-BE49-F238E27FC236}">
                <a16:creationId xmlns:a16="http://schemas.microsoft.com/office/drawing/2014/main" id="{200B89CD-57CB-8526-B6AD-76A1E2B0A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174" y="2743199"/>
            <a:ext cx="3202430" cy="320243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817C34C-2D3C-6CB8-A06F-E76A386BE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342716"/>
              </p:ext>
            </p:extLst>
          </p:nvPr>
        </p:nvGraphicFramePr>
        <p:xfrm>
          <a:off x="656492" y="1060890"/>
          <a:ext cx="10855569" cy="50116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973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965830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01166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Articula la fundamentación, el contexto, la metodología y los resultados esperados, </a:t>
                      </a:r>
                    </a:p>
                    <a:p>
                      <a:pPr marL="9207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partir de la autorreflexión y la autocrítica.</a:t>
                      </a:r>
                    </a:p>
                    <a:p>
                      <a:pPr marL="92075" indent="0" algn="l" fontAlgn="ctr">
                        <a:tabLst/>
                      </a:pPr>
                      <a:endParaRPr lang="es-ES" sz="8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indent="0">
                        <a:tabLst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Articulación y reflexión</a:t>
                      </a:r>
                    </a:p>
                    <a:p>
                      <a:pPr marL="92075" indent="0">
                        <a:tabLst/>
                      </a:pPr>
                      <a:endParaRPr lang="es-CO" sz="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indent="0">
                        <a:tabLst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Estrategia integrada: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Conecta el vacío de apoyo familiar </a:t>
                      </a:r>
                    </a:p>
                    <a:p>
                      <a:pPr marL="92075" indent="0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(contexto) con la Cultura de Paz (fundamentación) </a:t>
                      </a:r>
                    </a:p>
                    <a:p>
                      <a:pPr marL="92075" indent="0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mediante las "Carpas viajeras" (Metodología).</a:t>
                      </a:r>
                    </a:p>
                    <a:p>
                      <a:pPr marL="92075" indent="0">
                        <a:tabLst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indent="0">
                        <a:tabLst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Sincronía pedagógica: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Une las Actividades Rectoras del </a:t>
                      </a:r>
                    </a:p>
                    <a:p>
                      <a:pPr marL="92075" indent="0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 con la creación colectiva para lograr que el niño sea </a:t>
                      </a:r>
                    </a:p>
                    <a:p>
                      <a:pPr marL="92075" indent="0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autor de su realidad.</a:t>
                      </a:r>
                    </a:p>
                    <a:p>
                      <a:pPr marL="92075" indent="0">
                        <a:tabLst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indent="0">
                        <a:tabLst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Autorreflexión crítica: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 equipo docente evalúa </a:t>
                      </a:r>
                    </a:p>
                    <a:p>
                      <a:pPr marL="92075" indent="0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constantemente el clima de aula y ajusta las temáticas según</a:t>
                      </a:r>
                    </a:p>
                    <a:p>
                      <a:pPr marL="92075" indent="0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 necesidades sociales detectadas (ej. post-pandemia).</a:t>
                      </a:r>
                    </a:p>
                    <a:p>
                      <a:pPr marL="92075" indent="0">
                        <a:tabLst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indent="0">
                        <a:tabLst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Autocrítica y mejora: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 reconoce la brecha digital, </a:t>
                      </a:r>
                    </a:p>
                    <a:p>
                      <a:pPr marL="92075" indent="0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transformándola en una oportunidad para revalorizar el material análogo y el reciclaje creativo.</a:t>
                      </a:r>
                    </a:p>
                    <a:p>
                      <a:pPr marL="92075" indent="0">
                        <a:tabLst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indent="0">
                        <a:tabLst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 coherente: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Busca la transformación de conductas y el empoderamiento de familias como actores corresponsables.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24FC0327-D6C3-B843-ACBE-FC41AE644A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81" b="1189"/>
          <a:stretch>
            <a:fillRect/>
          </a:stretch>
        </p:blipFill>
        <p:spPr>
          <a:xfrm rot="5400000">
            <a:off x="7848508" y="1283771"/>
            <a:ext cx="2887325" cy="40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66145"/>
              </p:ext>
            </p:extLst>
          </p:nvPr>
        </p:nvGraphicFramePr>
        <p:xfrm>
          <a:off x="726831" y="914400"/>
          <a:ext cx="10621108" cy="3364523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73201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889094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36452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Reflexiona sobre el tiempo de desarrollo, buscando fortalecerse durante los cambios de año lectivo mediante el análisis crítico de resultados y el tiempo invertido.</a:t>
                      </a:r>
                    </a:p>
                    <a:p>
                      <a:pPr marL="98425" indent="0" algn="just" fontAlgn="ctr">
                        <a:tabLst/>
                      </a:pP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36525" indent="0">
                        <a:tabLst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Madurez y evolución del proyecto:</a:t>
                      </a:r>
                    </a:p>
                    <a:p>
                      <a:pPr marL="136525" indent="0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años y 7 meses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implementación ininterrumpida desde 2019, la experiencia ha alcanzado su madurez mediante una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adaptabilidad anual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que responde a cambios del entorno como el confinamiento, el reencuentro escolar y el impacto tecnológico. Este crecimiento se sustenta en un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análisis crítico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resultados obtenido en asambleas mensuales y en la "Carpeta Viajera", permitiendo reorientar la estrategia en cada año lectivo para fortalecer el vínculo familia-escuela. La madurez del proyecto se refleja en su capacidad de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autorreflexión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transformando debilidades como la brecha digital y la inasistencia de padres en oportunidades pedagógicas de mejora continua y resiliencia institucional.</a:t>
                      </a:r>
                      <a:endParaRPr lang="es-CO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669D28BB-4A0E-D0B4-EAD8-B1BD82448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00" y="4104091"/>
            <a:ext cx="4368800" cy="217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E0D3C10-C7BC-6D4C-DE5F-EB191F23F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256046"/>
              </p:ext>
            </p:extLst>
          </p:nvPr>
        </p:nvGraphicFramePr>
        <p:xfrm>
          <a:off x="944623" y="1048215"/>
          <a:ext cx="10302754" cy="50626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06265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Involucra a maestros, directivos, padres, estudiantes y el sector productivo según sus roles y necesidades de participación, promoviendo el mejoramiento de la experiencia.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 empoderamiento en el proyecto se articula mediante roles definidos que potencian la corresponsabilidad: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Las </a:t>
                      </a: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docentes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actúan como mediadoras de paz y dinamizadoras pedagógicas, mientras que los </a:t>
                      </a: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estudiantes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se empoderan como autores críticos y protagonistas de sus propios cuentos.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Los </a:t>
                      </a: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padres de familia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transitan de observadores a coequiperos activos en el proceso lector y de convivencia desde el hogar.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Los </a:t>
                      </a: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directivos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respaldan la institucionalización de espacios como la Feria del Cuento.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Esta red de participación se fortalece mediante talleres y el apoyo de </a:t>
                      </a: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autores locales</a:t>
                      </a: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integrando saberes del contexto para garantizar el mejoramiento continuo de la experiencia y la transformación del aula en un escenario de participación democrática y tejido social.</a:t>
                      </a:r>
                      <a:endParaRPr lang="es-CO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B9E27F5A-7542-CE86-7309-8F017F73A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882" y="1946030"/>
            <a:ext cx="1277801" cy="122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26FB1E9-85B9-14E5-70EC-3FBD39352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048137"/>
              </p:ext>
            </p:extLst>
          </p:nvPr>
        </p:nvGraphicFramePr>
        <p:xfrm>
          <a:off x="944623" y="943878"/>
          <a:ext cx="10302754" cy="50887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4202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218552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088787">
                <a:tc>
                  <a:txBody>
                    <a:bodyPr/>
                    <a:lstStyle/>
                    <a:p>
                      <a:pPr algn="ctr" fontAlgn="ctr"/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Dispone de metodología, instrumentos y mecanismos de seguimiento, evaluación, registro y análisis pertinentes; organiza aprendizajes para su fortalecimiento.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experiencia cuenta con un sistema de monitoreo permanente que utiliza la "Carpeta viajera" y el "Libro institucional" como instrumentos clave para el registro de evidencias desde 2019. La evaluación es de carácter cualitativo y formativo, centrada en la observación directa de asambleas mensuales donde se analiza el desarrollo del pensamiento crítico, la comunicación asertiva y la capacidad de resolución de conflictos mediante las "Vitaminas de paz". </a:t>
                      </a:r>
                    </a:p>
                    <a:p>
                      <a:pPr marL="98425" indent="0" algn="l" fontAlgn="ctr">
                        <a:tabLst/>
                      </a:pPr>
                      <a:endParaRPr lang="es-CO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Estos mecanismos permiten un análisis sistemático de los resultados, organizando los aprendizajes para ajustar las temáticas anuales según las necesidades del contexto y garantizando que la escuela sea un entorno seguro de acogida y mejora continua.</a:t>
                      </a:r>
                    </a:p>
                    <a:p>
                      <a:pPr marL="98425" indent="0" algn="l" fontAlgn="ctr">
                        <a:tabLst/>
                      </a:pPr>
                      <a:endParaRPr lang="es-CO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endParaRPr lang="es-CO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endParaRPr lang="es-CO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endParaRPr lang="es-CO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endParaRPr lang="es-CO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endParaRPr lang="es-ES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2091A6BB-3C7E-EE01-2E8F-8EE9846112B6}"/>
              </a:ext>
            </a:extLst>
          </p:cNvPr>
          <p:cNvSpPr/>
          <p:nvPr/>
        </p:nvSpPr>
        <p:spPr>
          <a:xfrm>
            <a:off x="1081020" y="1395256"/>
            <a:ext cx="857252" cy="4186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s-CO" sz="1600" b="1" dirty="0">
                <a:solidFill>
                  <a:schemeClr val="tx1"/>
                </a:solidFill>
                <a:latin typeface="Century Gothic" panose="020B0502020202020204" pitchFamily="34" charset="0"/>
              </a:rPr>
              <a:t>EVALUACIÓN     Y SEGUIMIENTO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E9C2504-A013-D081-60FD-7FAD4194E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055" y="4347148"/>
            <a:ext cx="2313889" cy="168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090503"/>
              </p:ext>
            </p:extLst>
          </p:nvPr>
        </p:nvGraphicFramePr>
        <p:xfrm>
          <a:off x="817684" y="985832"/>
          <a:ext cx="10556632" cy="5113885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882528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674104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77298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endParaRPr lang="es-ES" sz="16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partir del análisis y sistematización: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434089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"La paz, sí es un juego de niños" h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utilizado la creación colectiva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 cuentos para desarrollar competencias socioemocionales y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convivencia pacífica desde la primera infancia.</a:t>
                      </a:r>
                    </a:p>
                    <a:p>
                      <a:endParaRPr lang="es-CO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corto plazo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se ha transformado el aula en un entorno de acogida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donde el 100% de los estudiantes se reconocen como autores creativos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 utilizan las "Vitaminas de Paz" para la resolución asertiva de conflictos. </a:t>
                      </a:r>
                    </a:p>
                    <a:p>
                      <a:endParaRPr lang="es-CO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mediano plazo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se evidencia un fortalecimiento real de las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competencias comunicativas y el empoderamiento de las familias,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quienes han transitado de ser observadores a coequiperos activos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 el proceso pedagógico. </a:t>
                      </a:r>
                    </a:p>
                    <a:p>
                      <a:endParaRPr lang="es-CO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largo plazo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la sistematización de la experiencia desde 2019 ha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consolidado una cultura de paz institucional y un hábito lector que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trasciende el aula, generando un impacto positivo y sostenible en el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tejido social de la comunidad educativa.</a:t>
                      </a: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2E8DB15-BDA0-1EC7-6D98-BF6206FEA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062" y="1926680"/>
            <a:ext cx="2767895" cy="394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30566B5-0130-7C61-6B0C-83605E530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004861"/>
              </p:ext>
            </p:extLst>
          </p:nvPr>
        </p:nvGraphicFramePr>
        <p:xfrm>
          <a:off x="958907" y="992503"/>
          <a:ext cx="10302754" cy="4980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98062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Reorganiza instrumentos y mecanismos para dar a conocer la experiencia a otros establecimientos: propuesta, desarrollo, metodología y resultados.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2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estrategia de transferencia se fundamenta en una ruta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metodológica flexible que utiliza la "Carpeta Viajera" y las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"Vitaminas de Paz" como instrumentos adaptables a cualquier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contexto escolar de educación inicial. </a:t>
                      </a:r>
                    </a:p>
                    <a:p>
                      <a:pPr marL="98425" indent="0" algn="l" fontAlgn="ctr">
                        <a:tabLst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desarrollo de la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propuesta incluye el intercambio de saberes mediante talleres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 docentes y directivos, compartiendo guías de creación de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cuentos colectivos y registros del "Libro Institucional" para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facilitar su implementación en otros establecimientos. </a:t>
                      </a:r>
                    </a:p>
                    <a:p>
                      <a:pPr marL="98425" indent="0" algn="l" fontAlgn="ctr">
                        <a:tabLst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Como resultado de este proceso, la experiencia se proyecta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como un modelo replicable de gestión comunitaria y convivencia,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permitiendo que otras instituciones sistematicen sus propios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procesos de paz y alfabetización basándose en una estructura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probada que transforma las limitaciones de recursos en </a:t>
                      </a:r>
                    </a:p>
                    <a:p>
                      <a:pPr marL="98425" indent="0" algn="l" fontAlgn="ctr">
                        <a:tabLst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oportunidades de innovación pedagógica</a:t>
                      </a:r>
                      <a:endParaRPr lang="es-ES" sz="16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62099E0-04B3-5AB4-97FC-68C6C4A5A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374"/>
          <a:stretch>
            <a:fillRect/>
          </a:stretch>
        </p:blipFill>
        <p:spPr>
          <a:xfrm rot="602983">
            <a:off x="8285741" y="1887416"/>
            <a:ext cx="2340952" cy="368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54966EF-9054-7954-0E6E-9F45A8C56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821107"/>
              </p:ext>
            </p:extLst>
          </p:nvPr>
        </p:nvGraphicFramePr>
        <p:xfrm>
          <a:off x="944622" y="938687"/>
          <a:ext cx="10302754" cy="4980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42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45832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98062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Amplía la participación de la comunidad educativa mediante espacios de retroalimentación, socialización y validación como mecanismo de sostenibilidad institucional. </a:t>
                      </a:r>
                    </a:p>
                    <a:p>
                      <a:pPr marL="98425" indent="0" algn="l" fontAlgn="ctr">
                        <a:tabLst/>
                      </a:pPr>
                      <a:endParaRPr lang="es-ES" sz="1600" b="1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sostenibilidad institucional se garantiza mediante la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retroalimentación permanente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 asambleas de aula y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consejos académicos, donde se validan los avances del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proyecto frente al PEI.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socialización de resultados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 la "Feria del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Cuento" y jornadas pedagógicas amplía la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participación de toda la comunidad educativa,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convirtiendo la experiencia en un pilar de la Gestión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Comunitaria.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Este mecanismo de validación colectiva asegura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 la estrategia trascienda los periodos lectivos,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consolidando el compromiso de docentes, padres y directivos </a:t>
                      </a:r>
                    </a:p>
                    <a:p>
                      <a:pPr marL="984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 el fortalecimiento continuo del tejido social y la cultura de paz.</a:t>
                      </a:r>
                    </a:p>
                  </a:txBody>
                  <a:tcPr marL="4782" marR="4782" marT="4782" marB="0"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D6D42F69-FE59-FCD8-C099-5D1FC50E60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49" r="5574" b="3260"/>
          <a:stretch>
            <a:fillRect/>
          </a:stretch>
        </p:blipFill>
        <p:spPr>
          <a:xfrm rot="17125406">
            <a:off x="7779171" y="1919650"/>
            <a:ext cx="2476230" cy="39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3C3FB3C-D294-3145-C879-BB79752F7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374810"/>
              </p:ext>
            </p:extLst>
          </p:nvPr>
        </p:nvGraphicFramePr>
        <p:xfrm>
          <a:off x="817684" y="926123"/>
          <a:ext cx="10556632" cy="5254464"/>
        </p:xfrm>
        <a:graphic>
          <a:graphicData uri="http://schemas.openxmlformats.org/drawingml/2006/table">
            <a:tbl>
              <a:tblPr>
                <a:solidFill>
                  <a:srgbClr val="FFFFFF">
                    <a:alpha val="50196"/>
                  </a:srgbClr>
                </a:solidFill>
                <a:tableStyleId>{5C22544A-7EE6-4342-B048-85BDC9FD1C3A}</a:tableStyleId>
              </a:tblPr>
              <a:tblGrid>
                <a:gridCol w="882528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674104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2965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  <a:p>
                      <a:pPr algn="ctr" fontAlgn="ctr"/>
                      <a:r>
                        <a:rPr lang="es-CO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Ó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 indent="0" algn="l" fontAlgn="ctr">
                        <a:tabLst/>
                      </a:pPr>
                      <a:r>
                        <a:rPr lang="es-E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Identifica y reorganiza:</a:t>
                      </a:r>
                    </a:p>
                  </a:txBody>
                  <a:tcPr marL="4782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112005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16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Elementos conceptuales y metodologías para mejorar la gestión y la práctica pedagógica.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Elementos que permiten trascender como proyecto de investigación o acción, aportando nuevo conocimiento.</a:t>
                      </a: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  <a:tr h="36047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innovación del proyecto radica en la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reorganización </a:t>
                      </a:r>
                    </a:p>
                    <a:p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 las Actividades Rectoras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(juego, arte, literatura y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exploración) para convertirlas en herramientas de mediación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 conflictos y tejido social entre la escuela y el hogar. </a:t>
                      </a:r>
                    </a:p>
                    <a:p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 trascender la práctica pedagógica tradicional, la experiencia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consolida como un </a:t>
                      </a:r>
                      <a:r>
                        <a:rPr lang="es-CO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ejercicio de Investigación-Acción</a:t>
                      </a:r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que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aporta nuevo conocimiento sobre cómo la creación colectiva de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cuentos y el uso de "Vitaminas de Paz" impactan el desarrollo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socioemocional en contextos de vulnerabilidad. </a:t>
                      </a:r>
                    </a:p>
                    <a:p>
                      <a:endParaRPr lang="es-CO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 reestructuración conceptual no solo mejora la gestión de aula,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sino que transforma el rol del estudiante en un investigador de su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propia realidad y al docente en un diseñador de ambientes de </a:t>
                      </a:r>
                    </a:p>
                    <a:p>
                      <a:r>
                        <a:rPr lang="es-CO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aprendizaje significativos y replicables.</a:t>
                      </a:r>
                      <a:endParaRPr lang="es-CO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761" marR="4782" marT="4782" marB="0" anchor="ctr">
                    <a:solidFill>
                      <a:srgbClr val="E7EAED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773483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11431458-1685-2F0D-A151-767EE5413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993" y="2344976"/>
            <a:ext cx="2703483" cy="371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</TotalTime>
  <Words>1779</Words>
  <Application>Microsoft Office PowerPoint</Application>
  <PresentationFormat>Panorámica</PresentationFormat>
  <Paragraphs>333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Century Gothic</vt:lpstr>
      <vt:lpstr>Tema de Office</vt:lpstr>
      <vt:lpstr>La paz, sí es un juego de niños.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84</cp:revision>
  <dcterms:created xsi:type="dcterms:W3CDTF">2025-07-23T15:35:07Z</dcterms:created>
  <dcterms:modified xsi:type="dcterms:W3CDTF">2026-03-10T13:59:02Z</dcterms:modified>
</cp:coreProperties>
</file>