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73" r:id="rId3"/>
    <p:sldId id="274" r:id="rId4"/>
    <p:sldId id="275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A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21" autoAdjust="0"/>
    <p:restoredTop sz="94669"/>
  </p:normalViewPr>
  <p:slideViewPr>
    <p:cSldViewPr snapToGrid="0">
      <p:cViewPr varScale="1">
        <p:scale>
          <a:sx n="41" d="100"/>
          <a:sy n="41" d="100"/>
        </p:scale>
        <p:origin x="54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8B3AB4-6410-5B4F-81B1-27C059D1E85F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4E9E4F-BEBC-4543-A8D5-7A6E96CAC5D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7454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E9E4F-BEBC-4543-A8D5-7A6E96CAC5D1}" type="slidenum">
              <a:rPr lang="es-CO" smtClean="0"/>
              <a:t>14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57162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B46F3-BD87-1244-C518-539103D7F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DB866E-528A-E7A1-888D-047A34E55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E838C8-B107-769B-CA23-0886E2F7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DF867A-4E8F-A03F-A929-7DA6ACDD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D2D83F-DADF-BCE9-05D8-3A899D9B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089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E0EBB-9626-1753-03B1-50B133A5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BFEC1A-5FED-A861-DCEA-C205BB94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4A9250-4773-1F58-BB28-B7EABC3D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0FA128-B7B8-B0EF-D31D-231A72A3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0F846C-CD29-FC4E-6C35-B35E945D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0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948D9-1D84-100B-E086-763A0B5A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287FC-DE40-5FEE-99C0-5E106C5E6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B6DCD-998D-79C6-A391-68F2326B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2B1B5-98B4-F2C6-D48C-D9916064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FF1E9B-C3BA-795B-EDC3-183AD742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74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F2BB7-E88B-5479-E88F-1FF94E10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D1765-B4DF-B8A8-267B-23D3D8FC0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175493-7780-2FBB-7845-55FB500A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5E3D2A-5DA3-B8EE-6513-1EE2D2F16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5006BB-22EF-6C17-9AC9-8BC0A6CF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ED5FB5-C590-9217-D3CB-C4EBF32E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847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84527-F461-E0E3-CBD4-91A3E821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B32A59-9727-6758-5DA4-C470274EC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65B3E9-34E1-6718-763E-F143E9540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176C83-F680-A73B-26CC-0CF5D7F59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F9EBE45-361A-12BD-E0BF-240F81DE5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7D40406-BB14-9140-A36E-57E06C84B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A04C30-EDA6-E8D8-17E5-6FFC3177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C15371C-606E-D71B-7E87-18750CB7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697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86D20-6E3E-3281-0F95-BBF3C95D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FA1186-6ED9-F6E4-97BA-3A4F960A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0C95CA-1239-B99E-77D3-7A6FDE08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76426A-9ABC-5EF1-AEB1-C0CFC221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36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CA8B009-C69D-1D5D-2898-3FAB8635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4A400F-EF69-18E2-03A6-884F1D73A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CBCE93-02A5-2D01-14B0-951F79F1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7554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E0CD9-7BCB-2025-6D74-C27F3B34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0EA8B7-9869-5158-E183-19819CDE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1FCE9D-FC78-3797-E9CE-C3F4DD2CF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142166-3168-72E8-7E91-C1FC8816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384531-13AD-3876-2B69-E6BF5C86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634F09-C68B-DFE7-CDD2-5D12307D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999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0B0B6-178A-2DE2-9D4C-1EA48B40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ED4931-6DD5-8470-00B4-4AD729FB1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0390BD-29BD-3EF3-3F42-30FB741D8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F85192-11DA-8CCF-60ED-9C2E23CB8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B09ACD-B38C-A414-7D9B-22F6970D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64F253-73AE-4A50-5D78-FA299CF7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839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D14DF-6133-7225-5208-6F1F8F73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9A2C64-4BCF-8878-42A2-2B7E30B62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B21BBE-E8B9-71AD-99D2-9280106C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04BB80-30DC-4522-9F3A-F376EF2E4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D9122F-2D63-7AAC-D358-2F25E455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370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AD4C63-322B-9289-95FE-95F8B78D3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DCC26B-B15B-4664-3A32-C1A29ADA1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1FA146-87B7-F736-BB5A-46426D06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9FD83E-D958-4ABA-64A4-1CD41203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2301AD-C2B3-B9CB-1E65-9B2DA6E5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097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C9864D-1483-2AE5-0FEA-48855537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D254BB-B860-F144-7BF3-315B8786E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F5BED5-0585-53C3-A724-BE9242651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2DC3D-3364-4B98-B737-2FEA8DB4EEB9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016D93-5AFA-DE80-D034-217A49DEC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8A8A3A-02BF-B19A-B382-EB9221EEB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813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13457" y="1147466"/>
            <a:ext cx="10782839" cy="1806583"/>
          </a:xfrm>
        </p:spPr>
        <p:txBody>
          <a:bodyPr anchor="ctr">
            <a:normAutofit/>
          </a:bodyPr>
          <a:lstStyle/>
          <a:p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Raíces vivas – Etnobotánica</a:t>
            </a:r>
            <a:b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Conocimiento Ancestral </a:t>
            </a:r>
            <a:endParaRPr lang="es-CO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32849" y="3043754"/>
            <a:ext cx="10363448" cy="2836185"/>
          </a:xfrm>
        </p:spPr>
        <p:txBody>
          <a:bodyPr>
            <a:noAutofit/>
          </a:bodyPr>
          <a:lstStyle/>
          <a:p>
            <a:pPr algn="l"/>
            <a:endParaRPr lang="es-ES" b="1" dirty="0">
              <a:latin typeface="Century Gothic" panose="020B0502020202020204" pitchFamily="34" charset="0"/>
            </a:endParaRPr>
          </a:p>
          <a:p>
            <a:pPr algn="l"/>
            <a:r>
              <a:rPr lang="es-ES" b="1" dirty="0">
                <a:latin typeface="Century Gothic" panose="020B0502020202020204" pitchFamily="34" charset="0"/>
              </a:rPr>
              <a:t>Lidera: </a:t>
            </a:r>
            <a:r>
              <a:rPr lang="es-ES" dirty="0">
                <a:latin typeface="Century Gothic" panose="020B0502020202020204" pitchFamily="34" charset="0"/>
              </a:rPr>
              <a:t>Mag. Mery Susana Tobar</a:t>
            </a:r>
          </a:p>
          <a:p>
            <a:pPr algn="l"/>
            <a:r>
              <a:rPr lang="es-ES" dirty="0">
                <a:latin typeface="Century Gothic" panose="020B0502020202020204" pitchFamily="34" charset="0"/>
              </a:rPr>
              <a:t>Docente Grado Cuarto. Sede Las Américas</a:t>
            </a:r>
          </a:p>
          <a:p>
            <a:pPr algn="l"/>
            <a:r>
              <a:rPr lang="es-ES" dirty="0">
                <a:latin typeface="Century Gothic" panose="020B0502020202020204" pitchFamily="34" charset="0"/>
              </a:rPr>
              <a:t>Jornada de la tarde.</a:t>
            </a:r>
          </a:p>
          <a:p>
            <a:pPr algn="l"/>
            <a:endParaRPr lang="es-ES" dirty="0">
              <a:latin typeface="Century Gothic" panose="020B0502020202020204" pitchFamily="34" charset="0"/>
            </a:endParaRPr>
          </a:p>
          <a:p>
            <a:pPr algn="r"/>
            <a:r>
              <a:rPr lang="es-ES" dirty="0">
                <a:latin typeface="Century Gothic" panose="020B0502020202020204" pitchFamily="34" charset="0"/>
              </a:rPr>
              <a:t>Institución Educativa Municipal Nacional</a:t>
            </a:r>
          </a:p>
        </p:txBody>
      </p:sp>
    </p:spTree>
    <p:extLst>
      <p:ext uri="{BB962C8B-B14F-4D97-AF65-F5344CB8AC3E}">
        <p14:creationId xmlns:p14="http://schemas.microsoft.com/office/powerpoint/2010/main" val="3697933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21777-BE18-B779-0643-E3FA149D9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657C677-CEA5-911A-E550-7B78AB22B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288"/>
            <a:ext cx="12192000" cy="6858000"/>
          </a:xfrm>
          <a:prstGeom prst="rect">
            <a:avLst/>
          </a:prstGeom>
        </p:spPr>
      </p:pic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1E798560-5D3B-BEF9-4D0D-446129F95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416348"/>
              </p:ext>
            </p:extLst>
          </p:nvPr>
        </p:nvGraphicFramePr>
        <p:xfrm>
          <a:off x="651580" y="1051064"/>
          <a:ext cx="10888839" cy="46785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2492">
                  <a:extLst>
                    <a:ext uri="{9D8B030D-6E8A-4147-A177-3AD203B41FA5}">
                      <a16:colId xmlns:a16="http://schemas.microsoft.com/office/drawing/2014/main" val="2215923136"/>
                    </a:ext>
                  </a:extLst>
                </a:gridCol>
                <a:gridCol w="10276347">
                  <a:extLst>
                    <a:ext uri="{9D8B030D-6E8A-4147-A177-3AD203B41FA5}">
                      <a16:colId xmlns:a16="http://schemas.microsoft.com/office/drawing/2014/main" val="1923169113"/>
                    </a:ext>
                  </a:extLst>
                </a:gridCol>
              </a:tblGrid>
              <a:tr h="65041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8425" indent="0" algn="just" fontAlgn="ctr">
                        <a:tabLst/>
                      </a:pPr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¿Quiénes somos?</a:t>
                      </a: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961306"/>
                  </a:ext>
                </a:extLst>
              </a:tr>
              <a:tr h="397495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39700" indent="0">
                        <a:buAutoNum type="arabicPeriod"/>
                        <a:tabLst/>
                      </a:pPr>
                      <a:endParaRPr lang="es-CO" sz="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39700" indent="0">
                        <a:buAutoNum type="arabicPeriod"/>
                        <a:tabLst/>
                      </a:pPr>
                      <a:r>
                        <a:rPr lang="es-CO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Caracterización</a:t>
                      </a:r>
                    </a:p>
                    <a:p>
                      <a:pPr marL="139700" indent="0">
                        <a:buAutoNum type="arabicPeriod"/>
                        <a:tabLst/>
                      </a:pPr>
                      <a:endParaRPr lang="es-CO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39700" indent="0">
                        <a:tabLst/>
                      </a:pPr>
                      <a:r>
                        <a:rPr lang="es-CO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 colegio Nacional se encuentra ubicado en el municipio de Pitalito,  </a:t>
                      </a:r>
                    </a:p>
                    <a:p>
                      <a:pPr marL="139700" indent="0">
                        <a:tabLst/>
                      </a:pPr>
                      <a:r>
                        <a:rPr lang="es-CO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 la dirección: </a:t>
                      </a:r>
                      <a:r>
                        <a:rPr lang="es-CO" sz="16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Calle 5 # 12 – 99 del Barrio Cálamo</a:t>
                      </a:r>
                      <a:r>
                        <a:rPr lang="es-CO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marL="139700" indent="0">
                        <a:tabLst/>
                      </a:pPr>
                      <a:r>
                        <a:rPr lang="es-CO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Está localizado en la zona céntrica del municipio.</a:t>
                      </a:r>
                    </a:p>
                    <a:p>
                      <a:pPr marL="139700" indent="0">
                        <a:tabLst/>
                      </a:pPr>
                      <a:r>
                        <a:rPr lang="es-CO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 un establecimiento multisede, que cuenta con 7 sedes de las cuales </a:t>
                      </a:r>
                    </a:p>
                    <a:p>
                      <a:pPr marL="139700" indent="0">
                        <a:tabLst/>
                      </a:pPr>
                      <a:r>
                        <a:rPr lang="es-CO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de ellas son rurales. Nacional (Principal), Nelson Carvajal, </a:t>
                      </a:r>
                    </a:p>
                    <a:p>
                      <a:pPr marL="139700" indent="0">
                        <a:tabLst/>
                      </a:pPr>
                      <a:r>
                        <a:rPr lang="es-CO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Víctor Manuel Meneses, San Antonio,  Las Américas, Aguadas y La Paz.</a:t>
                      </a:r>
                    </a:p>
                    <a:p>
                      <a:pPr marL="139700" indent="0">
                        <a:tabLst/>
                      </a:pPr>
                      <a:endParaRPr lang="es-CO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39700" indent="0">
                        <a:tabLst/>
                      </a:pPr>
                      <a:r>
                        <a:rPr lang="es-CO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Cobertura</a:t>
                      </a:r>
                    </a:p>
                    <a:p>
                      <a:pPr marL="139700" indent="0">
                        <a:tabLst/>
                      </a:pPr>
                      <a:endParaRPr lang="es-CO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39700" indent="0">
                        <a:tabLst/>
                      </a:pPr>
                      <a:r>
                        <a:rPr lang="es-CO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Actualmente cuenta con una población de aproximadamente 4.000 </a:t>
                      </a:r>
                    </a:p>
                    <a:p>
                      <a:pPr marL="139700" indent="0">
                        <a:tabLst/>
                      </a:pPr>
                      <a:r>
                        <a:rPr lang="es-CO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estudiantes que atiende en niveles educativos desde preescolar hasta </a:t>
                      </a:r>
                    </a:p>
                    <a:p>
                      <a:pPr marL="139700" indent="0">
                        <a:tabLst/>
                      </a:pPr>
                      <a:r>
                        <a:rPr lang="es-CO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 media.</a:t>
                      </a:r>
                    </a:p>
                    <a:p>
                      <a:pPr marL="139700" indent="0">
                        <a:tabLst/>
                      </a:pPr>
                      <a:endParaRPr lang="es-CO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39700" indent="0">
                        <a:tabLst/>
                      </a:pPr>
                      <a:r>
                        <a:rPr lang="es-CO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 organización se basa en los cuatro </a:t>
                      </a: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componentes de gestión de la Guía 34:</a:t>
                      </a:r>
                    </a:p>
                    <a:p>
                      <a:pPr marL="139700" lvl="1" indent="0">
                        <a:tabLst/>
                      </a:pP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Directivo, Académico, Administrativo y Comunitario.</a:t>
                      </a: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044358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51EE3205-E1C8-9A73-4EE0-6F1FD96E1FB3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8227" y="2109143"/>
            <a:ext cx="2894516" cy="3506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341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5874F-0511-36F4-F1D8-7BE2161AA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DA347A9-9CA5-70C9-DFDA-2F69419311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" y="3137"/>
            <a:ext cx="12192000" cy="6858000"/>
          </a:xfrm>
          <a:prstGeom prst="rect">
            <a:avLst/>
          </a:prstGeom>
        </p:spPr>
      </p:pic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15EA17B6-8F3A-3B37-CB34-B69915B047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119371"/>
              </p:ext>
            </p:extLst>
          </p:nvPr>
        </p:nvGraphicFramePr>
        <p:xfrm>
          <a:off x="787078" y="1226916"/>
          <a:ext cx="10602411" cy="43708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6380">
                  <a:extLst>
                    <a:ext uri="{9D8B030D-6E8A-4147-A177-3AD203B41FA5}">
                      <a16:colId xmlns:a16="http://schemas.microsoft.com/office/drawing/2014/main" val="2215923136"/>
                    </a:ext>
                  </a:extLst>
                </a:gridCol>
                <a:gridCol w="10006031">
                  <a:extLst>
                    <a:ext uri="{9D8B030D-6E8A-4147-A177-3AD203B41FA5}">
                      <a16:colId xmlns:a16="http://schemas.microsoft.com/office/drawing/2014/main" val="1923169113"/>
                    </a:ext>
                  </a:extLst>
                </a:gridCol>
              </a:tblGrid>
              <a:tr h="102910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8425" indent="0" algn="just" fontAlgn="ctr">
                        <a:tabLst/>
                      </a:pPr>
                      <a:r>
                        <a:rPr lang="es-CO" sz="1600" b="1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Objetivo General</a:t>
                      </a: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961306"/>
                  </a:ext>
                </a:extLst>
              </a:tr>
              <a:tr h="334174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33350" indent="0">
                        <a:tabLst/>
                      </a:pPr>
                      <a:r>
                        <a:rPr lang="es-CO" sz="16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Diseñar e implementar una estrategia pedagógica con </a:t>
                      </a:r>
                    </a:p>
                    <a:p>
                      <a:pPr marL="133350" indent="0">
                        <a:tabLst/>
                      </a:pPr>
                      <a:r>
                        <a:rPr lang="es-CO" sz="16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enfoque en etnobotánica para rescatar, preservar y valorar </a:t>
                      </a:r>
                    </a:p>
                    <a:p>
                      <a:pPr marL="133350" indent="0">
                        <a:tabLst/>
                      </a:pPr>
                      <a:r>
                        <a:rPr lang="es-CO" sz="16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el conocimiento ancestral sobre las plantas medicinales, </a:t>
                      </a:r>
                    </a:p>
                    <a:p>
                      <a:pPr marL="133350" indent="0">
                        <a:tabLst/>
                      </a:pPr>
                      <a:r>
                        <a:rPr lang="es-CO" sz="16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con  estudiantes de grado cuarto y  quinto de básica </a:t>
                      </a:r>
                    </a:p>
                    <a:p>
                      <a:pPr marL="133350" indent="0">
                        <a:tabLst/>
                      </a:pPr>
                      <a:r>
                        <a:rPr lang="es-CO" sz="16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primaria de la sede las Américas, Institución Educativa </a:t>
                      </a:r>
                    </a:p>
                    <a:p>
                      <a:pPr marL="133350" indent="0">
                        <a:tabLst/>
                      </a:pPr>
                      <a:r>
                        <a:rPr lang="es-CO" sz="16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Municipal Nacional de Pitalito, Huila.</a:t>
                      </a:r>
                    </a:p>
                    <a:p>
                      <a:pPr marL="139700" indent="0">
                        <a:tabLst/>
                      </a:pPr>
                      <a:r>
                        <a:rPr lang="es-CO" sz="16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.</a:t>
                      </a:r>
                      <a:endParaRPr lang="es-CO" sz="1600" b="1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39700" indent="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  <a:tabLst/>
                      </a:pPr>
                      <a:endParaRPr lang="es-CO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044358"/>
                  </a:ext>
                </a:extLst>
              </a:tr>
            </a:tbl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1698D268-630C-83DB-AA4F-9DECD18CB87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5908" y="2417625"/>
            <a:ext cx="4108404" cy="3006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664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E398C-CFF4-2E1C-D0FB-214B580A5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4186903-5614-277D-16E1-8FD79442E1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288"/>
            <a:ext cx="12192000" cy="6858000"/>
          </a:xfrm>
          <a:prstGeom prst="rect">
            <a:avLst/>
          </a:prstGeom>
        </p:spPr>
      </p:pic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BC958DB6-1DE9-9BB5-C930-38951EBE11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5988549"/>
              </p:ext>
            </p:extLst>
          </p:nvPr>
        </p:nvGraphicFramePr>
        <p:xfrm>
          <a:off x="809696" y="955267"/>
          <a:ext cx="10511225" cy="51269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1251">
                  <a:extLst>
                    <a:ext uri="{9D8B030D-6E8A-4147-A177-3AD203B41FA5}">
                      <a16:colId xmlns:a16="http://schemas.microsoft.com/office/drawing/2014/main" val="2215923136"/>
                    </a:ext>
                  </a:extLst>
                </a:gridCol>
                <a:gridCol w="9919974">
                  <a:extLst>
                    <a:ext uri="{9D8B030D-6E8A-4147-A177-3AD203B41FA5}">
                      <a16:colId xmlns:a16="http://schemas.microsoft.com/office/drawing/2014/main" val="1923169113"/>
                    </a:ext>
                  </a:extLst>
                </a:gridCol>
              </a:tblGrid>
              <a:tr h="62719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8425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Objetivos específicos: </a:t>
                      </a: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961306"/>
                  </a:ext>
                </a:extLst>
              </a:tr>
              <a:tr h="449980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39700" indent="0">
                        <a:tabLst/>
                      </a:pPr>
                      <a:endParaRPr lang="es-CO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044358"/>
                  </a:ext>
                </a:extLst>
              </a:tr>
            </a:tbl>
          </a:graphicData>
        </a:graphic>
      </p:graphicFrame>
      <p:sp>
        <p:nvSpPr>
          <p:cNvPr id="2" name="Rectángulo 1">
            <a:extLst>
              <a:ext uri="{FF2B5EF4-FFF2-40B4-BE49-F238E27FC236}">
                <a16:creationId xmlns:a16="http://schemas.microsoft.com/office/drawing/2014/main" id="{CDE9F840-BA0D-0963-DDFA-ED940C6B780D}"/>
              </a:ext>
            </a:extLst>
          </p:cNvPr>
          <p:cNvSpPr/>
          <p:nvPr/>
        </p:nvSpPr>
        <p:spPr>
          <a:xfrm>
            <a:off x="1483338" y="1640253"/>
            <a:ext cx="9772848" cy="43609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>
              <a:buFont typeface="+mj-lt"/>
              <a:buAutoNum type="arabicPeriod"/>
            </a:pPr>
            <a:r>
              <a:rPr lang="es-CO" dirty="0">
                <a:solidFill>
                  <a:schemeClr val="tx1"/>
                </a:solidFill>
              </a:rPr>
              <a:t>Diseñar actividades educativas para abordar fortaleciendo la </a:t>
            </a:r>
          </a:p>
          <a:p>
            <a:pPr lvl="0"/>
            <a:r>
              <a:rPr lang="es-CO" dirty="0">
                <a:solidFill>
                  <a:schemeClr val="tx1"/>
                </a:solidFill>
              </a:rPr>
              <a:t>        identidad cultural, el aprendizaje significativo y el cuidado del </a:t>
            </a:r>
          </a:p>
          <a:p>
            <a:pPr lvl="0"/>
            <a:r>
              <a:rPr lang="es-CO" dirty="0">
                <a:solidFill>
                  <a:schemeClr val="tx1"/>
                </a:solidFill>
              </a:rPr>
              <a:t>        entorno.</a:t>
            </a:r>
          </a:p>
          <a:p>
            <a:pPr marL="342900" lvl="0" indent="-342900">
              <a:buFont typeface="+mj-lt"/>
              <a:buAutoNum type="arabicPeriod" startAt="2"/>
            </a:pPr>
            <a:r>
              <a:rPr lang="es-CO" dirty="0">
                <a:solidFill>
                  <a:schemeClr val="tx1"/>
                </a:solidFill>
              </a:rPr>
              <a:t>Integrar al plan curricular de todas las asignaturas, contenidos </a:t>
            </a:r>
          </a:p>
          <a:p>
            <a:pPr lvl="0"/>
            <a:r>
              <a:rPr lang="es-CO" dirty="0">
                <a:solidFill>
                  <a:schemeClr val="tx1"/>
                </a:solidFill>
              </a:rPr>
              <a:t>        relacionados con etnobotánica, valores ancestrales, contabilidad </a:t>
            </a:r>
          </a:p>
          <a:p>
            <a:pPr lvl="0"/>
            <a:r>
              <a:rPr lang="es-CO" dirty="0">
                <a:solidFill>
                  <a:schemeClr val="tx1"/>
                </a:solidFill>
              </a:rPr>
              <a:t>        y finanzas, emprendimiento y conocimiento ancestral, para el grado </a:t>
            </a:r>
          </a:p>
          <a:p>
            <a:pPr lvl="0"/>
            <a:r>
              <a:rPr lang="es-CO" dirty="0">
                <a:solidFill>
                  <a:schemeClr val="tx1"/>
                </a:solidFill>
              </a:rPr>
              <a:t>        quinto.</a:t>
            </a:r>
          </a:p>
          <a:p>
            <a:pPr marL="342900" indent="-342900">
              <a:buFont typeface="+mj-lt"/>
              <a:buAutoNum type="arabicPeriod" startAt="3"/>
            </a:pPr>
            <a:r>
              <a:rPr lang="es-CO" dirty="0">
                <a:solidFill>
                  <a:schemeClr val="tx1"/>
                </a:solidFill>
              </a:rPr>
              <a:t>Realizar procesos caseros en plantas medicinales  para extraer </a:t>
            </a:r>
          </a:p>
          <a:p>
            <a:r>
              <a:rPr lang="es-CO" dirty="0">
                <a:solidFill>
                  <a:schemeClr val="tx1"/>
                </a:solidFill>
              </a:rPr>
              <a:t>        aceites esenciales, ungüentos, jabones  y otros productos.</a:t>
            </a:r>
          </a:p>
          <a:p>
            <a:pPr marL="342900" lvl="0" indent="-342900">
              <a:buFont typeface="+mj-lt"/>
              <a:buAutoNum type="arabicPeriod" startAt="4"/>
            </a:pPr>
            <a:r>
              <a:rPr lang="es-CO" dirty="0">
                <a:solidFill>
                  <a:schemeClr val="tx1"/>
                </a:solidFill>
              </a:rPr>
              <a:t>Integrar las TIC, programación MACODE, en el proceso de </a:t>
            </a:r>
          </a:p>
          <a:p>
            <a:pPr lvl="0"/>
            <a:r>
              <a:rPr lang="es-CO" dirty="0">
                <a:solidFill>
                  <a:schemeClr val="tx1"/>
                </a:solidFill>
              </a:rPr>
              <a:t>       observación del crecimiento de algunas plantas medicinales.</a:t>
            </a:r>
          </a:p>
          <a:p>
            <a:pPr marL="342900" lvl="0" indent="-342900">
              <a:buFont typeface="+mj-lt"/>
              <a:buAutoNum type="arabicPeriod" startAt="5"/>
            </a:pPr>
            <a:r>
              <a:rPr lang="es-CO" dirty="0">
                <a:solidFill>
                  <a:schemeClr val="tx1"/>
                </a:solidFill>
              </a:rPr>
              <a:t>Motivar a padres de familia para realizar huertas caseras </a:t>
            </a:r>
          </a:p>
          <a:p>
            <a:pPr lvl="0"/>
            <a:r>
              <a:rPr lang="es-CO" dirty="0">
                <a:solidFill>
                  <a:schemeClr val="tx1"/>
                </a:solidFill>
              </a:rPr>
              <a:t>       sustentables.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86E47284-DAEE-BA3C-8EA0-B6BEB64C8D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7992297" y="2710130"/>
            <a:ext cx="3786550" cy="22212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38634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4800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6725496"/>
              </p:ext>
            </p:extLst>
          </p:nvPr>
        </p:nvGraphicFramePr>
        <p:xfrm>
          <a:off x="760070" y="988450"/>
          <a:ext cx="10671859" cy="4881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0287">
                  <a:extLst>
                    <a:ext uri="{9D8B030D-6E8A-4147-A177-3AD203B41FA5}">
                      <a16:colId xmlns:a16="http://schemas.microsoft.com/office/drawing/2014/main" val="2215923136"/>
                    </a:ext>
                  </a:extLst>
                </a:gridCol>
                <a:gridCol w="10071572">
                  <a:extLst>
                    <a:ext uri="{9D8B030D-6E8A-4147-A177-3AD203B41FA5}">
                      <a16:colId xmlns:a16="http://schemas.microsoft.com/office/drawing/2014/main" val="1923169113"/>
                    </a:ext>
                  </a:extLst>
                </a:gridCol>
              </a:tblGrid>
              <a:tr h="198595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_tradnl" sz="1600" b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  <a:p>
                      <a:pPr algn="ctr" fontAlgn="ctr"/>
                      <a:r>
                        <a:rPr lang="es-ES_tradnl" sz="1600" b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</a:p>
                    <a:p>
                      <a:pPr algn="ctr" fontAlgn="ctr"/>
                      <a:r>
                        <a:rPr lang="es-ES_tradnl" sz="1600" b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  <a:p>
                      <a:pPr algn="ctr" fontAlgn="ctr"/>
                      <a:r>
                        <a:rPr lang="es-ES_tradnl" sz="1600" b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  <a:p>
                      <a:pPr algn="ctr" fontAlgn="ctr"/>
                      <a:r>
                        <a:rPr lang="es-ES_tradnl" sz="1600" b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  <a:p>
                      <a:pPr algn="ctr" fontAlgn="ctr"/>
                      <a:r>
                        <a:rPr lang="es-ES_tradnl" sz="1600" b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  <a:p>
                      <a:pPr algn="ctr" fontAlgn="ctr"/>
                      <a:r>
                        <a:rPr lang="es-ES_tradnl" sz="1600" b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ES_tradnl" sz="1600" b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  <a:p>
                      <a:pPr algn="ctr" fontAlgn="ctr"/>
                      <a:r>
                        <a:rPr lang="es-ES_tradnl" sz="1600" b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  <a:p>
                      <a:pPr algn="ctr" fontAlgn="ctr"/>
                      <a:r>
                        <a:rPr lang="es-ES_tradnl" sz="1600" b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  <a:p>
                      <a:pPr algn="ctr" fontAlgn="ctr"/>
                      <a:r>
                        <a:rPr lang="es-ES_tradnl" sz="1600" b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  <a:p>
                      <a:pPr algn="ctr" fontAlgn="ctr"/>
                      <a:r>
                        <a:rPr lang="es-ES_tradnl" sz="1600" b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  <a:p>
                      <a:pPr algn="ctr" fontAlgn="ctr"/>
                      <a:r>
                        <a:rPr lang="es-ES_tradnl" sz="1600" b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Ó</a:t>
                      </a:r>
                    </a:p>
                    <a:p>
                      <a:pPr algn="ctr" fontAlgn="ctr"/>
                      <a:r>
                        <a:rPr lang="es-ES_tradnl" sz="1600" b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s-ES_tradnl" sz="1600" b="1" i="0" u="none" strike="noStrike" noProof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9700" indent="0" algn="just" fontAlgn="ctr">
                        <a:tabLst/>
                      </a:pPr>
                      <a:r>
                        <a:rPr lang="es-ES_tradnl" sz="1600" b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 experiencia está articulada al PEI. </a:t>
                      </a:r>
                    </a:p>
                    <a:p>
                      <a:pPr marL="139700" indent="0" algn="just" fontAlgn="ctr">
                        <a:tabLst/>
                      </a:pPr>
                      <a:endParaRPr lang="es-ES_tradnl" sz="800" b="1" u="none" strike="noStrike" noProof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3970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Con la intención de formar estudiantes competentes, críticos y capaces de resolver problemáticas del entorno, fortalece su identidad cultural y se orienta hacia la excelencia académica. promover una educación </a:t>
                      </a:r>
                    </a:p>
                    <a:p>
                      <a:pPr marL="13970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integral y humanística, proyectando a los estudiantes </a:t>
                      </a:r>
                    </a:p>
                    <a:p>
                      <a:pPr marL="13970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como ciudadanos participativos en la construcción de </a:t>
                      </a:r>
                    </a:p>
                    <a:p>
                      <a:pPr marL="13970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una mejor calidad de vida y convivencia social. 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961306"/>
                  </a:ext>
                </a:extLst>
              </a:tr>
              <a:tr h="289514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38113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b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Ampliar puntos de articulación con misión, visión, </a:t>
                      </a:r>
                    </a:p>
                    <a:p>
                      <a:pPr marL="138113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b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valores y principios:</a:t>
                      </a:r>
                      <a:r>
                        <a:rPr lang="es-ES_tradnl" sz="16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s-ES" sz="1600" b="1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38113" indent="0" algn="just">
                        <a:tabLst/>
                      </a:pPr>
                      <a:endParaRPr lang="es-ES" sz="800" b="1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38113" indent="0" algn="just">
                        <a:tabLst/>
                      </a:pPr>
                      <a:r>
                        <a:rPr lang="es-ES" sz="16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En este contexto, el proyecto “enriquece el PEI al integrar </a:t>
                      </a:r>
                    </a:p>
                    <a:p>
                      <a:pPr marL="138113" indent="0" algn="just">
                        <a:tabLst/>
                      </a:pPr>
                      <a:r>
                        <a:rPr lang="es-ES" sz="16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saberes locales con la formación académica, fomentando </a:t>
                      </a:r>
                    </a:p>
                    <a:p>
                      <a:pPr marL="138113" indent="0" algn="just">
                        <a:tabLst/>
                      </a:pPr>
                      <a:r>
                        <a:rPr lang="es-ES" sz="16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la identidad cultural, el respeto por la diversidad y el </a:t>
                      </a:r>
                    </a:p>
                    <a:p>
                      <a:pPr marL="138113" indent="0" algn="just">
                        <a:tabLst/>
                      </a:pPr>
                      <a:r>
                        <a:rPr lang="es-ES" sz="16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equilibrio entre el conocimiento científico y ancestral. </a:t>
                      </a:r>
                    </a:p>
                    <a:p>
                      <a:pPr marL="138113" indent="0" algn="just">
                        <a:tabLst/>
                      </a:pPr>
                      <a:endParaRPr lang="es-ES" sz="1600" b="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38113" indent="0" algn="just">
                        <a:tabLst/>
                      </a:pPr>
                      <a:r>
                        <a:rPr lang="es-ES" sz="16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Así, el PEI y el proyecto convergen en una propuesta </a:t>
                      </a:r>
                    </a:p>
                    <a:p>
                      <a:pPr marL="138113" indent="0" algn="just">
                        <a:tabLst/>
                      </a:pPr>
                      <a:r>
                        <a:rPr lang="es-ES" sz="16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educativa que impulsa simultáneamente el desarrollo </a:t>
                      </a:r>
                    </a:p>
                    <a:p>
                      <a:pPr marL="138113" indent="0" algn="just">
                        <a:tabLst/>
                      </a:pPr>
                      <a:r>
                        <a:rPr lang="es-ES" sz="16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académico y la preservación del patrimonio cultural, </a:t>
                      </a:r>
                    </a:p>
                    <a:p>
                      <a:pPr marL="138113" indent="0" algn="just">
                        <a:tabLst/>
                      </a:pPr>
                      <a:r>
                        <a:rPr lang="es-ES" sz="16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garantizando una formación integral.</a:t>
                      </a:r>
                      <a:endParaRPr lang="en-US" sz="1600" b="1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6883621"/>
                  </a:ext>
                </a:extLst>
              </a:tr>
            </a:tbl>
          </a:graphicData>
        </a:graphic>
      </p:graphicFrame>
      <p:pic>
        <p:nvPicPr>
          <p:cNvPr id="4" name="Picture 2">
            <a:extLst>
              <a:ext uri="{FF2B5EF4-FFF2-40B4-BE49-F238E27FC236}">
                <a16:creationId xmlns:a16="http://schemas.microsoft.com/office/drawing/2014/main" id="{BBC3438C-7F3F-F21F-87D3-83F3AC2CF2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9701" y="2013488"/>
            <a:ext cx="3759631" cy="3759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8321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364598"/>
              </p:ext>
            </p:extLst>
          </p:nvPr>
        </p:nvGraphicFramePr>
        <p:xfrm>
          <a:off x="944622" y="925280"/>
          <a:ext cx="10302754" cy="28480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4429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9458325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2848066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s-CO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9700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Responde a situaciones contextuales o problemáticas locales, que son explicitadas y documentadas con sus causas:</a:t>
                      </a:r>
                    </a:p>
                    <a:p>
                      <a:pPr algn="l" fontAlgn="ctr"/>
                      <a:endParaRPr lang="es-ES" sz="1600" b="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38113" indent="0" algn="l" fontAlgn="ctr">
                        <a:tabLst/>
                      </a:pPr>
                      <a:r>
                        <a:rPr lang="es-ES" sz="16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El proyecto co</a:t>
                      </a:r>
                      <a:r>
                        <a:rPr lang="es-ES" sz="16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ntribuye </a:t>
                      </a:r>
                      <a:r>
                        <a:rPr lang="es-ES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 preservar y valorar el conocimiento ancestral, fortaleciendo la identidad cultural y el sentido de pertenencia. </a:t>
                      </a:r>
                    </a:p>
                    <a:p>
                      <a:pPr marL="138113" indent="0" algn="l" fontAlgn="ctr">
                        <a:tabLst/>
                      </a:pPr>
                      <a:endParaRPr lang="es-ES" sz="16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38113" indent="0" algn="l" fontAlgn="ctr">
                        <a:tabLst/>
                      </a:pPr>
                      <a:r>
                        <a:rPr lang="es-ES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Al integrar estos saberes en los procesos pedagógicos, se promueve una educación contextualizada y significativa que vincula la tradición con las necesidades frente a la crisis cultural y ecológica que enfrentan las comunidades.</a:t>
                      </a:r>
                      <a:endParaRPr lang="es-ES" sz="1600" b="1" i="0" u="sng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949291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6A683968-F612-8AC5-9472-8250FB812C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30"/>
          <a:stretch>
            <a:fillRect/>
          </a:stretch>
        </p:blipFill>
        <p:spPr>
          <a:xfrm>
            <a:off x="3318403" y="3910473"/>
            <a:ext cx="5555191" cy="222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378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BFBFB"/>
              </a:clrFrom>
              <a:clrTo>
                <a:srgbClr val="FBFBF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5817C34C-2D3C-6CB8-A06F-E76A386BE4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4694606"/>
              </p:ext>
            </p:extLst>
          </p:nvPr>
        </p:nvGraphicFramePr>
        <p:xfrm>
          <a:off x="943505" y="1134261"/>
          <a:ext cx="10302754" cy="45894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4429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9458325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4589478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s-CO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4150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Articula la fundamentación, el contexto, la metodología y los resultados esperados, a partir de la autorreflexión y la autocrítica.</a:t>
                      </a:r>
                    </a:p>
                    <a:p>
                      <a:pPr marL="184150" indent="0" algn="l" fontAlgn="ctr">
                        <a:tabLst/>
                      </a:pPr>
                      <a:endParaRPr lang="es-ES" sz="160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8415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“Raíces Vivas” busca preservar los saberes ancestrales </a:t>
                      </a:r>
                    </a:p>
                    <a:p>
                      <a:pPr marL="18415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sobre medicina tradicional en la comunidad educativa, </a:t>
                      </a:r>
                    </a:p>
                    <a:p>
                      <a:pPr marL="18415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fortaleciendo la identidad cultural. Mediante actividades </a:t>
                      </a:r>
                    </a:p>
                    <a:p>
                      <a:pPr marL="18415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pedagógicas que involucran a estudiantes y familias, </a:t>
                      </a:r>
                    </a:p>
                    <a:p>
                      <a:pPr marL="18415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promueve la investigación, la creación de huertas </a:t>
                      </a:r>
                    </a:p>
                    <a:p>
                      <a:pPr marL="18415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medicinales y la elaboración de productos naturales y </a:t>
                      </a:r>
                    </a:p>
                    <a:p>
                      <a:pPr marL="18415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artesanías recicladas. </a:t>
                      </a:r>
                    </a:p>
                    <a:p>
                      <a:pPr marL="18415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8415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Además de conservar el conocimiento ancestral, </a:t>
                      </a:r>
                    </a:p>
                    <a:p>
                      <a:pPr marL="18415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impulsa el emprendimiento y contribuye al desarrollo </a:t>
                      </a:r>
                    </a:p>
                    <a:p>
                      <a:pPr marL="18415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cultural, educativo y económico de la comunidad.</a:t>
                      </a: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949291"/>
                  </a:ext>
                </a:extLst>
              </a:tr>
            </a:tbl>
          </a:graphicData>
        </a:graphic>
      </p:graphicFrame>
      <p:pic>
        <p:nvPicPr>
          <p:cNvPr id="4098" name="Picture 2" descr="Imagen de Story Pin">
            <a:extLst>
              <a:ext uri="{FF2B5EF4-FFF2-40B4-BE49-F238E27FC236}">
                <a16:creationId xmlns:a16="http://schemas.microsoft.com/office/drawing/2014/main" id="{30E30554-3559-D44F-D561-0E8EA8F030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0989" y="2578152"/>
            <a:ext cx="2594458" cy="2933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CC3116B4-A309-A7B8-85CB-8F02C14E90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938303">
            <a:off x="8888075" y="4691272"/>
            <a:ext cx="476707" cy="475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4598AFEF-CC7D-7371-B621-BBEE592871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5129" y="3271983"/>
            <a:ext cx="1089109" cy="127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3814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0628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557363"/>
              </p:ext>
            </p:extLst>
          </p:nvPr>
        </p:nvGraphicFramePr>
        <p:xfrm>
          <a:off x="602457" y="1064871"/>
          <a:ext cx="10745482" cy="4988687"/>
        </p:xfrm>
        <a:graphic>
          <a:graphicData uri="http://schemas.openxmlformats.org/drawingml/2006/table">
            <a:tbl>
              <a:tblPr>
                <a:solidFill>
                  <a:srgbClr val="FFFFFF">
                    <a:alpha val="50196"/>
                  </a:srgbClr>
                </a:solidFill>
                <a:tableStyleId>{5C22544A-7EE6-4342-B048-85BDC9FD1C3A}</a:tableStyleId>
              </a:tblPr>
              <a:tblGrid>
                <a:gridCol w="740586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10004896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4988687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</a:t>
                      </a:r>
                      <a:endParaRPr lang="es-CO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82" marR="4782" marT="4782" marB="0" anchor="ctr">
                    <a:solidFill>
                      <a:srgbClr val="E7EAED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8425" indent="0" algn="just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Reflexiona sobre el tiempo de desarrollo, buscando fortalecerse durante los cambios de año </a:t>
                      </a:r>
                    </a:p>
                    <a:p>
                      <a:pPr marL="98425" indent="0" algn="just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lectivo mediante el análisis crítico de resultados y el tiempo invertido.</a:t>
                      </a:r>
                    </a:p>
                    <a:p>
                      <a:pPr marL="98425" indent="0" algn="just" fontAlgn="ctr">
                        <a:tabLst/>
                      </a:pP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36525" indent="0">
                        <a:tabLst/>
                      </a:pPr>
                      <a:r>
                        <a:rPr lang="es-CO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Madurez y evolución del proyecto:</a:t>
                      </a:r>
                    </a:p>
                    <a:p>
                      <a:pPr marL="136525" indent="0">
                        <a:tabLst/>
                      </a:pPr>
                      <a:r>
                        <a:rPr lang="es-E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 proyecto inició en el año 2021 con el grado quinto de primaria en la sede Las Américas y se ha consolidado como un espacio de reflexión y fortalecimiento continuo. </a:t>
                      </a:r>
                    </a:p>
                    <a:p>
                      <a:pPr marL="136525" indent="0">
                        <a:tabLst/>
                      </a:pPr>
                      <a:endParaRPr lang="es-E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36525" indent="0">
                        <a:tabLst/>
                      </a:pPr>
                      <a:r>
                        <a:rPr lang="es-E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lo largo del tiempo, se han analizado críticamente los </a:t>
                      </a:r>
                    </a:p>
                    <a:p>
                      <a:pPr marL="136525" indent="0">
                        <a:tabLst/>
                      </a:pPr>
                      <a:r>
                        <a:rPr lang="es-E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resultados y esfuerzos invertidos, permitiendo reconocer </a:t>
                      </a:r>
                    </a:p>
                    <a:p>
                      <a:pPr marL="136525" indent="0">
                        <a:tabLst/>
                      </a:pPr>
                      <a:r>
                        <a:rPr lang="es-E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avances, ajustar estrategias y reafirmar su propósito principal,  </a:t>
                      </a:r>
                    </a:p>
                    <a:p>
                      <a:pPr marL="136525" indent="0">
                        <a:tabLst/>
                      </a:pPr>
                      <a:r>
                        <a:rPr lang="es-E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rescatar y valorar las tradiciones ancestrales para preservar </a:t>
                      </a:r>
                    </a:p>
                    <a:p>
                      <a:pPr marL="136525" indent="0">
                        <a:tabLst/>
                      </a:pPr>
                      <a:r>
                        <a:rPr lang="es-E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 conocimiento y fortalecer la identidad cultural en la </a:t>
                      </a:r>
                    </a:p>
                    <a:p>
                      <a:pPr marL="136525" indent="0">
                        <a:tabLst/>
                      </a:pPr>
                      <a:r>
                        <a:rPr lang="es-E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comunidad educativa. </a:t>
                      </a:r>
                    </a:p>
                    <a:p>
                      <a:pPr marL="136525" indent="0">
                        <a:tabLst/>
                      </a:pPr>
                      <a:endParaRPr lang="es-E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36525" indent="0">
                        <a:tabLst/>
                      </a:pPr>
                      <a:r>
                        <a:rPr lang="es-E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Asimismo, se evidencia la necesidad de mayor difusión y </a:t>
                      </a:r>
                    </a:p>
                    <a:p>
                      <a:pPr marL="136525" indent="0">
                        <a:tabLst/>
                      </a:pPr>
                      <a:r>
                        <a:rPr lang="es-E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aplicación práctica para evitar la pérdida de este legado, </a:t>
                      </a:r>
                    </a:p>
                    <a:p>
                      <a:pPr marL="136525" indent="0">
                        <a:tabLst/>
                      </a:pPr>
                      <a:r>
                        <a:rPr lang="es-E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convirtiendo el proyecto en una estrategia pedagógica </a:t>
                      </a:r>
                    </a:p>
                    <a:p>
                      <a:pPr marL="136525" indent="0">
                        <a:tabLst/>
                      </a:pPr>
                      <a:r>
                        <a:rPr lang="es-E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creativa y consciente para preservar el saber ancestral.</a:t>
                      </a:r>
                      <a:endParaRPr lang="es-CO" sz="16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82" marR="4782" marT="4782" marB="0" anchor="ctr">
                    <a:solidFill>
                      <a:srgbClr val="E7EAED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949291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2CFCA23F-BA6C-2652-1C48-17ACA506E76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729" y="2953415"/>
            <a:ext cx="3986914" cy="299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848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0E0D3C10-C7BC-6D4C-DE5F-EB191F23F5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1107884"/>
              </p:ext>
            </p:extLst>
          </p:nvPr>
        </p:nvGraphicFramePr>
        <p:xfrm>
          <a:off x="981305" y="1036572"/>
          <a:ext cx="10302754" cy="50626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4429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9458325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5062653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Involucra a maestros, directivos, padres, estudiantes y el sector productivo según sus roles y necesidades de participación, promoviendo el mejoramiento de la experiencia.</a:t>
                      </a:r>
                    </a:p>
                    <a:p>
                      <a:pPr marL="92075" indent="0" algn="l" fontAlgn="ctr">
                        <a:tabLst/>
                      </a:pPr>
                      <a:endParaRPr lang="es-ES" sz="160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207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Involucra a maestros, directivos, padres de familia, estudiantes y al sector productivo, quienes participan desde sus roles y necesidades particulares, con el propósito de rescatar y valorar los saberes ancestrales. De esta manera, se promueve el mejoramiento de la experiencia educativa, aprendizaje significativo, proyección a la comunidad y su cultura, fortaleciendo la identidad cultural conocimientos ancestrales a las nuevas generaciones. Ha tenido aceptación en los estudiantes y padres de familia.</a:t>
                      </a:r>
                    </a:p>
                    <a:p>
                      <a:pPr marL="9207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600" b="1" i="0" u="sng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92075" lvl="0" indent="0">
                        <a:tabLst/>
                      </a:pPr>
                      <a:r>
                        <a:rPr lang="es-ES" sz="1600" b="1" u="non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En los docentes: </a:t>
                      </a:r>
                      <a:r>
                        <a:rPr lang="es-ES" sz="1600" b="0" u="non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Formación e investigación,</a:t>
                      </a:r>
                      <a:r>
                        <a:rPr lang="es-ES" sz="1600" b="0" u="none" kern="120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1600" b="0" u="non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integración </a:t>
                      </a:r>
                    </a:p>
                    <a:p>
                      <a:pPr marL="92075" lvl="0" indent="0">
                        <a:tabLst/>
                      </a:pPr>
                      <a:r>
                        <a:rPr lang="es-ES" sz="1600" b="0" u="non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curricular,</a:t>
                      </a:r>
                      <a:r>
                        <a:rPr lang="en-US" sz="1600" b="0" u="non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1600" b="0" u="non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proyectos aula, diálogo de saberes.</a:t>
                      </a:r>
                    </a:p>
                    <a:p>
                      <a:pPr marL="9207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1" u="non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En los estudiantes:</a:t>
                      </a:r>
                      <a:r>
                        <a:rPr lang="es-ES" sz="1600" b="0" u="non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Aprendizaje activo, Identidad </a:t>
                      </a:r>
                    </a:p>
                    <a:p>
                      <a:pPr marL="9207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0" u="non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cultural,</a:t>
                      </a:r>
                    </a:p>
                    <a:p>
                      <a:pPr marL="92075" lvl="0" indent="0">
                        <a:tabLst/>
                      </a:pPr>
                      <a:r>
                        <a:rPr lang="es-ES" sz="1600" b="1" u="non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En los padres de familia: </a:t>
                      </a:r>
                      <a:r>
                        <a:rPr lang="es-ES" sz="1600" b="0" u="non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Participación directa, rescate </a:t>
                      </a:r>
                    </a:p>
                    <a:p>
                      <a:pPr marL="92075" lvl="0" indent="0">
                        <a:tabLst/>
                      </a:pPr>
                      <a:r>
                        <a:rPr lang="es-ES" sz="1600" b="0" u="non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 saberes, colaboración intergeneracional</a:t>
                      </a:r>
                      <a:endParaRPr lang="en-US" sz="1600" b="0" u="non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600" b="1" i="0" u="sng" strike="noStrike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949291"/>
                  </a:ext>
                </a:extLst>
              </a:tr>
            </a:tbl>
          </a:graphicData>
        </a:graphic>
      </p:graphicFrame>
      <p:pic>
        <p:nvPicPr>
          <p:cNvPr id="1028" name="Picture 4" descr="Imagen de Story Pin">
            <a:extLst>
              <a:ext uri="{FF2B5EF4-FFF2-40B4-BE49-F238E27FC236}">
                <a16:creationId xmlns:a16="http://schemas.microsoft.com/office/drawing/2014/main" id="{D18EE1AB-AD05-7C3D-D130-38DCC315D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5166" y="3855248"/>
            <a:ext cx="3060592" cy="1748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3985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136" y="0"/>
            <a:ext cx="12192000" cy="6858000"/>
          </a:xfrm>
          <a:prstGeom prst="rect">
            <a:avLst/>
          </a:prstGeom>
        </p:spPr>
      </p:pic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C26FB1E9-85B9-14E5-70EC-3FBD393522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612756"/>
              </p:ext>
            </p:extLst>
          </p:nvPr>
        </p:nvGraphicFramePr>
        <p:xfrm>
          <a:off x="390108" y="929810"/>
          <a:ext cx="11315629" cy="52365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90791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10124838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5236528">
                <a:tc>
                  <a:txBody>
                    <a:bodyPr/>
                    <a:lstStyle/>
                    <a:p>
                      <a:pPr algn="ctr" fontAlgn="ctr"/>
                      <a:endParaRPr lang="es-CO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9700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Dispone de metodología, instrumentos y mecanismos de seguimiento, evaluación, registro y análisis pertinentes; organiza aprendizajes para su fortalecimiento.</a:t>
                      </a:r>
                    </a:p>
                    <a:p>
                      <a:pPr marL="139700" indent="0" algn="l" fontAlgn="ctr">
                        <a:tabLst/>
                      </a:pPr>
                      <a:endParaRPr lang="es-ES" sz="800" b="1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39700" indent="0" algn="l" fontAlgn="ctr">
                        <a:tabLst/>
                      </a:pPr>
                      <a:r>
                        <a:rPr lang="es-CO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“Raíces Vivas” implementa una evaluación formativa y participativa centrada en el desarrollo de competencias investigativas y socioculturales. A través de un portafolio pedagógico, los estudiantes sistematizan evidencias como registros de investigación, prácticas de campo y certificaciones del SENA, permitiendo un seguimiento continuo del aprendizaje. </a:t>
                      </a:r>
                    </a:p>
                    <a:p>
                      <a:pPr marL="139700" indent="0" algn="l" fontAlgn="ctr">
                        <a:tabLst/>
                      </a:pPr>
                      <a:endParaRPr lang="es-CO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39700" indent="0" algn="l" fontAlgn="ctr">
                        <a:tabLst/>
                      </a:pP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 metodología integra la observación directa en huertas y rúbricas analíticas para fortalecer la producción de saberes ancestrales traducidos en emprendimientos (ungüentos, jabones y aceites). Este enfoque colaborativo vincula a familias y docentes en procesos de proyección académica y ferias científicas, consolidando un aprendizaje significativo que rescata el conocimiento botánico local.</a:t>
                      </a:r>
                    </a:p>
                    <a:p>
                      <a:pPr marL="139700" indent="0" algn="l" fontAlgn="ctr">
                        <a:tabLst/>
                      </a:pPr>
                      <a:endParaRPr lang="es-CO" sz="800" b="1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39700" indent="0" algn="just">
                        <a:tabLst/>
                      </a:pPr>
                      <a:r>
                        <a:rPr lang="es-ES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 incorporan procesos de autoevaluación y coevaluación, que propician la metacognición, la reflexión crítica y la identificación de fortalezas y oportunidades de mejora en el cumplimiento del cronograma.</a:t>
                      </a:r>
                    </a:p>
                    <a:p>
                      <a:pPr marL="139700" indent="0" algn="just">
                        <a:tabLst/>
                      </a:pPr>
                      <a:endParaRPr lang="es-ES" sz="16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39700" indent="0" algn="just">
                        <a:tabLst/>
                      </a:pPr>
                      <a:r>
                        <a:rPr lang="es-ES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 análisis de resultados combina un enfoque cualitativo, </a:t>
                      </a:r>
                    </a:p>
                    <a:p>
                      <a:pPr marL="139700" indent="0" algn="just">
                        <a:tabLst/>
                      </a:pPr>
                      <a:r>
                        <a:rPr lang="es-ES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basado en la recopilación de percepciones de estudiantes, </a:t>
                      </a:r>
                    </a:p>
                    <a:p>
                      <a:pPr marL="139700" indent="0" algn="just">
                        <a:tabLst/>
                      </a:pPr>
                      <a:r>
                        <a:rPr lang="es-ES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familias y sabedores ancestrales sobre identidad cultural, </a:t>
                      </a:r>
                    </a:p>
                    <a:p>
                      <a:pPr marL="139700" indent="0" algn="just">
                        <a:tabLst/>
                      </a:pPr>
                      <a:r>
                        <a:rPr lang="es-ES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uso medicinal y valor ambiental; y un enfoque cuantitativo, </a:t>
                      </a:r>
                    </a:p>
                    <a:p>
                      <a:pPr marL="139700" indent="0" algn="just">
                        <a:tabLst/>
                      </a:pPr>
                      <a:r>
                        <a:rPr lang="es-ES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evidenciado en la comercialización de productos como </a:t>
                      </a:r>
                    </a:p>
                    <a:p>
                      <a:pPr marL="139700" indent="0" algn="just">
                        <a:tabLst/>
                      </a:pPr>
                      <a:r>
                        <a:rPr lang="es-ES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indicador de sostenibilidad y pertinencia del proyecto.</a:t>
                      </a: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949291"/>
                  </a:ext>
                </a:extLst>
              </a:tr>
            </a:tbl>
          </a:graphicData>
        </a:graphic>
      </p:graphicFrame>
      <p:sp>
        <p:nvSpPr>
          <p:cNvPr id="7" name="Rectángulo 6">
            <a:extLst>
              <a:ext uri="{FF2B5EF4-FFF2-40B4-BE49-F238E27FC236}">
                <a16:creationId xmlns:a16="http://schemas.microsoft.com/office/drawing/2014/main" id="{2091A6BB-3C7E-EE01-2E8F-8EE9846112B6}"/>
              </a:ext>
            </a:extLst>
          </p:cNvPr>
          <p:cNvSpPr/>
          <p:nvPr/>
        </p:nvSpPr>
        <p:spPr>
          <a:xfrm>
            <a:off x="578863" y="1421858"/>
            <a:ext cx="857252" cy="41862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s-CO" sz="1600" b="1" dirty="0">
                <a:solidFill>
                  <a:schemeClr val="tx1"/>
                </a:solidFill>
                <a:latin typeface="Century Gothic" panose="020B0502020202020204" pitchFamily="34" charset="0"/>
              </a:rPr>
              <a:t>EVALUACIÓN     Y SEGUIMIENTO 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297527E-A3C0-6F41-5019-EE3E3CF4145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9020" y="4560277"/>
            <a:ext cx="3497932" cy="1543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548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031966"/>
              </p:ext>
            </p:extLst>
          </p:nvPr>
        </p:nvGraphicFramePr>
        <p:xfrm>
          <a:off x="806468" y="1070239"/>
          <a:ext cx="10556632" cy="4862636"/>
        </p:xfrm>
        <a:graphic>
          <a:graphicData uri="http://schemas.openxmlformats.org/drawingml/2006/table">
            <a:tbl>
              <a:tblPr>
                <a:solidFill>
                  <a:srgbClr val="FFFFFF">
                    <a:alpha val="50196"/>
                  </a:srgbClr>
                </a:solidFill>
                <a:tableStyleId>{5C22544A-7EE6-4342-B048-85BDC9FD1C3A}</a:tableStyleId>
              </a:tblPr>
              <a:tblGrid>
                <a:gridCol w="882528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9674104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245683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  <a:endParaRPr lang="es-CO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82" marR="4782" marT="4782" marB="0" anchor="ctr">
                    <a:solidFill>
                      <a:srgbClr val="E7EAED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0" algn="l" fontAlgn="ctr">
                        <a:tabLst/>
                      </a:pPr>
                      <a:endParaRPr lang="es-ES" sz="1000" b="1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2075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partir del análisis y sistematización: </a:t>
                      </a:r>
                    </a:p>
                    <a:p>
                      <a:pPr marL="92075" indent="0" algn="l" fontAlgn="ctr">
                        <a:tabLst/>
                      </a:pPr>
                      <a:endParaRPr lang="es-ES" sz="800" b="1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2075" indent="0" algn="l" fontAlgn="ctr">
                        <a:tabLst/>
                      </a:pPr>
                      <a:r>
                        <a:rPr lang="es-E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Replantea resultados a corto, mediano y largo plazo.</a:t>
                      </a:r>
                    </a:p>
                    <a:p>
                      <a:pPr marL="92075" indent="0" algn="l" fontAlgn="ctr">
                        <a:buFontTx/>
                        <a:buNone/>
                        <a:tabLst/>
                      </a:pPr>
                      <a:endParaRPr lang="es-ES" sz="800" b="1" i="0" u="sng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92075" indent="0" algn="l" fontAlgn="ctr">
                        <a:buFontTx/>
                        <a:buNone/>
                        <a:tabLst/>
                      </a:pPr>
                      <a:r>
                        <a:rPr lang="es-ES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Corto plazo: </a:t>
                      </a:r>
                      <a:r>
                        <a:rPr lang="es-ES" sz="1600" b="0" u="non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Desarrollo de competencias investigativas</a:t>
                      </a:r>
                    </a:p>
                    <a:p>
                      <a:pPr marL="92075" indent="0" algn="l" fontAlgn="ctr">
                        <a:buFontTx/>
                        <a:buNone/>
                        <a:tabLst/>
                      </a:pPr>
                      <a:endParaRPr lang="es-ES" sz="800" b="0" u="non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92075" indent="0" algn="l" fontAlgn="ctr">
                        <a:buFontTx/>
                        <a:buNone/>
                        <a:tabLst/>
                      </a:pPr>
                      <a:r>
                        <a:rPr lang="es-ES" sz="1600" b="1" u="non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Mediano</a:t>
                      </a:r>
                      <a:r>
                        <a:rPr lang="es-ES" sz="1600" b="1" u="none" kern="120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plazo: </a:t>
                      </a:r>
                      <a:r>
                        <a:rPr lang="es-ES" sz="1600" b="0" u="none" kern="120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</a:t>
                      </a:r>
                      <a:r>
                        <a:rPr lang="es-ES" sz="1600" b="0" u="non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reación de huertas caseras, realización </a:t>
                      </a:r>
                    </a:p>
                    <a:p>
                      <a:pPr marL="92075" indent="0" algn="l" fontAlgn="ctr">
                        <a:buFontTx/>
                        <a:buNone/>
                        <a:tabLst/>
                      </a:pPr>
                      <a:r>
                        <a:rPr lang="es-ES" sz="1600" b="0" u="non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 feria del conocimiento a nivel se sede. </a:t>
                      </a:r>
                    </a:p>
                    <a:p>
                      <a:pPr marL="92075" indent="0" algn="l" fontAlgn="ctr">
                        <a:buFontTx/>
                        <a:buNone/>
                        <a:tabLst/>
                      </a:pPr>
                      <a:endParaRPr lang="es-E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92075" indent="0" algn="l" fontAlgn="ctr">
                        <a:buFontTx/>
                        <a:buNone/>
                        <a:tabLst/>
                      </a:pPr>
                      <a:r>
                        <a:rPr lang="es-ES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Largo plazo: </a:t>
                      </a:r>
                      <a:r>
                        <a:rPr lang="es-E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Construcción de un </a:t>
                      </a:r>
                      <a:r>
                        <a:rPr lang="es-ES" sz="1600" b="0" u="non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diccionario de términos </a:t>
                      </a:r>
                    </a:p>
                    <a:p>
                      <a:pPr marL="92075" indent="0" algn="l" fontAlgn="ctr">
                        <a:buFontTx/>
                        <a:buNone/>
                        <a:tabLst/>
                      </a:pPr>
                      <a:r>
                        <a:rPr lang="es-ES" sz="1600" b="0" u="non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Ancestrales, lograr más convenios con el SENA, </a:t>
                      </a:r>
                    </a:p>
                    <a:p>
                      <a:pPr marL="92075" indent="0" algn="l" fontAlgn="ctr">
                        <a:buFontTx/>
                        <a:buNone/>
                        <a:tabLst/>
                      </a:pPr>
                      <a:r>
                        <a:rPr lang="es-ES" sz="1600" b="0" u="non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participar en convocatorias, para fortalecerse. </a:t>
                      </a:r>
                    </a:p>
                    <a:p>
                      <a:pPr marL="92075" indent="0" algn="l" fontAlgn="ctr">
                        <a:buFontTx/>
                        <a:buNone/>
                        <a:tabLst/>
                      </a:pPr>
                      <a:endParaRPr lang="es-ES" sz="1000" b="1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82" marR="4782" marT="4782" marB="0" anchor="ctr">
                    <a:solidFill>
                      <a:srgbClr val="E7EAED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312088"/>
                  </a:ext>
                </a:extLst>
              </a:tr>
              <a:tr h="211465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Identificación de  aspectos cognitivos, éticos, comportamentales y competencias desarrolladas:   </a:t>
                      </a:r>
                    </a:p>
                    <a:p>
                      <a:endParaRPr lang="es-ES" sz="1600" b="1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 proyecto desarrolla competencias en botánica, emprendimiento y finanzas mediante el enfoque "aprender haciendo", logrando la creación de productos medicinales y aceites esenciales. Promueve el compromiso ético con la preservación de la cultura ancestral y la protección ambiental, vinculando activamente a las familias en cultivos caseros. Metodológicamente, integra la programación con </a:t>
                      </a:r>
                      <a:r>
                        <a:rPr lang="es-CO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Microbit</a:t>
                      </a: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para un aprendizaje interdisciplinar que potencia habilidades tecnológicas y prácticas.</a:t>
                      </a:r>
                      <a:endParaRPr lang="es-ES" sz="1600" b="1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761" marR="4782" marT="4782" marB="0" anchor="ctr">
                    <a:solidFill>
                      <a:srgbClr val="E7EAED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713013"/>
                  </a:ext>
                </a:extLst>
              </a:tr>
            </a:tbl>
          </a:graphicData>
        </a:graphic>
      </p:graphicFrame>
      <p:pic>
        <p:nvPicPr>
          <p:cNvPr id="5122" name="Picture 2">
            <a:extLst>
              <a:ext uri="{FF2B5EF4-FFF2-40B4-BE49-F238E27FC236}">
                <a16:creationId xmlns:a16="http://schemas.microsoft.com/office/drawing/2014/main" id="{DD469B6A-82C9-E5F6-9DAE-1B9BFBE8C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9308" y="1070239"/>
            <a:ext cx="2834268" cy="2834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4727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930566B5-0130-7C61-6B0C-83605E5308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5177329"/>
              </p:ext>
            </p:extLst>
          </p:nvPr>
        </p:nvGraphicFramePr>
        <p:xfrm>
          <a:off x="928816" y="1085103"/>
          <a:ext cx="10302754" cy="49806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4429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9458325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4980626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3350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Reorganiza instrumentos y mecanismos para dar a conocer la experiencia a otros establecimientos: propuesta, desarrollo, metodología y resultados.</a:t>
                      </a:r>
                    </a:p>
                    <a:p>
                      <a:pPr marL="133350" indent="0" algn="l" fontAlgn="ctr">
                        <a:tabLst/>
                      </a:pPr>
                      <a:endParaRPr lang="es-ES" sz="1600" b="1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33350" indent="0" algn="l" fontAlgn="ctr">
                        <a:tabLst/>
                      </a:pPr>
                      <a:endParaRPr lang="es-ES" sz="1800" u="none" strike="noStrike" dirty="0">
                        <a:effectLst/>
                      </a:endParaRPr>
                    </a:p>
                    <a:p>
                      <a:pPr marL="133350" lvl="0" indent="0">
                        <a:tabLst/>
                      </a:pPr>
                      <a:r>
                        <a:rPr lang="es-ES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Socialización digital: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33350" lvl="0" indent="0">
                        <a:tabLst/>
                      </a:pPr>
                      <a:endParaRPr lang="es-ES" sz="16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33350" lvl="0" indent="0">
                        <a:tabLst/>
                      </a:pPr>
                      <a:r>
                        <a:rPr lang="es-ES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Implementar estrategias</a:t>
                      </a:r>
                      <a:r>
                        <a:rPr lang="es-ES" sz="16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que permitan el </a:t>
                      </a:r>
                      <a:r>
                        <a:rPr lang="es-ES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intercambio de </a:t>
                      </a:r>
                    </a:p>
                    <a:p>
                      <a:pPr marL="133350" lvl="0" indent="0">
                        <a:tabLst/>
                      </a:pPr>
                      <a:r>
                        <a:rPr lang="es-ES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saberes comunitarios.</a:t>
                      </a:r>
                    </a:p>
                    <a:p>
                      <a:pPr marL="133350" lvl="0" indent="0">
                        <a:tabLst/>
                      </a:pPr>
                      <a:endParaRPr lang="es-ES" sz="16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33350" lvl="0" indent="0">
                        <a:tabLst/>
                      </a:pPr>
                      <a:r>
                        <a:rPr lang="es-ES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Comprometer a más  a los padres </a:t>
                      </a:r>
                    </a:p>
                    <a:p>
                      <a:pPr marL="133350" lvl="0" indent="0">
                        <a:tabLst/>
                      </a:pPr>
                      <a:r>
                        <a:rPr lang="es-ES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 familia en la realización de huertas caseras.</a:t>
                      </a:r>
                      <a:endParaRPr lang="en-US" sz="16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33350" lvl="0" indent="0">
                        <a:tabLst/>
                      </a:pP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33350" indent="0">
                        <a:tabLst/>
                      </a:pPr>
                      <a:r>
                        <a:rPr lang="es-E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Fortalecer la implementación de proyectos de aula vinculando </a:t>
                      </a:r>
                    </a:p>
                    <a:p>
                      <a:pPr marL="133350" indent="0">
                        <a:tabLst/>
                      </a:pPr>
                      <a:r>
                        <a:rPr lang="es-E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</a:t>
                      </a:r>
                      <a:r>
                        <a:rPr lang="es-ES" sz="16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grado cuarto de la sede y otras sedes</a:t>
                      </a:r>
                      <a:r>
                        <a:rPr lang="es-E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36525" indent="0">
                        <a:tabLst/>
                      </a:pPr>
                      <a:endParaRPr lang="es-CO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949291"/>
                  </a:ext>
                </a:extLst>
              </a:tr>
            </a:tbl>
          </a:graphicData>
        </a:graphic>
      </p:graphicFrame>
      <p:pic>
        <p:nvPicPr>
          <p:cNvPr id="2" name="Imagen 1">
            <a:extLst>
              <a:ext uri="{FF2B5EF4-FFF2-40B4-BE49-F238E27FC236}">
                <a16:creationId xmlns:a16="http://schemas.microsoft.com/office/drawing/2014/main" id="{7A0A5EDF-47E0-868C-FBBE-1B44DF5EE2D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4138" y="2579530"/>
            <a:ext cx="3574697" cy="3116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669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654966EF-9054-7954-0E6E-9F45A8C56B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973432"/>
              </p:ext>
            </p:extLst>
          </p:nvPr>
        </p:nvGraphicFramePr>
        <p:xfrm>
          <a:off x="944622" y="938687"/>
          <a:ext cx="10302754" cy="49806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4429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9458325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4980626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8425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Amplía la participación de la comunidad educativa </a:t>
                      </a:r>
                    </a:p>
                    <a:p>
                      <a:pPr marL="98425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mediante espacios de retroalimentación, socialización </a:t>
                      </a:r>
                    </a:p>
                    <a:p>
                      <a:pPr marL="98425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 validación como mecanismo de sostenibilidad </a:t>
                      </a:r>
                    </a:p>
                    <a:p>
                      <a:pPr marL="98425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institucional. </a:t>
                      </a:r>
                    </a:p>
                    <a:p>
                      <a:pPr marL="98425" indent="0" algn="l" fontAlgn="ctr">
                        <a:tabLst/>
                      </a:pPr>
                      <a:endParaRPr lang="es-ES" sz="1600" b="1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 propone fortalecer la participación de la comunidad </a:t>
                      </a: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educativa mediante espacios de retroalimentación y </a:t>
                      </a: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validación para garantizar la sostenibilidad institucional. </a:t>
                      </a: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También se plantea implementar la coevaluación entre pares, </a:t>
                      </a: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promover el diálogo reflexivo con padres de familia para </a:t>
                      </a: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fortalecer la medicina tradicional y las tradiciones culturales, </a:t>
                      </a: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 iniciar a los estudiantes en la investigación acción participativa. </a:t>
                      </a: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Además, se busca impulsar el emprendimiento, transversalizar </a:t>
                      </a: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temáticas en las distintas asignaturas, conservar el saber </a:t>
                      </a: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ancestral y promover una investigación práctica basada en </a:t>
                      </a: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 aprendizaje haciendo para valorar la medicina ancestral.</a:t>
                      </a:r>
                      <a:endParaRPr lang="es-ES" sz="160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949291"/>
                  </a:ext>
                </a:extLst>
              </a:tr>
            </a:tbl>
          </a:graphicData>
        </a:graphic>
      </p:graphicFrame>
      <p:pic>
        <p:nvPicPr>
          <p:cNvPr id="6146" name="Picture 2">
            <a:extLst>
              <a:ext uri="{FF2B5EF4-FFF2-40B4-BE49-F238E27FC236}">
                <a16:creationId xmlns:a16="http://schemas.microsoft.com/office/drawing/2014/main" id="{39AD77E6-8761-E4FA-539E-B2A20DFD1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7940" y="1449659"/>
            <a:ext cx="3231574" cy="4187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03535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204"/>
            <a:ext cx="12192000" cy="6858000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A3C3FB3C-D294-3145-C879-BB79752F7A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098735"/>
              </p:ext>
            </p:extLst>
          </p:nvPr>
        </p:nvGraphicFramePr>
        <p:xfrm>
          <a:off x="817684" y="1119500"/>
          <a:ext cx="10556632" cy="4834068"/>
        </p:xfrm>
        <a:graphic>
          <a:graphicData uri="http://schemas.openxmlformats.org/drawingml/2006/table">
            <a:tbl>
              <a:tblPr>
                <a:solidFill>
                  <a:srgbClr val="FFFFFF">
                    <a:alpha val="50196"/>
                  </a:srgbClr>
                </a:solidFill>
                <a:tableStyleId>{5C22544A-7EE6-4342-B048-85BDC9FD1C3A}</a:tableStyleId>
              </a:tblPr>
              <a:tblGrid>
                <a:gridCol w="882528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9674104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704033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  <a:p>
                      <a:pPr algn="ctr" fontAlgn="ctr"/>
                      <a:r>
                        <a:rPr lang="es-CO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Ó</a:t>
                      </a:r>
                      <a:endParaRPr lang="es-CO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4782" marR="4782" marT="4782" marB="0" anchor="ctr">
                    <a:solidFill>
                      <a:srgbClr val="E7EAED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8425" indent="0" algn="l" fontAlgn="ctr">
                        <a:tabLst/>
                      </a:pPr>
                      <a:endParaRPr lang="es-ES" sz="1600" b="1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8425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Identifica y reorganiza:</a:t>
                      </a:r>
                    </a:p>
                    <a:p>
                      <a:pPr marL="98425" indent="0" algn="l" fontAlgn="ctr">
                        <a:tabLst/>
                      </a:pPr>
                      <a:endParaRPr lang="es-E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82" marR="4782" marT="4782" marB="0" anchor="ctr">
                    <a:solidFill>
                      <a:srgbClr val="E7EAED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312088"/>
                  </a:ext>
                </a:extLst>
              </a:tr>
              <a:tr h="106219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s-ES" sz="16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Elementos conceptuales y metodologías para mejorar la gestión y la práctica pedagógica.</a:t>
                      </a:r>
                    </a:p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s-ES" sz="16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Elementos que permiten trascender como proyecto de investigación o acción, aportando nuevo conocimiento.</a:t>
                      </a:r>
                    </a:p>
                  </a:txBody>
                  <a:tcPr marL="114761" marR="4782" marT="4782" marB="0" anchor="ctr">
                    <a:solidFill>
                      <a:srgbClr val="E7EAED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713013"/>
                  </a:ext>
                </a:extLst>
              </a:tr>
              <a:tr h="303556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 innovación de </a:t>
                      </a:r>
                      <a:r>
                        <a:rPr lang="es-CO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Raíces Vivas</a:t>
                      </a: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integra sistemáticamente los saberes ancestrales de medicina tradicional al proceso escolar, superando la enseñanza fragmentada. Su enfoque intercultural y etnobotánico articula el valor del conocimiento comunitario con el saber científico y el currículo oficial, transformando la práctica pedagógica en un modelo contextualizado de alta relevancia social.</a:t>
                      </a:r>
                    </a:p>
                    <a:p>
                      <a:endParaRPr lang="es-CO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s-CO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 proyecto trasciende mediante un diálogo de saberes e interculturalidad, </a:t>
                      </a:r>
                    </a:p>
                    <a:p>
                      <a:r>
                        <a:rPr lang="es-CO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transversalizando la etnobotánica en áreas como Ciencias, Matemáticas y </a:t>
                      </a:r>
                    </a:p>
                    <a:p>
                      <a:r>
                        <a:rPr lang="es-CO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Emprendimiento. A través de la investigación escolar y el trabajo de campo, </a:t>
                      </a:r>
                    </a:p>
                    <a:p>
                      <a:r>
                        <a:rPr lang="es-CO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 integra a las familias en la creación de productos que unen experimentación </a:t>
                      </a:r>
                    </a:p>
                    <a:p>
                      <a:r>
                        <a:rPr lang="es-CO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 saberes ancestrales. Estos elementos transforman la gestión pedagógica, </a:t>
                      </a:r>
                    </a:p>
                    <a:p>
                      <a:r>
                        <a:rPr lang="es-CO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posicionando al estudiante como un investigador activo y al docente como </a:t>
                      </a:r>
                    </a:p>
                    <a:p>
                      <a:r>
                        <a:rPr lang="es-CO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guía de una práctica interdisciplinaria, colaborativa y contextualizada</a:t>
                      </a:r>
                    </a:p>
                  </a:txBody>
                  <a:tcPr marL="114761" marR="4782" marT="4782" marB="0" anchor="ctr">
                    <a:solidFill>
                      <a:srgbClr val="E7EAED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773483"/>
                  </a:ext>
                </a:extLst>
              </a:tr>
            </a:tbl>
          </a:graphicData>
        </a:graphic>
      </p:graphicFrame>
      <p:pic>
        <p:nvPicPr>
          <p:cNvPr id="2" name="Imagen 1">
            <a:extLst>
              <a:ext uri="{FF2B5EF4-FFF2-40B4-BE49-F238E27FC236}">
                <a16:creationId xmlns:a16="http://schemas.microsoft.com/office/drawing/2014/main" id="{EA443634-A9E3-FB5D-E511-4BC5EA1F44D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802"/>
          <a:stretch>
            <a:fillRect/>
          </a:stretch>
        </p:blipFill>
        <p:spPr>
          <a:xfrm>
            <a:off x="9021337" y="4067589"/>
            <a:ext cx="2173353" cy="1670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6680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3479</TotalTime>
  <Words>1777</Words>
  <Application>Microsoft Office PowerPoint</Application>
  <PresentationFormat>Panorámica</PresentationFormat>
  <Paragraphs>318</Paragraphs>
  <Slides>14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Century Gothic</vt:lpstr>
      <vt:lpstr>Tema de Office</vt:lpstr>
      <vt:lpstr>Raíces vivas – Etnobotánica Conocimiento Ancestral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Nombre de la Experiencia Significativa</dc:title>
  <dc:creator>Sebastian Santamaria</dc:creator>
  <cp:lastModifiedBy>CALIDAD-MEJORAMIENTO</cp:lastModifiedBy>
  <cp:revision>106</cp:revision>
  <dcterms:created xsi:type="dcterms:W3CDTF">2025-07-23T15:35:07Z</dcterms:created>
  <dcterms:modified xsi:type="dcterms:W3CDTF">2026-03-10T13:55:13Z</dcterms:modified>
</cp:coreProperties>
</file>