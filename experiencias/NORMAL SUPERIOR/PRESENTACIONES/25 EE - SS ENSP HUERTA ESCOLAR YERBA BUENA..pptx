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FUNDAMENTACIÓN</a:t>
          </a:r>
        </a:p>
      </dsp:txBody>
      <dsp:txXfrm>
        <a:off x="55173" y="61563"/>
        <a:ext cx="8119254" cy="1019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PERTINENCIA</a:t>
          </a:r>
        </a:p>
      </dsp:txBody>
      <dsp:txXfrm>
        <a:off x="55173" y="61563"/>
        <a:ext cx="8119254" cy="1019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600" b="1" kern="1200" dirty="0"/>
            <a:t>CONSISTENCIA</a:t>
          </a:r>
          <a:endParaRPr lang="es-CO" sz="4600" b="1" kern="1200" dirty="0"/>
        </a:p>
      </dsp:txBody>
      <dsp:txXfrm>
        <a:off x="55173" y="61563"/>
        <a:ext cx="8119254" cy="10198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MADUREZ</a:t>
          </a:r>
        </a:p>
      </dsp:txBody>
      <dsp:txXfrm>
        <a:off x="55173" y="61563"/>
        <a:ext cx="8119254" cy="10198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EMPODERAMIENTO</a:t>
          </a:r>
        </a:p>
      </dsp:txBody>
      <dsp:txXfrm>
        <a:off x="55173" y="61563"/>
        <a:ext cx="8119254" cy="10198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18675"/>
          <a:ext cx="8229600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500" b="1" kern="1200" dirty="0"/>
            <a:t>EVALUACIÓN Y SEGUIMIENTO</a:t>
          </a:r>
        </a:p>
      </dsp:txBody>
      <dsp:txXfrm>
        <a:off x="53973" y="72648"/>
        <a:ext cx="8121654" cy="997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RESULTADOS</a:t>
          </a:r>
        </a:p>
      </dsp:txBody>
      <dsp:txXfrm>
        <a:off x="55173" y="61563"/>
        <a:ext cx="8119254" cy="10198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TRANSFERENCIAS</a:t>
          </a:r>
        </a:p>
      </dsp:txBody>
      <dsp:txXfrm>
        <a:off x="55173" y="61563"/>
        <a:ext cx="8119254" cy="10198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SOSTENIBILIDAD</a:t>
          </a:r>
        </a:p>
      </dsp:txBody>
      <dsp:txXfrm>
        <a:off x="55173" y="55173"/>
        <a:ext cx="8119254" cy="10198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INNOVACIÓN</a:t>
          </a:r>
        </a:p>
      </dsp:txBody>
      <dsp:txXfrm>
        <a:off x="55173" y="61563"/>
        <a:ext cx="8119254" cy="10198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6390"/>
          <a:ext cx="8229600" cy="11302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600" b="1" kern="1200" dirty="0"/>
            <a:t>CRÉDITOS Y CONTACTO</a:t>
          </a:r>
        </a:p>
      </dsp:txBody>
      <dsp:txXfrm>
        <a:off x="55173" y="61563"/>
        <a:ext cx="8119254" cy="1019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jpe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3.wdp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3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/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2025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4400" b="1" dirty="0">
                <a:solidFill>
                  <a:schemeClr val="tx1"/>
                </a:solidFill>
              </a:rPr>
              <a:t>HUERTA ESCOLAR “HIERBA BUENA”</a:t>
            </a:r>
          </a:p>
          <a:p>
            <a:pPr algn="r"/>
            <a:r>
              <a:rPr lang="es-CO" dirty="0">
                <a:solidFill>
                  <a:schemeClr val="tx1"/>
                </a:solidFill>
              </a:rPr>
              <a:t>Ángel Flavio Andrade </a:t>
            </a:r>
            <a:r>
              <a:rPr lang="es-CO" dirty="0" err="1">
                <a:solidFill>
                  <a:schemeClr val="tx1"/>
                </a:solidFill>
              </a:rPr>
              <a:t>Betancourth</a:t>
            </a:r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MX" dirty="0"/>
              <a:t>Desde lo pedagógico y conceptual, se enmarca en el modelo socio-crítico y humanista que orienta la formación de la I.E. Normal Superior de Pitalito, promoviendo una educación integral, contextualizada y participativa.</a:t>
            </a:r>
          </a:p>
          <a:p>
            <a:pPr marL="0" indent="0" algn="ctr">
              <a:buNone/>
            </a:pPr>
            <a:r>
              <a:rPr lang="es-MX" dirty="0"/>
              <a:t>Se adopta la metodología de Aprendizaje Basado en Proyectos (ABP), que permite articular saberes disciplinares, saberes prácticos y contextuales, favoreciendo el aprendizaje significativo a través de “aprender haciendo”.</a:t>
            </a:r>
          </a:p>
          <a:p>
            <a:pPr marL="0" indent="0" algn="ctr">
              <a:buNone/>
            </a:pPr>
            <a:r>
              <a:rPr lang="es-MX" dirty="0"/>
              <a:t>En su dimensión institucional, la huerta se proyecta como parte del plan institucional de formación rural, integrando la práctica pedagógica, la educación ambiental, la seguridad alimentaria y la producción social de conocimientos.</a:t>
            </a:r>
          </a:p>
          <a:p>
            <a:pPr marL="0" indent="0" algn="ctr">
              <a:buNone/>
            </a:pPr>
            <a:r>
              <a:rPr lang="es-MX" dirty="0"/>
              <a:t>Conceptualmente, promueve la integración de conocimientos tradicionales, agroecológicos y científicos, así como la consciencia ambiental, el sentido de pertenencia territorial y la responsabilidad comunitaria.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53921"/>
            <a:ext cx="5288281" cy="37591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MX" dirty="0">
                <a:latin typeface="fkGroteskNeue"/>
              </a:rPr>
              <a:t>La iniciativa es pertinente frente a las condiciones del contexto local y a las necesidades institucionales y comunitarias por las siguientes razones: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En un contexto rural como el de Pitalito, es fundamental promover prácticas agroecológicas, seguridad alimentaria y educación ambiental, de modo que los estudiantes y la comunidad vinculen su formación con su entorno.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La huerta responde a la necesidad de transformar espacios verdes infrautilizados en ambientes formativos, productivos y de aprendizaje, integrando la comunidad educativa en procesos reales y significativos.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A nivel institucional, permite fortalecer la formación práctica y la vocación rural de los futuros maestros, brindándoles experiencias concretas que faciliten su inserción en escenarios rurales.</a:t>
            </a:r>
          </a:p>
          <a:p>
            <a:pPr marL="0" indent="0">
              <a:buNone/>
            </a:pPr>
            <a:r>
              <a:rPr lang="es-MX" dirty="0">
                <a:latin typeface="fkGroteskNeue"/>
              </a:rPr>
              <a:t>Asimismo, contribuye a la formación de valores como la solidaridad, el trabajo colaborativo, la sostenibilidad y la responsabilidad socioambiental — aspectos prioritarios en políticas educativas que buscan una educación pertinente al contexto.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EE3E04-B5FC-9749-0A49-3AFBAAF7B8C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2" y="2144000"/>
            <a:ext cx="5074920" cy="376911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4271095" y="2255520"/>
            <a:ext cx="7223760" cy="4860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La experiencia presenta una relación lógica y coherente entre sus objetivos, las acciones propuestas y los resultados esperados:</a:t>
            </a:r>
          </a:p>
          <a:p>
            <a:pPr marL="0" indent="0">
              <a:buFont typeface="Arial"/>
              <a:buNone/>
            </a:pPr>
            <a:endParaRPr lang="es-MX" dirty="0">
              <a:latin typeface="fkGroteskNeue"/>
            </a:endParaRPr>
          </a:p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Objetivo general y específicos están claramente orientados hacia la creación de una huerta escolar como medio para promover aprendizajes prácticos, seguridad alimentaria, hábitos saludables y formación integral.</a:t>
            </a:r>
          </a:p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Las acciones metodológicas (sensibilización, conformación de equipos, adecuación del espacio, trabajo en equipo, documentación, producción, etc.) son congruentes con dichos objetivos.</a:t>
            </a:r>
          </a:p>
          <a:p>
            <a:pPr marL="0" indent="0">
              <a:buFont typeface="Arial"/>
              <a:buNone/>
            </a:pPr>
            <a:endParaRPr lang="es-MX" dirty="0">
              <a:latin typeface="fkGroteskNeue"/>
            </a:endParaRPr>
          </a:p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Los resultados esperados (apropiación de contenidos aplicables, desarrollo de competencias, integración comunitaria, producción de alimentos, conciencia ambiental) se alinean directamente con la problemática identificada y los objetivos planteados.</a:t>
            </a:r>
          </a:p>
          <a:p>
            <a:pPr marL="0" indent="0">
              <a:buFont typeface="Arial"/>
              <a:buNone/>
            </a:pPr>
            <a:endParaRPr lang="es-MX" dirty="0">
              <a:latin typeface="fkGroteskNeue"/>
            </a:endParaRPr>
          </a:p>
          <a:p>
            <a:pPr marL="0" indent="0">
              <a:buFont typeface="Arial"/>
              <a:buNone/>
            </a:pPr>
            <a:r>
              <a:rPr lang="es-MX" dirty="0">
                <a:latin typeface="fkGroteskNeue"/>
              </a:rPr>
              <a:t>La estructura del proyecto permite articular de forma coherente componente pedagógico, comunitario, productivo y ambiental, garantizando que la experiencia sea integral y significativa.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CBA090A-032A-F9E4-5CE3-8EFA183644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2375550"/>
            <a:ext cx="3230880" cy="38333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153921"/>
            <a:ext cx="5059680" cy="3820159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s-MX" dirty="0"/>
              <a:t>La experiencia evidencia madurez a través de procesos de actualización, reorganización y mejora continua: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 parte de antecedentes institucionales exitosos (manejo de residuos, </a:t>
            </a:r>
            <a:r>
              <a:rPr lang="es-MX" dirty="0" err="1"/>
              <a:t>reuso</a:t>
            </a:r>
            <a:r>
              <a:rPr lang="es-MX" dirty="0"/>
              <a:t> de llantas, construcción de ladrillos plásticos), lo que demuestra un recorrido previo en proyectos ambientales y de sostenibilidad.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“Hierba Buena” no es un experimento aislado: se inserta en una trayectoria institucional de prácticas pedagógicas productivas, lo que permite consolidar aprendizajes, mejorar procedimientos y ajustar metodologías en función de la experiencia.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aplicación del ABP y la documentación constante permiten reflexionar críticamente sobre los procesos, realizar ajustes pertinentes y mejorar la organización de los equipos, tiempos y responsabilidades.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Este proceso de evolución gradual indica que la experiencia trasciende la novedad y tiende a consolidarse como una práctica institucional con madurez, estructura y visión de continuidad.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541939-CD2A-6D19-C06A-E34690129C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577" y="0"/>
            <a:ext cx="3090846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7BC31DE-7373-9F63-B699-A2F37E178A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577" y="0"/>
            <a:ext cx="3090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988821"/>
            <a:ext cx="5913120" cy="420592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s-MX" dirty="0"/>
              <a:t>La experiencia promueve la participación activa y el empoderamiento de los distintos actores de la comunidad educativa: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Estudiantes participan directamente en todas las fases: sensibilización, diseño, adecuación, producción, mantenimiento y evaluación de la huerta.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Docentes y directivos asumen roles de acompañamiento, orientación pedagógica y apoyo técnico, fomentando liderazgo institucional y compromiso colectivo.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comunidad educativa (y potencialmente familias y actores locales) se implica como parte del entorno de la huerta, promoviendo sentido de pertenencia, corresponsabilidad y trabajo colaborativo.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Esta participación colectiva refuerza la apropiación del proyecto, su legitimidad, su sentido de pertenencia y su valor como estrategia educativa transformadora.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9EF7CFD-4002-5B51-D323-8272D9924C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705" y="2174876"/>
            <a:ext cx="5619750" cy="37433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94" y="2688586"/>
            <a:ext cx="5852160" cy="4347847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s-MX" dirty="0"/>
              <a:t>La evaluación y el seguimiento de la experiencia se estructura mediante una metodología clara, con instrumentos para valorar y monitorear sus procesos: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 implementa un modelo de </a:t>
            </a:r>
            <a:r>
              <a:rPr lang="es-MX" b="1" dirty="0"/>
              <a:t>Investigación-Acción</a:t>
            </a:r>
            <a:r>
              <a:rPr lang="es-MX" dirty="0"/>
              <a:t>: con documentación continua de procesos, registros visuales y físicos, lo que permite un análisis reflexivo de avances, dificultades y aprendizajes.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 utiliza un enfoque mixto: </a:t>
            </a:r>
            <a:r>
              <a:rPr lang="es-MX" b="1" dirty="0"/>
              <a:t>cuantitativo</a:t>
            </a:r>
            <a:r>
              <a:rPr lang="es-MX" dirty="0"/>
              <a:t> (producción de alimentos, reducción de residuos, recolección de datos) y </a:t>
            </a:r>
            <a:r>
              <a:rPr lang="es-MX" b="1" dirty="0"/>
              <a:t>cualitativo</a:t>
            </a:r>
            <a:r>
              <a:rPr lang="es-MX" dirty="0"/>
              <a:t> (registro de experiencias, percepciones, testimonios, cambios de actitudes, conciencia ambiental).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 realizan informes periódicos, registros de actividades, listas de asistencia, bitácoras de trabajo, fotos, registros de producción y resultados comunitarios.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Los resultados y evidencias permiten realizar ajustes, reorganizar estrategias, redefinir tareas y mejorar la implementación en función del contexto, asegurando retroalimentación y mejora continua.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22A2D95-8D0A-82AC-4FE6-840B210D8B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7157" y="2419509"/>
            <a:ext cx="3860483" cy="386048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0481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1681"/>
            <a:ext cx="5410200" cy="416020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s-MX" dirty="0"/>
              <a:t>Hasta el momento, la experiencia “Huerta Escolar ‘Hierba Buena’” ha logrado: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consolidación de un espacio físico transformado: de zona verde contigua a salones a huerta escolar productiva.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generación de aprendizajes significativos: los estudiantes han aplicado conocimientos teóricos en contextos reales, desarrollando competencias prácticas, científicas y agroambientales.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fortalecimiento del sentido comunitario, el trabajo en equipo y la corresponsabilidad institucional.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Aportes concretos a la seguridad alimentaria y hábitos saludables: producción de alimentos frescos, sensibilización sobre alimentación sana y cuidado del entorno.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Mayor conciencia ambiental, compromiso con la sostenibilidad y reconocimiento del valor de prácticas productivas dentro del contexto educativo.</a:t>
            </a:r>
          </a:p>
          <a:p>
            <a:r>
              <a:rPr lang="es-MX" dirty="0"/>
              <a:t>Estos logros evidencian un impacto real y visible, coherente con los objetivos propuestos y las necesidades del contexto.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B9524AE-0B54-6450-09EA-18F80608A4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65" b="96483" l="6719" r="97031">
                        <a14:foregroundMark x1="44844" y1="73154" x2="88359" y2="78898"/>
                        <a14:foregroundMark x1="24063" y1="30012" x2="20234" y2="52755"/>
                        <a14:foregroundMark x1="20234" y1="52755" x2="26484" y2="85815"/>
                        <a14:foregroundMark x1="20078" y1="64244" x2="22578" y2="79250"/>
                        <a14:foregroundMark x1="22578" y1="79250" x2="27500" y2="91559"/>
                        <a14:foregroundMark x1="24063" y1="83118" x2="27187" y2="96717"/>
                        <a14:foregroundMark x1="30469" y1="96249" x2="36563" y2="95780"/>
                        <a14:foregroundMark x1="41406" y1="76905" x2="97109" y2="95076"/>
                        <a14:foregroundMark x1="7187" y1="33529" x2="6719" y2="48183"/>
                        <a14:foregroundMark x1="6719" y1="48183" x2="16797" y2="71278"/>
                        <a14:foregroundMark x1="52344" y1="58499" x2="92188" y2="77960"/>
                        <a14:foregroundMark x1="50313" y1="39742" x2="52188" y2="52286"/>
                        <a14:foregroundMark x1="52188" y1="52286" x2="51797" y2="66237"/>
                      </a14:backgroundRemoval>
                    </a14:imgEffect>
                  </a14:imgLayer>
                </a14:imgProps>
              </a:ext>
            </a:extLst>
          </a:blip>
          <a:srcRect t="9778" r="18051"/>
          <a:stretch/>
        </p:blipFill>
        <p:spPr>
          <a:xfrm>
            <a:off x="-9758" y="2174876"/>
            <a:ext cx="5670300" cy="416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94" y="2352993"/>
            <a:ext cx="5002616" cy="4505007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s-MX" dirty="0"/>
              <a:t>La experiencia es susceptible de ser replicada o adaptada en otros contextos o instituciones mediante los siguientes procesos: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Documentación clara y sistematizada (registros, bitácoras, informes, fotografías, protocolos), lo que facilita la transferencia del modelo.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Uso de la metodología ABP, la cual es aplicable en diversos contextos educativos rurales o urbanos.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Integración de componentes pedagógicos, comunitarios, productivos y ambientales — un enfoque integral que puede adaptarse según las condiciones de cada institución.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Posibilitar alianzas con otras escuelas, comunidades o instituciones locales para expandir el proyecto, compartiendo recursos, saberes y experiencias.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Diseño modular del proyecto que permite ajustarlo a distintas escalas: huertas escolares, proyectos de agroecología, unidades de aprendizaje interdisciplinarias, clubes ambientales, entre otros.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5A1A27-AB9A-DA05-6972-91175937531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843" t="22875" r="52250" b="16419"/>
          <a:stretch/>
        </p:blipFill>
        <p:spPr>
          <a:xfrm>
            <a:off x="5425440" y="2174877"/>
            <a:ext cx="5394338" cy="4010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B018B9E-C0E0-E17F-3871-A4025420BF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156" b="89956" l="9953" r="89988">
                        <a14:foregroundMark x1="59479" y1="5156" x2="58472" y2="18667"/>
                        <a14:foregroundMark x1="51066" y1="38222" x2="50829" y2="51911"/>
                        <a14:foregroundMark x1="50829" y1="51911" x2="58294" y2="64267"/>
                        <a14:foregroundMark x1="18780" y1="11111" x2="19668" y2="42222"/>
                        <a14:foregroundMark x1="19372" y1="11378" x2="23637" y2="21778"/>
                        <a14:foregroundMark x1="23223" y1="10044" x2="20261" y2="23822"/>
                        <a14:foregroundMark x1="22453" y1="11556" x2="35367" y2="19822"/>
                        <a14:foregroundMark x1="18306" y1="11378" x2="15284" y2="22489"/>
                        <a14:foregroundMark x1="15284" y1="22489" x2="17713" y2="39822"/>
                        <a14:foregroundMark x1="67950" y1="40711" x2="67536" y2="58133"/>
                        <a14:foregroundMark x1="67536" y1="58133" x2="59656" y2="81778"/>
                        <a14:foregroundMark x1="77844" y1="47822" x2="76836" y2="55644"/>
                        <a14:foregroundMark x1="76836" y1="55644" x2="70912" y2="72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25934" y="3111537"/>
            <a:ext cx="5621359" cy="374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216" y="2171701"/>
            <a:ext cx="6864264" cy="41224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MX" sz="1600" dirty="0"/>
              <a:t>Para garantizar la continuidad, consolidación y fortalecimiento de la huerta en el tiempo, se han previsto las siguientes estrategias: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Institucionalización del proyecto como parte del PRAE o currículo de la I.E., asegurando su permanencia más allá de ciclos particulares.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Promoción de la participación comunitaria, implicando estudiantes, docentes, directivos y familias, generando sentido de pertenencia, corresponsabilidad y compromiso colectivo.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Apoyo institucional (técnico y financiero) — asegurar recursos materiales, mantenimiento del espacio, insumos agrícolas, herramientas, acompañamiento pedagógico.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Formación continua: mediante el ABP, promover formación, capacitación y renovación de saberes, para mantener vivo el proyecto y adaptarlo a nuevas necesidades.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Visión de largo plazo: proyectar la huerta como parte de la identidad institucional, con objetivos de seguridad alimentaria, sostenibilidad ambiental, formación integral y desarrollo comunitario.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2D608CE-6476-8D38-9ADD-46EBAD4EDC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313" b="99766" l="7972" r="89918">
                        <a14:foregroundMark x1="21688" y1="6016" x2="27081" y2="14375"/>
                        <a14:foregroundMark x1="27081" y1="14375" x2="27667" y2="24219"/>
                        <a14:foregroundMark x1="17702" y1="18906" x2="12896" y2="31406"/>
                        <a14:foregroundMark x1="12896" y1="31406" x2="27315" y2="58203"/>
                        <a14:foregroundMark x1="11606" y1="24453" x2="7972" y2="37344"/>
                        <a14:foregroundMark x1="19343" y1="52188" x2="15709" y2="86016"/>
                        <a14:foregroundMark x1="28605" y1="64688" x2="39508" y2="80078"/>
                        <a14:foregroundMark x1="39508" y1="80078" x2="64127" y2="91094"/>
                        <a14:foregroundMark x1="64127" y1="91094" x2="75967" y2="87578"/>
                        <a14:foregroundMark x1="30012" y1="70000" x2="37632" y2="83516"/>
                        <a14:foregroundMark x1="37632" y1="83516" x2="59672" y2="93672"/>
                        <a14:foregroundMark x1="59672" y1="93672" x2="69285" y2="95078"/>
                        <a14:foregroundMark x1="26026" y1="81094" x2="36342" y2="92344"/>
                        <a14:foregroundMark x1="36342" y1="92344" x2="61313" y2="99766"/>
                        <a14:foregroundMark x1="18640" y1="5313" x2="15709" y2="15781"/>
                        <a14:foregroundMark x1="26612" y1="21328" x2="28605" y2="47813"/>
                        <a14:foregroundMark x1="29308" y1="17109" x2="39977" y2="26563"/>
                        <a14:foregroundMark x1="39977" y1="26563" x2="46307" y2="53594"/>
                        <a14:foregroundMark x1="44314" y1="21563" x2="49121" y2="32500"/>
                        <a14:foregroundMark x1="49121" y1="32500" x2="48652" y2="571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0120" y="309522"/>
            <a:ext cx="4549442" cy="623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2000888"/>
            <a:ext cx="5471160" cy="397732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s-MX" dirty="0"/>
              <a:t>La experiencia incorpora elementos novedosos, alineados con políticas educativas y con un enfoque creativo y transformador: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Transformación de un espacio verde infrautilizado en un recurso educativo vivo, integrando producción, pedagogía y comunidad.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Uso de metodología activa (ABP) para combinar teoría, práctica, contexto y vida real, facilitando aprendizajes significativos, relevantes y transformadores.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Integración de saberes tradicionales, agroecológicos y disciplinares, articulando educación, medio ambiente, salud, producción y comunidad.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Incorporación de prácticas productivas y agrícolas dentro del currículo educativo, fortaleciendo la pertinencia rural, la formación práctica y el compromiso social.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Consolidación de un proyecto pedagógico-productivo que trasciende lo académico, integrando formación, sostenibilidad, bienestar comunitario y desarrollo territorial.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46A97C9-1E1F-CBEC-E263-0622C62820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9333" l="10000" r="90000">
                        <a14:foregroundMark x1="16641" y1="88333" x2="54297" y2="83833"/>
                        <a14:foregroundMark x1="54297" y1="83833" x2="79375" y2="87333"/>
                        <a14:foregroundMark x1="79766" y1="50000" x2="80938" y2="73333"/>
                        <a14:foregroundMark x1="80938" y1="73333" x2="76719" y2="94333"/>
                        <a14:foregroundMark x1="31875" y1="43333" x2="23984" y2="44000"/>
                        <a14:foregroundMark x1="23984" y1="44000" x2="15547" y2="64000"/>
                        <a14:foregroundMark x1="15547" y1="64000" x2="17266" y2="87833"/>
                        <a14:foregroundMark x1="44141" y1="99333" x2="65000" y2="92667"/>
                        <a14:foregroundMark x1="50781" y1="90500" x2="55000" y2="88333"/>
                        <a14:foregroundMark x1="55000" y1="88333" x2="61016" y2="8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341" r="13384"/>
          <a:stretch/>
        </p:blipFill>
        <p:spPr>
          <a:xfrm>
            <a:off x="5730240" y="899160"/>
            <a:ext cx="6237055" cy="514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b="1" dirty="0" err="1"/>
              <a:t>Responsable</a:t>
            </a:r>
            <a:r>
              <a:rPr dirty="0"/>
              <a:t>: </a:t>
            </a:r>
            <a:r>
              <a:rPr lang="es-CO" dirty="0"/>
              <a:t>Ángel Flavio Andrade </a:t>
            </a:r>
            <a:r>
              <a:rPr lang="es-CO" dirty="0" err="1"/>
              <a:t>Betancourth</a:t>
            </a:r>
            <a:endParaRPr lang="es-CO" dirty="0"/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dirty="0"/>
              <a:t>flavio.andrade@normalpitalito.edu.co</a:t>
            </a:r>
          </a:p>
          <a:p>
            <a:pPr marL="0" indent="0" algn="ctr">
              <a:buNone/>
            </a:pPr>
            <a:r>
              <a:rPr b="1" dirty="0" err="1"/>
              <a:t>Teléfono</a:t>
            </a:r>
            <a:r>
              <a:rPr dirty="0"/>
              <a:t> </a:t>
            </a:r>
            <a:r>
              <a:rPr lang="es-CO" dirty="0"/>
              <a:t>3142710299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1457</Words>
  <Application>Microsoft Office PowerPoint</Application>
  <PresentationFormat>Panorámica</PresentationFormat>
  <Paragraphs>77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felix polo munar</cp:lastModifiedBy>
  <cp:revision>18</cp:revision>
  <dcterms:created xsi:type="dcterms:W3CDTF">2025-07-23T15:35:07Z</dcterms:created>
  <dcterms:modified xsi:type="dcterms:W3CDTF">2025-11-28T15:25:54Z</dcterms:modified>
</cp:coreProperties>
</file>