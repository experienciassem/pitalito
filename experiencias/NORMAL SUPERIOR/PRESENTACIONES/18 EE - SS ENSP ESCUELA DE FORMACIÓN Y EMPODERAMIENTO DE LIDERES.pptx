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89e1b36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c89e1b368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89e1b368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c89e1b3685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10" Type="http://schemas.openxmlformats.org/officeDocument/2006/relationships/image" Target="../media/image18.jpg"/><Relationship Id="rId9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15.png"/><Relationship Id="rId7" Type="http://schemas.openxmlformats.org/officeDocument/2006/relationships/image" Target="../media/image16.jpg"/><Relationship Id="rId8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hyperlink" Target="mailto:Zoraida.ordonez@normalpitalito.edu.co" TargetMode="External"/><Relationship Id="rId5" Type="http://schemas.openxmlformats.org/officeDocument/2006/relationships/image" Target="../media/image20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>
            <p:ph type="ctrTitle"/>
          </p:nvPr>
        </p:nvSpPr>
        <p:spPr>
          <a:xfrm>
            <a:off x="2484120" y="10382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s-MX"/>
              <a:t>Experiencia Significativa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3169920" y="5329079"/>
            <a:ext cx="6400800" cy="1147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s-MX">
                <a:solidFill>
                  <a:schemeClr val="dk1"/>
                </a:solidFill>
              </a:rPr>
              <a:t>I. E. M. Escuela Normal Superior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s-MX">
                <a:solidFill>
                  <a:schemeClr val="dk1"/>
                </a:solidFill>
              </a:rPr>
              <a:t>Pitalito – Huila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s-MX">
                <a:solidFill>
                  <a:schemeClr val="dk1"/>
                </a:solidFill>
              </a:rPr>
              <a:t>2025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85799" y="2974975"/>
            <a:ext cx="1019556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s-MX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Escuela de formación y empoderamiento de líderes estudiantiles normalistas para la participación democrática</a:t>
            </a:r>
            <a:endParaRPr/>
          </a:p>
          <a:p>
            <a:pPr indent="0" lvl="0" marL="0" marR="0" rtl="0" algn="r">
              <a:spcBef>
                <a:spcPts val="54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Alexer Zoraida Ordoñez Cruz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5">
            <a:alphaModFix/>
          </a:blip>
          <a:srcRect b="8152" l="51200" r="12164" t="0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116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4"/>
          <p:cNvGrpSpPr/>
          <p:nvPr/>
        </p:nvGrpSpPr>
        <p:grpSpPr>
          <a:xfrm>
            <a:off x="1645920" y="902678"/>
            <a:ext cx="8229600" cy="1130220"/>
            <a:chOff x="0" y="6390"/>
            <a:chExt cx="8229600" cy="1130220"/>
          </a:xfrm>
        </p:grpSpPr>
        <p:sp>
          <p:nvSpPr>
            <p:cNvPr id="96" name="Google Shape;96;p14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fmla="val 16667" name="adj"/>
              </a:avLst>
            </a:prstGeom>
            <a:solidFill>
              <a:srgbClr val="176B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250" lIns="175250" spcFirstLastPara="1" rIns="175250" wrap="square" tIns="17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b="1" i="0" lang="es-MX" sz="4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FUNDAMENTACIÓN</a:t>
              </a:r>
              <a:endParaRPr/>
            </a:p>
          </p:txBody>
        </p:sp>
      </p:grp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1097280" y="2212989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MX"/>
              <a:t>O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rienta</a:t>
            </a:r>
            <a:r>
              <a:rPr lang="es-MX"/>
              <a:t>da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MX"/>
              <a:t>       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-MX"/>
              <a:t>R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eferentes pedagógicos socio-críticos y humanistas 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MX"/>
              <a:t>E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studiante           </a:t>
            </a:r>
            <a:r>
              <a:rPr lang="es-MX"/>
              <a:t>S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ujeto activo en la construcción de ciudadanía y transformación social. 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5">
            <a:alphaModFix/>
          </a:blip>
          <a:srcRect b="8152" l="51200" r="12164" t="0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2856226" y="2318508"/>
            <a:ext cx="708300" cy="28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3008626" y="3465695"/>
            <a:ext cx="708300" cy="28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46900" y="4284925"/>
            <a:ext cx="8487300" cy="27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</a:rPr>
              <a:t>Fundamentada en:</a:t>
            </a:r>
            <a:endParaRPr sz="2800">
              <a:solidFill>
                <a:schemeClr val="dk1"/>
              </a:solidFill>
            </a:endParaRPr>
          </a:p>
          <a:p>
            <a:pPr indent="-40640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-MX" sz="2800">
                <a:solidFill>
                  <a:schemeClr val="dk1"/>
                </a:solidFill>
              </a:rPr>
              <a:t>Participación democrática, </a:t>
            </a:r>
            <a:endParaRPr sz="2800">
              <a:solidFill>
                <a:schemeClr val="dk1"/>
              </a:solidFill>
            </a:endParaRPr>
          </a:p>
          <a:p>
            <a:pPr indent="-406400" lvl="0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-MX" sz="2800">
                <a:solidFill>
                  <a:schemeClr val="dk1"/>
                </a:solidFill>
              </a:rPr>
              <a:t>Liderazgo estudiantil 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</a:rPr>
              <a:t>Donde se dinamiza la capacidad de influencia positiva y el empoderamiento para asumir roles protagónicos.</a:t>
            </a:r>
            <a:endParaRPr/>
          </a:p>
        </p:txBody>
      </p:sp>
      <p:pic>
        <p:nvPicPr>
          <p:cNvPr id="104" name="Google Shape;104;p14" title="WhatsApp Image 2026-02-17 at 8.13.23 A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26874" y="2213000"/>
            <a:ext cx="2263228" cy="4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116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" name="Google Shape;110;p15"/>
          <p:cNvGrpSpPr/>
          <p:nvPr/>
        </p:nvGrpSpPr>
        <p:grpSpPr>
          <a:xfrm>
            <a:off x="1645920" y="902678"/>
            <a:ext cx="8229600" cy="1130100"/>
            <a:chOff x="0" y="6390"/>
            <a:chExt cx="8229600" cy="1130100"/>
          </a:xfrm>
        </p:grpSpPr>
        <p:sp>
          <p:nvSpPr>
            <p:cNvPr id="111" name="Google Shape;111;p15"/>
            <p:cNvSpPr/>
            <p:nvPr/>
          </p:nvSpPr>
          <p:spPr>
            <a:xfrm>
              <a:off x="0" y="6390"/>
              <a:ext cx="8229600" cy="1130100"/>
            </a:xfrm>
            <a:prstGeom prst="roundRect">
              <a:avLst>
                <a:gd fmla="val 16667" name="adj"/>
              </a:avLst>
            </a:prstGeom>
            <a:solidFill>
              <a:srgbClr val="176B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55173" y="61563"/>
              <a:ext cx="8119200" cy="10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250" lIns="175250" spcFirstLastPara="1" rIns="175250" wrap="square" tIns="17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b="1" i="0" lang="es-MX" sz="4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FUNDAMENTACIÓN</a:t>
              </a:r>
              <a:endParaRPr/>
            </a:p>
          </p:txBody>
        </p:sp>
      </p:grpSp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1645920" y="2212989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Metodológicamente se us</a:t>
            </a:r>
            <a:r>
              <a:rPr lang="es-MX"/>
              <a:t>a:</a:t>
            </a:r>
            <a:endParaRPr/>
          </a:p>
          <a:p>
            <a:pPr indent="-34290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❖"/>
            </a:pPr>
            <a:r>
              <a:rPr lang="es-MX"/>
              <a:t>P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rácticas participativas</a:t>
            </a:r>
            <a:endParaRPr/>
          </a:p>
          <a:p>
            <a:pPr indent="-342900" lvl="0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MX"/>
              <a:t>C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omunicación grupal</a:t>
            </a:r>
            <a:endParaRPr/>
          </a:p>
          <a:p>
            <a:pPr indent="-342900" lvl="0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MX"/>
              <a:t>C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apacitación</a:t>
            </a:r>
            <a:endParaRPr/>
          </a:p>
          <a:p>
            <a:pPr indent="-342900" lvl="0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MX"/>
              <a:t>A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rticulación interdisciplinar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MX"/>
              <a:t>F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ortaleciendo</a:t>
            </a:r>
            <a:r>
              <a:rPr lang="es-MX"/>
              <a:t>:</a:t>
            </a:r>
            <a:endParaRPr/>
          </a:p>
          <a:p>
            <a:pPr indent="-342900" lvl="0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s-MX"/>
              <a:t>T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rabajo en equipo</a:t>
            </a:r>
            <a:r>
              <a:rPr lang="es-MX"/>
              <a:t>.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342900" lvl="0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s-MX"/>
              <a:t>T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oma de decisiones </a:t>
            </a:r>
            <a:endParaRPr/>
          </a:p>
          <a:p>
            <a:pPr indent="-342900" lvl="0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s-MX"/>
              <a:t>E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jercicio democrático</a:t>
            </a:r>
            <a:endParaRPr/>
          </a:p>
          <a:p>
            <a:pPr indent="-342900" lvl="0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s-MX"/>
              <a:t>La </a:t>
            </a:r>
            <a:r>
              <a:rPr lang="es-MX"/>
              <a:t>vocería</a:t>
            </a:r>
            <a:r>
              <a:rPr lang="es-MX"/>
              <a:t> y la </a:t>
            </a:r>
            <a:r>
              <a:rPr lang="es-MX"/>
              <a:t>representación</a:t>
            </a:r>
            <a:r>
              <a:rPr lang="es-MX"/>
              <a:t> digna de su comunidad.</a:t>
            </a:r>
            <a:endParaRPr/>
          </a:p>
        </p:txBody>
      </p:sp>
      <p:pic>
        <p:nvPicPr>
          <p:cNvPr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05" y="5730875"/>
            <a:ext cx="922190" cy="949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 rotWithShape="1">
          <a:blip r:embed="rId5">
            <a:alphaModFix/>
          </a:blip>
          <a:srcRect b="8155" l="51197" r="12166" t="0"/>
          <a:stretch/>
        </p:blipFill>
        <p:spPr>
          <a:xfrm>
            <a:off x="9339885" y="-64819"/>
            <a:ext cx="2852116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65276" y="2352424"/>
            <a:ext cx="4163700" cy="32724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l">
              <a:srgbClr val="000000">
                <a:alpha val="451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6"/>
          <p:cNvGrpSpPr/>
          <p:nvPr/>
        </p:nvGrpSpPr>
        <p:grpSpPr>
          <a:xfrm>
            <a:off x="1668780" y="666550"/>
            <a:ext cx="8229600" cy="1130220"/>
            <a:chOff x="0" y="6390"/>
            <a:chExt cx="8229600" cy="113022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fmla="val 16667" name="adj"/>
              </a:avLst>
            </a:prstGeom>
            <a:solidFill>
              <a:srgbClr val="E97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250" lIns="175250" spcFirstLastPara="1" rIns="175250" wrap="square" tIns="17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b="1" i="0" lang="es-MX" sz="4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PERTINENCIA</a:t>
              </a:r>
              <a:endParaRPr/>
            </a:p>
          </p:txBody>
        </p:sp>
      </p:grp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1068625" y="2153925"/>
            <a:ext cx="4905600" cy="4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>
                <a:latin typeface="Arial"/>
                <a:ea typeface="Arial"/>
                <a:cs typeface="Arial"/>
                <a:sym typeface="Arial"/>
              </a:rPr>
              <a:t>Responde a la problemática de desmotivación y pasividad en la participación democrática escolar en un contexto de alta matrícula, diversidad cultural y presión académica.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>
                <a:latin typeface="Arial"/>
                <a:ea typeface="Arial"/>
                <a:cs typeface="Arial"/>
                <a:sym typeface="Arial"/>
              </a:rPr>
              <a:t>Busca recuperar el protagonismo estudiantil superando prácticas meramente formales y administrativas, fomentando competencias socioemocionales, ciudadanas y liderazgo transformador en estudiantes de secundaria, media y programa complementario.</a:t>
            </a:r>
            <a:endParaRPr/>
          </a:p>
        </p:txBody>
      </p:sp>
      <p:pic>
        <p:nvPicPr>
          <p:cNvPr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 rotWithShape="1">
          <a:blip r:embed="rId5">
            <a:alphaModFix/>
          </a:blip>
          <a:srcRect b="8152" l="51200" r="12164" t="0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 rotWithShape="1">
          <a:blip r:embed="rId6">
            <a:alphaModFix/>
          </a:blip>
          <a:srcRect b="15995" l="1839" r="9743" t="13819"/>
          <a:stretch/>
        </p:blipFill>
        <p:spPr>
          <a:xfrm>
            <a:off x="6193300" y="2153925"/>
            <a:ext cx="5707800" cy="40197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l">
              <a:srgbClr val="000000">
                <a:alpha val="45098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7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17"/>
          <p:cNvGrpSpPr/>
          <p:nvPr/>
        </p:nvGrpSpPr>
        <p:grpSpPr>
          <a:xfrm>
            <a:off x="1828800" y="1035408"/>
            <a:ext cx="8229600" cy="1130220"/>
            <a:chOff x="0" y="6390"/>
            <a:chExt cx="8229600" cy="1130220"/>
          </a:xfrm>
        </p:grpSpPr>
        <p:sp>
          <p:nvSpPr>
            <p:cNvPr id="135" name="Google Shape;135;p17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fmla="val 16667" name="adj"/>
              </a:avLst>
            </a:prstGeom>
            <a:solidFill>
              <a:srgbClr val="176B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250" lIns="175250" spcFirstLastPara="1" rIns="175250" wrap="square" tIns="17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b="1" i="0" lang="es-MX" sz="4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CONSISTENCIA</a:t>
              </a:r>
              <a:endParaRPr b="1" i="0" sz="4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17"/>
          <p:cNvSpPr txBox="1"/>
          <p:nvPr/>
        </p:nvSpPr>
        <p:spPr>
          <a:xfrm>
            <a:off x="5638800" y="2506980"/>
            <a:ext cx="6080760" cy="3848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</a:t>
            </a:r>
            <a:r>
              <a:rPr b="1" i="0" lang="es-MX" sz="3200" u="none" cap="none" strike="noStrike">
                <a:solidFill>
                  <a:schemeClr val="dk1"/>
                </a:solidFill>
              </a:rPr>
              <a:t>objetivos </a:t>
            </a: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interrelacionados con las acciones de: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s-MX" sz="3200">
                <a:solidFill>
                  <a:schemeClr val="dk1"/>
                </a:solidFill>
              </a:rPr>
              <a:t>A</a:t>
            </a: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sesoría</a:t>
            </a:r>
            <a:endParaRPr sz="3200">
              <a:solidFill>
                <a:schemeClr val="dk1"/>
              </a:solidFill>
            </a:endParaRPr>
          </a:p>
          <a:p>
            <a:pPr indent="-4318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s-MX" sz="3200">
                <a:solidFill>
                  <a:schemeClr val="dk1"/>
                </a:solidFill>
              </a:rPr>
              <a:t>C</a:t>
            </a: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apacitación</a:t>
            </a:r>
            <a:endParaRPr sz="3200">
              <a:solidFill>
                <a:schemeClr val="dk1"/>
              </a:solidFill>
            </a:endParaRPr>
          </a:p>
          <a:p>
            <a:pPr indent="-4318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s-MX" sz="3200">
                <a:solidFill>
                  <a:schemeClr val="dk1"/>
                </a:solidFill>
              </a:rPr>
              <a:t>O</a:t>
            </a: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rganización electoral</a:t>
            </a:r>
            <a:endParaRPr sz="3200">
              <a:solidFill>
                <a:schemeClr val="dk1"/>
              </a:solidFill>
            </a:endParaRPr>
          </a:p>
          <a:p>
            <a:pPr indent="-4318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s-MX" sz="3200">
                <a:solidFill>
                  <a:schemeClr val="dk1"/>
                </a:solidFill>
              </a:rPr>
              <a:t>E</a:t>
            </a: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xtensión a escenarios externos. </a:t>
            </a:r>
            <a:endParaRPr/>
          </a:p>
          <a:p>
            <a:pPr indent="0" lvl="0" marL="0" marR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/>
          <p:cNvPicPr preferRelativeResize="0"/>
          <p:nvPr/>
        </p:nvPicPr>
        <p:blipFill rotWithShape="1">
          <a:blip r:embed="rId5">
            <a:alphaModFix/>
          </a:blip>
          <a:srcRect b="8152" l="51200" r="12164" t="0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/>
          <p:cNvPicPr preferRelativeResize="0"/>
          <p:nvPr/>
        </p:nvPicPr>
        <p:blipFill rotWithShape="1">
          <a:blip r:embed="rId6">
            <a:alphaModFix/>
          </a:blip>
          <a:srcRect b="11668" l="0" r="10249" t="0"/>
          <a:stretch/>
        </p:blipFill>
        <p:spPr>
          <a:xfrm>
            <a:off x="926025" y="2347175"/>
            <a:ext cx="4543500" cy="40080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l">
              <a:srgbClr val="000000">
                <a:alpha val="45098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7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8"/>
          <p:cNvGrpSpPr/>
          <p:nvPr/>
        </p:nvGrpSpPr>
        <p:grpSpPr>
          <a:xfrm>
            <a:off x="1828800" y="1035408"/>
            <a:ext cx="8229600" cy="1130100"/>
            <a:chOff x="0" y="6390"/>
            <a:chExt cx="8229600" cy="1130100"/>
          </a:xfrm>
        </p:grpSpPr>
        <p:sp>
          <p:nvSpPr>
            <p:cNvPr id="147" name="Google Shape;147;p18"/>
            <p:cNvSpPr/>
            <p:nvPr/>
          </p:nvSpPr>
          <p:spPr>
            <a:xfrm>
              <a:off x="0" y="6390"/>
              <a:ext cx="8229600" cy="1130100"/>
            </a:xfrm>
            <a:prstGeom prst="roundRect">
              <a:avLst>
                <a:gd fmla="val 16667" name="adj"/>
              </a:avLst>
            </a:prstGeom>
            <a:solidFill>
              <a:srgbClr val="176B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55173" y="61563"/>
              <a:ext cx="8119200" cy="10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250" lIns="175250" spcFirstLastPara="1" rIns="175250" wrap="square" tIns="17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b="1" i="0" lang="es-MX" sz="4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CONSISTENCIA</a:t>
              </a:r>
              <a:endParaRPr b="1" i="0" sz="4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" name="Google Shape;149;p18"/>
          <p:cNvSpPr txBox="1"/>
          <p:nvPr/>
        </p:nvSpPr>
        <p:spPr>
          <a:xfrm>
            <a:off x="5638800" y="2506980"/>
            <a:ext cx="60807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s-MX" sz="3200">
                <a:solidFill>
                  <a:schemeClr val="dk1"/>
                </a:solidFill>
              </a:rPr>
              <a:t>R</a:t>
            </a:r>
            <a:r>
              <a:rPr b="1" i="0" lang="es-MX" sz="3200" u="none" cap="none" strike="noStrike">
                <a:solidFill>
                  <a:schemeClr val="dk1"/>
                </a:solidFill>
              </a:rPr>
              <a:t>esultados</a:t>
            </a: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3200">
              <a:solidFill>
                <a:schemeClr val="dk1"/>
              </a:solidFill>
            </a:endParaRPr>
          </a:p>
          <a:p>
            <a:pPr indent="-431800" lvl="0" marL="1371600" marR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s-MX" sz="3200">
                <a:solidFill>
                  <a:schemeClr val="dk1"/>
                </a:solidFill>
              </a:rPr>
              <a:t>Se r</a:t>
            </a: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eflejan mayor motivación </a:t>
            </a:r>
            <a:r>
              <a:rPr lang="es-MX" sz="3200">
                <a:solidFill>
                  <a:schemeClr val="dk1"/>
                </a:solidFill>
              </a:rPr>
              <a:t>L</a:t>
            </a: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egitimidad</a:t>
            </a:r>
            <a:endParaRPr sz="3200">
              <a:solidFill>
                <a:schemeClr val="dk1"/>
              </a:solidFill>
            </a:endParaRPr>
          </a:p>
          <a:p>
            <a:pPr indent="-431800" lvl="0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s-MX" sz="3200">
                <a:solidFill>
                  <a:schemeClr val="dk1"/>
                </a:solidFill>
              </a:rPr>
              <a:t>C</a:t>
            </a: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apacidad de gestión estudiantil</a:t>
            </a:r>
            <a:r>
              <a:rPr lang="es-MX" sz="3200">
                <a:solidFill>
                  <a:schemeClr val="dk1"/>
                </a:solidFill>
              </a:rPr>
              <a:t>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MX" sz="3200">
                <a:solidFill>
                  <a:schemeClr val="dk1"/>
                </a:solidFill>
              </a:rPr>
              <a:t>Así se evidencia </a:t>
            </a: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armonía entre: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1371600" marR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3200"/>
              <a:buChar char="❖"/>
            </a:pPr>
            <a:r>
              <a:rPr lang="es-MX" sz="3200">
                <a:solidFill>
                  <a:schemeClr val="dk1"/>
                </a:solidFill>
              </a:rPr>
              <a:t>O</a:t>
            </a: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bjetivos</a:t>
            </a:r>
            <a:endParaRPr sz="3200">
              <a:solidFill>
                <a:schemeClr val="dk1"/>
              </a:solidFill>
            </a:endParaRPr>
          </a:p>
          <a:p>
            <a:pPr indent="-431800" lvl="0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❖"/>
            </a:pPr>
            <a:r>
              <a:rPr lang="es-MX" sz="3200">
                <a:solidFill>
                  <a:schemeClr val="dk1"/>
                </a:solidFill>
              </a:rPr>
              <a:t>A</a:t>
            </a: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cciones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❖"/>
            </a:pPr>
            <a:r>
              <a:rPr lang="es-MX" sz="3200">
                <a:solidFill>
                  <a:schemeClr val="dk1"/>
                </a:solidFill>
              </a:rPr>
              <a:t>L</a:t>
            </a:r>
            <a:r>
              <a:rPr b="0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ogros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05" y="5730875"/>
            <a:ext cx="922190" cy="949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5">
            <a:alphaModFix/>
          </a:blip>
          <a:srcRect b="8155" l="51197" r="12166" t="0"/>
          <a:stretch/>
        </p:blipFill>
        <p:spPr>
          <a:xfrm>
            <a:off x="9339885" y="-2857"/>
            <a:ext cx="2852116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 rotWithShape="1">
          <a:blip r:embed="rId6">
            <a:alphaModFix/>
          </a:blip>
          <a:srcRect b="11668" l="0" r="10249" t="0"/>
          <a:stretch/>
        </p:blipFill>
        <p:spPr>
          <a:xfrm>
            <a:off x="926025" y="2347175"/>
            <a:ext cx="4543500" cy="40080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l">
              <a:srgbClr val="000000">
                <a:alpha val="451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19"/>
          <p:cNvGrpSpPr/>
          <p:nvPr/>
        </p:nvGrpSpPr>
        <p:grpSpPr>
          <a:xfrm>
            <a:off x="1737360" y="669648"/>
            <a:ext cx="8229600" cy="1130220"/>
            <a:chOff x="0" y="6390"/>
            <a:chExt cx="8229600" cy="1130220"/>
          </a:xfrm>
        </p:grpSpPr>
        <p:sp>
          <p:nvSpPr>
            <p:cNvPr id="159" name="Google Shape;159;p19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fmla="val 16667" name="adj"/>
              </a:avLst>
            </a:prstGeom>
            <a:solidFill>
              <a:srgbClr val="E97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250" lIns="175250" spcFirstLastPara="1" rIns="175250" wrap="square" tIns="17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b="1" i="0" lang="es-MX" sz="4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MADUREZ</a:t>
              </a:r>
              <a:endParaRPr/>
            </a:p>
          </p:txBody>
        </p:sp>
      </p:grpSp>
      <p:sp>
        <p:nvSpPr>
          <p:cNvPr id="161" name="Google Shape;161;p19"/>
          <p:cNvSpPr txBox="1"/>
          <p:nvPr>
            <p:ph idx="1" type="body"/>
          </p:nvPr>
        </p:nvSpPr>
        <p:spPr>
          <a:xfrm>
            <a:off x="1146900" y="2163776"/>
            <a:ext cx="5059800" cy="43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El proceso ha evolucionado desde el cumplimiento legal hacia un enfoque formativo integral y dinámico.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La evaluación continua mediante instrumentos mixtos orienta ajustes metodológicos reforzando la práctica pedagógica y la cultura democrática, demostrando consolidación y madurez de la experiencia.</a:t>
            </a:r>
            <a:endParaRPr/>
          </a:p>
        </p:txBody>
      </p:sp>
      <p:pic>
        <p:nvPicPr>
          <p:cNvPr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/>
          <p:cNvPicPr preferRelativeResize="0"/>
          <p:nvPr/>
        </p:nvPicPr>
        <p:blipFill rotWithShape="1">
          <a:blip r:embed="rId5">
            <a:alphaModFix/>
          </a:blip>
          <a:srcRect b="8152" l="51200" r="12164" t="0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5600" y="1952942"/>
            <a:ext cx="3542181" cy="42418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l">
              <a:srgbClr val="000000">
                <a:alpha val="45098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20"/>
          <p:cNvGrpSpPr/>
          <p:nvPr/>
        </p:nvGrpSpPr>
        <p:grpSpPr>
          <a:xfrm>
            <a:off x="1981200" y="669648"/>
            <a:ext cx="8229600" cy="1130220"/>
            <a:chOff x="0" y="6390"/>
            <a:chExt cx="8229600" cy="1130220"/>
          </a:xfrm>
        </p:grpSpPr>
        <p:sp>
          <p:nvSpPr>
            <p:cNvPr id="171" name="Google Shape;171;p20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fmla="val 16667" name="adj"/>
              </a:avLst>
            </a:prstGeom>
            <a:solidFill>
              <a:srgbClr val="145F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250" lIns="175250" spcFirstLastPara="1" rIns="175250" wrap="square" tIns="17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b="1" i="0" lang="es-MX" sz="4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EMPODERAMIENTO</a:t>
              </a:r>
              <a:endParaRPr/>
            </a:p>
          </p:txBody>
        </p:sp>
      </p:grpSp>
      <p:sp>
        <p:nvSpPr>
          <p:cNvPr id="173" name="Google Shape;173;p20"/>
          <p:cNvSpPr txBox="1"/>
          <p:nvPr>
            <p:ph idx="1" type="body"/>
          </p:nvPr>
        </p:nvSpPr>
        <p:spPr>
          <a:xfrm>
            <a:off x="5760720" y="1988821"/>
            <a:ext cx="5913120" cy="4205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Participación activa de estudiantes líderes</a:t>
            </a:r>
            <a:r>
              <a:rPr lang="es-MX"/>
              <a:t> con acompañamiento constante,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MX"/>
              <a:t>donde se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MX"/>
              <a:t>legitima 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y da continuidad al proceso.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Los estudiantes asumen roles protagónicos</a:t>
            </a:r>
            <a:r>
              <a:rPr lang="es-MX"/>
              <a:t>,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 participativos y </a:t>
            </a:r>
            <a:r>
              <a:rPr lang="es-MX"/>
              <a:t>de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 liderazgo</a:t>
            </a:r>
            <a:r>
              <a:rPr lang="es-MX"/>
              <a:t>, 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comprometidos </a:t>
            </a:r>
            <a:r>
              <a:rPr lang="es-MX"/>
              <a:t>con 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la comunidad </a:t>
            </a:r>
            <a:r>
              <a:rPr lang="es-MX"/>
              <a:t>que representan.</a:t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 rotWithShape="1">
          <a:blip r:embed="rId5">
            <a:alphaModFix/>
          </a:blip>
          <a:srcRect b="8152" l="51200" r="12164" t="0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 rotWithShape="1">
          <a:blip r:embed="rId6">
            <a:alphaModFix/>
          </a:blip>
          <a:srcRect b="24602" l="0" r="0" t="0"/>
          <a:stretch/>
        </p:blipFill>
        <p:spPr>
          <a:xfrm>
            <a:off x="1146900" y="2089055"/>
            <a:ext cx="4413350" cy="4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21"/>
          <p:cNvGrpSpPr/>
          <p:nvPr/>
        </p:nvGrpSpPr>
        <p:grpSpPr>
          <a:xfrm>
            <a:off x="1981200" y="913399"/>
            <a:ext cx="8229600" cy="1247837"/>
            <a:chOff x="0" y="18675"/>
            <a:chExt cx="8229600" cy="1105650"/>
          </a:xfrm>
        </p:grpSpPr>
        <p:sp>
          <p:nvSpPr>
            <p:cNvPr id="183" name="Google Shape;183;p21"/>
            <p:cNvSpPr/>
            <p:nvPr/>
          </p:nvSpPr>
          <p:spPr>
            <a:xfrm>
              <a:off x="0" y="18675"/>
              <a:ext cx="8229600" cy="1105650"/>
            </a:xfrm>
            <a:prstGeom prst="roundRect">
              <a:avLst>
                <a:gd fmla="val 16667" name="adj"/>
              </a:avLst>
            </a:prstGeom>
            <a:solidFill>
              <a:srgbClr val="E97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1"/>
            <p:cNvSpPr txBox="1"/>
            <p:nvPr/>
          </p:nvSpPr>
          <p:spPr>
            <a:xfrm>
              <a:off x="53973" y="72648"/>
              <a:ext cx="8121654" cy="997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450" lIns="171450" spcFirstLastPara="1" rIns="171450" wrap="square" tIns="171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500"/>
                <a:buFont typeface="Arial"/>
                <a:buNone/>
              </a:pPr>
              <a:r>
                <a:rPr b="1" i="0" lang="es-MX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EVALUACIÓN Y SEGUIMIENTO</a:t>
              </a:r>
              <a:endParaRPr/>
            </a:p>
          </p:txBody>
        </p:sp>
      </p:grpSp>
      <p:sp>
        <p:nvSpPr>
          <p:cNvPr id="185" name="Google Shape;185;p21"/>
          <p:cNvSpPr txBox="1"/>
          <p:nvPr>
            <p:ph idx="1" type="body"/>
          </p:nvPr>
        </p:nvSpPr>
        <p:spPr>
          <a:xfrm>
            <a:off x="1223094" y="2419294"/>
            <a:ext cx="5303520" cy="3860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Se emplean listas de chequeo, rúbricas, bitácoras, registros audiovisuales, encuestas y entrevistas para captar aspectos cuantitativos y cualitativos.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La participación de múltiples actores y la socialización de resultados fortalecen la autorreflexión y ajustes metodológicos, posicionando la evaluación como eje formativo en el PEI.</a:t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 rotWithShape="1">
          <a:blip r:embed="rId5">
            <a:alphaModFix/>
          </a:blip>
          <a:srcRect b="8152" l="51200" r="12164" t="0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6">
            <a:alphaModFix/>
          </a:blip>
          <a:srcRect b="14081" l="0" r="7278" t="0"/>
          <a:stretch/>
        </p:blipFill>
        <p:spPr>
          <a:xfrm>
            <a:off x="6409175" y="2343925"/>
            <a:ext cx="5402051" cy="375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30481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2"/>
          <p:cNvGrpSpPr/>
          <p:nvPr/>
        </p:nvGrpSpPr>
        <p:grpSpPr>
          <a:xfrm>
            <a:off x="1981200" y="692508"/>
            <a:ext cx="8229600" cy="1130220"/>
            <a:chOff x="0" y="6390"/>
            <a:chExt cx="8229600" cy="1130220"/>
          </a:xfrm>
        </p:grpSpPr>
        <p:sp>
          <p:nvSpPr>
            <p:cNvPr id="195" name="Google Shape;195;p22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fmla="val 16667" name="adj"/>
              </a:avLst>
            </a:prstGeom>
            <a:solidFill>
              <a:srgbClr val="145F1D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2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250" lIns="175250" spcFirstLastPara="1" rIns="175250" wrap="square" tIns="17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b="1" i="0" lang="es-MX" sz="4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RESULTADOS</a:t>
              </a:r>
              <a:endParaRPr/>
            </a:p>
          </p:txBody>
        </p:sp>
      </p:grp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6096000" y="2011681"/>
            <a:ext cx="5410200" cy="4160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Avances en organización electoral con voto electrónico, asesoría a gobiernos estudiantiles y realización de encuentros de líderes.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Resultados incluyen fortalecimiento de gestión, autonomía y visibilidad del liderazgo, incrementos en participación electoral y continuidad de proyectos, consolidando la cultura democrática y proyección institucional.</a:t>
            </a:r>
            <a:endParaRPr/>
          </a:p>
        </p:txBody>
      </p:sp>
      <p:pic>
        <p:nvPicPr>
          <p:cNvPr id="198" name="Google Shape;19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 rotWithShape="1">
          <a:blip r:embed="rId5">
            <a:alphaModFix/>
          </a:blip>
          <a:srcRect b="8152" l="51200" r="12164" t="0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799" y="2152015"/>
            <a:ext cx="5145510" cy="3578859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l">
              <a:srgbClr val="000000">
                <a:alpha val="45098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" name="Google Shape;206;p23"/>
          <p:cNvGrpSpPr/>
          <p:nvPr/>
        </p:nvGrpSpPr>
        <p:grpSpPr>
          <a:xfrm>
            <a:off x="1805940" y="829668"/>
            <a:ext cx="8229600" cy="1130220"/>
            <a:chOff x="0" y="6390"/>
            <a:chExt cx="8229600" cy="1130220"/>
          </a:xfrm>
        </p:grpSpPr>
        <p:sp>
          <p:nvSpPr>
            <p:cNvPr id="207" name="Google Shape;207;p23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fmla="val 16667" name="adj"/>
              </a:avLst>
            </a:prstGeom>
            <a:solidFill>
              <a:srgbClr val="E9713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3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250" lIns="175250" spcFirstLastPara="1" rIns="175250" wrap="square" tIns="17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b="1" i="0" lang="es-MX" sz="4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TRANSFERENCIAS</a:t>
              </a:r>
              <a:endParaRPr/>
            </a:p>
          </p:txBody>
        </p:sp>
      </p:grpSp>
      <p:sp>
        <p:nvSpPr>
          <p:cNvPr id="209" name="Google Shape;209;p23"/>
          <p:cNvSpPr txBox="1"/>
          <p:nvPr>
            <p:ph idx="1" type="body"/>
          </p:nvPr>
        </p:nvSpPr>
        <p:spPr>
          <a:xfrm>
            <a:off x="905662" y="2174877"/>
            <a:ext cx="4321658" cy="3859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Replicación mediante talleres de capacitación, guías didácticas y asesorías. Socialización en revistas, encuentros académicos y medios digitales amplía impacto.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Adaptabilidad de contenidos permite implementación en contextos diversas, consolidando un modelo pedagógico transferible y funcional.</a:t>
            </a:r>
            <a:endParaRPr/>
          </a:p>
        </p:txBody>
      </p:sp>
      <p:pic>
        <p:nvPicPr>
          <p:cNvPr id="210" name="Google Shape;2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/>
          <p:cNvPicPr preferRelativeResize="0"/>
          <p:nvPr/>
        </p:nvPicPr>
        <p:blipFill rotWithShape="1">
          <a:blip r:embed="rId5">
            <a:alphaModFix/>
          </a:blip>
          <a:srcRect b="8152" l="51200" r="12164" t="0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12725" y="2078975"/>
            <a:ext cx="5890150" cy="4230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p24"/>
          <p:cNvGrpSpPr/>
          <p:nvPr/>
        </p:nvGrpSpPr>
        <p:grpSpPr>
          <a:xfrm>
            <a:off x="1981200" y="846138"/>
            <a:ext cx="8229600" cy="1130220"/>
            <a:chOff x="0" y="0"/>
            <a:chExt cx="8229600" cy="1130220"/>
          </a:xfrm>
        </p:grpSpPr>
        <p:sp>
          <p:nvSpPr>
            <p:cNvPr id="219" name="Google Shape;219;p24"/>
            <p:cNvSpPr/>
            <p:nvPr/>
          </p:nvSpPr>
          <p:spPr>
            <a:xfrm>
              <a:off x="0" y="0"/>
              <a:ext cx="8229600" cy="1130220"/>
            </a:xfrm>
            <a:prstGeom prst="roundRect">
              <a:avLst>
                <a:gd fmla="val 16667" name="adj"/>
              </a:avLst>
            </a:prstGeom>
            <a:solidFill>
              <a:srgbClr val="145F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4"/>
            <p:cNvSpPr txBox="1"/>
            <p:nvPr/>
          </p:nvSpPr>
          <p:spPr>
            <a:xfrm>
              <a:off x="55173" y="5517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250" lIns="175250" spcFirstLastPara="1" rIns="175250" wrap="square" tIns="17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b="1" i="0" lang="es-MX" sz="4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SOSTENIBILIDAD</a:t>
              </a:r>
              <a:endParaRPr/>
            </a:p>
          </p:txBody>
        </p:sp>
      </p:grpSp>
      <p:sp>
        <p:nvSpPr>
          <p:cNvPr id="221" name="Google Shape;221;p24"/>
          <p:cNvSpPr txBox="1"/>
          <p:nvPr>
            <p:ph idx="1" type="body"/>
          </p:nvPr>
        </p:nvSpPr>
        <p:spPr>
          <a:xfrm>
            <a:off x="5836920" y="2171701"/>
            <a:ext cx="5516880" cy="4122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Garantizada por integración al PEI, compromiso docente, respaldo institucional y apoyo comunitario. Recursos incluyen espacio físico, dotación básica y gestión de apoyos externos.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Innovación continua con tecnología y producción de módulos asegura pertinencia y adaptación a nuevas demandas.</a:t>
            </a:r>
            <a:endParaRPr/>
          </a:p>
        </p:txBody>
      </p:sp>
      <p:pic>
        <p:nvPicPr>
          <p:cNvPr id="222" name="Google Shape;22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4"/>
          <p:cNvPicPr preferRelativeResize="0"/>
          <p:nvPr/>
        </p:nvPicPr>
        <p:blipFill rotWithShape="1">
          <a:blip r:embed="rId5">
            <a:alphaModFix/>
          </a:blip>
          <a:srcRect b="8152" l="51200" r="12164" t="0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247009" y="2944857"/>
            <a:ext cx="4405146" cy="2936764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l">
              <a:srgbClr val="000000">
                <a:alpha val="45098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p25"/>
          <p:cNvGrpSpPr/>
          <p:nvPr/>
        </p:nvGrpSpPr>
        <p:grpSpPr>
          <a:xfrm>
            <a:off x="1981200" y="783948"/>
            <a:ext cx="8229600" cy="1130220"/>
            <a:chOff x="0" y="6390"/>
            <a:chExt cx="8229600" cy="1130220"/>
          </a:xfrm>
        </p:grpSpPr>
        <p:sp>
          <p:nvSpPr>
            <p:cNvPr id="231" name="Google Shape;231;p25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fmla="val 16667" name="adj"/>
              </a:avLst>
            </a:prstGeom>
            <a:solidFill>
              <a:srgbClr val="E97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5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250" lIns="175250" spcFirstLastPara="1" rIns="175250" wrap="square" tIns="17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b="1" i="0" lang="es-MX" sz="4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INNOVACIÓN</a:t>
              </a:r>
              <a:endParaRPr/>
            </a:p>
          </p:txBody>
        </p:sp>
      </p:grpSp>
      <p:sp>
        <p:nvSpPr>
          <p:cNvPr id="233" name="Google Shape;233;p25"/>
          <p:cNvSpPr txBox="1"/>
          <p:nvPr>
            <p:ph idx="1" type="body"/>
          </p:nvPr>
        </p:nvSpPr>
        <p:spPr>
          <a:xfrm>
            <a:off x="899160" y="2103121"/>
            <a:ext cx="5471160" cy="3977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Incorpora educación democrática como proceso formativo más allá del cumplimiento legal mediante metodologías activas como aprendizaje basado en proyectos, trabajo colaborativo y voto electrónico.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Uso de plataformas y espacios comunitarios dinamizan participación y fortalecen competencias ciudadanas y comunicativas.</a:t>
            </a:r>
            <a:endParaRPr/>
          </a:p>
        </p:txBody>
      </p:sp>
      <p:pic>
        <p:nvPicPr>
          <p:cNvPr id="234" name="Google Shape;2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5"/>
          <p:cNvPicPr preferRelativeResize="0"/>
          <p:nvPr/>
        </p:nvPicPr>
        <p:blipFill rotWithShape="1">
          <a:blip r:embed="rId5">
            <a:alphaModFix/>
          </a:blip>
          <a:srcRect b="8152" l="51200" r="12164" t="0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8200" y="4252913"/>
            <a:ext cx="9048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5382971" y="2740953"/>
            <a:ext cx="4278173" cy="285211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8" name="Google Shape;23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8022" y="1873329"/>
            <a:ext cx="3736898" cy="249126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9" name="Google Shape;239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39413" y="5738813"/>
            <a:ext cx="9048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73350" y="3711973"/>
            <a:ext cx="3740109" cy="2493406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6"/>
          <p:cNvGrpSpPr/>
          <p:nvPr/>
        </p:nvGrpSpPr>
        <p:grpSpPr>
          <a:xfrm>
            <a:off x="2217420" y="715368"/>
            <a:ext cx="8229600" cy="1130220"/>
            <a:chOff x="0" y="6390"/>
            <a:chExt cx="8229600" cy="1130220"/>
          </a:xfrm>
        </p:grpSpPr>
        <p:sp>
          <p:nvSpPr>
            <p:cNvPr id="247" name="Google Shape;247;p26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fmla="val 16667" name="adj"/>
              </a:avLst>
            </a:prstGeom>
            <a:solidFill>
              <a:srgbClr val="145F1D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250" lIns="175250" spcFirstLastPara="1" rIns="175250" wrap="square" tIns="17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b="1" i="0" lang="es-MX" sz="4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CRÉDITOS Y CONTACTO</a:t>
              </a:r>
              <a:endParaRPr/>
            </a:p>
          </p:txBody>
        </p:sp>
      </p:grpSp>
      <p:sp>
        <p:nvSpPr>
          <p:cNvPr id="249" name="Google Shape;249;p26"/>
          <p:cNvSpPr txBox="1"/>
          <p:nvPr>
            <p:ph idx="1" type="body"/>
          </p:nvPr>
        </p:nvSpPr>
        <p:spPr>
          <a:xfrm>
            <a:off x="2217420" y="203454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MX"/>
              <a:t>Responsable</a:t>
            </a:r>
            <a:r>
              <a:rPr lang="es-MX"/>
              <a:t>: Alexer Zoraida Ordoñez Cruz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MX"/>
              <a:t>Correo: z</a:t>
            </a:r>
            <a:r>
              <a:rPr lang="es-MX" u="sng">
                <a:solidFill>
                  <a:schemeClr val="hlink"/>
                </a:solidFill>
                <a:hlinkClick r:id="rId4"/>
              </a:rPr>
              <a:t>oraida.ordonez@normalpitalito.edu.co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MX"/>
              <a:t>Teléfono</a:t>
            </a:r>
            <a:r>
              <a:rPr lang="es-MX"/>
              <a:t> 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3133238343</a:t>
            </a:r>
            <a:endParaRPr/>
          </a:p>
        </p:txBody>
      </p:sp>
      <p:pic>
        <p:nvPicPr>
          <p:cNvPr id="250" name="Google Shape;25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6"/>
          <p:cNvPicPr preferRelativeResize="0"/>
          <p:nvPr/>
        </p:nvPicPr>
        <p:blipFill rotWithShape="1">
          <a:blip r:embed="rId6">
            <a:alphaModFix/>
          </a:blip>
          <a:srcRect b="8152" l="51200" r="12164" t="0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