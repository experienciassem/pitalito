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9" r:id="rId9"/>
    <p:sldId id="262" r:id="rId10"/>
    <p:sldId id="267" r:id="rId11"/>
    <p:sldId id="263" r:id="rId12"/>
    <p:sldId id="264" r:id="rId13"/>
    <p:sldId id="268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 custLinFactNeighborX="-2073" custLinFactNeighborY="-34429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5687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00A88D-4D66-45B0-A212-B5AE1434E03F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A2D39-158B-4950-AD4E-44C656F30E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0960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A2D39-158B-4950-AD4E-44C656F30E4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874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diagramData" Target="../diagrams/data1.xml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jpg"/><Relationship Id="rId1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5" Type="http://schemas.openxmlformats.org/officeDocument/2006/relationships/diagramQuickStyle" Target="../diagrams/quickStyle1.xml"/><Relationship Id="rId10" Type="http://schemas.openxmlformats.org/officeDocument/2006/relationships/image" Target="../media/image7.jpeg"/><Relationship Id="rId4" Type="http://schemas.openxmlformats.org/officeDocument/2006/relationships/image" Target="../media/image2.png"/><Relationship Id="rId9" Type="http://schemas.openxmlformats.org/officeDocument/2006/relationships/image" Target="../media/image6.jpeg"/><Relationship Id="rId1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image" Target="../media/image10.jpg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diagramLayout" Target="../diagrams/layout2.xml"/><Relationship Id="rId5" Type="http://schemas.microsoft.com/office/2007/relationships/hdphoto" Target="../media/hdphoto1.wdp"/><Relationship Id="rId10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openxmlformats.org/officeDocument/2006/relationships/image" Target="../media/image12.jpg"/><Relationship Id="rId14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4.jp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1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jp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Relationship Id="rId1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image" Target="../media/image1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2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Relationship Id="rId1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4.jp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6.jp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2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28.jpe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image" Target="../media/image27.jpg"/><Relationship Id="rId2" Type="http://schemas.openxmlformats.org/officeDocument/2006/relationships/image" Target="../media/image1.png"/><Relationship Id="rId16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1.xml"/><Relationship Id="rId15" Type="http://schemas.openxmlformats.org/officeDocument/2006/relationships/image" Target="../media/image30.jpg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Relationship Id="rId1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gabriel.ruano@normalpitalito.edu.co" TargetMode="External"/><Relationship Id="rId13" Type="http://schemas.openxmlformats.org/officeDocument/2006/relationships/image" Target="../media/image4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3.png"/><Relationship Id="rId5" Type="http://schemas.openxmlformats.org/officeDocument/2006/relationships/diagramQuickStyle" Target="../diagrams/quickStyle12.xml"/><Relationship Id="rId10" Type="http://schemas.openxmlformats.org/officeDocument/2006/relationships/image" Target="../media/image2.png"/><Relationship Id="rId4" Type="http://schemas.openxmlformats.org/officeDocument/2006/relationships/diagramLayout" Target="../diagrams/layout12.xml"/><Relationship Id="rId9" Type="http://schemas.openxmlformats.org/officeDocument/2006/relationships/hyperlink" Target="mailto:Julian.rodriguez@normalpitalito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899478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58053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1783080" y="2691130"/>
            <a:ext cx="8778240" cy="24398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Centro de Recursos Informáticos y Tecnológicos para la Innovación, la Creatividad y el Conocimiento (K)</a:t>
            </a:r>
          </a:p>
          <a:p>
            <a:r>
              <a:rPr lang="es-CO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Esp. Gabriel </a:t>
            </a:r>
            <a:r>
              <a:rPr lang="es-CO" sz="3200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Ancízar</a:t>
            </a:r>
            <a:r>
              <a:rPr lang="es-CO" sz="32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Ruano Guerrero y Mg. Julián Alberto Rodríguez Sotel</a:t>
            </a:r>
            <a:r>
              <a:rPr lang="es-CO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</a:p>
          <a:p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EF4BA0E-AED7-3E2B-F942-ABBF04147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pic>
        <p:nvPicPr>
          <p:cNvPr id="3" name="Marcador de contenido 9">
            <a:extLst>
              <a:ext uri="{FF2B5EF4-FFF2-40B4-BE49-F238E27FC236}">
                <a16:creationId xmlns:a16="http://schemas.microsoft.com/office/drawing/2014/main" id="{53B6C5D1-B712-09CE-4B75-BC4E3CB0322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2"/>
          <a:stretch/>
        </p:blipFill>
        <p:spPr>
          <a:xfrm rot="6222325">
            <a:off x="6746213" y="2701264"/>
            <a:ext cx="4255276" cy="2338634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7E4D27B-CFE9-F960-5EBB-CB8745CBB4DC}"/>
              </a:ext>
            </a:extLst>
          </p:cNvPr>
          <p:cNvSpPr txBox="1">
            <a:spLocks/>
          </p:cNvSpPr>
          <p:nvPr/>
        </p:nvSpPr>
        <p:spPr>
          <a:xfrm>
            <a:off x="1112168" y="2471661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experiencia se fundamenta en enfoques socio-críticos y en la enseñanza para la comprensión, que promueven la formación integral, la participación activa y la reflexión crítica del contexto. Se sustenta en la misión del PEI de formar docentes competentes en TIC y en la visión institucional de consolidar una escuela innovadora, pertinente y comprometida con el contexto digital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32DA6A-EFC1-501C-4812-1D3F26303E49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84208">
            <a:off x="6815755" y="2186358"/>
            <a:ext cx="3814938" cy="28612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5CFAF5F-8E34-BA24-7350-50E18B7184F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419" y="1853031"/>
            <a:ext cx="2753875" cy="367183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C9B2485-EB89-9271-97A4-2AD7A49759A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56030">
            <a:off x="7056565" y="2209770"/>
            <a:ext cx="3944471" cy="29583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DDED258-15BF-2FAE-2657-318E9475CA1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8" t="22701" r="8982"/>
          <a:stretch/>
        </p:blipFill>
        <p:spPr>
          <a:xfrm>
            <a:off x="6506426" y="2177514"/>
            <a:ext cx="5015014" cy="3022863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446748"/>
              </p:ext>
            </p:extLst>
          </p:nvPr>
        </p:nvGraphicFramePr>
        <p:xfrm>
          <a:off x="1727423" y="802217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5ADE741-62B8-074B-84AB-66EAA7F19E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sp>
        <p:nvSpPr>
          <p:cNvPr id="14" name="Marcador de contenido 5">
            <a:extLst>
              <a:ext uri="{FF2B5EF4-FFF2-40B4-BE49-F238E27FC236}">
                <a16:creationId xmlns:a16="http://schemas.microsoft.com/office/drawing/2014/main" id="{E4C8DD7E-33D9-747A-C1A8-88D59E433D12}"/>
              </a:ext>
            </a:extLst>
          </p:cNvPr>
          <p:cNvSpPr txBox="1">
            <a:spLocks/>
          </p:cNvSpPr>
          <p:nvPr/>
        </p:nvSpPr>
        <p:spPr>
          <a:xfrm>
            <a:off x="6661992" y="2220848"/>
            <a:ext cx="5153608" cy="316856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experiencia responde a las necesidades del entorno, rompiendo la comunicación vertical y empoderando a los estudiantes como líderes.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Marcador de contenido 7">
            <a:extLst>
              <a:ext uri="{FF2B5EF4-FFF2-40B4-BE49-F238E27FC236}">
                <a16:creationId xmlns:a16="http://schemas.microsoft.com/office/drawing/2014/main" id="{1110DC1C-D1E1-10B3-0271-50E7EC04A2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8488" y="1776917"/>
            <a:ext cx="2947367" cy="39298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19CA4AE-D9F0-7430-7AF1-42CD26947DD6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087401">
            <a:off x="3356714" y="2988442"/>
            <a:ext cx="3660679" cy="27455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31D28DE-3925-688F-F1CD-FACD3E6A9A28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70" r="3865" b="15294"/>
          <a:stretch/>
        </p:blipFill>
        <p:spPr>
          <a:xfrm>
            <a:off x="988880" y="3558326"/>
            <a:ext cx="3204882" cy="28597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8" name="Marcador de contenido 7">
            <a:extLst>
              <a:ext uri="{FF2B5EF4-FFF2-40B4-BE49-F238E27FC236}">
                <a16:creationId xmlns:a16="http://schemas.microsoft.com/office/drawing/2014/main" id="{C1FA3FB3-6ED5-13D5-9C72-AFEE0FCB277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28044" y="1840217"/>
            <a:ext cx="2947367" cy="39298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16B5046-5393-7F37-0316-D305A1ACBC0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70" r="3865" b="15294"/>
          <a:stretch/>
        </p:blipFill>
        <p:spPr>
          <a:xfrm>
            <a:off x="1158436" y="3621626"/>
            <a:ext cx="3204882" cy="28597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5863442"/>
              </p:ext>
            </p:extLst>
          </p:nvPr>
        </p:nvGraphicFramePr>
        <p:xfrm>
          <a:off x="1981200" y="520013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001219"/>
              </p:ext>
            </p:extLst>
          </p:nvPr>
        </p:nvGraphicFramePr>
        <p:xfrm>
          <a:off x="1714500" y="64006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8EE2E6E-DBD0-C991-509D-14D50CE10B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pic>
        <p:nvPicPr>
          <p:cNvPr id="3" name="Marcador de contenido 7">
            <a:extLst>
              <a:ext uri="{FF2B5EF4-FFF2-40B4-BE49-F238E27FC236}">
                <a16:creationId xmlns:a16="http://schemas.microsoft.com/office/drawing/2014/main" id="{C67250C5-9090-43C6-1EB2-DD9D5907C888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164" y="2388372"/>
            <a:ext cx="3697941" cy="27757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5B4BE7C-EDFB-8CCA-A1E1-EF713BC49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5915" y="2590578"/>
            <a:ext cx="4387952" cy="33530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experiencia se articula con la metodología institucional y se ajusta constantemente mediante la autoevaluación.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C7132D3-37CB-6E8B-6005-081D84C6335D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30344">
            <a:off x="7914771" y="2223174"/>
            <a:ext cx="3976522" cy="29848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A57B8E0-20BA-87E0-4356-8205DD1817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46CD48B-9F63-8386-B477-95D76DCB7190}"/>
              </a:ext>
            </a:extLst>
          </p:cNvPr>
          <p:cNvSpPr txBox="1">
            <a:spLocks/>
          </p:cNvSpPr>
          <p:nvPr/>
        </p:nvSpPr>
        <p:spPr>
          <a:xfrm>
            <a:off x="6584344" y="2191085"/>
            <a:ext cx="4869180" cy="370744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 largo de sus 13 años de existencia (2012 - 2025), la iniciativa ha evolucionado, adaptándose a nuevos avances tecnológicos y necesidades emergentes.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Marcador de contenido 7">
            <a:extLst>
              <a:ext uri="{FF2B5EF4-FFF2-40B4-BE49-F238E27FC236}">
                <a16:creationId xmlns:a16="http://schemas.microsoft.com/office/drawing/2014/main" id="{6BA2DBD3-8B49-7DB1-A233-1CD7445BBB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1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4444"/>
            <a:ext cx="3769824" cy="1493929"/>
          </a:xfr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9F049DB-F442-2F23-BCDC-06F3F92A5B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13" b="20841"/>
          <a:stretch/>
        </p:blipFill>
        <p:spPr>
          <a:xfrm>
            <a:off x="2057399" y="3265559"/>
            <a:ext cx="4217138" cy="149392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025AD6A-EB9E-052C-D96F-6A4DDDF82AA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" t="20752" r="5196" b="24594"/>
          <a:stretch/>
        </p:blipFill>
        <p:spPr>
          <a:xfrm>
            <a:off x="838200" y="4940260"/>
            <a:ext cx="3769824" cy="123814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070F4327-50EE-3C75-ED20-477AB5315C9C}"/>
              </a:ext>
            </a:extLst>
          </p:cNvPr>
          <p:cNvSpPr txBox="1"/>
          <p:nvPr/>
        </p:nvSpPr>
        <p:spPr>
          <a:xfrm>
            <a:off x="4921624" y="2076697"/>
            <a:ext cx="103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</a:t>
            </a:r>
            <a:endParaRPr lang="es-CO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0653049-74B6-BCB4-1AC1-864C0EB8557B}"/>
              </a:ext>
            </a:extLst>
          </p:cNvPr>
          <p:cNvSpPr txBox="1"/>
          <p:nvPr/>
        </p:nvSpPr>
        <p:spPr>
          <a:xfrm>
            <a:off x="959221" y="3795438"/>
            <a:ext cx="103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  <a:endParaRPr lang="es-CO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84066E3-59B2-D34E-0014-D92E0CEB5536}"/>
              </a:ext>
            </a:extLst>
          </p:cNvPr>
          <p:cNvSpPr txBox="1"/>
          <p:nvPr/>
        </p:nvSpPr>
        <p:spPr>
          <a:xfrm>
            <a:off x="4921624" y="5313758"/>
            <a:ext cx="1031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  <a:endParaRPr lang="es-CO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19B5681-937D-3D3F-C678-E40430A3D7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BC56B74-0285-21E1-FB35-925B92DBA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174083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involucra a estudiantes, padres, docentes y el sector productivo, generando un equipo interdisciplinario.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Marcador de contenido 11">
            <a:extLst>
              <a:ext uri="{FF2B5EF4-FFF2-40B4-BE49-F238E27FC236}">
                <a16:creationId xmlns:a16="http://schemas.microsoft.com/office/drawing/2014/main" id="{22131E73-3006-5C88-F512-47012831695A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59783"/>
            <a:ext cx="5181600" cy="34544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B7384DF-7086-3E76-6FCA-08CB9D371D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sp>
        <p:nvSpPr>
          <p:cNvPr id="10" name="Marcador de contenido 5">
            <a:extLst>
              <a:ext uri="{FF2B5EF4-FFF2-40B4-BE49-F238E27FC236}">
                <a16:creationId xmlns:a16="http://schemas.microsoft.com/office/drawing/2014/main" id="{11BEA5E3-30AC-5589-A066-8C3BDE5D6A7A}"/>
              </a:ext>
            </a:extLst>
          </p:cNvPr>
          <p:cNvSpPr txBox="1">
            <a:spLocks/>
          </p:cNvSpPr>
          <p:nvPr/>
        </p:nvSpPr>
        <p:spPr>
          <a:xfrm>
            <a:off x="6426230" y="2539533"/>
            <a:ext cx="5666918" cy="304838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proceso es continuo, con evaluaciones periódicas y retroalimentación constante para mejorar.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Marcador de contenido 7">
            <a:extLst>
              <a:ext uri="{FF2B5EF4-FFF2-40B4-BE49-F238E27FC236}">
                <a16:creationId xmlns:a16="http://schemas.microsoft.com/office/drawing/2014/main" id="{AEE3C407-DCA1-9A92-1B55-0891BAF5120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2539533"/>
            <a:ext cx="5037105" cy="37778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42CF-F355-E011-095C-3E2B07C5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099E915-7869-31E7-8645-4F08ADEE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31012F5-DD8D-2876-1DAE-E8D977917E7E}"/>
              </a:ext>
            </a:extLst>
          </p:cNvPr>
          <p:cNvGraphicFramePr/>
          <p:nvPr/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F7B6D4-ABCB-A07B-054F-8EDD644856A2}"/>
              </a:ext>
            </a:extLst>
          </p:cNvPr>
          <p:cNvSpPr txBox="1">
            <a:spLocks/>
          </p:cNvSpPr>
          <p:nvPr/>
        </p:nvSpPr>
        <p:spPr>
          <a:xfrm>
            <a:off x="1981200" y="250698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s-MX" b="1" dirty="0"/>
              <a:t>Criterios alineados al propósito de análisis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Los criterios utilizados en CRITIK corresponden directamente al objetivo de evaluar la calidad, pertinencia y solidez del proyecto o experiencia.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Preguntas críticas coherentes y pertinentes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Cada pregunta del instrumento se relaciona de forma lógica con los componentes evaluados (coherencia, pertinencia, impacto, metodología, evidencia, etc.).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Relación clara entre análisis y conclusiones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Las reflexiones obtenidas a través de CRITIK se conectan con las conclusiones finales, mostrando que el instrumento guía efectivamente la interpretación.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Estructura secuencial y argumentativa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El análisis sigue un orden lógico (descripción → cuestionamiento → reflexión → síntesis), lo que permite una evaluación coherente y fundamentada.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8AE733E-382B-8EF8-AC58-3830E77692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BED8827-F78A-150A-4B56-8F786C520F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C7FCA28-B578-FAF7-818C-152EBDE016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7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8D73B8C-8480-1843-B4FA-65E449143A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pic>
        <p:nvPicPr>
          <p:cNvPr id="12" name="Marcador de contenido 7">
            <a:extLst>
              <a:ext uri="{FF2B5EF4-FFF2-40B4-BE49-F238E27FC236}">
                <a16:creationId xmlns:a16="http://schemas.microsoft.com/office/drawing/2014/main" id="{BF3B002B-1AAD-D446-133E-13FBF042ADC6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4" r="19982"/>
          <a:stretch/>
        </p:blipFill>
        <p:spPr>
          <a:xfrm>
            <a:off x="6543662" y="3098398"/>
            <a:ext cx="2837328" cy="33302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FF77CFB-E469-F561-1A51-7660F5005AFA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86" y="6734469"/>
            <a:ext cx="1636361" cy="560953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03091456-7230-E1D5-9F9E-C018B77D1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7028" y="2383131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obtenido reconocimientos importantes y sus egresados destacan en diferentes ámbitos.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114F5C7-B72E-AFC2-4080-DE09045E8DC1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4"/>
          <a:stretch/>
        </p:blipFill>
        <p:spPr>
          <a:xfrm>
            <a:off x="9803546" y="1971502"/>
            <a:ext cx="1924790" cy="325766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1A0DA0E-82D3-BC3A-6C94-2CB1688318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sp>
        <p:nvSpPr>
          <p:cNvPr id="10" name="Marcador de contenido 5">
            <a:extLst>
              <a:ext uri="{FF2B5EF4-FFF2-40B4-BE49-F238E27FC236}">
                <a16:creationId xmlns:a16="http://schemas.microsoft.com/office/drawing/2014/main" id="{043CCF74-4418-E549-A9A2-FF4F97FA25C3}"/>
              </a:ext>
            </a:extLst>
          </p:cNvPr>
          <p:cNvSpPr txBox="1">
            <a:spLocks/>
          </p:cNvSpPr>
          <p:nvPr/>
        </p:nvSpPr>
        <p:spPr>
          <a:xfrm>
            <a:off x="5665820" y="2444274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experiencia ha inspirado a otras instituciones, que han mostrado interés en replicarla.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F8E85FF-962A-B534-55B3-718B3436EA13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06" r="13451"/>
          <a:stretch/>
        </p:blipFill>
        <p:spPr>
          <a:xfrm>
            <a:off x="1614011" y="3496728"/>
            <a:ext cx="3929840" cy="233172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6EEAD1D-A2DA-B27C-07F8-23D78AF96B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868" y="2129456"/>
            <a:ext cx="3424024" cy="45653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6E579FC-7958-D2B3-1B50-51D43A6101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pic>
        <p:nvPicPr>
          <p:cNvPr id="6" name="Marcador de contenido 7">
            <a:extLst>
              <a:ext uri="{FF2B5EF4-FFF2-40B4-BE49-F238E27FC236}">
                <a16:creationId xmlns:a16="http://schemas.microsoft.com/office/drawing/2014/main" id="{6A802B31-D772-CEEF-8DD2-44A1B28D5EFC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5" r="7087"/>
          <a:stretch/>
        </p:blipFill>
        <p:spPr>
          <a:xfrm>
            <a:off x="5892167" y="2211343"/>
            <a:ext cx="3061744" cy="291352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1106388-E62A-037C-7885-88774EC41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0226" y="2437649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experiencia significativa está integrada al PEI desde el año 2015, garantizando su continuidad a pesar de cambios de personal.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D4D0865-7BE7-C91C-A5F8-7E9059E368FB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" t="38562" b="5324"/>
          <a:stretch/>
        </p:blipFill>
        <p:spPr>
          <a:xfrm>
            <a:off x="8614252" y="4208088"/>
            <a:ext cx="3241805" cy="24192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297DF76-5004-128C-125E-8B5AEF3B3834}"/>
              </a:ext>
            </a:extLst>
          </p:cNvPr>
          <p:cNvSpPr txBox="1"/>
          <p:nvPr/>
        </p:nvSpPr>
        <p:spPr>
          <a:xfrm>
            <a:off x="9329133" y="2844224"/>
            <a:ext cx="2236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2012 - 2024</a:t>
            </a:r>
            <a:endParaRPr lang="es-CO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543C27B-E874-57FF-43B7-C303D0A6746F}"/>
              </a:ext>
            </a:extLst>
          </p:cNvPr>
          <p:cNvSpPr txBox="1"/>
          <p:nvPr/>
        </p:nvSpPr>
        <p:spPr>
          <a:xfrm>
            <a:off x="5921009" y="6149524"/>
            <a:ext cx="2722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Líderes actuales</a:t>
            </a:r>
            <a:endParaRPr lang="es-CO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962DD7FA-4190-077E-5784-59B6247463C2}"/>
              </a:ext>
            </a:extLst>
          </p:cNvPr>
          <p:cNvSpPr/>
          <p:nvPr/>
        </p:nvSpPr>
        <p:spPr>
          <a:xfrm>
            <a:off x="8183880" y="6149524"/>
            <a:ext cx="459214" cy="46166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F72F477F-9058-3E41-0CB2-DB7C24951B44}"/>
              </a:ext>
            </a:extLst>
          </p:cNvPr>
          <p:cNvSpPr/>
          <p:nvPr/>
        </p:nvSpPr>
        <p:spPr>
          <a:xfrm flipH="1">
            <a:off x="8953910" y="2905778"/>
            <a:ext cx="422458" cy="46166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F6E964B-5529-ED7B-4459-F324B82DF9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7933C2E-2FAB-D2EC-E54B-9E142A6DD708}"/>
              </a:ext>
            </a:extLst>
          </p:cNvPr>
          <p:cNvSpPr txBox="1">
            <a:spLocks/>
          </p:cNvSpPr>
          <p:nvPr/>
        </p:nvSpPr>
        <p:spPr>
          <a:xfrm>
            <a:off x="6082552" y="2578336"/>
            <a:ext cx="5370620" cy="3277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s-MX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adapta a los avances tecnológicos y genera nuevo conocimiento que se comparte con la comunidad.</a:t>
            </a:r>
            <a:endParaRPr lang="es-CO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B8B4288-939C-CEBA-3684-B5854EA570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337" y="2077171"/>
            <a:ext cx="4437529" cy="2496111"/>
          </a:xfrm>
          <a:prstGeom prst="rect">
            <a:avLst/>
          </a:prstGeom>
        </p:spPr>
      </p:pic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CA078182-8BAC-F80D-3948-D2C83F3D56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72" y="2427214"/>
            <a:ext cx="4437530" cy="2496111"/>
          </a:xfr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E5AD4DF-D507-37A0-4AE1-85218BE07BBA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5" y="2653901"/>
            <a:ext cx="4504765" cy="300317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2DEB6C3-684D-0A41-61E9-E144935EAF79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9" y="2077171"/>
            <a:ext cx="3263503" cy="435133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4E98C85-81D3-86F7-CBAB-8A6890E924DA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339" y="2837004"/>
            <a:ext cx="4504765" cy="338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19" y="2034540"/>
            <a:ext cx="8533653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O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Gabriel </a:t>
            </a:r>
            <a:r>
              <a:rPr lang="es-CO" sz="2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Ancízar</a:t>
            </a:r>
            <a:r>
              <a:rPr lang="es-CO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Ruano Guerrero </a:t>
            </a:r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gabriel.ruano@normalpitalito.edu.co</a:t>
            </a:r>
            <a:r>
              <a:rPr lang="es-CO" dirty="0">
                <a:solidFill>
                  <a:srgbClr val="0070C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s-CO" b="1" dirty="0"/>
              <a:t>Teléfono: </a:t>
            </a:r>
            <a:r>
              <a:rPr lang="es-CO" dirty="0"/>
              <a:t>3168241719</a:t>
            </a:r>
          </a:p>
          <a:p>
            <a:pPr marL="0" indent="0" algn="ctr">
              <a:buNone/>
            </a:pPr>
            <a:endParaRPr lang="es-CO" dirty="0"/>
          </a:p>
          <a:p>
            <a:pPr marL="0" indent="0" algn="ctr">
              <a:buNone/>
            </a:pPr>
            <a:r>
              <a:rPr lang="es-CO" b="1" dirty="0"/>
              <a:t>Responsable</a:t>
            </a:r>
            <a:r>
              <a:rPr lang="es-C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CO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Julián Alberto Rodríguez Sotelo</a:t>
            </a:r>
          </a:p>
          <a:p>
            <a:pPr marL="0" indent="0" algn="ctr">
              <a:buNone/>
            </a:pPr>
            <a:r>
              <a:rPr lang="es-CO" b="1" dirty="0"/>
              <a:t>Correo: </a:t>
            </a:r>
            <a:r>
              <a:rPr lang="es-CO" b="1" dirty="0">
                <a:solidFill>
                  <a:srgbClr val="0070C0"/>
                </a:solidFill>
              </a:rPr>
              <a:t>j</a:t>
            </a:r>
            <a:r>
              <a:rPr lang="es-CO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ulian.rodriguez@normalpitalito.edu.co</a:t>
            </a:r>
            <a:endParaRPr lang="es-CO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es-CO" b="1" dirty="0"/>
              <a:t>Teléfono: </a:t>
            </a:r>
            <a:r>
              <a:rPr lang="es-CO" dirty="0"/>
              <a:t>3176700781</a:t>
            </a:r>
          </a:p>
          <a:p>
            <a:pPr marL="0" indent="0" algn="ctr">
              <a:buNone/>
            </a:pP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059FDEC3-AB80-93EA-BB40-CB745E15204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4179" y="5409628"/>
            <a:ext cx="2323526" cy="79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325</Words>
  <Application>Microsoft Office PowerPoint</Application>
  <PresentationFormat>Panorámica</PresentationFormat>
  <Paragraphs>44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22</cp:revision>
  <dcterms:created xsi:type="dcterms:W3CDTF">2025-07-23T15:35:07Z</dcterms:created>
  <dcterms:modified xsi:type="dcterms:W3CDTF">2026-02-20T14:06:19Z</dcterms:modified>
</cp:coreProperties>
</file>