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Sora" panose="020B0604020202020204" charset="0"/>
      <p:regular r:id="rId15"/>
      <p:bold r:id="rId16"/>
    </p:embeddedFont>
    <p:embeddedFont>
      <p:font typeface="Lato" panose="020B0604020202020204" charset="0"/>
      <p:regular r:id="rId17"/>
      <p:bold r:id="rId18"/>
      <p:italic r:id="rId19"/>
      <p:boldItalic r:id="rId20"/>
    </p:embeddedFont>
    <p:embeddedFont>
      <p:font typeface="Play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zCvpiBwBrNjnLuDFGQtaPrXsq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gmeneses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s-CO"/>
              <a:t>Experiencia Significativa</a:t>
            </a:r>
            <a:endParaRPr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 b="1" dirty="0">
                <a:solidFill>
                  <a:schemeClr val="dk1"/>
                </a:solidFill>
              </a:rPr>
              <a:t>I. E. M. Escuela Normal Superior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 b="1" dirty="0">
                <a:solidFill>
                  <a:schemeClr val="dk1"/>
                </a:solidFill>
              </a:rPr>
              <a:t>Pitalito – Huila </a:t>
            </a:r>
            <a:endParaRPr dirty="0"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CO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 SINM – </a:t>
            </a:r>
            <a:r>
              <a:rPr lang="es-CO" sz="4400" b="1" dirty="0">
                <a:solidFill>
                  <a:schemeClr val="dk1"/>
                </a:solidFill>
              </a:rPr>
              <a:t>Semillero de Investigación Normalista de Mecatrónica</a:t>
            </a:r>
            <a:endParaRPr dirty="0"/>
          </a:p>
          <a:p>
            <a:pPr marL="0" marR="0" lvl="0" indent="0" algn="r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CO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Gerardo Meneses Pérez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0641" y="3185039"/>
            <a:ext cx="2798307" cy="360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115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2"/>
          <p:cNvGrpSpPr/>
          <p:nvPr/>
        </p:nvGrpSpPr>
        <p:grpSpPr>
          <a:xfrm>
            <a:off x="1645920" y="902678"/>
            <a:ext cx="8229600" cy="1130220"/>
            <a:chOff x="0" y="6390"/>
            <a:chExt cx="8229600" cy="1130220"/>
          </a:xfrm>
        </p:grpSpPr>
        <p:sp>
          <p:nvSpPr>
            <p:cNvPr id="97" name="Google Shape;97;p2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FUNDAMENTACIÓN</a:t>
              </a:r>
              <a:endParaRPr/>
            </a:p>
          </p:txBody>
        </p:sp>
      </p:grp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1645920" y="221298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La experiencia se sustenta en el modelo pedagógico socio-crítico y el enfoque humanista adoptados por la Institución Educativa Normal Superior de Pitalito, que conciben la educación como un proceso de transformación social y formación integral. En esta perspectiva, la enseñanza de la física mediante la mecatrónica no solo fortalece las competencias científicas, sino que también potencia el pensamiento crítico, la creatividad y la resolución de problemas en contextos reales.﻿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La estrategia se articula con la Enseñanza para la Comprensión (EpC) y el aprendizaje basado en proyectos, los cuales promueven la construcción de saberes significativos a partir de la experimentación, la indagación y la innovación tecnológica.﻿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La propuesta responde a la misión institucional de formar maestros con identidad normalista y compromiso social, integrando en el currículo experiencias que vinculan ciencia, tecnología y comunidad.﻿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3"/>
          <p:cNvGrpSpPr/>
          <p:nvPr/>
        </p:nvGrpSpPr>
        <p:grpSpPr>
          <a:xfrm>
            <a:off x="1668780" y="666550"/>
            <a:ext cx="8229600" cy="1130220"/>
            <a:chOff x="0" y="6390"/>
            <a:chExt cx="8229600" cy="1130220"/>
          </a:xfrm>
        </p:grpSpPr>
        <p:sp>
          <p:nvSpPr>
            <p:cNvPr id="109" name="Google Shape;109;p3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PERTINENCIA</a:t>
              </a:r>
              <a:endParaRPr/>
            </a:p>
          </p:txBody>
        </p:sp>
      </p:grpSp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3"/>
          <p:cNvGrpSpPr/>
          <p:nvPr/>
        </p:nvGrpSpPr>
        <p:grpSpPr>
          <a:xfrm>
            <a:off x="7534098" y="2574601"/>
            <a:ext cx="3231844" cy="3156274"/>
            <a:chOff x="5504532" y="1402030"/>
            <a:chExt cx="3231844" cy="3156274"/>
          </a:xfrm>
        </p:grpSpPr>
        <p:sp>
          <p:nvSpPr>
            <p:cNvPr id="115" name="Google Shape;115;p3"/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" name="Google Shape;117;p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18" name="Google Shape;118;p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24" name="Google Shape;124;p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25" name="Google Shape;125;p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7" name="Google Shape;127;p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3"/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" name="Google Shape;139;p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44" name="Google Shape;144;p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7" name="Google Shape;147;p3"/>
          <p:cNvGrpSpPr/>
          <p:nvPr/>
        </p:nvGrpSpPr>
        <p:grpSpPr>
          <a:xfrm>
            <a:off x="3741101" y="2139635"/>
            <a:ext cx="4797282" cy="994500"/>
            <a:chOff x="0" y="6363"/>
            <a:chExt cx="4797282" cy="994500"/>
          </a:xfrm>
        </p:grpSpPr>
        <p:sp>
          <p:nvSpPr>
            <p:cNvPr id="148" name="Google Shape;148;p3"/>
            <p:cNvSpPr/>
            <p:nvPr/>
          </p:nvSpPr>
          <p:spPr>
            <a:xfrm>
              <a:off x="0" y="6363"/>
              <a:ext cx="4797282" cy="99450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48547" y="54910"/>
              <a:ext cx="4700188" cy="8974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es-CO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Contexto local: necesidad de vincular teoría con práctica.</a:t>
              </a:r>
              <a:endPara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3"/>
          <p:cNvGrpSpPr/>
          <p:nvPr/>
        </p:nvGrpSpPr>
        <p:grpSpPr>
          <a:xfrm>
            <a:off x="1347374" y="5547377"/>
            <a:ext cx="5632546" cy="914940"/>
            <a:chOff x="0" y="17034"/>
            <a:chExt cx="5632546" cy="914940"/>
          </a:xfrm>
        </p:grpSpPr>
        <p:sp>
          <p:nvSpPr>
            <p:cNvPr id="151" name="Google Shape;151;p3"/>
            <p:cNvSpPr/>
            <p:nvPr/>
          </p:nvSpPr>
          <p:spPr>
            <a:xfrm>
              <a:off x="0" y="17034"/>
              <a:ext cx="5632546" cy="91494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 txBox="1"/>
            <p:nvPr/>
          </p:nvSpPr>
          <p:spPr>
            <a:xfrm>
              <a:off x="44664" y="61698"/>
              <a:ext cx="5543218" cy="825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CO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Promueve el uso de TIC como herramienta pedagógica.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2184888" y="3643870"/>
            <a:ext cx="4979905" cy="994500"/>
            <a:chOff x="0" y="15749"/>
            <a:chExt cx="4979905" cy="994500"/>
          </a:xfrm>
        </p:grpSpPr>
        <p:sp>
          <p:nvSpPr>
            <p:cNvPr id="154" name="Google Shape;154;p3"/>
            <p:cNvSpPr/>
            <p:nvPr/>
          </p:nvSpPr>
          <p:spPr>
            <a:xfrm>
              <a:off x="0" y="15749"/>
              <a:ext cx="4979905" cy="99450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48547" y="64296"/>
              <a:ext cx="4882811" cy="8974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Arial"/>
                <a:buNone/>
              </a:pPr>
              <a:r>
                <a:rPr lang="es-CO" sz="25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Responde al desinterés estudiantil en física.</a:t>
              </a:r>
              <a:endPara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7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4"/>
          <p:cNvGrpSpPr/>
          <p:nvPr/>
        </p:nvGrpSpPr>
        <p:grpSpPr>
          <a:xfrm>
            <a:off x="1828800" y="1035408"/>
            <a:ext cx="8229600" cy="1130220"/>
            <a:chOff x="0" y="6390"/>
            <a:chExt cx="8229600" cy="1130220"/>
          </a:xfrm>
        </p:grpSpPr>
        <p:sp>
          <p:nvSpPr>
            <p:cNvPr id="162" name="Google Shape;162;p4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CONSISTENCIA</a:t>
              </a:r>
              <a:endParaRPr sz="4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4" name="Google Shape;16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4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4"/>
          <p:cNvGrpSpPr/>
          <p:nvPr/>
        </p:nvGrpSpPr>
        <p:grpSpPr>
          <a:xfrm>
            <a:off x="6991485" y="2622001"/>
            <a:ext cx="4696800" cy="914940"/>
            <a:chOff x="0" y="114029"/>
            <a:chExt cx="4696800" cy="91494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114029"/>
              <a:ext cx="4696800" cy="91494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44664" y="158693"/>
              <a:ext cx="4607472" cy="825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CO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Coherencia entre fundamentación, metodología y resultados.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6245519" y="3982795"/>
            <a:ext cx="5442765" cy="875160"/>
            <a:chOff x="0" y="3603"/>
            <a:chExt cx="5442765" cy="87516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3603"/>
              <a:ext cx="5442765" cy="87516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42722" y="46325"/>
              <a:ext cx="5357321" cy="7897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s-CO" sz="2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Diagnóstico, diseño, implementación, evaluación.</a:t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7201407" y="5253144"/>
            <a:ext cx="4696800" cy="914940"/>
            <a:chOff x="0" y="17034"/>
            <a:chExt cx="4696800" cy="914940"/>
          </a:xfrm>
        </p:grpSpPr>
        <p:sp>
          <p:nvSpPr>
            <p:cNvPr id="173" name="Google Shape;173;p4"/>
            <p:cNvSpPr/>
            <p:nvPr/>
          </p:nvSpPr>
          <p:spPr>
            <a:xfrm>
              <a:off x="0" y="17034"/>
              <a:ext cx="4696800" cy="91494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44664" y="61698"/>
              <a:ext cx="4607472" cy="825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CO" sz="23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Integración de competencias STEM en el currículo.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5"/>
          <p:cNvGrpSpPr/>
          <p:nvPr/>
        </p:nvGrpSpPr>
        <p:grpSpPr>
          <a:xfrm>
            <a:off x="1737360" y="669648"/>
            <a:ext cx="8229600" cy="1130220"/>
            <a:chOff x="0" y="6390"/>
            <a:chExt cx="8229600" cy="1130220"/>
          </a:xfrm>
        </p:grpSpPr>
        <p:sp>
          <p:nvSpPr>
            <p:cNvPr id="181" name="Google Shape;181;p5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MADUREZ</a:t>
              </a:r>
              <a:endParaRPr/>
            </a:p>
          </p:txBody>
        </p:sp>
      </p:grpSp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22960" y="2153921"/>
            <a:ext cx="5059680" cy="382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Proyecto desarrollado entre marzo y noviembre.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Fortalecimiento del saber institucional.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Uso de recursos disponibles: Arduino, sensores, impresora 3D.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Impacto en la cultura escolar y tecnológica.﻿</a:t>
            </a:r>
            <a:endParaRPr/>
          </a:p>
        </p:txBody>
      </p:sp>
      <p:pic>
        <p:nvPicPr>
          <p:cNvPr id="184" name="Google Shape;1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6"/>
          <p:cNvGrpSpPr/>
          <p:nvPr/>
        </p:nvGrpSpPr>
        <p:grpSpPr>
          <a:xfrm>
            <a:off x="1981200" y="669648"/>
            <a:ext cx="8229600" cy="1130220"/>
            <a:chOff x="0" y="6390"/>
            <a:chExt cx="8229600" cy="1130220"/>
          </a:xfrm>
        </p:grpSpPr>
        <p:sp>
          <p:nvSpPr>
            <p:cNvPr id="193" name="Google Shape;193;p6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45F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EMPODERAMIENTO</a:t>
              </a:r>
              <a:endParaRPr/>
            </a:p>
          </p:txBody>
        </p:sp>
      </p:grpSp>
      <p:sp>
        <p:nvSpPr>
          <p:cNvPr id="195" name="Google Shape;195;p6"/>
          <p:cNvSpPr txBox="1">
            <a:spLocks noGrp="1"/>
          </p:cNvSpPr>
          <p:nvPr>
            <p:ph type="body" idx="1"/>
          </p:nvPr>
        </p:nvSpPr>
        <p:spPr>
          <a:xfrm>
            <a:off x="5760720" y="1988821"/>
            <a:ext cx="5913120" cy="420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Participación activa de estudiantes, docentes, directivos y padres.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Promoción del liderazgo juvenil.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Vinculación con el sector productivo local.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Fomento de la toma de decisiones colaborativas</a:t>
            </a:r>
            <a:endParaRPr/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8160" y="2174876"/>
            <a:ext cx="5416062" cy="361070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7"/>
          <p:cNvGrpSpPr/>
          <p:nvPr/>
        </p:nvGrpSpPr>
        <p:grpSpPr>
          <a:xfrm>
            <a:off x="1981200" y="1055630"/>
            <a:ext cx="8229600" cy="1105650"/>
            <a:chOff x="0" y="18675"/>
            <a:chExt cx="8229600" cy="1105650"/>
          </a:xfrm>
        </p:grpSpPr>
        <p:sp>
          <p:nvSpPr>
            <p:cNvPr id="206" name="Google Shape;206;p7"/>
            <p:cNvSpPr/>
            <p:nvPr/>
          </p:nvSpPr>
          <p:spPr>
            <a:xfrm>
              <a:off x="0" y="18675"/>
              <a:ext cx="8229600" cy="110565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53973" y="72648"/>
              <a:ext cx="8121654" cy="997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171450" rIns="171450" bIns="171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Arial"/>
                <a:buNone/>
              </a:pPr>
              <a:r>
                <a:rPr lang="es-CO" sz="4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EVALUACIÓN Y SEGUIMIENTO</a:t>
              </a:r>
              <a:endParaRPr/>
            </a:p>
          </p:txBody>
        </p:sp>
      </p:grpSp>
      <p:pic>
        <p:nvPicPr>
          <p:cNvPr id="208" name="Google Shape;20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/>
          <p:nvPr/>
        </p:nvSpPr>
        <p:spPr>
          <a:xfrm>
            <a:off x="1269625" y="3185827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2782778" y="220218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s-CO"/>
              <a:t>Evaluación y seguimiento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4263403" y="4465208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Rúbricas, bitácoras, registros de prototipos.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182853" y="4419385"/>
            <a:ext cx="2560500" cy="65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Investigación aplicada experimental.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4263403" y="4070409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Instrumentos: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1182853" y="402458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Metodología:</a:t>
            </a:r>
            <a:endParaRPr/>
          </a:p>
        </p:txBody>
      </p:sp>
      <p:grpSp>
        <p:nvGrpSpPr>
          <p:cNvPr id="217" name="Google Shape;217;p7"/>
          <p:cNvGrpSpPr/>
          <p:nvPr/>
        </p:nvGrpSpPr>
        <p:grpSpPr>
          <a:xfrm>
            <a:off x="1362979" y="3396895"/>
            <a:ext cx="500435" cy="465473"/>
            <a:chOff x="5434200" y="1498338"/>
            <a:chExt cx="500435" cy="465473"/>
          </a:xfrm>
        </p:grpSpPr>
        <p:sp>
          <p:nvSpPr>
            <p:cNvPr id="218" name="Google Shape;218;p7"/>
            <p:cNvSpPr/>
            <p:nvPr/>
          </p:nvSpPr>
          <p:spPr>
            <a:xfrm>
              <a:off x="5552458" y="1498338"/>
              <a:ext cx="117330" cy="256959"/>
            </a:xfrm>
            <a:custGeom>
              <a:avLst/>
              <a:gdLst/>
              <a:ahLst/>
              <a:cxnLst/>
              <a:rect l="l" t="t" r="r" b="b"/>
              <a:pathLst>
                <a:path w="4299" h="9415" extrusionOk="0">
                  <a:moveTo>
                    <a:pt x="3600" y="0"/>
                  </a:moveTo>
                  <a:lnTo>
                    <a:pt x="2153" y="336"/>
                  </a:lnTo>
                  <a:lnTo>
                    <a:pt x="2153" y="932"/>
                  </a:lnTo>
                  <a:lnTo>
                    <a:pt x="3229" y="932"/>
                  </a:lnTo>
                  <a:lnTo>
                    <a:pt x="3229" y="3081"/>
                  </a:lnTo>
                  <a:lnTo>
                    <a:pt x="2153" y="3081"/>
                  </a:lnTo>
                  <a:lnTo>
                    <a:pt x="2153" y="2008"/>
                  </a:lnTo>
                  <a:lnTo>
                    <a:pt x="1077" y="2008"/>
                  </a:lnTo>
                  <a:lnTo>
                    <a:pt x="1077" y="3416"/>
                  </a:lnTo>
                  <a:lnTo>
                    <a:pt x="0" y="3952"/>
                  </a:lnTo>
                  <a:lnTo>
                    <a:pt x="0" y="4157"/>
                  </a:lnTo>
                  <a:lnTo>
                    <a:pt x="2146" y="4157"/>
                  </a:lnTo>
                  <a:lnTo>
                    <a:pt x="2146" y="5233"/>
                  </a:lnTo>
                  <a:lnTo>
                    <a:pt x="0" y="5233"/>
                  </a:lnTo>
                  <a:lnTo>
                    <a:pt x="0" y="5435"/>
                  </a:lnTo>
                  <a:lnTo>
                    <a:pt x="1077" y="5974"/>
                  </a:lnTo>
                  <a:lnTo>
                    <a:pt x="1077" y="7382"/>
                  </a:lnTo>
                  <a:lnTo>
                    <a:pt x="2153" y="7382"/>
                  </a:lnTo>
                  <a:lnTo>
                    <a:pt x="2153" y="6310"/>
                  </a:lnTo>
                  <a:lnTo>
                    <a:pt x="3229" y="6310"/>
                  </a:lnTo>
                  <a:lnTo>
                    <a:pt x="3229" y="8459"/>
                  </a:lnTo>
                  <a:lnTo>
                    <a:pt x="2153" y="8459"/>
                  </a:lnTo>
                  <a:lnTo>
                    <a:pt x="2153" y="8769"/>
                  </a:lnTo>
                  <a:lnTo>
                    <a:pt x="2795" y="9415"/>
                  </a:lnTo>
                  <a:lnTo>
                    <a:pt x="4298" y="8660"/>
                  </a:lnTo>
                  <a:lnTo>
                    <a:pt x="4298" y="5233"/>
                  </a:lnTo>
                  <a:lnTo>
                    <a:pt x="3222" y="5233"/>
                  </a:lnTo>
                  <a:lnTo>
                    <a:pt x="3222" y="4157"/>
                  </a:lnTo>
                  <a:lnTo>
                    <a:pt x="4298" y="4157"/>
                  </a:lnTo>
                  <a:lnTo>
                    <a:pt x="4298" y="678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5699046" y="1498338"/>
              <a:ext cx="117522" cy="256959"/>
            </a:xfrm>
            <a:custGeom>
              <a:avLst/>
              <a:gdLst/>
              <a:ahLst/>
              <a:cxnLst/>
              <a:rect l="l" t="t" r="r" b="b"/>
              <a:pathLst>
                <a:path w="4306" h="9415" extrusionOk="0">
                  <a:moveTo>
                    <a:pt x="706" y="0"/>
                  </a:moveTo>
                  <a:lnTo>
                    <a:pt x="4" y="674"/>
                  </a:lnTo>
                  <a:lnTo>
                    <a:pt x="4" y="4157"/>
                  </a:lnTo>
                  <a:lnTo>
                    <a:pt x="1080" y="4157"/>
                  </a:lnTo>
                  <a:lnTo>
                    <a:pt x="1080" y="5233"/>
                  </a:lnTo>
                  <a:lnTo>
                    <a:pt x="0" y="5233"/>
                  </a:lnTo>
                  <a:lnTo>
                    <a:pt x="0" y="8660"/>
                  </a:lnTo>
                  <a:lnTo>
                    <a:pt x="1503" y="9415"/>
                  </a:lnTo>
                  <a:lnTo>
                    <a:pt x="2149" y="8769"/>
                  </a:lnTo>
                  <a:lnTo>
                    <a:pt x="2149" y="8459"/>
                  </a:lnTo>
                  <a:lnTo>
                    <a:pt x="1076" y="8459"/>
                  </a:lnTo>
                  <a:lnTo>
                    <a:pt x="1076" y="6310"/>
                  </a:lnTo>
                  <a:lnTo>
                    <a:pt x="2153" y="6310"/>
                  </a:lnTo>
                  <a:lnTo>
                    <a:pt x="2153" y="7382"/>
                  </a:lnTo>
                  <a:lnTo>
                    <a:pt x="3229" y="7382"/>
                  </a:lnTo>
                  <a:lnTo>
                    <a:pt x="3229" y="5974"/>
                  </a:lnTo>
                  <a:lnTo>
                    <a:pt x="4305" y="5435"/>
                  </a:lnTo>
                  <a:lnTo>
                    <a:pt x="4305" y="5233"/>
                  </a:lnTo>
                  <a:lnTo>
                    <a:pt x="2156" y="5233"/>
                  </a:lnTo>
                  <a:lnTo>
                    <a:pt x="2156" y="4157"/>
                  </a:lnTo>
                  <a:lnTo>
                    <a:pt x="4305" y="4157"/>
                  </a:lnTo>
                  <a:lnTo>
                    <a:pt x="4305" y="3952"/>
                  </a:lnTo>
                  <a:lnTo>
                    <a:pt x="3229" y="3416"/>
                  </a:lnTo>
                  <a:lnTo>
                    <a:pt x="3229" y="2008"/>
                  </a:lnTo>
                  <a:lnTo>
                    <a:pt x="2153" y="2008"/>
                  </a:lnTo>
                  <a:lnTo>
                    <a:pt x="2153" y="3084"/>
                  </a:lnTo>
                  <a:lnTo>
                    <a:pt x="1076" y="3084"/>
                  </a:lnTo>
                  <a:lnTo>
                    <a:pt x="1076" y="932"/>
                  </a:lnTo>
                  <a:lnTo>
                    <a:pt x="2153" y="932"/>
                  </a:lnTo>
                  <a:lnTo>
                    <a:pt x="2153" y="336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5434282" y="1846399"/>
              <a:ext cx="500353" cy="117412"/>
            </a:xfrm>
            <a:custGeom>
              <a:avLst/>
              <a:gdLst/>
              <a:ahLst/>
              <a:cxnLst/>
              <a:rect l="l" t="t" r="r" b="b"/>
              <a:pathLst>
                <a:path w="18333" h="4302" extrusionOk="0">
                  <a:moveTo>
                    <a:pt x="1" y="0"/>
                  </a:moveTo>
                  <a:lnTo>
                    <a:pt x="1" y="2149"/>
                  </a:lnTo>
                  <a:lnTo>
                    <a:pt x="7552" y="2149"/>
                  </a:lnTo>
                  <a:lnTo>
                    <a:pt x="7552" y="3225"/>
                  </a:lnTo>
                  <a:lnTo>
                    <a:pt x="5407" y="3225"/>
                  </a:lnTo>
                  <a:lnTo>
                    <a:pt x="5407" y="4302"/>
                  </a:lnTo>
                  <a:lnTo>
                    <a:pt x="12926" y="4302"/>
                  </a:lnTo>
                  <a:lnTo>
                    <a:pt x="12926" y="3225"/>
                  </a:lnTo>
                  <a:lnTo>
                    <a:pt x="10777" y="3225"/>
                  </a:lnTo>
                  <a:lnTo>
                    <a:pt x="10777" y="2149"/>
                  </a:lnTo>
                  <a:lnTo>
                    <a:pt x="18332" y="2149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5434200" y="1523747"/>
              <a:ext cx="500326" cy="293285"/>
            </a:xfrm>
            <a:custGeom>
              <a:avLst/>
              <a:gdLst/>
              <a:ahLst/>
              <a:cxnLst/>
              <a:rect l="l" t="t" r="r" b="b"/>
              <a:pathLst>
                <a:path w="18332" h="10746" extrusionOk="0">
                  <a:moveTo>
                    <a:pt x="0" y="1"/>
                  </a:moveTo>
                  <a:lnTo>
                    <a:pt x="0" y="10746"/>
                  </a:lnTo>
                  <a:lnTo>
                    <a:pt x="18332" y="10746"/>
                  </a:lnTo>
                  <a:lnTo>
                    <a:pt x="18332" y="1"/>
                  </a:lnTo>
                  <a:lnTo>
                    <a:pt x="14002" y="1"/>
                  </a:lnTo>
                  <a:lnTo>
                    <a:pt x="14002" y="1818"/>
                  </a:lnTo>
                  <a:lnTo>
                    <a:pt x="15075" y="2358"/>
                  </a:lnTo>
                  <a:lnTo>
                    <a:pt x="15075" y="5170"/>
                  </a:lnTo>
                  <a:lnTo>
                    <a:pt x="14002" y="5710"/>
                  </a:lnTo>
                  <a:lnTo>
                    <a:pt x="14002" y="7528"/>
                  </a:lnTo>
                  <a:lnTo>
                    <a:pt x="12926" y="7528"/>
                  </a:lnTo>
                  <a:lnTo>
                    <a:pt x="12926" y="8286"/>
                  </a:lnTo>
                  <a:lnTo>
                    <a:pt x="11419" y="9790"/>
                  </a:lnTo>
                  <a:lnTo>
                    <a:pt x="9164" y="8660"/>
                  </a:lnTo>
                  <a:lnTo>
                    <a:pt x="6913" y="9790"/>
                  </a:lnTo>
                  <a:lnTo>
                    <a:pt x="5406" y="8286"/>
                  </a:lnTo>
                  <a:lnTo>
                    <a:pt x="5406" y="7528"/>
                  </a:lnTo>
                  <a:lnTo>
                    <a:pt x="4330" y="7528"/>
                  </a:lnTo>
                  <a:lnTo>
                    <a:pt x="4330" y="5710"/>
                  </a:lnTo>
                  <a:lnTo>
                    <a:pt x="3254" y="5170"/>
                  </a:lnTo>
                  <a:lnTo>
                    <a:pt x="3254" y="2358"/>
                  </a:lnTo>
                  <a:lnTo>
                    <a:pt x="4330" y="1818"/>
                  </a:lnTo>
                  <a:lnTo>
                    <a:pt x="4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7"/>
          <p:cNvSpPr/>
          <p:nvPr/>
        </p:nvSpPr>
        <p:spPr>
          <a:xfrm>
            <a:off x="4563515" y="3261846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23" name="Google Shape;223;p7"/>
          <p:cNvGrpSpPr/>
          <p:nvPr/>
        </p:nvGrpSpPr>
        <p:grpSpPr>
          <a:xfrm>
            <a:off x="4654963" y="3321892"/>
            <a:ext cx="500518" cy="500735"/>
            <a:chOff x="6322543" y="4027370"/>
            <a:chExt cx="500518" cy="500735"/>
          </a:xfrm>
        </p:grpSpPr>
        <p:sp>
          <p:nvSpPr>
            <p:cNvPr id="224" name="Google Shape;224;p7"/>
            <p:cNvSpPr/>
            <p:nvPr/>
          </p:nvSpPr>
          <p:spPr>
            <a:xfrm>
              <a:off x="6469895" y="4027370"/>
              <a:ext cx="205622" cy="206604"/>
            </a:xfrm>
            <a:custGeom>
              <a:avLst/>
              <a:gdLst/>
              <a:ahLst/>
              <a:cxnLst/>
              <a:rect l="l" t="t" r="r" b="b"/>
              <a:pathLst>
                <a:path w="7534" h="7570" extrusionOk="0">
                  <a:moveTo>
                    <a:pt x="4305" y="3268"/>
                  </a:moveTo>
                  <a:lnTo>
                    <a:pt x="4305" y="4348"/>
                  </a:lnTo>
                  <a:lnTo>
                    <a:pt x="3229" y="4348"/>
                  </a:lnTo>
                  <a:lnTo>
                    <a:pt x="3229" y="3268"/>
                  </a:lnTo>
                  <a:close/>
                  <a:moveTo>
                    <a:pt x="2153" y="0"/>
                  </a:moveTo>
                  <a:lnTo>
                    <a:pt x="2153" y="1077"/>
                  </a:lnTo>
                  <a:lnTo>
                    <a:pt x="1076" y="1077"/>
                  </a:lnTo>
                  <a:lnTo>
                    <a:pt x="1076" y="2188"/>
                  </a:lnTo>
                  <a:lnTo>
                    <a:pt x="0" y="2188"/>
                  </a:lnTo>
                  <a:lnTo>
                    <a:pt x="0" y="3264"/>
                  </a:lnTo>
                  <a:lnTo>
                    <a:pt x="1076" y="3264"/>
                  </a:lnTo>
                  <a:lnTo>
                    <a:pt x="1076" y="4341"/>
                  </a:lnTo>
                  <a:lnTo>
                    <a:pt x="0" y="4341"/>
                  </a:lnTo>
                  <a:lnTo>
                    <a:pt x="0" y="5417"/>
                  </a:lnTo>
                  <a:lnTo>
                    <a:pt x="1076" y="5417"/>
                  </a:lnTo>
                  <a:lnTo>
                    <a:pt x="1076" y="6493"/>
                  </a:lnTo>
                  <a:lnTo>
                    <a:pt x="2153" y="6493"/>
                  </a:lnTo>
                  <a:lnTo>
                    <a:pt x="2153" y="7570"/>
                  </a:lnTo>
                  <a:lnTo>
                    <a:pt x="3229" y="7570"/>
                  </a:lnTo>
                  <a:lnTo>
                    <a:pt x="3229" y="6493"/>
                  </a:lnTo>
                  <a:lnTo>
                    <a:pt x="4305" y="6493"/>
                  </a:lnTo>
                  <a:lnTo>
                    <a:pt x="4305" y="7570"/>
                  </a:lnTo>
                  <a:lnTo>
                    <a:pt x="5381" y="7570"/>
                  </a:lnTo>
                  <a:lnTo>
                    <a:pt x="5381" y="6493"/>
                  </a:lnTo>
                  <a:lnTo>
                    <a:pt x="6458" y="6493"/>
                  </a:lnTo>
                  <a:lnTo>
                    <a:pt x="6458" y="5417"/>
                  </a:lnTo>
                  <a:lnTo>
                    <a:pt x="7534" y="5417"/>
                  </a:lnTo>
                  <a:lnTo>
                    <a:pt x="7534" y="4341"/>
                  </a:lnTo>
                  <a:lnTo>
                    <a:pt x="6458" y="4341"/>
                  </a:lnTo>
                  <a:lnTo>
                    <a:pt x="6458" y="3264"/>
                  </a:lnTo>
                  <a:lnTo>
                    <a:pt x="7534" y="3264"/>
                  </a:lnTo>
                  <a:lnTo>
                    <a:pt x="7534" y="2188"/>
                  </a:lnTo>
                  <a:lnTo>
                    <a:pt x="6458" y="2188"/>
                  </a:lnTo>
                  <a:lnTo>
                    <a:pt x="6458" y="1077"/>
                  </a:lnTo>
                  <a:lnTo>
                    <a:pt x="5381" y="1077"/>
                  </a:lnTo>
                  <a:lnTo>
                    <a:pt x="5381" y="0"/>
                  </a:lnTo>
                  <a:lnTo>
                    <a:pt x="4305" y="0"/>
                  </a:lnTo>
                  <a:lnTo>
                    <a:pt x="4305" y="1077"/>
                  </a:lnTo>
                  <a:lnTo>
                    <a:pt x="3229" y="107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322543" y="4189924"/>
              <a:ext cx="59634" cy="73335"/>
            </a:xfrm>
            <a:custGeom>
              <a:avLst/>
              <a:gdLst/>
              <a:ahLst/>
              <a:cxnLst/>
              <a:rect l="l" t="t" r="r" b="b"/>
              <a:pathLst>
                <a:path w="2185" h="2687" extrusionOk="0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6322543" y="4087359"/>
              <a:ext cx="59634" cy="73335"/>
            </a:xfrm>
            <a:custGeom>
              <a:avLst/>
              <a:gdLst/>
              <a:ahLst/>
              <a:cxnLst/>
              <a:rect l="l" t="t" r="r" b="b"/>
              <a:pathLst>
                <a:path w="2185" h="2687" extrusionOk="0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6322625" y="4281900"/>
              <a:ext cx="235589" cy="157396"/>
            </a:xfrm>
            <a:custGeom>
              <a:avLst/>
              <a:gdLst/>
              <a:ahLst/>
              <a:cxnLst/>
              <a:rect l="l" t="t" r="r" b="b"/>
              <a:pathLst>
                <a:path w="8632" h="5767" extrusionOk="0">
                  <a:moveTo>
                    <a:pt x="7231" y="1"/>
                  </a:moveTo>
                  <a:lnTo>
                    <a:pt x="5703" y="1515"/>
                  </a:lnTo>
                  <a:lnTo>
                    <a:pt x="7397" y="3208"/>
                  </a:lnTo>
                  <a:lnTo>
                    <a:pt x="6638" y="3967"/>
                  </a:lnTo>
                  <a:lnTo>
                    <a:pt x="3067" y="392"/>
                  </a:lnTo>
                  <a:lnTo>
                    <a:pt x="1" y="392"/>
                  </a:lnTo>
                  <a:lnTo>
                    <a:pt x="1" y="1342"/>
                  </a:lnTo>
                  <a:lnTo>
                    <a:pt x="3783" y="5767"/>
                  </a:lnTo>
                  <a:lnTo>
                    <a:pt x="8632" y="5767"/>
                  </a:lnTo>
                  <a:lnTo>
                    <a:pt x="8632" y="1402"/>
                  </a:lnTo>
                  <a:lnTo>
                    <a:pt x="72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646505" y="4214679"/>
              <a:ext cx="87472" cy="87855"/>
            </a:xfrm>
            <a:custGeom>
              <a:avLst/>
              <a:gdLst/>
              <a:ahLst/>
              <a:cxnLst/>
              <a:rect l="l" t="t" r="r" b="b"/>
              <a:pathLst>
                <a:path w="3205" h="3219" extrusionOk="0">
                  <a:moveTo>
                    <a:pt x="1695" y="1"/>
                  </a:moveTo>
                  <a:lnTo>
                    <a:pt x="1" y="1695"/>
                  </a:lnTo>
                  <a:lnTo>
                    <a:pt x="1518" y="3219"/>
                  </a:lnTo>
                  <a:lnTo>
                    <a:pt x="3205" y="1529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6411326" y="4214679"/>
              <a:ext cx="87582" cy="87855"/>
            </a:xfrm>
            <a:custGeom>
              <a:avLst/>
              <a:gdLst/>
              <a:ahLst/>
              <a:cxnLst/>
              <a:rect l="l" t="t" r="r" b="b"/>
              <a:pathLst>
                <a:path w="3209" h="3219" extrusionOk="0">
                  <a:moveTo>
                    <a:pt x="1514" y="1"/>
                  </a:moveTo>
                  <a:lnTo>
                    <a:pt x="1" y="1529"/>
                  </a:lnTo>
                  <a:lnTo>
                    <a:pt x="1691" y="3219"/>
                  </a:lnTo>
                  <a:lnTo>
                    <a:pt x="3208" y="1698"/>
                  </a:lnTo>
                  <a:lnTo>
                    <a:pt x="15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587472" y="4281818"/>
              <a:ext cx="235589" cy="157287"/>
            </a:xfrm>
            <a:custGeom>
              <a:avLst/>
              <a:gdLst/>
              <a:ahLst/>
              <a:cxnLst/>
              <a:rect l="l" t="t" r="r" b="b"/>
              <a:pathLst>
                <a:path w="8632" h="5763" extrusionOk="0">
                  <a:moveTo>
                    <a:pt x="1405" y="0"/>
                  </a:moveTo>
                  <a:lnTo>
                    <a:pt x="1" y="1401"/>
                  </a:lnTo>
                  <a:lnTo>
                    <a:pt x="1" y="5763"/>
                  </a:lnTo>
                  <a:lnTo>
                    <a:pt x="4849" y="5763"/>
                  </a:lnTo>
                  <a:lnTo>
                    <a:pt x="8632" y="1341"/>
                  </a:lnTo>
                  <a:lnTo>
                    <a:pt x="8632" y="392"/>
                  </a:lnTo>
                  <a:lnTo>
                    <a:pt x="5569" y="392"/>
                  </a:lnTo>
                  <a:lnTo>
                    <a:pt x="1987" y="3970"/>
                  </a:lnTo>
                  <a:lnTo>
                    <a:pt x="1229" y="3211"/>
                  </a:lnTo>
                  <a:lnTo>
                    <a:pt x="2922" y="1518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587390" y="4468444"/>
              <a:ext cx="117221" cy="59661"/>
            </a:xfrm>
            <a:custGeom>
              <a:avLst/>
              <a:gdLst/>
              <a:ahLst/>
              <a:cxnLst/>
              <a:rect l="l" t="t" r="r" b="b"/>
              <a:pathLst>
                <a:path w="4295" h="2186" extrusionOk="0">
                  <a:moveTo>
                    <a:pt x="0" y="1"/>
                  </a:moveTo>
                  <a:lnTo>
                    <a:pt x="0" y="2185"/>
                  </a:lnTo>
                  <a:lnTo>
                    <a:pt x="4295" y="2185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440692" y="4468444"/>
              <a:ext cx="117330" cy="59661"/>
            </a:xfrm>
            <a:custGeom>
              <a:avLst/>
              <a:gdLst/>
              <a:ahLst/>
              <a:cxnLst/>
              <a:rect l="l" t="t" r="r" b="b"/>
              <a:pathLst>
                <a:path w="4299" h="2186" extrusionOk="0">
                  <a:moveTo>
                    <a:pt x="1" y="1"/>
                  </a:moveTo>
                  <a:lnTo>
                    <a:pt x="1" y="2185"/>
                  </a:lnTo>
                  <a:lnTo>
                    <a:pt x="4299" y="2185"/>
                  </a:lnTo>
                  <a:lnTo>
                    <a:pt x="42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763235" y="4087359"/>
              <a:ext cx="59634" cy="73335"/>
            </a:xfrm>
            <a:custGeom>
              <a:avLst/>
              <a:gdLst/>
              <a:ahLst/>
              <a:cxnLst/>
              <a:rect l="l" t="t" r="r" b="b"/>
              <a:pathLst>
                <a:path w="2185" h="2687" extrusionOk="0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763235" y="4189924"/>
              <a:ext cx="59634" cy="73335"/>
            </a:xfrm>
            <a:custGeom>
              <a:avLst/>
              <a:gdLst/>
              <a:ahLst/>
              <a:cxnLst/>
              <a:rect l="l" t="t" r="r" b="b"/>
              <a:pathLst>
                <a:path w="2185" h="2687" extrusionOk="0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5" name="Google Shape;235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13455" y="6075497"/>
            <a:ext cx="1351421" cy="760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7"/>
          <p:cNvGrpSpPr/>
          <p:nvPr/>
        </p:nvGrpSpPr>
        <p:grpSpPr>
          <a:xfrm>
            <a:off x="7860801" y="4234758"/>
            <a:ext cx="3378104" cy="934830"/>
            <a:chOff x="0" y="138134"/>
            <a:chExt cx="3378104" cy="934830"/>
          </a:xfrm>
        </p:grpSpPr>
        <p:sp>
          <p:nvSpPr>
            <p:cNvPr id="237" name="Google Shape;237;p7"/>
            <p:cNvSpPr/>
            <p:nvPr/>
          </p:nvSpPr>
          <p:spPr>
            <a:xfrm>
              <a:off x="0" y="138134"/>
              <a:ext cx="3378104" cy="934830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45635" y="183769"/>
              <a:ext cx="3286834" cy="843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es-CO" sz="1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Mecanismos: retroalimentación, sistematización, análisis de resultados.</a:t>
              </a:r>
              <a:endParaRPr sz="1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7"/>
          <p:cNvSpPr txBox="1"/>
          <p:nvPr/>
        </p:nvSpPr>
        <p:spPr>
          <a:xfrm>
            <a:off x="8327569" y="3428697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</a:pPr>
            <a:r>
              <a:rPr lang="es-CO"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Mecanismos: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3048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8"/>
          <p:cNvGrpSpPr/>
          <p:nvPr/>
        </p:nvGrpSpPr>
        <p:grpSpPr>
          <a:xfrm>
            <a:off x="1981200" y="692508"/>
            <a:ext cx="8229600" cy="1130220"/>
            <a:chOff x="0" y="6390"/>
            <a:chExt cx="8229600" cy="1130220"/>
          </a:xfrm>
        </p:grpSpPr>
        <p:sp>
          <p:nvSpPr>
            <p:cNvPr id="246" name="Google Shape;246;p8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45F1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pic>
        <p:nvPicPr>
          <p:cNvPr id="248" name="Google Shape;24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8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7494515" y="206407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985565" y="206407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2286440" y="351833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Automatización del timbre escolar.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4833165" y="351833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 en la comprensión de conceptos físicos.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7379890" y="3518332"/>
            <a:ext cx="2175300" cy="107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Fortalecimiento de competencias STEM y sostenibilidad del proyecto.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2286440" y="320778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Corto plazo: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4833162" y="3207785"/>
            <a:ext cx="2332178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Mediano plazo: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7379890" y="320778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Largo plazo: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8"/>
          <p:cNvGrpSpPr/>
          <p:nvPr/>
        </p:nvGrpSpPr>
        <p:grpSpPr>
          <a:xfrm>
            <a:off x="7602540" y="2172064"/>
            <a:ext cx="500354" cy="500436"/>
            <a:chOff x="2291550" y="1480816"/>
            <a:chExt cx="500354" cy="500436"/>
          </a:xfrm>
        </p:grpSpPr>
        <p:sp>
          <p:nvSpPr>
            <p:cNvPr id="260" name="Google Shape;260;p8"/>
            <p:cNvSpPr/>
            <p:nvPr/>
          </p:nvSpPr>
          <p:spPr>
            <a:xfrm>
              <a:off x="2291550" y="1480816"/>
              <a:ext cx="352810" cy="59525"/>
            </a:xfrm>
            <a:custGeom>
              <a:avLst/>
              <a:gdLst/>
              <a:ahLst/>
              <a:cxnLst/>
              <a:rect l="l" t="t" r="r" b="b"/>
              <a:pathLst>
                <a:path w="12927" h="2181" extrusionOk="0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673618" y="1480816"/>
              <a:ext cx="118286" cy="59525"/>
            </a:xfrm>
            <a:custGeom>
              <a:avLst/>
              <a:gdLst/>
              <a:ahLst/>
              <a:cxnLst/>
              <a:rect l="l" t="t" r="r" b="b"/>
              <a:pathLst>
                <a:path w="4334" h="2181" extrusionOk="0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291550" y="1569790"/>
              <a:ext cx="500353" cy="411462"/>
            </a:xfrm>
            <a:custGeom>
              <a:avLst/>
              <a:gdLst/>
              <a:ahLst/>
              <a:cxnLst/>
              <a:rect l="l" t="t" r="r" b="b"/>
              <a:pathLst>
                <a:path w="18333" h="15076" extrusionOk="0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8"/>
          <p:cNvGrpSpPr/>
          <p:nvPr/>
        </p:nvGrpSpPr>
        <p:grpSpPr>
          <a:xfrm>
            <a:off x="5093433" y="2172017"/>
            <a:ext cx="500654" cy="500545"/>
            <a:chOff x="719993" y="2099482"/>
            <a:chExt cx="500654" cy="500545"/>
          </a:xfrm>
        </p:grpSpPr>
        <p:sp>
          <p:nvSpPr>
            <p:cNvPr id="264" name="Google Shape;264;p8"/>
            <p:cNvSpPr/>
            <p:nvPr/>
          </p:nvSpPr>
          <p:spPr>
            <a:xfrm>
              <a:off x="719993" y="2099482"/>
              <a:ext cx="500654" cy="500544"/>
            </a:xfrm>
            <a:custGeom>
              <a:avLst/>
              <a:gdLst/>
              <a:ahLst/>
              <a:cxnLst/>
              <a:rect l="l" t="t" r="r" b="b"/>
              <a:pathLst>
                <a:path w="18344" h="18340" extrusionOk="0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720212" y="2099482"/>
              <a:ext cx="88919" cy="88919"/>
            </a:xfrm>
            <a:custGeom>
              <a:avLst/>
              <a:gdLst/>
              <a:ahLst/>
              <a:cxnLst/>
              <a:rect l="l" t="t" r="r" b="b"/>
              <a:pathLst>
                <a:path w="3258" h="3258" extrusionOk="0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720212" y="2510999"/>
              <a:ext cx="88919" cy="89028"/>
            </a:xfrm>
            <a:custGeom>
              <a:avLst/>
              <a:gdLst/>
              <a:ahLst/>
              <a:cxnLst/>
              <a:rect l="l" t="t" r="r" b="b"/>
              <a:pathLst>
                <a:path w="3258" h="3262" extrusionOk="0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132601" y="2099482"/>
              <a:ext cx="88046" cy="88919"/>
            </a:xfrm>
            <a:custGeom>
              <a:avLst/>
              <a:gdLst/>
              <a:ahLst/>
              <a:cxnLst/>
              <a:rect l="l" t="t" r="r" b="b"/>
              <a:pathLst>
                <a:path w="3226" h="3258" extrusionOk="0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132601" y="2510999"/>
              <a:ext cx="88046" cy="89028"/>
            </a:xfrm>
            <a:custGeom>
              <a:avLst/>
              <a:gdLst/>
              <a:ahLst/>
              <a:cxnLst/>
              <a:rect l="l" t="t" r="r" b="b"/>
              <a:pathLst>
                <a:path w="3226" h="3262" extrusionOk="0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867537" y="2247026"/>
              <a:ext cx="205649" cy="205458"/>
            </a:xfrm>
            <a:custGeom>
              <a:avLst/>
              <a:gdLst/>
              <a:ahLst/>
              <a:cxnLst/>
              <a:rect l="l" t="t" r="r" b="b"/>
              <a:pathLst>
                <a:path w="7535" h="7528" extrusionOk="0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8"/>
          <p:cNvSpPr/>
          <p:nvPr/>
        </p:nvSpPr>
        <p:spPr>
          <a:xfrm>
            <a:off x="2438840" y="206407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71" name="Google Shape;271;p8"/>
          <p:cNvGrpSpPr/>
          <p:nvPr/>
        </p:nvGrpSpPr>
        <p:grpSpPr>
          <a:xfrm>
            <a:off x="2546821" y="2202308"/>
            <a:ext cx="500435" cy="439955"/>
            <a:chOff x="2304569" y="2129723"/>
            <a:chExt cx="500435" cy="439955"/>
          </a:xfrm>
        </p:grpSpPr>
        <p:sp>
          <p:nvSpPr>
            <p:cNvPr id="272" name="Google Shape;272;p8"/>
            <p:cNvSpPr/>
            <p:nvPr/>
          </p:nvSpPr>
          <p:spPr>
            <a:xfrm>
              <a:off x="2304569" y="2129723"/>
              <a:ext cx="500353" cy="176091"/>
            </a:xfrm>
            <a:custGeom>
              <a:avLst/>
              <a:gdLst/>
              <a:ahLst/>
              <a:cxnLst/>
              <a:rect l="l" t="t" r="r" b="b"/>
              <a:pathLst>
                <a:path w="18333" h="6452" extrusionOk="0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2304651" y="2277375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2304651" y="2365393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2304651" y="2453221"/>
              <a:ext cx="500353" cy="116457"/>
            </a:xfrm>
            <a:custGeom>
              <a:avLst/>
              <a:gdLst/>
              <a:ahLst/>
              <a:cxnLst/>
              <a:rect l="l" t="t" r="r" b="b"/>
              <a:pathLst>
                <a:path w="18333" h="4267" extrusionOk="0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6" name="Google Shape;27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54632" y="2069935"/>
            <a:ext cx="2332178" cy="155478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7" name="Google Shape;277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58101" y="3747752"/>
            <a:ext cx="2852115" cy="190141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9"/>
          <p:cNvGrpSpPr/>
          <p:nvPr/>
        </p:nvGrpSpPr>
        <p:grpSpPr>
          <a:xfrm>
            <a:off x="1805940" y="829668"/>
            <a:ext cx="8229600" cy="1130220"/>
            <a:chOff x="0" y="6390"/>
            <a:chExt cx="8229600" cy="1130220"/>
          </a:xfrm>
        </p:grpSpPr>
        <p:sp>
          <p:nvSpPr>
            <p:cNvPr id="284" name="Google Shape;284;p9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TRANSFERENCIAS</a:t>
              </a:r>
              <a:endParaRPr/>
            </a:p>
          </p:txBody>
        </p:sp>
      </p:grpSp>
      <p:sp>
        <p:nvSpPr>
          <p:cNvPr id="286" name="Google Shape;286;p9"/>
          <p:cNvSpPr txBox="1">
            <a:spLocks noGrp="1"/>
          </p:cNvSpPr>
          <p:nvPr>
            <p:ph type="body" idx="1"/>
          </p:nvPr>
        </p:nvSpPr>
        <p:spPr>
          <a:xfrm>
            <a:off x="905662" y="2174877"/>
            <a:ext cx="4321658" cy="385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La experiencia se replica mediante formación docente, talleres con estudiantes, guías metodológicas y acompañamiento técnico entre pares.﻿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 b="0" i="0">
                <a:latin typeface="Arial"/>
                <a:ea typeface="Arial"/>
                <a:cs typeface="Arial"/>
                <a:sym typeface="Arial"/>
              </a:rPr>
              <a:t>Sus resultados se han socializado en ferias tecnológicas, encuentros académicos y redes institucionales, ampliando su impacto y adaptabilidad.</a:t>
            </a:r>
            <a:endParaRPr/>
          </a:p>
        </p:txBody>
      </p:sp>
      <p:pic>
        <p:nvPicPr>
          <p:cNvPr id="287" name="Google Shape;28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9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25518" y="2174877"/>
            <a:ext cx="6060820" cy="4040547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10"/>
          <p:cNvGrpSpPr/>
          <p:nvPr/>
        </p:nvGrpSpPr>
        <p:grpSpPr>
          <a:xfrm>
            <a:off x="1981200" y="846138"/>
            <a:ext cx="8229600" cy="1130220"/>
            <a:chOff x="0" y="0"/>
            <a:chExt cx="8229600" cy="1130220"/>
          </a:xfrm>
        </p:grpSpPr>
        <p:sp>
          <p:nvSpPr>
            <p:cNvPr id="297" name="Google Shape;297;p10"/>
            <p:cNvSpPr/>
            <p:nvPr/>
          </p:nvSpPr>
          <p:spPr>
            <a:xfrm>
              <a:off x="0" y="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45F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55173" y="5517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SOSTENIBILIDAD</a:t>
              </a:r>
              <a:endParaRPr/>
            </a:p>
          </p:txBody>
        </p:sp>
      </p:grpSp>
      <p:sp>
        <p:nvSpPr>
          <p:cNvPr id="299" name="Google Shape;299;p10"/>
          <p:cNvSpPr txBox="1">
            <a:spLocks noGrp="1"/>
          </p:cNvSpPr>
          <p:nvPr>
            <p:ph type="body" idx="1"/>
          </p:nvPr>
        </p:nvSpPr>
        <p:spPr>
          <a:xfrm>
            <a:off x="5836920" y="2171701"/>
            <a:ext cx="5516880" cy="412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garantiza mediante apropiación colectiva y liderazgo juvenil, vinculación de familias y aliados, y alineación con PEI y PMI.﻿</a:t>
            </a:r>
            <a:r>
              <a:rPr lang="es-CO" sz="2400" b="0" i="0" u="none" strike="noStrike" cap="none">
                <a:solidFill>
                  <a:schemeClr val="dk1"/>
                </a:solidFill>
              </a:rPr>
              <a:t/>
            </a:r>
            <a:br>
              <a:rPr lang="es-CO" sz="2400" b="0" i="0" u="none" strike="noStrike" cap="none">
                <a:solidFill>
                  <a:schemeClr val="dk1"/>
                </a:solidFill>
              </a:rPr>
            </a:b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cuenta con recursos institucionales, donaciones externas y actualización constante de metodologías y tecnologías para mantener la innovación pedagógica</a:t>
            </a:r>
            <a:endParaRPr/>
          </a:p>
        </p:txBody>
      </p:sp>
      <p:pic>
        <p:nvPicPr>
          <p:cNvPr id="300" name="Google Shape;30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0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/>
          <p:nvPr/>
        </p:nvSpPr>
        <p:spPr>
          <a:xfrm>
            <a:off x="0" y="-138499"/>
            <a:ext cx="2616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CO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.﻿</a:t>
            </a:r>
            <a:r>
              <a:rPr lang="es-CO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7042" y="2518411"/>
            <a:ext cx="5143500" cy="342900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11"/>
          <p:cNvGrpSpPr/>
          <p:nvPr/>
        </p:nvGrpSpPr>
        <p:grpSpPr>
          <a:xfrm>
            <a:off x="1981200" y="783948"/>
            <a:ext cx="8229600" cy="1130220"/>
            <a:chOff x="0" y="6390"/>
            <a:chExt cx="8229600" cy="1130220"/>
          </a:xfrm>
        </p:grpSpPr>
        <p:sp>
          <p:nvSpPr>
            <p:cNvPr id="311" name="Google Shape;311;p11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1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INNOVACIÓN</a:t>
              </a:r>
              <a:endParaRPr/>
            </a:p>
          </p:txBody>
        </p:sp>
      </p:grpSp>
      <p:sp>
        <p:nvSpPr>
          <p:cNvPr id="313" name="Google Shape;313;p11"/>
          <p:cNvSpPr txBox="1">
            <a:spLocks noGrp="1"/>
          </p:cNvSpPr>
          <p:nvPr>
            <p:ph type="body" idx="1"/>
          </p:nvPr>
        </p:nvSpPr>
        <p:spPr>
          <a:xfrm>
            <a:off x="899160" y="2103121"/>
            <a:ext cx="5471160" cy="397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implementan procesos novedosos que integran aprendizaje basado en proyectos, STEM y mecatrónica para transformar la enseñanza de física en un laboratorio vivo.﻿</a:t>
            </a:r>
            <a:r>
              <a:rPr lang="es-CO" sz="2400" b="0" i="0" u="none" strike="noStrike" cap="none">
                <a:solidFill>
                  <a:schemeClr val="dk1"/>
                </a:solidFill>
              </a:rPr>
              <a:t/>
            </a:r>
            <a:br>
              <a:rPr lang="es-CO" sz="2400" b="0" i="0" u="none" strike="noStrike" cap="none">
                <a:solidFill>
                  <a:schemeClr val="dk1"/>
                </a:solidFill>
              </a:rPr>
            </a:br>
            <a:r>
              <a:rPr lang="es-CO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combinación de teoría y práctica con tecnología avanzada fortalece competencias integrales y prepara a futuros maestros en liderazgo y creatividad.﻿</a:t>
            </a:r>
            <a:r>
              <a:rPr lang="es-CO" sz="2400" b="0" i="0" u="none" strike="noStrike" cap="none">
                <a:solidFill>
                  <a:schemeClr val="dk1"/>
                </a:solidFill>
              </a:rPr>
              <a:t> 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1"/>
          <p:cNvPicPr preferRelativeResize="0"/>
          <p:nvPr/>
        </p:nvPicPr>
        <p:blipFill rotWithShape="1">
          <a:blip r:embed="rId5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89111" y="2062024"/>
            <a:ext cx="5021395" cy="386369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12"/>
          <p:cNvGrpSpPr/>
          <p:nvPr/>
        </p:nvGrpSpPr>
        <p:grpSpPr>
          <a:xfrm>
            <a:off x="2217420" y="715368"/>
            <a:ext cx="8229600" cy="1130220"/>
            <a:chOff x="0" y="6390"/>
            <a:chExt cx="8229600" cy="1130220"/>
          </a:xfrm>
        </p:grpSpPr>
        <p:sp>
          <p:nvSpPr>
            <p:cNvPr id="324" name="Google Shape;324;p12"/>
            <p:cNvSpPr/>
            <p:nvPr/>
          </p:nvSpPr>
          <p:spPr>
            <a:xfrm>
              <a:off x="0" y="6390"/>
              <a:ext cx="8229600" cy="1130220"/>
            </a:xfrm>
            <a:prstGeom prst="roundRect">
              <a:avLst>
                <a:gd name="adj" fmla="val 16667"/>
              </a:avLst>
            </a:prstGeom>
            <a:solidFill>
              <a:srgbClr val="145F1D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2"/>
            <p:cNvSpPr txBox="1"/>
            <p:nvPr/>
          </p:nvSpPr>
          <p:spPr>
            <a:xfrm>
              <a:off x="55173" y="61563"/>
              <a:ext cx="8119254" cy="1019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5250" tIns="175250" rIns="175250" bIns="1752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600"/>
                <a:buFont typeface="Arial"/>
                <a:buNone/>
              </a:pPr>
              <a:r>
                <a:rPr lang="es-CO" sz="46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CRÉDITOS Y CONTACTO</a:t>
              </a:r>
              <a:endParaRPr/>
            </a:p>
          </p:txBody>
        </p:sp>
      </p:grpSp>
      <p:sp>
        <p:nvSpPr>
          <p:cNvPr id="326" name="Google Shape;326;p12"/>
          <p:cNvSpPr txBox="1">
            <a:spLocks noGrp="1"/>
          </p:cNvSpPr>
          <p:nvPr>
            <p:ph type="body" idx="1"/>
          </p:nvPr>
        </p:nvSpPr>
        <p:spPr>
          <a:xfrm>
            <a:off x="2217420" y="203454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 b="1"/>
              <a:t>Responsable</a:t>
            </a:r>
            <a:r>
              <a:rPr lang="es-CO"/>
              <a:t>: Gerardo Meneses Pérez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 b="1"/>
              <a:t>Correo: </a:t>
            </a:r>
            <a:r>
              <a:rPr lang="es-CO" u="sng">
                <a:solidFill>
                  <a:schemeClr val="hlink"/>
                </a:solidFill>
                <a:hlinkClick r:id="rId4"/>
              </a:rPr>
              <a:t>gmenesess@gmail.com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 b="1"/>
              <a:t>Teléfono</a:t>
            </a:r>
            <a:r>
              <a:rPr lang="es-CO"/>
              <a:t> 3105012257</a:t>
            </a:r>
            <a:endParaRPr/>
          </a:p>
        </p:txBody>
      </p:sp>
      <p:pic>
        <p:nvPicPr>
          <p:cNvPr id="327" name="Google Shape;32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705" y="5730875"/>
            <a:ext cx="922189" cy="949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2"/>
          <p:cNvPicPr preferRelativeResize="0"/>
          <p:nvPr/>
        </p:nvPicPr>
        <p:blipFill rotWithShape="1">
          <a:blip r:embed="rId6">
            <a:alphaModFix/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24099" y="0"/>
            <a:ext cx="1351421" cy="76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17248" y="2666016"/>
            <a:ext cx="6922635" cy="389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PresentationFormat>Panorámica</PresentationFormat>
  <Paragraphs>54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Sora</vt:lpstr>
      <vt:lpstr>Lato</vt:lpstr>
      <vt:lpstr>Play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Evaluación y seguimiento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Experiencia Significativa</dc:title>
  <dc:creator>Sebastian Santamaria</dc:creator>
  <cp:lastModifiedBy>CALIDAD-MEJORAMIENTO</cp:lastModifiedBy>
  <cp:revision>1</cp:revision>
  <dcterms:created xsi:type="dcterms:W3CDTF">2025-07-23T15:35:07Z</dcterms:created>
  <dcterms:modified xsi:type="dcterms:W3CDTF">2026-06-16T17:15:58Z</dcterms:modified>
</cp:coreProperties>
</file>