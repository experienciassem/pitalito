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7" r:id="rId10"/>
    <p:sldId id="263" r:id="rId11"/>
    <p:sldId id="264" r:id="rId12"/>
    <p:sldId id="268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CO" b="1" dirty="0"/>
            <a:t>FUNDAMENTACIÓN</a:t>
          </a:r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PERTINENCIA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MX" b="1" dirty="0"/>
            <a:t>CONSISTENCIA</a:t>
          </a:r>
          <a:endParaRPr lang="es-CO" b="1" dirty="0"/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MADUREZ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3A31B69-566F-4499-A255-C960BF21662E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7F922071-A59B-4287-9D0E-7DF877A3045C}">
      <dgm:prSet/>
      <dgm:spPr/>
      <dgm:t>
        <a:bodyPr/>
        <a:lstStyle/>
        <a:p>
          <a:pPr algn="ctr"/>
          <a:r>
            <a:rPr lang="es-CO" b="1" dirty="0"/>
            <a:t>EMPODERAMIENTO</a:t>
          </a:r>
        </a:p>
      </dgm:t>
    </dgm:pt>
    <dgm:pt modelId="{E9C193A8-A247-4C39-A3FE-B504305332DF}" type="parTrans" cxnId="{1DB7F010-2F4E-456D-B4C0-2FE7D9AE0F4F}">
      <dgm:prSet/>
      <dgm:spPr/>
      <dgm:t>
        <a:bodyPr/>
        <a:lstStyle/>
        <a:p>
          <a:endParaRPr lang="es-CO" b="1"/>
        </a:p>
      </dgm:t>
    </dgm:pt>
    <dgm:pt modelId="{9281B5D9-05E2-4982-B9B4-2700AAECF309}" type="sibTrans" cxnId="{1DB7F010-2F4E-456D-B4C0-2FE7D9AE0F4F}">
      <dgm:prSet/>
      <dgm:spPr/>
      <dgm:t>
        <a:bodyPr/>
        <a:lstStyle/>
        <a:p>
          <a:endParaRPr lang="es-CO" b="1"/>
        </a:p>
      </dgm:t>
    </dgm:pt>
    <dgm:pt modelId="{EE60C2F3-6D59-4EF4-99CC-E08E4187B5AD}" type="pres">
      <dgm:prSet presAssocID="{83A31B69-566F-4499-A255-C960BF21662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31B678E1-2000-4FC0-838F-85DFB5B56F1D}" type="pres">
      <dgm:prSet presAssocID="{7F922071-A59B-4287-9D0E-7DF877A3045C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FD4F9621-F8E9-4ECC-8981-5720E0F99AC2}" type="presOf" srcId="{83A31B69-566F-4499-A255-C960BF21662E}" destId="{EE60C2F3-6D59-4EF4-99CC-E08E4187B5AD}" srcOrd="0" destOrd="0" presId="urn:microsoft.com/office/officeart/2005/8/layout/vList2"/>
    <dgm:cxn modelId="{1DB7F010-2F4E-456D-B4C0-2FE7D9AE0F4F}" srcId="{83A31B69-566F-4499-A255-C960BF21662E}" destId="{7F922071-A59B-4287-9D0E-7DF877A3045C}" srcOrd="0" destOrd="0" parTransId="{E9C193A8-A247-4C39-A3FE-B504305332DF}" sibTransId="{9281B5D9-05E2-4982-B9B4-2700AAECF309}"/>
    <dgm:cxn modelId="{07D11A80-66BF-4FBD-BA76-79F3089DA47E}" type="presOf" srcId="{7F922071-A59B-4287-9D0E-7DF877A3045C}" destId="{31B678E1-2000-4FC0-838F-85DFB5B56F1D}" srcOrd="0" destOrd="0" presId="urn:microsoft.com/office/officeart/2005/8/layout/vList2"/>
    <dgm:cxn modelId="{177D5206-8400-4099-8762-F6244B234210}" type="presParOf" srcId="{EE60C2F3-6D59-4EF4-99CC-E08E4187B5AD}" destId="{31B678E1-2000-4FC0-838F-85DFB5B56F1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6514916-3387-426F-A9A9-E61B9485027B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2BA2871D-4D81-449B-BC5B-1C6D17252554}">
      <dgm:prSet/>
      <dgm:spPr/>
      <dgm:t>
        <a:bodyPr/>
        <a:lstStyle/>
        <a:p>
          <a:pPr algn="ctr"/>
          <a:r>
            <a:rPr lang="es-CO" b="1" dirty="0"/>
            <a:t>EVALUACIÓN Y SEGUIMIENTO</a:t>
          </a:r>
        </a:p>
      </dgm:t>
    </dgm:pt>
    <dgm:pt modelId="{A2D1B0C6-1A70-485D-BDAA-35E0FA57F7F1}" type="parTrans" cxnId="{2517FB1F-33DE-4F65-8466-9BE6FC21C8EF}">
      <dgm:prSet/>
      <dgm:spPr/>
      <dgm:t>
        <a:bodyPr/>
        <a:lstStyle/>
        <a:p>
          <a:endParaRPr lang="es-CO"/>
        </a:p>
      </dgm:t>
    </dgm:pt>
    <dgm:pt modelId="{3FE21DCF-86CA-4EA9-BC90-807B687D300A}" type="sibTrans" cxnId="{2517FB1F-33DE-4F65-8466-9BE6FC21C8EF}">
      <dgm:prSet/>
      <dgm:spPr/>
      <dgm:t>
        <a:bodyPr/>
        <a:lstStyle/>
        <a:p>
          <a:endParaRPr lang="es-CO"/>
        </a:p>
      </dgm:t>
    </dgm:pt>
    <dgm:pt modelId="{080806E0-BA41-4A10-84E1-9CB4EB13CD23}" type="pres">
      <dgm:prSet presAssocID="{A6514916-3387-426F-A9A9-E61B9485027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46DBEF42-CFB9-4902-8628-91F229D11855}" type="pres">
      <dgm:prSet presAssocID="{2BA2871D-4D81-449B-BC5B-1C6D17252554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517FB1F-33DE-4F65-8466-9BE6FC21C8EF}" srcId="{A6514916-3387-426F-A9A9-E61B9485027B}" destId="{2BA2871D-4D81-449B-BC5B-1C6D17252554}" srcOrd="0" destOrd="0" parTransId="{A2D1B0C6-1A70-485D-BDAA-35E0FA57F7F1}" sibTransId="{3FE21DCF-86CA-4EA9-BC90-807B687D300A}"/>
    <dgm:cxn modelId="{D01498A4-5C70-4BFF-AE5E-8F50CD19E28C}" type="presOf" srcId="{2BA2871D-4D81-449B-BC5B-1C6D17252554}" destId="{46DBEF42-CFB9-4902-8628-91F229D11855}" srcOrd="0" destOrd="0" presId="urn:microsoft.com/office/officeart/2005/8/layout/vList2"/>
    <dgm:cxn modelId="{074143AF-D452-4271-A46A-20CFFBC8535D}" type="presOf" srcId="{A6514916-3387-426F-A9A9-E61B9485027B}" destId="{080806E0-BA41-4A10-84E1-9CB4EB13CD23}" srcOrd="0" destOrd="0" presId="urn:microsoft.com/office/officeart/2005/8/layout/vList2"/>
    <dgm:cxn modelId="{4F76AB15-EAF1-4140-AC09-5832B4F2EC95}" type="presParOf" srcId="{080806E0-BA41-4A10-84E1-9CB4EB13CD23}" destId="{46DBEF42-CFB9-4902-8628-91F229D1185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0D6CE0B-2D60-414F-8282-1607279681D0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4BE1E9D8-92A4-4131-98FE-32C23E18DF9E}">
      <dgm:prSet/>
      <dgm:spPr/>
      <dgm:t>
        <a:bodyPr/>
        <a:lstStyle/>
        <a:p>
          <a:pPr algn="ctr"/>
          <a:r>
            <a:rPr lang="es-CO" b="1" dirty="0"/>
            <a:t>RESULTADOS</a:t>
          </a:r>
        </a:p>
      </dgm:t>
    </dgm:pt>
    <dgm:pt modelId="{1930D40E-B03D-4839-A982-53AD0489D07B}" type="parTrans" cxnId="{85C0D94F-054A-4F2D-8824-BE123990943E}">
      <dgm:prSet/>
      <dgm:spPr/>
      <dgm:t>
        <a:bodyPr/>
        <a:lstStyle/>
        <a:p>
          <a:endParaRPr lang="es-CO"/>
        </a:p>
      </dgm:t>
    </dgm:pt>
    <dgm:pt modelId="{80F9BB87-4645-4FA1-86B7-EB92A4FF299B}" type="sibTrans" cxnId="{85C0D94F-054A-4F2D-8824-BE123990943E}">
      <dgm:prSet/>
      <dgm:spPr/>
      <dgm:t>
        <a:bodyPr/>
        <a:lstStyle/>
        <a:p>
          <a:endParaRPr lang="es-CO"/>
        </a:p>
      </dgm:t>
    </dgm:pt>
    <dgm:pt modelId="{8B493A19-E0B3-4362-83A1-95600E5C1841}" type="pres">
      <dgm:prSet presAssocID="{F0D6CE0B-2D60-414F-8282-1607279681D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5AEA1D65-4B02-4517-868D-2252660EBBF2}" type="pres">
      <dgm:prSet presAssocID="{4BE1E9D8-92A4-4131-98FE-32C23E18DF9E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85C0D94F-054A-4F2D-8824-BE123990943E}" srcId="{F0D6CE0B-2D60-414F-8282-1607279681D0}" destId="{4BE1E9D8-92A4-4131-98FE-32C23E18DF9E}" srcOrd="0" destOrd="0" parTransId="{1930D40E-B03D-4839-A982-53AD0489D07B}" sibTransId="{80F9BB87-4645-4FA1-86B7-EB92A4FF299B}"/>
    <dgm:cxn modelId="{501B4ACA-5E48-43ED-863A-C545ECA7DCEC}" type="presOf" srcId="{F0D6CE0B-2D60-414F-8282-1607279681D0}" destId="{8B493A19-E0B3-4362-83A1-95600E5C1841}" srcOrd="0" destOrd="0" presId="urn:microsoft.com/office/officeart/2005/8/layout/vList2"/>
    <dgm:cxn modelId="{07E2B8AE-E04C-43C3-AFB8-369A44CEDD86}" type="presOf" srcId="{4BE1E9D8-92A4-4131-98FE-32C23E18DF9E}" destId="{5AEA1D65-4B02-4517-868D-2252660EBBF2}" srcOrd="0" destOrd="0" presId="urn:microsoft.com/office/officeart/2005/8/layout/vList2"/>
    <dgm:cxn modelId="{86F0A67D-39D2-4BEF-9524-073A3D7CBB7A}" type="presParOf" srcId="{8B493A19-E0B3-4362-83A1-95600E5C1841}" destId="{5AEA1D65-4B02-4517-868D-2252660EBBF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8F95D73-2495-44C2-9DD5-C7076158156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51233226-7FFA-47FA-ADDE-E1F038A8910B}">
      <dgm:prSet/>
      <dgm:spPr/>
      <dgm:t>
        <a:bodyPr/>
        <a:lstStyle/>
        <a:p>
          <a:pPr algn="ctr"/>
          <a:r>
            <a:rPr lang="es-CO" b="1" dirty="0"/>
            <a:t>TRANSFERENCIAS</a:t>
          </a:r>
        </a:p>
      </dgm:t>
    </dgm:pt>
    <dgm:pt modelId="{A1875DB1-7F9C-4C1E-9DD0-4A62ED88E181}" type="parTrans" cxnId="{B79677B4-0036-49C2-8874-83C890FB5FBB}">
      <dgm:prSet/>
      <dgm:spPr/>
      <dgm:t>
        <a:bodyPr/>
        <a:lstStyle/>
        <a:p>
          <a:endParaRPr lang="es-CO"/>
        </a:p>
      </dgm:t>
    </dgm:pt>
    <dgm:pt modelId="{C474848E-D8AD-4CD6-AE91-CB79CC955440}" type="sibTrans" cxnId="{B79677B4-0036-49C2-8874-83C890FB5FBB}">
      <dgm:prSet/>
      <dgm:spPr/>
      <dgm:t>
        <a:bodyPr/>
        <a:lstStyle/>
        <a:p>
          <a:endParaRPr lang="es-CO"/>
        </a:p>
      </dgm:t>
    </dgm:pt>
    <dgm:pt modelId="{9F9918A5-B1D9-4E6F-A0AB-9DCECB5A8FF1}" type="pres">
      <dgm:prSet presAssocID="{88F95D73-2495-44C2-9DD5-C7076158156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4F22A99A-39B7-4281-9165-D87AAF77F3C2}" type="pres">
      <dgm:prSet presAssocID="{51233226-7FFA-47FA-ADDE-E1F038A8910B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EB480121-F741-49F6-996F-1BF9FFC34FC7}" type="presOf" srcId="{51233226-7FFA-47FA-ADDE-E1F038A8910B}" destId="{4F22A99A-39B7-4281-9165-D87AAF77F3C2}" srcOrd="0" destOrd="0" presId="urn:microsoft.com/office/officeart/2005/8/layout/vList2"/>
    <dgm:cxn modelId="{B79677B4-0036-49C2-8874-83C890FB5FBB}" srcId="{88F95D73-2495-44C2-9DD5-C70761581563}" destId="{51233226-7FFA-47FA-ADDE-E1F038A8910B}" srcOrd="0" destOrd="0" parTransId="{A1875DB1-7F9C-4C1E-9DD0-4A62ED88E181}" sibTransId="{C474848E-D8AD-4CD6-AE91-CB79CC955440}"/>
    <dgm:cxn modelId="{C9A76027-D350-42E7-B3AA-20CBFF60E6BF}" type="presOf" srcId="{88F95D73-2495-44C2-9DD5-C70761581563}" destId="{9F9918A5-B1D9-4E6F-A0AB-9DCECB5A8FF1}" srcOrd="0" destOrd="0" presId="urn:microsoft.com/office/officeart/2005/8/layout/vList2"/>
    <dgm:cxn modelId="{B350DDBA-E2E4-400E-B7F1-9CFD435E4A69}" type="presParOf" srcId="{9F9918A5-B1D9-4E6F-A0AB-9DCECB5A8FF1}" destId="{4F22A99A-39B7-4281-9165-D87AAF77F3C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4929F62-7B14-47FD-A4BE-3EC3871F8D5D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DECEA15A-D46B-428D-9682-CA9A56C11C5A}">
      <dgm:prSet/>
      <dgm:spPr/>
      <dgm:t>
        <a:bodyPr/>
        <a:lstStyle/>
        <a:p>
          <a:pPr algn="ctr"/>
          <a:r>
            <a:rPr lang="es-CO" b="1" dirty="0"/>
            <a:t>SOSTENIBILIDAD</a:t>
          </a:r>
        </a:p>
      </dgm:t>
    </dgm:pt>
    <dgm:pt modelId="{2CE2A4B8-4AE8-4446-92E2-EE00E47D2293}" type="parTrans" cxnId="{2DA7F9C8-910F-4045-8E9A-3687E0B00620}">
      <dgm:prSet/>
      <dgm:spPr/>
      <dgm:t>
        <a:bodyPr/>
        <a:lstStyle/>
        <a:p>
          <a:endParaRPr lang="es-CO"/>
        </a:p>
      </dgm:t>
    </dgm:pt>
    <dgm:pt modelId="{CB4E4B0E-F529-455B-A904-E316D0C8FBC4}" type="sibTrans" cxnId="{2DA7F9C8-910F-4045-8E9A-3687E0B00620}">
      <dgm:prSet/>
      <dgm:spPr/>
      <dgm:t>
        <a:bodyPr/>
        <a:lstStyle/>
        <a:p>
          <a:endParaRPr lang="es-CO"/>
        </a:p>
      </dgm:t>
    </dgm:pt>
    <dgm:pt modelId="{0D2DB1D5-139B-4807-820F-9799181F6647}" type="pres">
      <dgm:prSet presAssocID="{64929F62-7B14-47FD-A4BE-3EC3871F8D5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52E0517-A530-4F70-BC63-122CA318C606}" type="pres">
      <dgm:prSet presAssocID="{DECEA15A-D46B-428D-9682-CA9A56C11C5A}" presName="parentText" presStyleLbl="node1" presStyleIdx="0" presStyleCnt="1" custLinFactNeighborX="-1481" custLinFactNeighborY="-697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DA7F9C8-910F-4045-8E9A-3687E0B00620}" srcId="{64929F62-7B14-47FD-A4BE-3EC3871F8D5D}" destId="{DECEA15A-D46B-428D-9682-CA9A56C11C5A}" srcOrd="0" destOrd="0" parTransId="{2CE2A4B8-4AE8-4446-92E2-EE00E47D2293}" sibTransId="{CB4E4B0E-F529-455B-A904-E316D0C8FBC4}"/>
    <dgm:cxn modelId="{E123F8E2-AA45-4C6C-B4B3-1C6259036316}" type="presOf" srcId="{DECEA15A-D46B-428D-9682-CA9A56C11C5A}" destId="{C52E0517-A530-4F70-BC63-122CA318C606}" srcOrd="0" destOrd="0" presId="urn:microsoft.com/office/officeart/2005/8/layout/vList2"/>
    <dgm:cxn modelId="{053F08D3-1A18-4CB2-901A-A426D17557E0}" type="presOf" srcId="{64929F62-7B14-47FD-A4BE-3EC3871F8D5D}" destId="{0D2DB1D5-139B-4807-820F-9799181F6647}" srcOrd="0" destOrd="0" presId="urn:microsoft.com/office/officeart/2005/8/layout/vList2"/>
    <dgm:cxn modelId="{4958C595-F7FB-4AD0-A65E-6E7576DB6508}" type="presParOf" srcId="{0D2DB1D5-139B-4807-820F-9799181F6647}" destId="{C52E0517-A530-4F70-BC63-122CA318C60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CD9E832-D3A2-4F58-B2B7-1681B07D7437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B940F0B8-0B9A-471B-A0D9-438E24817FBA}">
      <dgm:prSet/>
      <dgm:spPr/>
      <dgm:t>
        <a:bodyPr/>
        <a:lstStyle/>
        <a:p>
          <a:pPr algn="ctr"/>
          <a:r>
            <a:rPr lang="es-CO" b="1" dirty="0"/>
            <a:t>INNOVACIÓN</a:t>
          </a:r>
        </a:p>
      </dgm:t>
    </dgm:pt>
    <dgm:pt modelId="{4B7A4A79-D3F4-4EDF-8D3C-D27EC6DA16C4}" type="parTrans" cxnId="{7B25536C-5C41-4593-9610-06F544638F5B}">
      <dgm:prSet/>
      <dgm:spPr/>
      <dgm:t>
        <a:bodyPr/>
        <a:lstStyle/>
        <a:p>
          <a:endParaRPr lang="es-CO"/>
        </a:p>
      </dgm:t>
    </dgm:pt>
    <dgm:pt modelId="{92909E5B-8887-4E23-85E7-1708A89F5809}" type="sibTrans" cxnId="{7B25536C-5C41-4593-9610-06F544638F5B}">
      <dgm:prSet/>
      <dgm:spPr/>
      <dgm:t>
        <a:bodyPr/>
        <a:lstStyle/>
        <a:p>
          <a:endParaRPr lang="es-CO"/>
        </a:p>
      </dgm:t>
    </dgm:pt>
    <dgm:pt modelId="{634D75D7-C143-4B58-A6BE-8680AAE7AB88}" type="pres">
      <dgm:prSet presAssocID="{CCD9E832-D3A2-4F58-B2B7-1681B07D743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0A6F2A22-737A-4A85-953E-DB3EE8FD34F8}" type="pres">
      <dgm:prSet presAssocID="{B940F0B8-0B9A-471B-A0D9-438E24817FBA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7B25536C-5C41-4593-9610-06F544638F5B}" srcId="{CCD9E832-D3A2-4F58-B2B7-1681B07D7437}" destId="{B940F0B8-0B9A-471B-A0D9-438E24817FBA}" srcOrd="0" destOrd="0" parTransId="{4B7A4A79-D3F4-4EDF-8D3C-D27EC6DA16C4}" sibTransId="{92909E5B-8887-4E23-85E7-1708A89F5809}"/>
    <dgm:cxn modelId="{7F1BC0DA-785F-4D0C-A809-3D6914303071}" type="presOf" srcId="{CCD9E832-D3A2-4F58-B2B7-1681B07D7437}" destId="{634D75D7-C143-4B58-A6BE-8680AAE7AB88}" srcOrd="0" destOrd="0" presId="urn:microsoft.com/office/officeart/2005/8/layout/vList2"/>
    <dgm:cxn modelId="{7E9882F6-FF59-44A4-B7B7-6F5B482BA248}" type="presOf" srcId="{B940F0B8-0B9A-471B-A0D9-438E24817FBA}" destId="{0A6F2A22-737A-4A85-953E-DB3EE8FD34F8}" srcOrd="0" destOrd="0" presId="urn:microsoft.com/office/officeart/2005/8/layout/vList2"/>
    <dgm:cxn modelId="{989BF5ED-91BE-4444-90B5-A072847FF992}" type="presParOf" srcId="{634D75D7-C143-4B58-A6BE-8680AAE7AB88}" destId="{0A6F2A22-737A-4A85-953E-DB3EE8FD34F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9604CEE-3387-4500-966B-362879E6A93C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6AE58FB2-3CEB-4D54-A223-BC9EA0A72102}">
      <dgm:prSet/>
      <dgm:spPr/>
      <dgm:t>
        <a:bodyPr/>
        <a:lstStyle/>
        <a:p>
          <a:pPr algn="ctr"/>
          <a:r>
            <a:rPr lang="es-CO" b="1" dirty="0"/>
            <a:t>CRÉDITOS Y CONTACTO</a:t>
          </a:r>
        </a:p>
      </dgm:t>
    </dgm:pt>
    <dgm:pt modelId="{8DE7C34F-7857-4D93-B6FC-95A75BFF6C66}" type="parTrans" cxnId="{2A7FD386-C2FB-421A-AF8B-29484AD9F468}">
      <dgm:prSet/>
      <dgm:spPr/>
      <dgm:t>
        <a:bodyPr/>
        <a:lstStyle/>
        <a:p>
          <a:endParaRPr lang="es-CO" b="1"/>
        </a:p>
      </dgm:t>
    </dgm:pt>
    <dgm:pt modelId="{3AC3347F-515C-4CA0-BF8A-D9139969D67B}" type="sibTrans" cxnId="{2A7FD386-C2FB-421A-AF8B-29484AD9F468}">
      <dgm:prSet/>
      <dgm:spPr/>
      <dgm:t>
        <a:bodyPr/>
        <a:lstStyle/>
        <a:p>
          <a:endParaRPr lang="es-CO" b="1"/>
        </a:p>
      </dgm:t>
    </dgm:pt>
    <dgm:pt modelId="{591D47AB-BD78-4FAD-A788-1BF173DF8B56}" type="pres">
      <dgm:prSet presAssocID="{09604CEE-3387-4500-966B-362879E6A93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93DB53E5-91E0-48A4-BBEC-A7F256CF8BC5}" type="pres">
      <dgm:prSet presAssocID="{6AE58FB2-3CEB-4D54-A223-BC9EA0A72102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A7FD386-C2FB-421A-AF8B-29484AD9F468}" srcId="{09604CEE-3387-4500-966B-362879E6A93C}" destId="{6AE58FB2-3CEB-4D54-A223-BC9EA0A72102}" srcOrd="0" destOrd="0" parTransId="{8DE7C34F-7857-4D93-B6FC-95A75BFF6C66}" sibTransId="{3AC3347F-515C-4CA0-BF8A-D9139969D67B}"/>
    <dgm:cxn modelId="{611AC814-5BFD-4D5D-884C-BCBF6D2E8A0D}" type="presOf" srcId="{6AE58FB2-3CEB-4D54-A223-BC9EA0A72102}" destId="{93DB53E5-91E0-48A4-BBEC-A7F256CF8BC5}" srcOrd="0" destOrd="0" presId="urn:microsoft.com/office/officeart/2005/8/layout/vList2"/>
    <dgm:cxn modelId="{E8512E37-2C60-4597-9B7B-CE5A27227939}" type="presOf" srcId="{09604CEE-3387-4500-966B-362879E6A93C}" destId="{591D47AB-BD78-4FAD-A788-1BF173DF8B56}" srcOrd="0" destOrd="0" presId="urn:microsoft.com/office/officeart/2005/8/layout/vList2"/>
    <dgm:cxn modelId="{C544253F-77C8-4A33-9EFF-BC8511FEF2FB}" type="presParOf" srcId="{591D47AB-BD78-4FAD-A788-1BF173DF8B56}" destId="{93DB53E5-91E0-48A4-BBEC-A7F256CF8BC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FUNDAMENTACIÓN</a:t>
          </a:r>
        </a:p>
      </dsp:txBody>
      <dsp:txXfrm>
        <a:off x="55687" y="56812"/>
        <a:ext cx="8118226" cy="10293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PERTINENCIA</a:t>
          </a:r>
        </a:p>
      </dsp:txBody>
      <dsp:txXfrm>
        <a:off x="55687" y="56812"/>
        <a:ext cx="8118226" cy="10293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5000" b="1" kern="1200" dirty="0"/>
            <a:t>CONSISTENCIA</a:t>
          </a:r>
          <a:endParaRPr lang="es-CO" sz="5000" b="1" kern="1200" dirty="0"/>
        </a:p>
      </dsp:txBody>
      <dsp:txXfrm>
        <a:off x="55687" y="56812"/>
        <a:ext cx="8118226" cy="10293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MADUREZ</a:t>
          </a:r>
        </a:p>
      </dsp:txBody>
      <dsp:txXfrm>
        <a:off x="55687" y="56812"/>
        <a:ext cx="8118226" cy="102937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678E1-2000-4FC0-838F-85DFB5B56F1D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EMPODERAMIENTO</a:t>
          </a:r>
        </a:p>
      </dsp:txBody>
      <dsp:txXfrm>
        <a:off x="55687" y="56812"/>
        <a:ext cx="8118226" cy="102937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DBEF42-CFB9-4902-8628-91F229D11855}">
      <dsp:nvSpPr>
        <dsp:cNvPr id="0" name=""/>
        <dsp:cNvSpPr/>
      </dsp:nvSpPr>
      <dsp:spPr>
        <a:xfrm>
          <a:off x="0" y="92385"/>
          <a:ext cx="8229600" cy="95822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4200" b="1" kern="1200" dirty="0"/>
            <a:t>EVALUACIÓN Y SEGUIMIENTO</a:t>
          </a:r>
        </a:p>
      </dsp:txBody>
      <dsp:txXfrm>
        <a:off x="46777" y="139162"/>
        <a:ext cx="8136046" cy="86467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EA1D65-4B02-4517-868D-2252660EBBF2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RESULTADOS</a:t>
          </a:r>
        </a:p>
      </dsp:txBody>
      <dsp:txXfrm>
        <a:off x="55687" y="56812"/>
        <a:ext cx="8118226" cy="102937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22A99A-39B7-4281-9165-D87AAF77F3C2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TRANSFERENCIAS</a:t>
          </a:r>
        </a:p>
      </dsp:txBody>
      <dsp:txXfrm>
        <a:off x="55687" y="56812"/>
        <a:ext cx="8118226" cy="102937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2E0517-A530-4F70-BC63-122CA318C606}">
      <dsp:nvSpPr>
        <dsp:cNvPr id="0" name=""/>
        <dsp:cNvSpPr/>
      </dsp:nvSpPr>
      <dsp:spPr>
        <a:xfrm>
          <a:off x="0" y="0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SOSTENIBILIDAD</a:t>
          </a:r>
        </a:p>
      </dsp:txBody>
      <dsp:txXfrm>
        <a:off x="55687" y="55687"/>
        <a:ext cx="8118226" cy="102937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6F2A22-737A-4A85-953E-DB3EE8FD34F8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INNOVACIÓN</a:t>
          </a:r>
        </a:p>
      </dsp:txBody>
      <dsp:txXfrm>
        <a:off x="55687" y="56812"/>
        <a:ext cx="8118226" cy="102937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DB53E5-91E0-48A4-BBEC-A7F256CF8BC5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CRÉDITOS Y CONTACTO</a:t>
          </a:r>
        </a:p>
      </dsp:txBody>
      <dsp:txXfrm>
        <a:off x="55687" y="56812"/>
        <a:ext cx="8118226" cy="10293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microsoft.com/office/2007/relationships/hdphoto" Target="../media/hdphoto1.wdp"/><Relationship Id="rId4" Type="http://schemas.openxmlformats.org/officeDocument/2006/relationships/diagramLayout" Target="../diagrams/layout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2.xml"/><Relationship Id="rId10" Type="http://schemas.microsoft.com/office/2007/relationships/hdphoto" Target="../media/hdphoto1.wdp"/><Relationship Id="rId4" Type="http://schemas.openxmlformats.org/officeDocument/2006/relationships/diagramLayout" Target="../diagrams/layout2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10" Type="http://schemas.microsoft.com/office/2007/relationships/hdphoto" Target="../media/hdphoto1.wdp"/><Relationship Id="rId4" Type="http://schemas.openxmlformats.org/officeDocument/2006/relationships/diagramLayout" Target="../diagrams/layout3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5.png"/><Relationship Id="rId5" Type="http://schemas.openxmlformats.org/officeDocument/2006/relationships/diagramQuickStyle" Target="../diagrams/quickStyle4.xml"/><Relationship Id="rId10" Type="http://schemas.microsoft.com/office/2007/relationships/hdphoto" Target="../media/hdphoto1.wdp"/><Relationship Id="rId4" Type="http://schemas.openxmlformats.org/officeDocument/2006/relationships/diagramLayout" Target="../diagrams/layout4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10" Type="http://schemas.microsoft.com/office/2007/relationships/hdphoto" Target="../media/hdphoto1.wdp"/><Relationship Id="rId4" Type="http://schemas.openxmlformats.org/officeDocument/2006/relationships/diagramLayout" Target="../diagrams/layout5.xml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10" Type="http://schemas.microsoft.com/office/2007/relationships/hdphoto" Target="../media/hdphoto1.wdp"/><Relationship Id="rId4" Type="http://schemas.openxmlformats.org/officeDocument/2006/relationships/diagramLayout" Target="../diagrams/layout6.xml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11" Type="http://schemas.openxmlformats.org/officeDocument/2006/relationships/image" Target="../media/image6.png"/><Relationship Id="rId5" Type="http://schemas.openxmlformats.org/officeDocument/2006/relationships/diagramQuickStyle" Target="../diagrams/quickStyle7.xml"/><Relationship Id="rId10" Type="http://schemas.microsoft.com/office/2007/relationships/hdphoto" Target="../media/hdphoto1.wdp"/><Relationship Id="rId4" Type="http://schemas.openxmlformats.org/officeDocument/2006/relationships/diagramLayout" Target="../diagrams/layout7.xml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11" Type="http://schemas.openxmlformats.org/officeDocument/2006/relationships/image" Target="../media/image7.png"/><Relationship Id="rId5" Type="http://schemas.openxmlformats.org/officeDocument/2006/relationships/diagramQuickStyle" Target="../diagrams/quickStyle8.xml"/><Relationship Id="rId10" Type="http://schemas.microsoft.com/office/2007/relationships/hdphoto" Target="../media/hdphoto1.wdp"/><Relationship Id="rId4" Type="http://schemas.openxmlformats.org/officeDocument/2006/relationships/diagramLayout" Target="../diagrams/layout8.xml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10" Type="http://schemas.microsoft.com/office/2007/relationships/hdphoto" Target="../media/hdphoto1.wdp"/><Relationship Id="rId4" Type="http://schemas.openxmlformats.org/officeDocument/2006/relationships/diagramLayout" Target="../diagrams/layout9.xml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11" Type="http://schemas.openxmlformats.org/officeDocument/2006/relationships/image" Target="../media/image8.png"/><Relationship Id="rId5" Type="http://schemas.openxmlformats.org/officeDocument/2006/relationships/diagramQuickStyle" Target="../diagrams/quickStyle10.xml"/><Relationship Id="rId10" Type="http://schemas.microsoft.com/office/2007/relationships/hdphoto" Target="../media/hdphoto1.wdp"/><Relationship Id="rId4" Type="http://schemas.openxmlformats.org/officeDocument/2006/relationships/diagramLayout" Target="../diagrams/layout10.xml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mailto:guillermo.ordonez@normalpitalito.edu.co" TargetMode="External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11" Type="http://schemas.microsoft.com/office/2007/relationships/hdphoto" Target="../media/hdphoto1.wdp"/><Relationship Id="rId5" Type="http://schemas.openxmlformats.org/officeDocument/2006/relationships/diagramQuickStyle" Target="../diagrams/quickStyle11.xml"/><Relationship Id="rId10" Type="http://schemas.openxmlformats.org/officeDocument/2006/relationships/image" Target="../media/image3.png"/><Relationship Id="rId4" Type="http://schemas.openxmlformats.org/officeDocument/2006/relationships/diagramLayout" Target="../diagrams/layout11.xm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3E4AF6F-E779-CD1D-11EF-0C24C6FC8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4120" y="1038225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 err="1"/>
              <a:t>Experiencia</a:t>
            </a:r>
            <a:r>
              <a:rPr dirty="0"/>
              <a:t> </a:t>
            </a:r>
            <a:r>
              <a:rPr dirty="0" err="1"/>
              <a:t>Significativa</a:t>
            </a:r>
            <a:endParaRPr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A95729C-CECB-640B-E4A6-9CF9EDDA0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9920" y="5329079"/>
            <a:ext cx="6400800" cy="114792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s-MX" b="1" dirty="0">
                <a:solidFill>
                  <a:schemeClr val="tx1"/>
                </a:solidFill>
              </a:rPr>
              <a:t>I. E. M. </a:t>
            </a:r>
            <a:r>
              <a:rPr b="1" dirty="0">
                <a:solidFill>
                  <a:schemeClr val="tx1"/>
                </a:solidFill>
              </a:rPr>
              <a:t>Escuela Normal Superior</a:t>
            </a:r>
          </a:p>
          <a:p>
            <a:pPr>
              <a:spcBef>
                <a:spcPts val="0"/>
              </a:spcBef>
            </a:pPr>
            <a:r>
              <a:rPr lang="es-CO" b="1" dirty="0">
                <a:solidFill>
                  <a:schemeClr val="tx1"/>
                </a:solidFill>
              </a:rPr>
              <a:t>Pitalito – Huila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569E89D-FDB4-3BCA-DEDE-3D7DDE2A4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9D5FC479-D7DE-25EA-1EFB-11898125D411}"/>
              </a:ext>
            </a:extLst>
          </p:cNvPr>
          <p:cNvSpPr txBox="1">
            <a:spLocks/>
          </p:cNvSpPr>
          <p:nvPr/>
        </p:nvSpPr>
        <p:spPr>
          <a:xfrm>
            <a:off x="3099581" y="2930525"/>
            <a:ext cx="7940040" cy="1752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6000" dirty="0"/>
              <a:t>Coro Mixto Normalista</a:t>
            </a:r>
          </a:p>
          <a:p>
            <a:r>
              <a:rPr lang="es-CO" sz="3200" b="1" noProof="0" dirty="0"/>
              <a:t>Guillermo León Ordóñez </a:t>
            </a:r>
            <a:r>
              <a:rPr lang="es-CO" sz="3200" b="1" noProof="0" dirty="0" err="1"/>
              <a:t>Semanate</a:t>
            </a:r>
            <a:r>
              <a:rPr lang="es-CO" sz="3200" b="1" noProof="0" dirty="0"/>
              <a:t> </a:t>
            </a:r>
            <a:endParaRPr lang="es-CO" b="1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79F20E7-AAE1-C7D2-6F65-F7410C0234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15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DAFB1767-39C6-1E8D-BD02-8A7563260A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0687987"/>
              </p:ext>
            </p:extLst>
          </p:nvPr>
        </p:nvGraphicFramePr>
        <p:xfrm>
          <a:off x="1645920" y="89628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BF94A6-6D3D-7CB4-A461-7A06FE3E1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5920" y="2212989"/>
            <a:ext cx="8229600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MX" dirty="0"/>
              <a:t>La experiencia se fundamenta en el modelo pedagógico socio-crítico, el enfoque humanista y la estrategia de Enseñanza para la Comprensión, los cuales orientan la formación integral, la participación activa y el desarrollo de competencias cognitivas y socioemocionales. La música se concibe como lenguaje pedagógico y herramienta transformadora que posibilita ambientes de cooperación, expresión emocional y creatividad.</a:t>
            </a:r>
          </a:p>
          <a:p>
            <a:pPr marL="0" indent="0">
              <a:buNone/>
            </a:pPr>
            <a:r>
              <a:rPr lang="es-MX" dirty="0"/>
              <a:t>El Coro Mixto se articula con el Proyecto Educativo Institucional (PEI) y con el Plan de Mejoramiento Institucional (PMI), aportando a la misión de la Escuela Normal Superior de Pitalito de formar ciudadanos críticos, sensibles y socialmente responsables. Su proyección se vincula con el fortalecimiento de la convivencia escolar, la inclusión de poblaciones diversas y la valoración de la cultura musical local y universal.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6F28BD8-DC00-1D30-E02F-09C872FE62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33B2458-0A17-E51B-B1D6-E3947FD323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64819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28CD0-7102-797F-C3D9-A885F4B9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6B75AEE-64D5-27DD-ED06-2ECBE70E4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FD8A8747-9E51-7989-429C-D1E4727804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734654"/>
              </p:ext>
            </p:extLst>
          </p:nvPr>
        </p:nvGraphicFramePr>
        <p:xfrm>
          <a:off x="1668780" y="660160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09EF0-8BE2-9B90-3CCE-01263D992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510" y="1803160"/>
            <a:ext cx="496062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1600" dirty="0">
                <a:latin typeface="+mj-lt"/>
              </a:rPr>
              <a:t>La experiencia responde a la necesidad institucional de contar con espacios artísticos permanentes que integren la formación musical con el desarrollo socioemocional, ciudadano y cultural de los estudiantes. Aporta soluciones a problemáticas como la falta de oferta en educación musical, la necesidad de apoyar a estudiantes con retos emocionales y la importancia de fortalecer la identidad institucional.</a:t>
            </a:r>
          </a:p>
          <a:p>
            <a:pPr marL="0" indent="0">
              <a:buNone/>
            </a:pPr>
            <a:r>
              <a:rPr lang="es-MX" sz="1600" dirty="0">
                <a:latin typeface="+mj-lt"/>
              </a:rPr>
              <a:t>Se alinea con políticas públicas como la Ley General de Educación, el enfoque de educación inclusiva, los lineamientos de competencias ciudadanas y las orientaciones para ambientes escolares protectores. Su desarrollo beneficia a estudiantes desde sexto grado hasta la media, así como a jóvenes del Programa de Formación Complementaria.</a:t>
            </a:r>
            <a:endParaRPr sz="1600" dirty="0">
              <a:latin typeface="+mj-l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99328DF-9064-CF9F-9749-2637864399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15854E9-6669-ECBB-33BB-38729EAF3B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0"/>
            <a:ext cx="2852115" cy="434975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CCFBE92-6908-41FF-6C43-66A0A6EE520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4849" y="1940002"/>
            <a:ext cx="4566300" cy="402980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68533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EFE567D3-4DA4-45B3-7C1A-3DF3B7898E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5451773"/>
              </p:ext>
            </p:extLst>
          </p:nvPr>
        </p:nvGraphicFramePr>
        <p:xfrm>
          <a:off x="1828800" y="10290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6D443E7-86F8-4BEC-FFEB-5B2E752FBECB}"/>
              </a:ext>
            </a:extLst>
          </p:cNvPr>
          <p:cNvSpPr txBox="1">
            <a:spLocks/>
          </p:cNvSpPr>
          <p:nvPr/>
        </p:nvSpPr>
        <p:spPr>
          <a:xfrm>
            <a:off x="1146894" y="2506980"/>
            <a:ext cx="9063906" cy="3619499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s-MX" dirty="0">
                <a:latin typeface="fkGroteskNeue"/>
              </a:rPr>
              <a:t>Existe coherencia entre los objetivos, las acciones formativas y los resultados obtenidos.</a:t>
            </a:r>
          </a:p>
          <a:p>
            <a:r>
              <a:rPr lang="es-MX" dirty="0">
                <a:latin typeface="fkGroteskNeue"/>
              </a:rPr>
              <a:t>• Los ensayos presenciales y virtuales permiten alcanzar la técnica vocal y la interpretación musical.</a:t>
            </a:r>
          </a:p>
          <a:p>
            <a:r>
              <a:rPr lang="es-MX" dirty="0">
                <a:latin typeface="fkGroteskNeue"/>
              </a:rPr>
              <a:t>• La metodología integrada combina repertorio pertinente, acompañamiento técnico y enfoque socioemocional.</a:t>
            </a:r>
          </a:p>
          <a:p>
            <a:r>
              <a:rPr lang="es-MX" dirty="0">
                <a:latin typeface="fkGroteskNeue"/>
              </a:rPr>
              <a:t>• La participación voluntaria asegura compromiso y sentido de pertenencia.</a:t>
            </a:r>
          </a:p>
          <a:p>
            <a:r>
              <a:rPr lang="es-MX" dirty="0">
                <a:latin typeface="fkGroteskNeue"/>
              </a:rPr>
              <a:t>• Las presentaciones públicas y los registros audiovisuales evidencian avances técnicos y personales.</a:t>
            </a:r>
          </a:p>
          <a:p>
            <a:pPr marL="0" indent="0">
              <a:buFont typeface="Arial"/>
              <a:buNone/>
            </a:pPr>
            <a:r>
              <a:rPr lang="es-MX" dirty="0">
                <a:latin typeface="fkGroteskNeue"/>
              </a:rPr>
              <a:t>Todo el proceso mantiene relación directa con los propósitos de formación integral, convivencia y desarrollo de la sensibilidad artística.</a:t>
            </a:r>
            <a:endParaRPr lang="es-MX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08C248-0AA4-EFB7-998A-BFB146C323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4ED778C-C474-C5BF-9124-83C90E641E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2857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C89304F7-0A62-2031-54A2-BE3B30D621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164331"/>
              </p:ext>
            </p:extLst>
          </p:nvPr>
        </p:nvGraphicFramePr>
        <p:xfrm>
          <a:off x="173736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043FED7-18D5-CD66-2A6F-447F377E0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988820"/>
            <a:ext cx="5067300" cy="434975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La experiencia cuenta con más de seis años de consolidación, en los cuales se ha enriquecido mediante ajustes permanentes en la metodología, la selección de repertorio, el acompañamiento emocional y el uso de tecnologías educativas.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A partir del análisis continuo, se han implementado estrategias de retroalimentación virtual, talleres personalizados, participación comunitaria y nuevas dinámicas de liderazgo estudiantil. El coro ha evolucionado desde una propuesta inicial de práctica musical hasta un proceso pedagógico sistemático con identidad y estructura propias.</a:t>
            </a:r>
            <a:endParaRPr dirty="0">
              <a:latin typeface="+mj-lt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E0D8673-DF93-3040-25D2-BAEAD33AFC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E4D10AA-ED3D-EA5E-D930-8516D90FAF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349C757B-62C5-0EED-6009-30C927AEF88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69380" y="2046324"/>
            <a:ext cx="5234940" cy="396585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95245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9420230E-9851-C4CC-EADD-F0736252DE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403707"/>
              </p:ext>
            </p:extLst>
          </p:nvPr>
        </p:nvGraphicFramePr>
        <p:xfrm>
          <a:off x="198120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608088F-336E-9696-2C52-FD65D86D8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988820"/>
            <a:ext cx="8229600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El Coro Mixto se sostiene gracias al compromiso activo de estudiantes, docentes, familias y directivos.</a:t>
            </a:r>
          </a:p>
          <a:p>
            <a:r>
              <a:rPr lang="es-MX" b="0" i="0" dirty="0">
                <a:effectLst/>
                <a:latin typeface="+mj-lt"/>
              </a:rPr>
              <a:t>Los estudiantes asumen roles de liderazgo, coordinación de voces y apoyo técnico.</a:t>
            </a:r>
          </a:p>
          <a:p>
            <a:r>
              <a:rPr lang="es-MX" b="0" i="0" dirty="0">
                <a:effectLst/>
                <a:latin typeface="+mj-lt"/>
              </a:rPr>
              <a:t>Las familias acompañan los procesos formativos y participan en los eventos institucionales.</a:t>
            </a:r>
          </a:p>
          <a:p>
            <a:r>
              <a:rPr lang="es-MX" b="0" i="0" dirty="0">
                <a:effectLst/>
                <a:latin typeface="+mj-lt"/>
              </a:rPr>
              <a:t>Los docentes y directivos apoyan logística, escenarios y recursos.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Este nivel de apropiación ha permitido que el coro se convierta en un referente institucional de participación artística, convivencia y sentido de pertenencia.</a:t>
            </a:r>
            <a:endParaRPr dirty="0">
              <a:latin typeface="+mj-lt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BDBFB93-F954-966C-258F-C2CB7FCCC2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1DF7378-EA0D-A313-DF1D-F204ED9CA3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190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AC8D1D27-C9DA-CD17-B5D0-A98BDE0BD8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1261072"/>
              </p:ext>
            </p:extLst>
          </p:nvPr>
        </p:nvGraphicFramePr>
        <p:xfrm>
          <a:off x="1981200" y="1036955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257CB8-0169-D007-5942-20EEA4036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6894" y="2332037"/>
            <a:ext cx="9574446" cy="452596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s-MX" dirty="0"/>
              <a:t>El seguimiento se realiza mediante</a:t>
            </a:r>
          </a:p>
          <a:p>
            <a:pPr>
              <a:buNone/>
            </a:pPr>
            <a:r>
              <a:rPr lang="es-MX" dirty="0"/>
              <a:t/>
            </a:r>
            <a:br>
              <a:rPr lang="es-MX" dirty="0"/>
            </a:br>
            <a:r>
              <a:rPr lang="es-MX" dirty="0"/>
              <a:t>• Listas de asistencia y participación.</a:t>
            </a:r>
            <a:br>
              <a:rPr lang="es-MX" dirty="0"/>
            </a:br>
            <a:r>
              <a:rPr lang="es-MX" dirty="0"/>
              <a:t>• Observaciones sistemáticas durante ensayos y conciertos.</a:t>
            </a:r>
            <a:br>
              <a:rPr lang="es-MX" dirty="0"/>
            </a:br>
            <a:r>
              <a:rPr lang="es-MX" dirty="0"/>
              <a:t>• Registros audiovisuales para análisis técnico.</a:t>
            </a:r>
            <a:br>
              <a:rPr lang="es-MX" dirty="0"/>
            </a:br>
            <a:r>
              <a:rPr lang="es-MX" dirty="0"/>
              <a:t>• Diarios de campo y entrevistas a estudiantes y familias.</a:t>
            </a:r>
            <a:br>
              <a:rPr lang="es-MX" dirty="0"/>
            </a:br>
            <a:r>
              <a:rPr lang="es-MX" dirty="0"/>
              <a:t>• Evaluación cualitativa del progreso vocal y emocional.</a:t>
            </a:r>
          </a:p>
          <a:p>
            <a:pPr marL="0" indent="0">
              <a:buNone/>
            </a:pPr>
            <a:r>
              <a:rPr lang="es-MX" dirty="0"/>
              <a:t>La combinación de análisis cualitativo y cuantitativo permite valorar avances en técnica vocal, autoestima, habilidades sociales, resiliencia y sentido de comunidad. La experiencia se ha transformado a partir de la autorreflexión, incorporando nuevos métodos y apoyos según las necesidades detectadas.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8A101CE-9B0A-2569-F642-A5B37CF1C7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47A7FDD-5750-268B-9809-E34462C554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426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4F1A2995-237F-9841-B807-0ACF4C1806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4446270"/>
              </p:ext>
            </p:extLst>
          </p:nvPr>
        </p:nvGraphicFramePr>
        <p:xfrm>
          <a:off x="1981200" y="6861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94AFD9-4D03-1C00-321D-72C3065C9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0" y="2011680"/>
            <a:ext cx="5108834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MX" dirty="0"/>
              <a:t>• Participación sostenida de 70 estudiantes por año de diferentes grados y modalidades.</a:t>
            </a:r>
            <a:br>
              <a:rPr lang="es-MX" dirty="0"/>
            </a:br>
            <a:r>
              <a:rPr lang="es-MX" dirty="0"/>
              <a:t>• Fortalecimiento de habilidades técnicas en canto e interpretación musical.</a:t>
            </a:r>
            <a:br>
              <a:rPr lang="es-MX" dirty="0"/>
            </a:br>
            <a:r>
              <a:rPr lang="es-MX" dirty="0"/>
              <a:t>• Mejoras evidentes en autoestima, convivencia, autocontrol y comunicación.</a:t>
            </a:r>
            <a:br>
              <a:rPr lang="es-MX" dirty="0"/>
            </a:br>
            <a:r>
              <a:rPr lang="es-MX" dirty="0"/>
              <a:t>• Inclusión de poblaciones diversas y apoyo a estudiantes con necesidades emocionales.</a:t>
            </a:r>
            <a:br>
              <a:rPr lang="es-MX" dirty="0"/>
            </a:br>
            <a:r>
              <a:rPr lang="es-MX" dirty="0"/>
              <a:t>• Presentaciones artísticas en eventos institucionales y comunitarios.</a:t>
            </a:r>
            <a:br>
              <a:rPr lang="es-MX" dirty="0"/>
            </a:br>
            <a:r>
              <a:rPr lang="es-MX" dirty="0"/>
              <a:t>• Consolidación de un espacio de referencia para la formación musical en la región.</a:t>
            </a:r>
            <a:endParaRPr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FCE432-FC79-3908-C41A-BEE7A15B41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920876A-F256-DD23-817B-567AEB8B495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7546094-BCC0-6B01-BFF5-B6C19A8D15D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9966" y="2011679"/>
            <a:ext cx="6023234" cy="413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454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A2CF1-2EF7-7C11-ADAE-0F64F1C1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77BE91-BCDE-E1BE-C15F-C32CE76AF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9B4091B8-2DD1-2FFE-E6E2-3380B5AF03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171619"/>
              </p:ext>
            </p:extLst>
          </p:nvPr>
        </p:nvGraphicFramePr>
        <p:xfrm>
          <a:off x="1805940" y="8232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703EF-0623-38AE-33D6-9954A777F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800" y="2148841"/>
            <a:ext cx="5989320" cy="399288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endParaRPr lang="es-MX" dirty="0"/>
          </a:p>
          <a:p>
            <a:pPr>
              <a:buNone/>
            </a:pPr>
            <a:r>
              <a:rPr lang="es-MX" dirty="0"/>
              <a:t>La experiencia puede replicarse en otros contextos educativos gracias a:</a:t>
            </a:r>
            <a:br>
              <a:rPr lang="es-MX" dirty="0"/>
            </a:br>
            <a:r>
              <a:rPr lang="es-MX" dirty="0"/>
              <a:t>• Su metodología flexible (presencial + virtual).</a:t>
            </a:r>
            <a:br>
              <a:rPr lang="es-MX" dirty="0"/>
            </a:br>
            <a:r>
              <a:rPr lang="es-MX" dirty="0"/>
              <a:t>• El uso de recursos tecnológicos accesibles.</a:t>
            </a:r>
            <a:br>
              <a:rPr lang="es-MX" dirty="0"/>
            </a:br>
            <a:r>
              <a:rPr lang="es-MX" dirty="0"/>
              <a:t>• La articulación entre música, convivencia y bienestar emocional.</a:t>
            </a:r>
            <a:br>
              <a:rPr lang="es-MX" dirty="0"/>
            </a:br>
            <a:r>
              <a:rPr lang="es-MX" dirty="0"/>
              <a:t>• La sistematización de repertorios, guías de ensayo y estrategias de retroalimentación.</a:t>
            </a:r>
          </a:p>
          <a:p>
            <a:pPr marL="0" indent="0">
              <a:buNone/>
            </a:pPr>
            <a:r>
              <a:rPr lang="es-MX" dirty="0"/>
              <a:t>Su estructura permite adaptaciones en instituciones rurales, urbanas, escuelas de música y proyectos de convivencia escolar.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4E86064-C228-1CFD-9A51-3E724CEFC3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AEBAFCE-979A-A612-F0FF-C908154A3D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FB3FF61-7784-2303-F992-CF598D1AA320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51996"/>
          <a:stretch/>
        </p:blipFill>
        <p:spPr>
          <a:xfrm>
            <a:off x="1371599" y="2438718"/>
            <a:ext cx="3812166" cy="329215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77357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2E281524-A474-8C7C-8776-52D0949F69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1360712"/>
              </p:ext>
            </p:extLst>
          </p:nvPr>
        </p:nvGraphicFramePr>
        <p:xfrm>
          <a:off x="1981200" y="8461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0B610F2-5603-5175-5C8E-12D9C8E86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171700"/>
            <a:ext cx="8229600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dirty="0">
                <a:latin typeface="+mj-lt"/>
              </a:rPr>
              <a:t>La sostenibilidad se asegura mediante:</a:t>
            </a:r>
          </a:p>
          <a:p>
            <a:pPr marL="0" indent="0">
              <a:buNone/>
            </a:pPr>
            <a:r>
              <a:rPr lang="es-MX" dirty="0">
                <a:latin typeface="+mj-lt"/>
              </a:rPr>
              <a:t>• La institucionalización del coro dentro de la oferta educativa.</a:t>
            </a:r>
          </a:p>
          <a:p>
            <a:pPr marL="0" indent="0">
              <a:buNone/>
            </a:pPr>
            <a:r>
              <a:rPr lang="es-MX" dirty="0">
                <a:latin typeface="+mj-lt"/>
              </a:rPr>
              <a:t>• El compromiso del docente líder y el respaldo directivo.</a:t>
            </a:r>
          </a:p>
          <a:p>
            <a:pPr marL="0" indent="0">
              <a:buNone/>
            </a:pPr>
            <a:r>
              <a:rPr lang="es-MX" dirty="0">
                <a:latin typeface="+mj-lt"/>
              </a:rPr>
              <a:t>• La participación voluntaria y motivada de los estudiantes.</a:t>
            </a:r>
          </a:p>
          <a:p>
            <a:pPr marL="0" indent="0">
              <a:buNone/>
            </a:pPr>
            <a:r>
              <a:rPr lang="es-MX" dirty="0">
                <a:latin typeface="+mj-lt"/>
              </a:rPr>
              <a:t>• La vinculación de familias y aliados externos.</a:t>
            </a:r>
          </a:p>
          <a:p>
            <a:pPr marL="0" indent="0">
              <a:buNone/>
            </a:pPr>
            <a:r>
              <a:rPr lang="es-MX" dirty="0">
                <a:latin typeface="+mj-lt"/>
              </a:rPr>
              <a:t>• El uso de recursos tecnológicos que permiten continuidad aun en cambios de calendario o presencialidad.</a:t>
            </a:r>
          </a:p>
          <a:p>
            <a:pPr marL="0" indent="0">
              <a:buNone/>
            </a:pPr>
            <a:r>
              <a:rPr lang="es-MX" dirty="0">
                <a:latin typeface="+mj-lt"/>
              </a:rPr>
              <a:t>El proceso está diseñado para mantenerse y actualizarse de manera permanente.</a:t>
            </a:r>
            <a:endParaRPr dirty="0">
              <a:latin typeface="+mj-lt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24A422B-7AC3-D6D1-B920-CFE288F871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639B7ED-3ABB-824A-2CD0-913977E7AC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24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249EE349-634F-B004-0014-8453DC4EBE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1886592"/>
              </p:ext>
            </p:extLst>
          </p:nvPr>
        </p:nvGraphicFramePr>
        <p:xfrm>
          <a:off x="1981200" y="7775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CD10EEC-514F-C364-0B9C-1EE0A3330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160" y="2103120"/>
            <a:ext cx="5791200" cy="452596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s-MX" dirty="0"/>
              <a:t>La experiencia incorpora:</a:t>
            </a:r>
            <a:br>
              <a:rPr lang="es-MX" dirty="0"/>
            </a:br>
            <a:r>
              <a:rPr lang="es-MX" dirty="0"/>
              <a:t>• Metodologías activas con enfoque socio-crítico y humanista.</a:t>
            </a:r>
            <a:br>
              <a:rPr lang="es-MX" dirty="0"/>
            </a:br>
            <a:r>
              <a:rPr lang="es-MX" dirty="0"/>
              <a:t>• Sesiones presenciales y virtuales con retroalimentación personalizada.</a:t>
            </a:r>
            <a:br>
              <a:rPr lang="es-MX" dirty="0"/>
            </a:br>
            <a:r>
              <a:rPr lang="es-MX" dirty="0"/>
              <a:t>• Uso de grabaciones, partituras digitales y herramientas tecnológicas.</a:t>
            </a:r>
            <a:br>
              <a:rPr lang="es-MX" dirty="0"/>
            </a:br>
            <a:r>
              <a:rPr lang="es-MX" dirty="0"/>
              <a:t>• Integración de técnicas de musicoterapia para apoyo emocional.</a:t>
            </a:r>
            <a:br>
              <a:rPr lang="es-MX" dirty="0"/>
            </a:br>
            <a:r>
              <a:rPr lang="es-MX" dirty="0"/>
              <a:t>• Participación estudiantil en construcción de repertorios y liderazgo coral.</a:t>
            </a:r>
          </a:p>
          <a:p>
            <a:r>
              <a:rPr lang="es-MX" dirty="0"/>
              <a:t>La propuesta transforma el aprendizaje musical en un proceso integral, creativo e inclusivo alineado con las políticas educativas actuales.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E1C13FD-C8A4-5BD0-F9EE-2E74AD460B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0DA47C6-D915-98B0-45E5-D6C9A76D5B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AD2C648-6C6E-2CDE-61DC-49A0BE08FB6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01271" y="1986581"/>
            <a:ext cx="4877223" cy="421879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98996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AB60D-9DB1-8AD4-24B9-E3C1FA81B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6E46B83-5BA9-4B4C-E118-874016A90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9E624C4-7463-954A-94B2-88929AA666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8641978"/>
              </p:ext>
            </p:extLst>
          </p:nvPr>
        </p:nvGraphicFramePr>
        <p:xfrm>
          <a:off x="2217420" y="7089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8AA75A4-2E32-8837-855F-160F7A763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034540"/>
            <a:ext cx="9075421" cy="4525963"/>
          </a:xfrm>
        </p:spPr>
        <p:txBody>
          <a:bodyPr/>
          <a:lstStyle/>
          <a:p>
            <a:pPr marL="0" indent="0" algn="ctr">
              <a:buNone/>
            </a:pPr>
            <a:r>
              <a:rPr dirty="0" err="1"/>
              <a:t>Responsable</a:t>
            </a:r>
            <a:r>
              <a:rPr dirty="0"/>
              <a:t>(s): </a:t>
            </a:r>
            <a:r>
              <a:rPr lang="es-CO" dirty="0"/>
              <a:t>Guillermo León Ordóñez </a:t>
            </a:r>
            <a:r>
              <a:rPr lang="es-CO" dirty="0" err="1"/>
              <a:t>Semanate</a:t>
            </a:r>
            <a:endParaRPr lang="es-CO" dirty="0"/>
          </a:p>
          <a:p>
            <a:pPr marL="0" indent="0" algn="ctr">
              <a:buNone/>
            </a:pPr>
            <a:r>
              <a:rPr dirty="0"/>
              <a:t>Correo(s): </a:t>
            </a:r>
            <a:r>
              <a:rPr lang="es-CO" dirty="0">
                <a:hlinkClick r:id="rId8"/>
              </a:rPr>
              <a:t>guillermo.ordonez@normalpitalito.edu.co</a:t>
            </a:r>
            <a:endParaRPr lang="es-CO" dirty="0"/>
          </a:p>
          <a:p>
            <a:pPr marL="0" indent="0" algn="ctr">
              <a:buNone/>
            </a:pPr>
            <a:r>
              <a:rPr dirty="0" err="1"/>
              <a:t>Teléfono</a:t>
            </a:r>
            <a:r>
              <a:rPr lang="es-CO" dirty="0"/>
              <a:t>300 285 0595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0935F67-8368-98DF-7166-843F67B62F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DB17440-D406-3DEE-108B-7D9F225BF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4842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665</Words>
  <Application>Microsoft Office PowerPoint</Application>
  <PresentationFormat>Panorámica</PresentationFormat>
  <Paragraphs>52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fkGroteskNeue</vt:lpstr>
      <vt:lpstr>Tema de Office</vt:lpstr>
      <vt:lpstr>Experiencia Significativa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Santamaria</dc:creator>
  <cp:lastModifiedBy>CALIDAD-MEJORAMIENTO</cp:lastModifiedBy>
  <cp:revision>19</cp:revision>
  <dcterms:created xsi:type="dcterms:W3CDTF">2025-07-23T15:35:07Z</dcterms:created>
  <dcterms:modified xsi:type="dcterms:W3CDTF">2026-06-10T21:24:16Z</dcterms:modified>
</cp:coreProperties>
</file>