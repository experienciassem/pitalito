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9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0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FUNDAMENTACIÓN</a:t>
          </a:r>
        </a:p>
      </dsp:txBody>
      <dsp:txXfrm>
        <a:off x="55173" y="61563"/>
        <a:ext cx="8119254" cy="1019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PERTINENCIA</a:t>
          </a:r>
        </a:p>
      </dsp:txBody>
      <dsp:txXfrm>
        <a:off x="55173" y="61563"/>
        <a:ext cx="8119254" cy="1019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600" b="1" kern="1200" dirty="0"/>
            <a:t>CONSISTENCIA</a:t>
          </a:r>
          <a:endParaRPr lang="es-CO" sz="4600" b="1" kern="1200" dirty="0"/>
        </a:p>
      </dsp:txBody>
      <dsp:txXfrm>
        <a:off x="55173" y="61563"/>
        <a:ext cx="8119254" cy="10198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MADUREZ</a:t>
          </a:r>
        </a:p>
      </dsp:txBody>
      <dsp:txXfrm>
        <a:off x="55173" y="61563"/>
        <a:ext cx="8119254" cy="10198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EMPODERAMIENTO</a:t>
          </a:r>
        </a:p>
      </dsp:txBody>
      <dsp:txXfrm>
        <a:off x="55173" y="61563"/>
        <a:ext cx="8119254" cy="10198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18675"/>
          <a:ext cx="8229600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500" b="1" kern="1200" dirty="0"/>
            <a:t>EVALUACIÓN Y SEGUIMIENTO</a:t>
          </a:r>
        </a:p>
      </dsp:txBody>
      <dsp:txXfrm>
        <a:off x="53973" y="72648"/>
        <a:ext cx="8121654" cy="9977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RESULTADOS</a:t>
          </a:r>
        </a:p>
      </dsp:txBody>
      <dsp:txXfrm>
        <a:off x="55173" y="61563"/>
        <a:ext cx="8119254" cy="10198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TRANSFERENCIAS</a:t>
          </a:r>
        </a:p>
      </dsp:txBody>
      <dsp:txXfrm>
        <a:off x="55173" y="61563"/>
        <a:ext cx="8119254" cy="10198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SOSTENIBILIDAD</a:t>
          </a:r>
        </a:p>
      </dsp:txBody>
      <dsp:txXfrm>
        <a:off x="55173" y="55173"/>
        <a:ext cx="8119254" cy="10198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INNOVACIÓN</a:t>
          </a:r>
        </a:p>
      </dsp:txBody>
      <dsp:txXfrm>
        <a:off x="55173" y="61563"/>
        <a:ext cx="8119254" cy="10198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CRÉDITOS Y CONTACTO</a:t>
          </a:r>
        </a:p>
      </dsp:txBody>
      <dsp:txXfrm>
        <a:off x="55173" y="61563"/>
        <a:ext cx="8119254" cy="1019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2/12/2025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jpe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.jpe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8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Relationship Id="rId14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hdphoto" Target="../media/hdphoto6.wdp"/><Relationship Id="rId2" Type="http://schemas.openxmlformats.org/officeDocument/2006/relationships/image" Target="../media/image1.png"/><Relationship Id="rId16" Type="http://schemas.microsoft.com/office/2007/relationships/hdphoto" Target="../media/hdphoto8.wdp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7.xml"/><Relationship Id="rId15" Type="http://schemas.openxmlformats.org/officeDocument/2006/relationships/image" Target="../media/image12.png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Relationship Id="rId14" Type="http://schemas.microsoft.com/office/2007/relationships/hdphoto" Target="../media/hdphoto7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hdphoto" Target="../media/hdphoto9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3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5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hdphoto" Target="../media/hdphoto10.wdp"/><Relationship Id="rId2" Type="http://schemas.openxmlformats.org/officeDocument/2006/relationships/image" Target="../media/image1.png"/><Relationship Id="rId16" Type="http://schemas.microsoft.com/office/2007/relationships/hdphoto" Target="../media/hdphoto12.wdp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9.xml"/><Relationship Id="rId15" Type="http://schemas.openxmlformats.org/officeDocument/2006/relationships/image" Target="../media/image16.png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Relationship Id="rId14" Type="http://schemas.microsoft.com/office/2007/relationships/hdphoto" Target="../media/hdphoto1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8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hdphoto" Target="../media/hdphoto1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7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Relationship Id="rId14" Type="http://schemas.microsoft.com/office/2007/relationships/hdphoto" Target="../media/hdphoto14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/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2025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685799" y="2974975"/>
            <a:ext cx="1019556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4400" b="1" dirty="0">
                <a:solidFill>
                  <a:schemeClr val="tx1"/>
                </a:solidFill>
              </a:rPr>
              <a:t>Festival Normalista de Música Colombiana</a:t>
            </a:r>
          </a:p>
          <a:p>
            <a:pPr algn="r"/>
            <a:r>
              <a:rPr lang="es-CO" dirty="0" err="1">
                <a:solidFill>
                  <a:schemeClr val="tx1"/>
                </a:solidFill>
              </a:rPr>
              <a:t>Helberth</a:t>
            </a:r>
            <a:r>
              <a:rPr lang="es-CO" dirty="0">
                <a:solidFill>
                  <a:schemeClr val="tx1"/>
                </a:solidFill>
              </a:rPr>
              <a:t> Cantillo Gaviria</a:t>
            </a:r>
          </a:p>
          <a:p>
            <a:pPr algn="r"/>
            <a:endParaRPr lang="es-CO" b="1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El Festival Normalista de Música Colombiana se fundamenta en valorizar la música de las cuatro regiones folclóricas de Colombia, reconociendo los festivales como expresiones patrimoniales que reflejan la vida social y artística comunitaria. Asociado al modelo socio-crítico y humanista de la Normal, promueve el arte y la cultura como ejes para la formación ciudadana y la transformación social, integrando la participación activa de toda la comunidad educativa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53921"/>
            <a:ext cx="5288281" cy="37591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La experiencia responde a la necesidad de preservar y promocionar la tradición musical </a:t>
            </a:r>
            <a:r>
              <a:rPr lang="es-MX" dirty="0" err="1">
                <a:latin typeface="fkGroteskNeue"/>
              </a:rPr>
              <a:t>laboyana</a:t>
            </a:r>
            <a:r>
              <a:rPr lang="es-MX" dirty="0">
                <a:latin typeface="fkGroteskNeue"/>
              </a:rPr>
              <a:t> y nacional, generando un espacio institucional para la participación artística en un contexto cultural local con rica tradición folclórica. 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Atiende la carencia de eventos que visibilicen a gestores musico-culturales y fomenta la integración de las instituciones educativas del municipio, en concordancia con políticas públicas educativas de formación cultural y ciudadana.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EF50C3-E427-1385-A854-49C36C2D6E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2157" r="18812" b="-749"/>
          <a:stretch/>
        </p:blipFill>
        <p:spPr>
          <a:xfrm>
            <a:off x="6038501" y="2108412"/>
            <a:ext cx="5711395" cy="369049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5638800" y="2506981"/>
            <a:ext cx="6080760" cy="3322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Existe coherencia entre los objetivos de promover la participación creativa y artística, las acciones de sensibilización, convocatoria y organización del festival, y los resultados como la consolidación de un escenario anual con participación amplia y diversa. </a:t>
            </a:r>
          </a:p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La lógica entre metas y actividades se mantiene en el desarrollo y proyección del evento a nivel regional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797A2EB-8442-0AC5-5BAF-48494398FD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2642598"/>
            <a:ext cx="4668486" cy="318638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153921"/>
            <a:ext cx="5059680" cy="382015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El proceso ha evidenciado madurez mediante su institucionalización, actualización en metodologías participativas y ampliación de la convocatoria y actividades complementarias como degustaciones y exposiciones artísticas.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observa un ciclo de mejora continua basado en evaluaciones periódicas que favorecen la sostenibilidad y fortalecimiento del festival.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D4D7EE2-0941-E56B-C719-49DC6A65B4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5625" l="9948" r="98953">
                        <a14:foregroundMark x1="46248" y1="27734" x2="37696" y2="48281"/>
                        <a14:foregroundMark x1="45724" y1="23906" x2="47120" y2="34063"/>
                        <a14:foregroundMark x1="30192" y1="41875" x2="25654" y2="54063"/>
                        <a14:foregroundMark x1="25654" y1="54063" x2="37522" y2="69141"/>
                        <a14:foregroundMark x1="37522" y1="69141" x2="44328" y2="72344"/>
                        <a14:foregroundMark x1="55148" y1="53750" x2="99127" y2="35313"/>
                        <a14:foregroundMark x1="29145" y1="39766" x2="21640" y2="53125"/>
                        <a14:foregroundMark x1="27749" y1="53516" x2="24782" y2="65156"/>
                        <a14:foregroundMark x1="24782" y1="65156" x2="29668" y2="76016"/>
                        <a14:foregroundMark x1="67016" y1="70703" x2="65620" y2="95469"/>
                        <a14:foregroundMark x1="90576" y1="70703" x2="90576" y2="95625"/>
                        <a14:foregroundMark x1="25829" y1="73672" x2="12565" y2="91641"/>
                        <a14:foregroundMark x1="12565" y1="91641" x2="12565" y2="94609"/>
                        <a14:foregroundMark x1="31588" y1="44844" x2="30192" y2="63047"/>
                        <a14:foregroundMark x1="70855" y1="51641" x2="80279" y2="72188"/>
                        <a14:foregroundMark x1="46771" y1="72578" x2="55672" y2="86328"/>
                        <a14:foregroundMark x1="30192" y1="76641" x2="28796" y2="9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767"/>
          <a:stretch/>
        </p:blipFill>
        <p:spPr>
          <a:xfrm flipH="1">
            <a:off x="6347589" y="1806258"/>
            <a:ext cx="2992294" cy="434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988821"/>
            <a:ext cx="5913120" cy="4205922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El festival evidencia la participación activa y compromiso de estudiantes, docentes, directivos y comunidad regional, que se involucran en la organización, ejecución y apreciación del encuentro, dejando de ser espectadores para convertirse en protagonistas de la expresión cultural y artística.</a:t>
            </a:r>
          </a:p>
          <a:p>
            <a:pPr marL="0" indent="0">
              <a:buNone/>
            </a:pPr>
            <a:endParaRPr lang="es-MX" b="0" i="0" dirty="0">
              <a:effectLst/>
              <a:latin typeface="fkGroteskNeue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7A85F20-D296-AC97-EE62-4D4D98D2B1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672" b="76484" l="5934" r="93194">
                        <a14:foregroundMark x1="36300" y1="42188" x2="17103" y2="51328"/>
                        <a14:foregroundMark x1="17103" y1="51328" x2="13962" y2="64609"/>
                        <a14:foregroundMark x1="13962" y1="64609" x2="18325" y2="71328"/>
                        <a14:foregroundMark x1="33682" y1="23359" x2="29843" y2="14141"/>
                        <a14:foregroundMark x1="29843" y1="14141" x2="33851" y2="10447"/>
                        <a14:foregroundMark x1="32286" y1="11094" x2="26702" y2="17891"/>
                        <a14:foregroundMark x1="26702" y1="17891" x2="31239" y2="23359"/>
                        <a14:foregroundMark x1="30366" y1="11797" x2="20942" y2="17969"/>
                        <a14:foregroundMark x1="20942" y1="17969" x2="25829" y2="26016"/>
                        <a14:foregroundMark x1="31239" y1="43359" x2="69983" y2="29297"/>
                        <a14:foregroundMark x1="60035" y1="31328" x2="93368" y2="21563"/>
                        <a14:foregroundMark x1="16928" y1="44922" x2="5934" y2="48906"/>
                        <a14:foregroundMark x1="13962" y1="31797" x2="13962" y2="40234"/>
                        <a14:foregroundMark x1="64223" y1="70078" x2="61780" y2="60313"/>
                        <a14:foregroundMark x1="61780" y1="60313" x2="64921" y2="50859"/>
                        <a14:foregroundMark x1="64921" y1="50859" x2="65445" y2="50469"/>
                        <a14:foregroundMark x1="60908" y1="63047" x2="63351" y2="71016"/>
                        <a14:foregroundMark x1="64223" y1="68672" x2="74346" y2="70859"/>
                        <a14:foregroundMark x1="65445" y1="59531" x2="66667" y2="68125"/>
                        <a14:foregroundMark x1="61431" y1="70078" x2="71902" y2="70859"/>
                        <a14:foregroundMark x1="38220" y1="51406" x2="40663" y2="74141"/>
                        <a14:foregroundMark x1="32112" y1="52500" x2="26353" y2="76484"/>
                        <a14:backgroundMark x1="43106" y1="7109" x2="50611" y2="14688"/>
                        <a14:backgroundMark x1="30716" y1="7109" x2="51134" y2="10703"/>
                        <a14:backgroundMark x1="35253" y1="7344" x2="46597" y2="10469"/>
                        <a14:backgroundMark x1="27225" y1="7969" x2="44154" y2="10859"/>
                        <a14:backgroundMark x1="74346" y1="39766" x2="83246" y2="58672"/>
                        <a14:backgroundMark x1="73473" y1="42266" x2="73298" y2="57188"/>
                        <a14:backgroundMark x1="73298" y1="57188" x2="75218" y2="60313"/>
                        <a14:backgroundMark x1="60908" y1="62109" x2="61302" y2="63022"/>
                        <a14:backgroundMark x1="67080" y1="69288" x2="66382" y2="68133"/>
                        <a14:backgroundMark x1="64802" y1="59550" x2="64921" y2="589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85" r="17099" b="27059"/>
          <a:stretch/>
        </p:blipFill>
        <p:spPr>
          <a:xfrm>
            <a:off x="-1" y="981984"/>
            <a:ext cx="2961468" cy="522339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E2C736E-3A51-5206-9419-AC103D4142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20156" b="68750" l="16056" r="98604">
                        <a14:foregroundMark x1="44852" y1="46875" x2="60384" y2="43984"/>
                        <a14:foregroundMark x1="60384" y1="43984" x2="96684" y2="58281"/>
                        <a14:foregroundMark x1="96684" y1="58281" x2="98778" y2="58594"/>
                        <a14:foregroundMark x1="25131" y1="35156" x2="37173" y2="47813"/>
                        <a14:foregroundMark x1="37173" y1="47813" x2="46073" y2="49531"/>
                        <a14:foregroundMark x1="19895" y1="40703" x2="35079" y2="48984"/>
                        <a14:foregroundMark x1="67190" y1="54688" x2="74171" y2="68828"/>
                        <a14:foregroundMark x1="53054" y1="62187" x2="53927" y2="47500"/>
                        <a14:foregroundMark x1="42757" y1="50391" x2="59686" y2="51328"/>
                        <a14:foregroundMark x1="40663" y1="48750" x2="34380" y2="63438"/>
                        <a14:foregroundMark x1="50611" y1="58594" x2="52531" y2="65313"/>
                        <a14:foregroundMark x1="73473" y1="51953" x2="82548" y2="63281"/>
                        <a14:foregroundMark x1="36475" y1="27891" x2="50611" y2="24922"/>
                        <a14:foregroundMark x1="50611" y1="24922" x2="51309" y2="25703"/>
                        <a14:foregroundMark x1="44328" y1="21797" x2="51413" y2="23973"/>
                        <a14:foregroundMark x1="50692" y1="21509" x2="34729" y2="26641"/>
                        <a14:foregroundMark x1="39267" y1="20469" x2="51419" y2="23992"/>
                        <a14:foregroundMark x1="42757" y1="20469" x2="51043" y2="22708"/>
                        <a14:foregroundMark x1="44328" y1="20156" x2="50929" y2="22319"/>
                        <a14:foregroundMark x1="56370" y1="36797" x2="88656" y2="34063"/>
                        <a14:foregroundMark x1="46946" y1="20391" x2="46946" y2="20391"/>
                        <a14:foregroundMark x1="52531" y1="27109" x2="57941" y2="28281"/>
                        <a14:foregroundMark x1="54710" y1="28750" x2="55672" y2="28516"/>
                        <a14:foregroundMark x1="47644" y1="30469" x2="54710" y2="28750"/>
                        <a14:backgroundMark x1="72775" y1="28281" x2="89005" y2="25938"/>
                        <a14:backgroundMark x1="74520" y1="38672" x2="84119" y2="38828"/>
                        <a14:backgroundMark x1="66318" y1="37109" x2="89354" y2="42578"/>
                        <a14:backgroundMark x1="60558" y1="39688" x2="81850" y2="42031"/>
                        <a14:backgroundMark x1="75393" y1="38438" x2="79058" y2="45781"/>
                        <a14:backgroundMark x1="79058" y1="45781" x2="87086" y2="50703"/>
                        <a14:backgroundMark x1="74171" y1="31094" x2="81850" y2="30234"/>
                        <a14:backgroundMark x1="75218" y1="36719" x2="79581" y2="36016"/>
                        <a14:backgroundMark x1="23211" y1="27422" x2="35602" y2="19453"/>
                        <a14:backgroundMark x1="56894" y1="19063" x2="56370" y2="24219"/>
                        <a14:backgroundMark x1="53403" y1="20547" x2="54799" y2="25313"/>
                        <a14:backgroundMark x1="59162" y1="25938" x2="63525" y2="27734"/>
                        <a14:backgroundMark x1="57243" y1="23828" x2="58988" y2="26641"/>
                        <a14:backgroundMark x1="52007" y1="28125" x2="52007" y2="28125"/>
                        <a14:backgroundMark x1="52531" y1="28750" x2="52531" y2="2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98" t="15556" b="30222"/>
          <a:stretch/>
        </p:blipFill>
        <p:spPr>
          <a:xfrm>
            <a:off x="2628596" y="2082272"/>
            <a:ext cx="3732969" cy="486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8182" y="2422208"/>
            <a:ext cx="5303520" cy="339883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El festival evidencia la participación activa y compromiso de estudiantes, docentes, directivos y comunidad regional, que se involucran en la organización, ejecución y apreciación del encuentro, dejando de ser espectadores para convertirse en protagonistas de la expresión cultural y artística.</a:t>
            </a:r>
          </a:p>
          <a:p>
            <a:pPr marL="0" indent="0">
              <a:buNone/>
            </a:pPr>
            <a:endParaRPr lang="es-MX" b="0" i="0" dirty="0">
              <a:effectLst/>
              <a:latin typeface="fkGroteskNeue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E2754AA-9BA2-31B5-E5CF-42E0038C0D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7402" r="94274">
                        <a14:foregroundMark x1="10335" y1="48688" x2="9777" y2="41688"/>
                        <a14:foregroundMark x1="9777" y1="41688" x2="24022" y2="34500"/>
                        <a14:foregroundMark x1="91620" y1="60938" x2="85615" y2="51000"/>
                        <a14:foregroundMark x1="85615" y1="51000" x2="85475" y2="38750"/>
                        <a14:foregroundMark x1="85475" y1="38750" x2="85475" y2="38750"/>
                        <a14:foregroundMark x1="94413" y1="32563" x2="92039" y2="36000"/>
                        <a14:foregroundMark x1="19274" y1="69813" x2="7821" y2="57438"/>
                        <a14:foregroundMark x1="7821" y1="57438" x2="7402" y2="55688"/>
                        <a14:foregroundMark x1="13547" y1="37875" x2="33380" y2="26875"/>
                        <a14:foregroundMark x1="48603" y1="70875" x2="77933" y2="68813"/>
                        <a14:foregroundMark x1="77933" y1="68813" x2="90223" y2="64125"/>
                        <a14:foregroundMark x1="90223" y1="64125" x2="90223" y2="63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167" y="602455"/>
            <a:ext cx="3068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0481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11681"/>
            <a:ext cx="5410200" cy="4160202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Logros incluyen la institucionalización del festival en la Normal Superior, la ampliación de la participación de colegios del municipio y región, y el fortalecimiento de habilidades artísticas y valoración cultural de estudiantes y maestros.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evidencia el impacto en la identidad y reconocimiento cultural.</a:t>
            </a:r>
          </a:p>
          <a:p>
            <a:pPr marL="0" indent="0">
              <a:buNone/>
            </a:pPr>
            <a:endParaRPr lang="es-MX" b="0" i="0" dirty="0">
              <a:effectLst/>
              <a:latin typeface="fkGroteskNeue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1FEDA43-D925-971F-B7F6-072470786B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563" b="95000" l="5253" r="90272">
                        <a14:foregroundMark x1="75292" y1="6953" x2="78988" y2="1563"/>
                        <a14:foregroundMark x1="17704" y1="42969" x2="12451" y2="57969"/>
                        <a14:foregroundMark x1="16148" y1="45625" x2="5642" y2="47656"/>
                        <a14:foregroundMark x1="22957" y1="91016" x2="48833" y2="95000"/>
                        <a14:foregroundMark x1="48833" y1="95000" x2="78210" y2="94688"/>
                        <a14:foregroundMark x1="70817" y1="93984" x2="90272" y2="9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355" y="2030675"/>
            <a:ext cx="1940566" cy="4349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F2ECEE-A5C9-3A5B-FDC9-00CF777E4AE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6313" b="96250" l="9777" r="89665">
                        <a14:foregroundMark x1="30447" y1="14125" x2="35196" y2="26438"/>
                        <a14:foregroundMark x1="48324" y1="8625" x2="46508" y2="25125"/>
                        <a14:foregroundMark x1="36034" y1="37438" x2="51257" y2="96250"/>
                        <a14:foregroundMark x1="31425" y1="38688" x2="32263" y2="85688"/>
                        <a14:foregroundMark x1="24721" y1="50938" x2="29469" y2="91625"/>
                        <a14:foregroundMark x1="30447" y1="71688" x2="19972" y2="94125"/>
                        <a14:foregroundMark x1="34218" y1="6313" x2="39385" y2="15563"/>
                        <a14:backgroundMark x1="75559" y1="46500" x2="75978" y2="63500"/>
                        <a14:backgroundMark x1="73184" y1="76250" x2="71089" y2="65313"/>
                        <a14:backgroundMark x1="61872" y1="3688" x2="68715" y2="13063"/>
                        <a14:backgroundMark x1="70251" y1="14313" x2="75559" y2="17938"/>
                        <a14:backgroundMark x1="69134" y1="39000" x2="73464" y2="33063"/>
                        <a14:backgroundMark x1="67039" y1="38438" x2="67039" y2="51625"/>
                        <a14:backgroundMark x1="10754" y1="27813" x2="9916" y2="37188"/>
                        <a14:backgroundMark x1="15922" y1="17750" x2="18017" y2="29250"/>
                        <a14:backgroundMark x1="51397" y1="23875" x2="51397" y2="23875"/>
                        <a14:backgroundMark x1="50978" y1="23125" x2="50978" y2="2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71" y="1438614"/>
            <a:ext cx="1534478" cy="3429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7CDB606-F98F-56DD-9B02-59AD08D1D9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7125" b="66063" l="3911" r="89665">
                        <a14:foregroundMark x1="24302" y1="23563" x2="29609" y2="43938"/>
                        <a14:foregroundMark x1="19134" y1="24875" x2="7821" y2="38250"/>
                        <a14:foregroundMark x1="15363" y1="24563" x2="4050" y2="30250"/>
                        <a14:foregroundMark x1="19134" y1="60688" x2="70670" y2="61687"/>
                        <a14:foregroundMark x1="23603" y1="62687" x2="48184" y2="66063"/>
                        <a14:foregroundMark x1="48184" y1="66063" x2="68436" y2="64688"/>
                        <a14:foregroundMark x1="67737" y1="59375" x2="75140" y2="31250"/>
                        <a14:foregroundMark x1="82682" y1="34250" x2="84218" y2="57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7136"/>
          <a:stretch/>
        </p:blipFill>
        <p:spPr>
          <a:xfrm>
            <a:off x="3503774" y="2515235"/>
            <a:ext cx="2476111" cy="403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662" y="2174877"/>
            <a:ext cx="4321658" cy="385984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se replica mediante un plan de acción que facilita su adopción por otras instituciones educativas del municipio y región.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metodología social impulsando la participación comunitaria es clave para la transferencia de esta práctica pedagógica-cultural.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AA3B5AE-E9F5-D346-CDBD-AEAAF6BFC7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0531" b="80168" l="17125" r="70688">
                        <a14:foregroundMark x1="17625" y1="45531" x2="21063" y2="59358"/>
                        <a14:foregroundMark x1="21063" y1="59358" x2="36250" y2="66480"/>
                        <a14:foregroundMark x1="36250" y1="66480" x2="68125" y2="48883"/>
                        <a14:foregroundMark x1="19125" y1="74860" x2="29500" y2="77095"/>
                        <a14:foregroundMark x1="29500" y1="77095" x2="65500" y2="70950"/>
                        <a14:foregroundMark x1="24625" y1="64246" x2="35500" y2="56704"/>
                        <a14:foregroundMark x1="35500" y1="56704" x2="54688" y2="59218"/>
                        <a14:foregroundMark x1="54688" y1="59218" x2="60000" y2="66760"/>
                        <a14:foregroundMark x1="44875" y1="46927" x2="53875" y2="51536"/>
                        <a14:foregroundMark x1="53875" y1="51536" x2="63000" y2="74302"/>
                        <a14:foregroundMark x1="63000" y1="74302" x2="63125" y2="80168"/>
                        <a14:foregroundMark x1="45875" y1="50559" x2="55688" y2="47067"/>
                        <a14:foregroundMark x1="55688" y1="47067" x2="63500" y2="63128"/>
                        <a14:foregroundMark x1="63500" y1="63128" x2="64000" y2="74302"/>
                        <a14:foregroundMark x1="48125" y1="45810" x2="54937" y2="41899"/>
                        <a14:foregroundMark x1="54937" y1="41899" x2="64438" y2="56844"/>
                        <a14:foregroundMark x1="64438" y1="56844" x2="66500" y2="71788"/>
                        <a14:foregroundMark x1="57250" y1="46089" x2="63938" y2="47905"/>
                        <a14:foregroundMark x1="63938" y1="47905" x2="66813" y2="66760"/>
                        <a14:foregroundMark x1="66813" y1="66760" x2="66000" y2="73184"/>
                        <a14:foregroundMark x1="61250" y1="61173" x2="29125" y2="77095"/>
                        <a14:foregroundMark x1="59000" y1="69553" x2="45750" y2="74581"/>
                        <a14:foregroundMark x1="38500" y1="58380" x2="21125" y2="46089"/>
                        <a14:foregroundMark x1="21125" y1="46089" x2="17125" y2="56983"/>
                        <a14:foregroundMark x1="17125" y1="56983" x2="17125" y2="60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249" t="14165" r="30625" b="20659"/>
          <a:stretch/>
        </p:blipFill>
        <p:spPr>
          <a:xfrm>
            <a:off x="5364480" y="1684972"/>
            <a:ext cx="6924842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81" y="2245521"/>
            <a:ext cx="5516880" cy="4122420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La continuidad está asegurada con un plan de acción y la gestión de recursos económicos propios y externos. 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La participación de un equipo de trabajo responsable y la institucionalización dentro de la Normal son estratégicos para garantizar el fortalecimiento a largo plazo.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85FBF6A-3F5C-2E43-AC72-4AEC292EE5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125" b="89438" l="7542" r="95531">
                        <a14:foregroundMark x1="47486" y1="9125" x2="46369" y2="22250"/>
                        <a14:foregroundMark x1="41480" y1="36438" x2="95810" y2="15375"/>
                        <a14:foregroundMark x1="15363" y1="37125" x2="13547" y2="44250"/>
                        <a14:foregroundMark x1="7542" y1="41500" x2="14665" y2="43875"/>
                        <a14:foregroundMark x1="56564" y1="59250" x2="50559" y2="76313"/>
                        <a14:foregroundMark x1="24860" y1="21250" x2="21089" y2="26687"/>
                        <a14:foregroundMark x1="31983" y1="65313" x2="22905" y2="87625"/>
                        <a14:foregroundMark x1="22905" y1="87625" x2="23324" y2="89438"/>
                        <a14:foregroundMark x1="50140" y1="80688" x2="67458" y2="87625"/>
                        <a14:foregroundMark x1="45950" y1="79813" x2="50559" y2="85938"/>
                        <a14:foregroundMark x1="44832" y1="82875" x2="56145" y2="84750"/>
                        <a14:backgroundMark x1="80726" y1="64125" x2="85894" y2="74938"/>
                        <a14:backgroundMark x1="67039" y1="66688" x2="66341" y2="75625"/>
                        <a14:backgroundMark x1="43296" y1="67688" x2="41480" y2="73250"/>
                        <a14:backgroundMark x1="17737" y1="64625" x2="12430" y2="77813"/>
                        <a14:backgroundMark x1="23743" y1="64125" x2="17737" y2="71875"/>
                        <a14:backgroundMark x1="84497" y1="40000" x2="80866" y2="52375"/>
                        <a14:backgroundMark x1="80866" y1="52375" x2="86732" y2="66000"/>
                        <a14:backgroundMark x1="86732" y1="66000" x2="88268" y2="66813"/>
                        <a14:backgroundMark x1="75000" y1="42688" x2="79609" y2="63313"/>
                        <a14:backgroundMark x1="74302" y1="40000" x2="72765" y2="63313"/>
                        <a14:backgroundMark x1="71648" y1="53188" x2="64804" y2="62938"/>
                        <a14:backgroundMark x1="11313" y1="53688" x2="19134" y2="65313"/>
                        <a14:backgroundMark x1="16620" y1="72063" x2="23324" y2="66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79" t="4484" r="-3134" b="12337"/>
          <a:stretch/>
        </p:blipFill>
        <p:spPr>
          <a:xfrm>
            <a:off x="2303688" y="1950721"/>
            <a:ext cx="2346170" cy="434975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3608336-2645-3301-72C8-ECEAD72360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3313" b="96688" l="19693" r="94274">
                        <a14:foregroundMark x1="65363" y1="56437" x2="67877" y2="75813"/>
                        <a14:foregroundMark x1="67877" y1="75813" x2="84777" y2="94000"/>
                        <a14:foregroundMark x1="84777" y1="94000" x2="86313" y2="94688"/>
                        <a14:foregroundMark x1="59916" y1="49125" x2="60754" y2="64750"/>
                        <a14:foregroundMark x1="60754" y1="64750" x2="70391" y2="76438"/>
                        <a14:foregroundMark x1="76257" y1="57750" x2="86592" y2="64938"/>
                        <a14:foregroundMark x1="86592" y1="64938" x2="87709" y2="76250"/>
                        <a14:foregroundMark x1="85754" y1="56688" x2="94413" y2="65125"/>
                        <a14:foregroundMark x1="94413" y1="65125" x2="93156" y2="80250"/>
                        <a14:foregroundMark x1="50000" y1="52875" x2="40642" y2="69063"/>
                        <a14:foregroundMark x1="40642" y1="69063" x2="53492" y2="87500"/>
                        <a14:foregroundMark x1="53492" y1="87500" x2="69413" y2="92000"/>
                        <a14:foregroundMark x1="44972" y1="84875" x2="53911" y2="96688"/>
                        <a14:foregroundMark x1="89246" y1="82438" x2="91760" y2="95750"/>
                        <a14:foregroundMark x1="40503" y1="29750" x2="44972" y2="13313"/>
                        <a14:foregroundMark x1="39525" y1="14875" x2="56983" y2="16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70" t="8222" b="5778"/>
          <a:stretch/>
        </p:blipFill>
        <p:spPr>
          <a:xfrm>
            <a:off x="-110378" y="1054172"/>
            <a:ext cx="2030870" cy="437396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97F408E-725E-D93A-E4A1-7C2788B860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7938" b="84375" l="23603" r="92737">
                        <a14:foregroundMark x1="54609" y1="25063" x2="80307" y2="84375"/>
                        <a14:foregroundMark x1="63547" y1="7938" x2="74441" y2="29063"/>
                        <a14:foregroundMark x1="53073" y1="65500" x2="49581" y2="77688"/>
                        <a14:foregroundMark x1="23743" y1="29938" x2="42179" y2="24625"/>
                        <a14:foregroundMark x1="59078" y1="20375" x2="64944" y2="11938"/>
                        <a14:foregroundMark x1="47067" y1="29938" x2="53492" y2="43938"/>
                        <a14:foregroundMark x1="86313" y1="30813" x2="92737" y2="43500"/>
                        <a14:foregroundMark x1="50140" y1="22375" x2="54609" y2="33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688" t="3778" r="4314" b="16435"/>
          <a:stretch/>
        </p:blipFill>
        <p:spPr>
          <a:xfrm>
            <a:off x="9669623" y="849956"/>
            <a:ext cx="2192635" cy="535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9320" y="2103121"/>
            <a:ext cx="8229600" cy="3169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La innovación se centra en la formalización administrativa del festival como estrategia pedagógica replicable, integrando la diversidad de la música colombiana, la participación comunitaria activa y actividades sociales complementarias para un desarrollo integral.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B4B6BE-4552-B559-8420-23939EDF3E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36034" y1="22875" x2="30168" y2="34000"/>
                        <a14:foregroundMark x1="30168" y1="34000" x2="39246" y2="45875"/>
                        <a14:foregroundMark x1="39246" y1="45875" x2="46508" y2="47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76" y="1591311"/>
            <a:ext cx="3068955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71DA760-F907-F201-B07E-4D40E7333C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6844" b="84637" l="18000" r="91125">
                        <a14:foregroundMark x1="18000" y1="36034" x2="28438" y2="49581"/>
                        <a14:foregroundMark x1="28438" y1="49581" x2="54500" y2="51536"/>
                        <a14:foregroundMark x1="54500" y1="51536" x2="67000" y2="50000"/>
                        <a14:foregroundMark x1="18125" y1="35196" x2="27375" y2="29609"/>
                        <a14:foregroundMark x1="27375" y1="29609" x2="50063" y2="42737"/>
                        <a14:foregroundMark x1="50063" y1="42737" x2="58250" y2="58380"/>
                        <a14:foregroundMark x1="19625" y1="30726" x2="27875" y2="24581"/>
                        <a14:foregroundMark x1="27875" y1="24581" x2="46250" y2="34358"/>
                        <a14:foregroundMark x1="46250" y1="34358" x2="55875" y2="50559"/>
                        <a14:foregroundMark x1="19250" y1="48324" x2="28813" y2="62709"/>
                        <a14:foregroundMark x1="28813" y1="62709" x2="57250" y2="66480"/>
                        <a14:foregroundMark x1="57250" y1="66480" x2="68000" y2="66201"/>
                        <a14:foregroundMark x1="64750" y1="59777" x2="72375" y2="59777"/>
                        <a14:foregroundMark x1="72375" y1="59777" x2="82063" y2="49022"/>
                        <a14:foregroundMark x1="82063" y1="49022" x2="83500" y2="44134"/>
                        <a14:foregroundMark x1="78750" y1="59497" x2="85438" y2="56844"/>
                        <a14:foregroundMark x1="85438" y1="56844" x2="89563" y2="43715"/>
                        <a14:foregroundMark x1="89563" y1="43715" x2="89375" y2="40223"/>
                        <a14:foregroundMark x1="73500" y1="47207" x2="80563" y2="40223"/>
                        <a14:foregroundMark x1="80563" y1="40223" x2="91125" y2="55587"/>
                        <a14:foregroundMark x1="91125" y1="55587" x2="90750" y2="84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626" r="4250" b="29777"/>
          <a:stretch/>
        </p:blipFill>
        <p:spPr>
          <a:xfrm>
            <a:off x="6105288" y="3790644"/>
            <a:ext cx="6146958" cy="238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/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algn="r"/>
            <a:r>
              <a:rPr b="1" dirty="0" err="1"/>
              <a:t>Responsable</a:t>
            </a:r>
            <a:r>
              <a:rPr dirty="0"/>
              <a:t>: </a:t>
            </a:r>
            <a:r>
              <a:rPr lang="es-CO" dirty="0" err="1">
                <a:solidFill>
                  <a:schemeClr val="tx1"/>
                </a:solidFill>
              </a:rPr>
              <a:t>Helberth</a:t>
            </a:r>
            <a:r>
              <a:rPr lang="es-CO" dirty="0">
                <a:solidFill>
                  <a:schemeClr val="tx1"/>
                </a:solidFill>
              </a:rPr>
              <a:t> Cantillo Gaviria</a:t>
            </a:r>
            <a:endParaRPr lang="es-CO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b="1" dirty="0"/>
              <a:t>Correo: </a:t>
            </a:r>
            <a:r>
              <a:rPr lang="es-CO" dirty="0"/>
              <a:t>helberth.cantillo@normalpitalito.edu.co</a:t>
            </a:r>
          </a:p>
          <a:p>
            <a:pPr algn="ctr">
              <a:buNone/>
            </a:pPr>
            <a:r>
              <a:rPr b="1" dirty="0" err="1"/>
              <a:t>Teléfono</a:t>
            </a:r>
            <a:r>
              <a:rPr dirty="0"/>
              <a:t> </a:t>
            </a:r>
            <a:r>
              <a:rPr lang="es-CO" b="0" i="0" dirty="0">
                <a:effectLst/>
                <a:latin typeface="fkGroteskNeue"/>
              </a:rPr>
              <a:t>323 3941913</a:t>
            </a:r>
          </a:p>
          <a:p>
            <a:pPr>
              <a:buNone/>
            </a:pP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289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560</Words>
  <Application>Microsoft Office PowerPoint</Application>
  <PresentationFormat>Panorámica</PresentationFormat>
  <Paragraphs>36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felix polo munar</cp:lastModifiedBy>
  <cp:revision>19</cp:revision>
  <dcterms:created xsi:type="dcterms:W3CDTF">2025-07-23T15:35:07Z</dcterms:created>
  <dcterms:modified xsi:type="dcterms:W3CDTF">2025-12-02T13:38:39Z</dcterms:modified>
</cp:coreProperties>
</file>