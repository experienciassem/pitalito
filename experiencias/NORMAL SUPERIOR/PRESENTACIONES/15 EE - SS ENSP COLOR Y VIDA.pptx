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7" r:id="rId10"/>
    <p:sldId id="263" r:id="rId11"/>
    <p:sldId id="264" r:id="rId12"/>
    <p:sldId id="268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BA035F-8179-4596-A958-AD0CD095CC0B}" type="doc">
      <dgm:prSet loTypeId="urn:microsoft.com/office/officeart/2005/8/layout/vList2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C7F6DF07-D7DA-496D-A476-04279650EC10}">
      <dgm:prSet/>
      <dgm:spPr/>
      <dgm:t>
        <a:bodyPr/>
        <a:lstStyle/>
        <a:p>
          <a:pPr algn="ctr"/>
          <a:r>
            <a:rPr lang="es-CO" b="1" dirty="0"/>
            <a:t>FUNDAMENTACIÓN</a:t>
          </a:r>
        </a:p>
      </dgm:t>
    </dgm:pt>
    <dgm:pt modelId="{0ECAD35C-55AC-49B2-9831-6C0AD50D8838}" type="parTrans" cxnId="{B1B0198F-FEFE-40D2-AC81-6D2B8747BEBE}">
      <dgm:prSet/>
      <dgm:spPr/>
      <dgm:t>
        <a:bodyPr/>
        <a:lstStyle/>
        <a:p>
          <a:endParaRPr lang="es-CO"/>
        </a:p>
      </dgm:t>
    </dgm:pt>
    <dgm:pt modelId="{907A49F8-9E5F-4930-B223-E1F5A4A21D99}" type="sibTrans" cxnId="{B1B0198F-FEFE-40D2-AC81-6D2B8747BEBE}">
      <dgm:prSet/>
      <dgm:spPr/>
      <dgm:t>
        <a:bodyPr/>
        <a:lstStyle/>
        <a:p>
          <a:endParaRPr lang="es-CO"/>
        </a:p>
      </dgm:t>
    </dgm:pt>
    <dgm:pt modelId="{9C3235FC-F9ED-4543-A39E-F3FF0E30798A}" type="pres">
      <dgm:prSet presAssocID="{95BA035F-8179-4596-A958-AD0CD095CC0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8CF2D84-CB5C-4870-BE17-F34AE6398BA6}" type="pres">
      <dgm:prSet presAssocID="{C7F6DF07-D7DA-496D-A476-04279650EC1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B1B0198F-FEFE-40D2-AC81-6D2B8747BEBE}" srcId="{95BA035F-8179-4596-A958-AD0CD095CC0B}" destId="{C7F6DF07-D7DA-496D-A476-04279650EC10}" srcOrd="0" destOrd="0" parTransId="{0ECAD35C-55AC-49B2-9831-6C0AD50D8838}" sibTransId="{907A49F8-9E5F-4930-B223-E1F5A4A21D99}"/>
    <dgm:cxn modelId="{67650EA7-892A-45BA-88EF-B08FB87FEEB2}" type="presOf" srcId="{95BA035F-8179-4596-A958-AD0CD095CC0B}" destId="{9C3235FC-F9ED-4543-A39E-F3FF0E30798A}" srcOrd="0" destOrd="0" presId="urn:microsoft.com/office/officeart/2005/8/layout/vList2"/>
    <dgm:cxn modelId="{9C0516A3-0F2A-4CE4-A9A9-2E81B03FE9C7}" type="presOf" srcId="{C7F6DF07-D7DA-496D-A476-04279650EC10}" destId="{C8CF2D84-CB5C-4870-BE17-F34AE6398BA6}" srcOrd="0" destOrd="0" presId="urn:microsoft.com/office/officeart/2005/8/layout/vList2"/>
    <dgm:cxn modelId="{3F0A0657-F7A1-4735-A7E6-DE57DDE0A8FD}" type="presParOf" srcId="{9C3235FC-F9ED-4543-A39E-F3FF0E30798A}" destId="{C8CF2D84-CB5C-4870-BE17-F34AE6398B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6C8184-9B6A-4D7E-AE6D-6DD92843F1DC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s-CO"/>
        </a:p>
      </dgm:t>
    </dgm:pt>
    <dgm:pt modelId="{D763F825-BCA9-42C1-A01E-CD07126038A9}">
      <dgm:prSet/>
      <dgm:spPr/>
      <dgm:t>
        <a:bodyPr/>
        <a:lstStyle/>
        <a:p>
          <a:pPr algn="ctr"/>
          <a:r>
            <a:rPr lang="es-CO" b="1" dirty="0"/>
            <a:t>PERTINENCIA</a:t>
          </a:r>
        </a:p>
      </dgm:t>
    </dgm:pt>
    <dgm:pt modelId="{4D348EE0-A11C-41C9-9CDB-B3C59950A90F}" type="parTrans" cxnId="{1C13F7B1-B293-46F0-8D39-63437B91D6B1}">
      <dgm:prSet/>
      <dgm:spPr/>
      <dgm:t>
        <a:bodyPr/>
        <a:lstStyle/>
        <a:p>
          <a:endParaRPr lang="es-CO"/>
        </a:p>
      </dgm:t>
    </dgm:pt>
    <dgm:pt modelId="{89C347BD-6F1D-438E-A1D0-A8671AD78AC9}" type="sibTrans" cxnId="{1C13F7B1-B293-46F0-8D39-63437B91D6B1}">
      <dgm:prSet/>
      <dgm:spPr/>
      <dgm:t>
        <a:bodyPr/>
        <a:lstStyle/>
        <a:p>
          <a:endParaRPr lang="es-CO"/>
        </a:p>
      </dgm:t>
    </dgm:pt>
    <dgm:pt modelId="{90BA5739-2A23-42E9-8157-853E0509D165}" type="pres">
      <dgm:prSet presAssocID="{376C8184-9B6A-4D7E-AE6D-6DD92843F1D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DEF29C7E-E073-4C24-BFC4-FE36920507FF}" type="pres">
      <dgm:prSet presAssocID="{D763F825-BCA9-42C1-A01E-CD07126038A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D7F30D7B-F389-4115-A5A9-CD630504A619}" type="presOf" srcId="{376C8184-9B6A-4D7E-AE6D-6DD92843F1DC}" destId="{90BA5739-2A23-42E9-8157-853E0509D165}" srcOrd="0" destOrd="0" presId="urn:microsoft.com/office/officeart/2005/8/layout/vList2"/>
    <dgm:cxn modelId="{198B1697-9C27-4CA9-ADFF-97E31701E105}" type="presOf" srcId="{D763F825-BCA9-42C1-A01E-CD07126038A9}" destId="{DEF29C7E-E073-4C24-BFC4-FE36920507FF}" srcOrd="0" destOrd="0" presId="urn:microsoft.com/office/officeart/2005/8/layout/vList2"/>
    <dgm:cxn modelId="{1C13F7B1-B293-46F0-8D39-63437B91D6B1}" srcId="{376C8184-9B6A-4D7E-AE6D-6DD92843F1DC}" destId="{D763F825-BCA9-42C1-A01E-CD07126038A9}" srcOrd="0" destOrd="0" parTransId="{4D348EE0-A11C-41C9-9CDB-B3C59950A90F}" sibTransId="{89C347BD-6F1D-438E-A1D0-A8671AD78AC9}"/>
    <dgm:cxn modelId="{28DF575F-C6CE-4D87-BBD4-DFFE26966AF6}" type="presParOf" srcId="{90BA5739-2A23-42E9-8157-853E0509D165}" destId="{DEF29C7E-E073-4C24-BFC4-FE36920507F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BA035F-8179-4596-A958-AD0CD095CC0B}" type="doc">
      <dgm:prSet loTypeId="urn:microsoft.com/office/officeart/2005/8/layout/vList2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C7F6DF07-D7DA-496D-A476-04279650EC10}">
      <dgm:prSet/>
      <dgm:spPr/>
      <dgm:t>
        <a:bodyPr/>
        <a:lstStyle/>
        <a:p>
          <a:pPr algn="ctr"/>
          <a:r>
            <a:rPr lang="es-MX" b="1" dirty="0"/>
            <a:t>CONSISTENCIA</a:t>
          </a:r>
          <a:endParaRPr lang="es-CO" b="1" dirty="0"/>
        </a:p>
      </dgm:t>
    </dgm:pt>
    <dgm:pt modelId="{0ECAD35C-55AC-49B2-9831-6C0AD50D8838}" type="parTrans" cxnId="{B1B0198F-FEFE-40D2-AC81-6D2B8747BEBE}">
      <dgm:prSet/>
      <dgm:spPr/>
      <dgm:t>
        <a:bodyPr/>
        <a:lstStyle/>
        <a:p>
          <a:endParaRPr lang="es-CO"/>
        </a:p>
      </dgm:t>
    </dgm:pt>
    <dgm:pt modelId="{907A49F8-9E5F-4930-B223-E1F5A4A21D99}" type="sibTrans" cxnId="{B1B0198F-FEFE-40D2-AC81-6D2B8747BEBE}">
      <dgm:prSet/>
      <dgm:spPr/>
      <dgm:t>
        <a:bodyPr/>
        <a:lstStyle/>
        <a:p>
          <a:endParaRPr lang="es-CO"/>
        </a:p>
      </dgm:t>
    </dgm:pt>
    <dgm:pt modelId="{9C3235FC-F9ED-4543-A39E-F3FF0E30798A}" type="pres">
      <dgm:prSet presAssocID="{95BA035F-8179-4596-A958-AD0CD095CC0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8CF2D84-CB5C-4870-BE17-F34AE6398BA6}" type="pres">
      <dgm:prSet presAssocID="{C7F6DF07-D7DA-496D-A476-04279650EC1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B1B0198F-FEFE-40D2-AC81-6D2B8747BEBE}" srcId="{95BA035F-8179-4596-A958-AD0CD095CC0B}" destId="{C7F6DF07-D7DA-496D-A476-04279650EC10}" srcOrd="0" destOrd="0" parTransId="{0ECAD35C-55AC-49B2-9831-6C0AD50D8838}" sibTransId="{907A49F8-9E5F-4930-B223-E1F5A4A21D99}"/>
    <dgm:cxn modelId="{67650EA7-892A-45BA-88EF-B08FB87FEEB2}" type="presOf" srcId="{95BA035F-8179-4596-A958-AD0CD095CC0B}" destId="{9C3235FC-F9ED-4543-A39E-F3FF0E30798A}" srcOrd="0" destOrd="0" presId="urn:microsoft.com/office/officeart/2005/8/layout/vList2"/>
    <dgm:cxn modelId="{9C0516A3-0F2A-4CE4-A9A9-2E81B03FE9C7}" type="presOf" srcId="{C7F6DF07-D7DA-496D-A476-04279650EC10}" destId="{C8CF2D84-CB5C-4870-BE17-F34AE6398BA6}" srcOrd="0" destOrd="0" presId="urn:microsoft.com/office/officeart/2005/8/layout/vList2"/>
    <dgm:cxn modelId="{3F0A0657-F7A1-4735-A7E6-DE57DDE0A8FD}" type="presParOf" srcId="{9C3235FC-F9ED-4543-A39E-F3FF0E30798A}" destId="{C8CF2D84-CB5C-4870-BE17-F34AE6398B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76C8184-9B6A-4D7E-AE6D-6DD92843F1DC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s-CO"/>
        </a:p>
      </dgm:t>
    </dgm:pt>
    <dgm:pt modelId="{D763F825-BCA9-42C1-A01E-CD07126038A9}">
      <dgm:prSet/>
      <dgm:spPr/>
      <dgm:t>
        <a:bodyPr/>
        <a:lstStyle/>
        <a:p>
          <a:pPr algn="ctr"/>
          <a:r>
            <a:rPr lang="es-CO" b="1" dirty="0"/>
            <a:t>MADUREZ</a:t>
          </a:r>
        </a:p>
      </dgm:t>
    </dgm:pt>
    <dgm:pt modelId="{4D348EE0-A11C-41C9-9CDB-B3C59950A90F}" type="parTrans" cxnId="{1C13F7B1-B293-46F0-8D39-63437B91D6B1}">
      <dgm:prSet/>
      <dgm:spPr/>
      <dgm:t>
        <a:bodyPr/>
        <a:lstStyle/>
        <a:p>
          <a:endParaRPr lang="es-CO"/>
        </a:p>
      </dgm:t>
    </dgm:pt>
    <dgm:pt modelId="{89C347BD-6F1D-438E-A1D0-A8671AD78AC9}" type="sibTrans" cxnId="{1C13F7B1-B293-46F0-8D39-63437B91D6B1}">
      <dgm:prSet/>
      <dgm:spPr/>
      <dgm:t>
        <a:bodyPr/>
        <a:lstStyle/>
        <a:p>
          <a:endParaRPr lang="es-CO"/>
        </a:p>
      </dgm:t>
    </dgm:pt>
    <dgm:pt modelId="{90BA5739-2A23-42E9-8157-853E0509D165}" type="pres">
      <dgm:prSet presAssocID="{376C8184-9B6A-4D7E-AE6D-6DD92843F1D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DEF29C7E-E073-4C24-BFC4-FE36920507FF}" type="pres">
      <dgm:prSet presAssocID="{D763F825-BCA9-42C1-A01E-CD07126038A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D7F30D7B-F389-4115-A5A9-CD630504A619}" type="presOf" srcId="{376C8184-9B6A-4D7E-AE6D-6DD92843F1DC}" destId="{90BA5739-2A23-42E9-8157-853E0509D165}" srcOrd="0" destOrd="0" presId="urn:microsoft.com/office/officeart/2005/8/layout/vList2"/>
    <dgm:cxn modelId="{198B1697-9C27-4CA9-ADFF-97E31701E105}" type="presOf" srcId="{D763F825-BCA9-42C1-A01E-CD07126038A9}" destId="{DEF29C7E-E073-4C24-BFC4-FE36920507FF}" srcOrd="0" destOrd="0" presId="urn:microsoft.com/office/officeart/2005/8/layout/vList2"/>
    <dgm:cxn modelId="{1C13F7B1-B293-46F0-8D39-63437B91D6B1}" srcId="{376C8184-9B6A-4D7E-AE6D-6DD92843F1DC}" destId="{D763F825-BCA9-42C1-A01E-CD07126038A9}" srcOrd="0" destOrd="0" parTransId="{4D348EE0-A11C-41C9-9CDB-B3C59950A90F}" sibTransId="{89C347BD-6F1D-438E-A1D0-A8671AD78AC9}"/>
    <dgm:cxn modelId="{28DF575F-C6CE-4D87-BBD4-DFFE26966AF6}" type="presParOf" srcId="{90BA5739-2A23-42E9-8157-853E0509D165}" destId="{DEF29C7E-E073-4C24-BFC4-FE36920507F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3A31B69-566F-4499-A255-C960BF21662E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7F922071-A59B-4287-9D0E-7DF877A3045C}">
      <dgm:prSet/>
      <dgm:spPr/>
      <dgm:t>
        <a:bodyPr/>
        <a:lstStyle/>
        <a:p>
          <a:pPr algn="ctr"/>
          <a:r>
            <a:rPr lang="es-CO" b="1" dirty="0"/>
            <a:t>EMPODERAMIENTO</a:t>
          </a:r>
        </a:p>
      </dgm:t>
    </dgm:pt>
    <dgm:pt modelId="{E9C193A8-A247-4C39-A3FE-B504305332DF}" type="parTrans" cxnId="{1DB7F010-2F4E-456D-B4C0-2FE7D9AE0F4F}">
      <dgm:prSet/>
      <dgm:spPr/>
      <dgm:t>
        <a:bodyPr/>
        <a:lstStyle/>
        <a:p>
          <a:endParaRPr lang="es-CO" b="1"/>
        </a:p>
      </dgm:t>
    </dgm:pt>
    <dgm:pt modelId="{9281B5D9-05E2-4982-B9B4-2700AAECF309}" type="sibTrans" cxnId="{1DB7F010-2F4E-456D-B4C0-2FE7D9AE0F4F}">
      <dgm:prSet/>
      <dgm:spPr/>
      <dgm:t>
        <a:bodyPr/>
        <a:lstStyle/>
        <a:p>
          <a:endParaRPr lang="es-CO" b="1"/>
        </a:p>
      </dgm:t>
    </dgm:pt>
    <dgm:pt modelId="{EE60C2F3-6D59-4EF4-99CC-E08E4187B5AD}" type="pres">
      <dgm:prSet presAssocID="{83A31B69-566F-4499-A255-C960BF21662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31B678E1-2000-4FC0-838F-85DFB5B56F1D}" type="pres">
      <dgm:prSet presAssocID="{7F922071-A59B-4287-9D0E-7DF877A3045C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FD4F9621-F8E9-4ECC-8981-5720E0F99AC2}" type="presOf" srcId="{83A31B69-566F-4499-A255-C960BF21662E}" destId="{EE60C2F3-6D59-4EF4-99CC-E08E4187B5AD}" srcOrd="0" destOrd="0" presId="urn:microsoft.com/office/officeart/2005/8/layout/vList2"/>
    <dgm:cxn modelId="{1DB7F010-2F4E-456D-B4C0-2FE7D9AE0F4F}" srcId="{83A31B69-566F-4499-A255-C960BF21662E}" destId="{7F922071-A59B-4287-9D0E-7DF877A3045C}" srcOrd="0" destOrd="0" parTransId="{E9C193A8-A247-4C39-A3FE-B504305332DF}" sibTransId="{9281B5D9-05E2-4982-B9B4-2700AAECF309}"/>
    <dgm:cxn modelId="{07D11A80-66BF-4FBD-BA76-79F3089DA47E}" type="presOf" srcId="{7F922071-A59B-4287-9D0E-7DF877A3045C}" destId="{31B678E1-2000-4FC0-838F-85DFB5B56F1D}" srcOrd="0" destOrd="0" presId="urn:microsoft.com/office/officeart/2005/8/layout/vList2"/>
    <dgm:cxn modelId="{177D5206-8400-4099-8762-F6244B234210}" type="presParOf" srcId="{EE60C2F3-6D59-4EF4-99CC-E08E4187B5AD}" destId="{31B678E1-2000-4FC0-838F-85DFB5B56F1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6514916-3387-426F-A9A9-E61B9485027B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2BA2871D-4D81-449B-BC5B-1C6D17252554}">
      <dgm:prSet/>
      <dgm:spPr/>
      <dgm:t>
        <a:bodyPr/>
        <a:lstStyle/>
        <a:p>
          <a:pPr algn="ctr"/>
          <a:r>
            <a:rPr lang="es-CO" b="1" dirty="0"/>
            <a:t>EVALUACIÓN Y SEGUIMIENTO</a:t>
          </a:r>
        </a:p>
      </dgm:t>
    </dgm:pt>
    <dgm:pt modelId="{A2D1B0C6-1A70-485D-BDAA-35E0FA57F7F1}" type="parTrans" cxnId="{2517FB1F-33DE-4F65-8466-9BE6FC21C8EF}">
      <dgm:prSet/>
      <dgm:spPr/>
      <dgm:t>
        <a:bodyPr/>
        <a:lstStyle/>
        <a:p>
          <a:endParaRPr lang="es-CO"/>
        </a:p>
      </dgm:t>
    </dgm:pt>
    <dgm:pt modelId="{3FE21DCF-86CA-4EA9-BC90-807B687D300A}" type="sibTrans" cxnId="{2517FB1F-33DE-4F65-8466-9BE6FC21C8EF}">
      <dgm:prSet/>
      <dgm:spPr/>
      <dgm:t>
        <a:bodyPr/>
        <a:lstStyle/>
        <a:p>
          <a:endParaRPr lang="es-CO"/>
        </a:p>
      </dgm:t>
    </dgm:pt>
    <dgm:pt modelId="{080806E0-BA41-4A10-84E1-9CB4EB13CD23}" type="pres">
      <dgm:prSet presAssocID="{A6514916-3387-426F-A9A9-E61B9485027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46DBEF42-CFB9-4902-8628-91F229D11855}" type="pres">
      <dgm:prSet presAssocID="{2BA2871D-4D81-449B-BC5B-1C6D17252554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517FB1F-33DE-4F65-8466-9BE6FC21C8EF}" srcId="{A6514916-3387-426F-A9A9-E61B9485027B}" destId="{2BA2871D-4D81-449B-BC5B-1C6D17252554}" srcOrd="0" destOrd="0" parTransId="{A2D1B0C6-1A70-485D-BDAA-35E0FA57F7F1}" sibTransId="{3FE21DCF-86CA-4EA9-BC90-807B687D300A}"/>
    <dgm:cxn modelId="{D01498A4-5C70-4BFF-AE5E-8F50CD19E28C}" type="presOf" srcId="{2BA2871D-4D81-449B-BC5B-1C6D17252554}" destId="{46DBEF42-CFB9-4902-8628-91F229D11855}" srcOrd="0" destOrd="0" presId="urn:microsoft.com/office/officeart/2005/8/layout/vList2"/>
    <dgm:cxn modelId="{074143AF-D452-4271-A46A-20CFFBC8535D}" type="presOf" srcId="{A6514916-3387-426F-A9A9-E61B9485027B}" destId="{080806E0-BA41-4A10-84E1-9CB4EB13CD23}" srcOrd="0" destOrd="0" presId="urn:microsoft.com/office/officeart/2005/8/layout/vList2"/>
    <dgm:cxn modelId="{4F76AB15-EAF1-4140-AC09-5832B4F2EC95}" type="presParOf" srcId="{080806E0-BA41-4A10-84E1-9CB4EB13CD23}" destId="{46DBEF42-CFB9-4902-8628-91F229D1185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0D6CE0B-2D60-414F-8282-1607279681D0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4BE1E9D8-92A4-4131-98FE-32C23E18DF9E}">
      <dgm:prSet/>
      <dgm:spPr/>
      <dgm:t>
        <a:bodyPr/>
        <a:lstStyle/>
        <a:p>
          <a:pPr algn="ctr"/>
          <a:r>
            <a:rPr lang="es-CO" b="1" dirty="0"/>
            <a:t>RESULTADOS</a:t>
          </a:r>
        </a:p>
      </dgm:t>
    </dgm:pt>
    <dgm:pt modelId="{1930D40E-B03D-4839-A982-53AD0489D07B}" type="parTrans" cxnId="{85C0D94F-054A-4F2D-8824-BE123990943E}">
      <dgm:prSet/>
      <dgm:spPr/>
      <dgm:t>
        <a:bodyPr/>
        <a:lstStyle/>
        <a:p>
          <a:endParaRPr lang="es-CO"/>
        </a:p>
      </dgm:t>
    </dgm:pt>
    <dgm:pt modelId="{80F9BB87-4645-4FA1-86B7-EB92A4FF299B}" type="sibTrans" cxnId="{85C0D94F-054A-4F2D-8824-BE123990943E}">
      <dgm:prSet/>
      <dgm:spPr/>
      <dgm:t>
        <a:bodyPr/>
        <a:lstStyle/>
        <a:p>
          <a:endParaRPr lang="es-CO"/>
        </a:p>
      </dgm:t>
    </dgm:pt>
    <dgm:pt modelId="{8B493A19-E0B3-4362-83A1-95600E5C1841}" type="pres">
      <dgm:prSet presAssocID="{F0D6CE0B-2D60-414F-8282-1607279681D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5AEA1D65-4B02-4517-868D-2252660EBBF2}" type="pres">
      <dgm:prSet presAssocID="{4BE1E9D8-92A4-4131-98FE-32C23E18DF9E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85C0D94F-054A-4F2D-8824-BE123990943E}" srcId="{F0D6CE0B-2D60-414F-8282-1607279681D0}" destId="{4BE1E9D8-92A4-4131-98FE-32C23E18DF9E}" srcOrd="0" destOrd="0" parTransId="{1930D40E-B03D-4839-A982-53AD0489D07B}" sibTransId="{80F9BB87-4645-4FA1-86B7-EB92A4FF299B}"/>
    <dgm:cxn modelId="{501B4ACA-5E48-43ED-863A-C545ECA7DCEC}" type="presOf" srcId="{F0D6CE0B-2D60-414F-8282-1607279681D0}" destId="{8B493A19-E0B3-4362-83A1-95600E5C1841}" srcOrd="0" destOrd="0" presId="urn:microsoft.com/office/officeart/2005/8/layout/vList2"/>
    <dgm:cxn modelId="{07E2B8AE-E04C-43C3-AFB8-369A44CEDD86}" type="presOf" srcId="{4BE1E9D8-92A4-4131-98FE-32C23E18DF9E}" destId="{5AEA1D65-4B02-4517-868D-2252660EBBF2}" srcOrd="0" destOrd="0" presId="urn:microsoft.com/office/officeart/2005/8/layout/vList2"/>
    <dgm:cxn modelId="{86F0A67D-39D2-4BEF-9524-073A3D7CBB7A}" type="presParOf" srcId="{8B493A19-E0B3-4362-83A1-95600E5C1841}" destId="{5AEA1D65-4B02-4517-868D-2252660EBBF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8F95D73-2495-44C2-9DD5-C7076158156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51233226-7FFA-47FA-ADDE-E1F038A8910B}">
      <dgm:prSet/>
      <dgm:spPr/>
      <dgm:t>
        <a:bodyPr/>
        <a:lstStyle/>
        <a:p>
          <a:pPr algn="ctr"/>
          <a:r>
            <a:rPr lang="es-CO" b="1" dirty="0"/>
            <a:t>TRANSFERENCIAS</a:t>
          </a:r>
        </a:p>
      </dgm:t>
    </dgm:pt>
    <dgm:pt modelId="{A1875DB1-7F9C-4C1E-9DD0-4A62ED88E181}" type="parTrans" cxnId="{B79677B4-0036-49C2-8874-83C890FB5FBB}">
      <dgm:prSet/>
      <dgm:spPr/>
      <dgm:t>
        <a:bodyPr/>
        <a:lstStyle/>
        <a:p>
          <a:endParaRPr lang="es-CO"/>
        </a:p>
      </dgm:t>
    </dgm:pt>
    <dgm:pt modelId="{C474848E-D8AD-4CD6-AE91-CB79CC955440}" type="sibTrans" cxnId="{B79677B4-0036-49C2-8874-83C890FB5FBB}">
      <dgm:prSet/>
      <dgm:spPr/>
      <dgm:t>
        <a:bodyPr/>
        <a:lstStyle/>
        <a:p>
          <a:endParaRPr lang="es-CO"/>
        </a:p>
      </dgm:t>
    </dgm:pt>
    <dgm:pt modelId="{9F9918A5-B1D9-4E6F-A0AB-9DCECB5A8FF1}" type="pres">
      <dgm:prSet presAssocID="{88F95D73-2495-44C2-9DD5-C7076158156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4F22A99A-39B7-4281-9165-D87AAF77F3C2}" type="pres">
      <dgm:prSet presAssocID="{51233226-7FFA-47FA-ADDE-E1F038A8910B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EB480121-F741-49F6-996F-1BF9FFC34FC7}" type="presOf" srcId="{51233226-7FFA-47FA-ADDE-E1F038A8910B}" destId="{4F22A99A-39B7-4281-9165-D87AAF77F3C2}" srcOrd="0" destOrd="0" presId="urn:microsoft.com/office/officeart/2005/8/layout/vList2"/>
    <dgm:cxn modelId="{B79677B4-0036-49C2-8874-83C890FB5FBB}" srcId="{88F95D73-2495-44C2-9DD5-C70761581563}" destId="{51233226-7FFA-47FA-ADDE-E1F038A8910B}" srcOrd="0" destOrd="0" parTransId="{A1875DB1-7F9C-4C1E-9DD0-4A62ED88E181}" sibTransId="{C474848E-D8AD-4CD6-AE91-CB79CC955440}"/>
    <dgm:cxn modelId="{C9A76027-D350-42E7-B3AA-20CBFF60E6BF}" type="presOf" srcId="{88F95D73-2495-44C2-9DD5-C70761581563}" destId="{9F9918A5-B1D9-4E6F-A0AB-9DCECB5A8FF1}" srcOrd="0" destOrd="0" presId="urn:microsoft.com/office/officeart/2005/8/layout/vList2"/>
    <dgm:cxn modelId="{B350DDBA-E2E4-400E-B7F1-9CFD435E4A69}" type="presParOf" srcId="{9F9918A5-B1D9-4E6F-A0AB-9DCECB5A8FF1}" destId="{4F22A99A-39B7-4281-9165-D87AAF77F3C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4929F62-7B14-47FD-A4BE-3EC3871F8D5D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DECEA15A-D46B-428D-9682-CA9A56C11C5A}">
      <dgm:prSet/>
      <dgm:spPr/>
      <dgm:t>
        <a:bodyPr/>
        <a:lstStyle/>
        <a:p>
          <a:pPr algn="ctr"/>
          <a:r>
            <a:rPr lang="es-CO" b="1" dirty="0"/>
            <a:t>SOSTENIBILIDAD</a:t>
          </a:r>
        </a:p>
      </dgm:t>
    </dgm:pt>
    <dgm:pt modelId="{2CE2A4B8-4AE8-4446-92E2-EE00E47D2293}" type="parTrans" cxnId="{2DA7F9C8-910F-4045-8E9A-3687E0B00620}">
      <dgm:prSet/>
      <dgm:spPr/>
      <dgm:t>
        <a:bodyPr/>
        <a:lstStyle/>
        <a:p>
          <a:endParaRPr lang="es-CO"/>
        </a:p>
      </dgm:t>
    </dgm:pt>
    <dgm:pt modelId="{CB4E4B0E-F529-455B-A904-E316D0C8FBC4}" type="sibTrans" cxnId="{2DA7F9C8-910F-4045-8E9A-3687E0B00620}">
      <dgm:prSet/>
      <dgm:spPr/>
      <dgm:t>
        <a:bodyPr/>
        <a:lstStyle/>
        <a:p>
          <a:endParaRPr lang="es-CO"/>
        </a:p>
      </dgm:t>
    </dgm:pt>
    <dgm:pt modelId="{0D2DB1D5-139B-4807-820F-9799181F6647}" type="pres">
      <dgm:prSet presAssocID="{64929F62-7B14-47FD-A4BE-3EC3871F8D5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52E0517-A530-4F70-BC63-122CA318C606}" type="pres">
      <dgm:prSet presAssocID="{DECEA15A-D46B-428D-9682-CA9A56C11C5A}" presName="parentText" presStyleLbl="node1" presStyleIdx="0" presStyleCnt="1" custLinFactNeighborX="-1481" custLinFactNeighborY="-697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DA7F9C8-910F-4045-8E9A-3687E0B00620}" srcId="{64929F62-7B14-47FD-A4BE-3EC3871F8D5D}" destId="{DECEA15A-D46B-428D-9682-CA9A56C11C5A}" srcOrd="0" destOrd="0" parTransId="{2CE2A4B8-4AE8-4446-92E2-EE00E47D2293}" sibTransId="{CB4E4B0E-F529-455B-A904-E316D0C8FBC4}"/>
    <dgm:cxn modelId="{E123F8E2-AA45-4C6C-B4B3-1C6259036316}" type="presOf" srcId="{DECEA15A-D46B-428D-9682-CA9A56C11C5A}" destId="{C52E0517-A530-4F70-BC63-122CA318C606}" srcOrd="0" destOrd="0" presId="urn:microsoft.com/office/officeart/2005/8/layout/vList2"/>
    <dgm:cxn modelId="{053F08D3-1A18-4CB2-901A-A426D17557E0}" type="presOf" srcId="{64929F62-7B14-47FD-A4BE-3EC3871F8D5D}" destId="{0D2DB1D5-139B-4807-820F-9799181F6647}" srcOrd="0" destOrd="0" presId="urn:microsoft.com/office/officeart/2005/8/layout/vList2"/>
    <dgm:cxn modelId="{4958C595-F7FB-4AD0-A65E-6E7576DB6508}" type="presParOf" srcId="{0D2DB1D5-139B-4807-820F-9799181F6647}" destId="{C52E0517-A530-4F70-BC63-122CA318C60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CD9E832-D3A2-4F58-B2B7-1681B07D7437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B940F0B8-0B9A-471B-A0D9-438E24817FBA}">
      <dgm:prSet/>
      <dgm:spPr/>
      <dgm:t>
        <a:bodyPr/>
        <a:lstStyle/>
        <a:p>
          <a:pPr algn="ctr"/>
          <a:r>
            <a:rPr lang="es-CO" b="1" dirty="0"/>
            <a:t>INNOVACIÓN</a:t>
          </a:r>
        </a:p>
      </dgm:t>
    </dgm:pt>
    <dgm:pt modelId="{4B7A4A79-D3F4-4EDF-8D3C-D27EC6DA16C4}" type="parTrans" cxnId="{7B25536C-5C41-4593-9610-06F544638F5B}">
      <dgm:prSet/>
      <dgm:spPr/>
      <dgm:t>
        <a:bodyPr/>
        <a:lstStyle/>
        <a:p>
          <a:endParaRPr lang="es-CO"/>
        </a:p>
      </dgm:t>
    </dgm:pt>
    <dgm:pt modelId="{92909E5B-8887-4E23-85E7-1708A89F5809}" type="sibTrans" cxnId="{7B25536C-5C41-4593-9610-06F544638F5B}">
      <dgm:prSet/>
      <dgm:spPr/>
      <dgm:t>
        <a:bodyPr/>
        <a:lstStyle/>
        <a:p>
          <a:endParaRPr lang="es-CO"/>
        </a:p>
      </dgm:t>
    </dgm:pt>
    <dgm:pt modelId="{634D75D7-C143-4B58-A6BE-8680AAE7AB88}" type="pres">
      <dgm:prSet presAssocID="{CCD9E832-D3A2-4F58-B2B7-1681B07D743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0A6F2A22-737A-4A85-953E-DB3EE8FD34F8}" type="pres">
      <dgm:prSet presAssocID="{B940F0B8-0B9A-471B-A0D9-438E24817FBA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7B25536C-5C41-4593-9610-06F544638F5B}" srcId="{CCD9E832-D3A2-4F58-B2B7-1681B07D7437}" destId="{B940F0B8-0B9A-471B-A0D9-438E24817FBA}" srcOrd="0" destOrd="0" parTransId="{4B7A4A79-D3F4-4EDF-8D3C-D27EC6DA16C4}" sibTransId="{92909E5B-8887-4E23-85E7-1708A89F5809}"/>
    <dgm:cxn modelId="{7F1BC0DA-785F-4D0C-A809-3D6914303071}" type="presOf" srcId="{CCD9E832-D3A2-4F58-B2B7-1681B07D7437}" destId="{634D75D7-C143-4B58-A6BE-8680AAE7AB88}" srcOrd="0" destOrd="0" presId="urn:microsoft.com/office/officeart/2005/8/layout/vList2"/>
    <dgm:cxn modelId="{7E9882F6-FF59-44A4-B7B7-6F5B482BA248}" type="presOf" srcId="{B940F0B8-0B9A-471B-A0D9-438E24817FBA}" destId="{0A6F2A22-737A-4A85-953E-DB3EE8FD34F8}" srcOrd="0" destOrd="0" presId="urn:microsoft.com/office/officeart/2005/8/layout/vList2"/>
    <dgm:cxn modelId="{989BF5ED-91BE-4444-90B5-A072847FF992}" type="presParOf" srcId="{634D75D7-C143-4B58-A6BE-8680AAE7AB88}" destId="{0A6F2A22-737A-4A85-953E-DB3EE8FD34F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9604CEE-3387-4500-966B-362879E6A93C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6AE58FB2-3CEB-4D54-A223-BC9EA0A72102}">
      <dgm:prSet/>
      <dgm:spPr/>
      <dgm:t>
        <a:bodyPr/>
        <a:lstStyle/>
        <a:p>
          <a:pPr algn="ctr"/>
          <a:r>
            <a:rPr lang="es-CO" b="1" dirty="0"/>
            <a:t>CRÉDITOS Y CONTACTO</a:t>
          </a:r>
        </a:p>
      </dgm:t>
    </dgm:pt>
    <dgm:pt modelId="{8DE7C34F-7857-4D93-B6FC-95A75BFF6C66}" type="parTrans" cxnId="{2A7FD386-C2FB-421A-AF8B-29484AD9F468}">
      <dgm:prSet/>
      <dgm:spPr/>
      <dgm:t>
        <a:bodyPr/>
        <a:lstStyle/>
        <a:p>
          <a:endParaRPr lang="es-CO" b="1"/>
        </a:p>
      </dgm:t>
    </dgm:pt>
    <dgm:pt modelId="{3AC3347F-515C-4CA0-BF8A-D9139969D67B}" type="sibTrans" cxnId="{2A7FD386-C2FB-421A-AF8B-29484AD9F468}">
      <dgm:prSet/>
      <dgm:spPr/>
      <dgm:t>
        <a:bodyPr/>
        <a:lstStyle/>
        <a:p>
          <a:endParaRPr lang="es-CO" b="1"/>
        </a:p>
      </dgm:t>
    </dgm:pt>
    <dgm:pt modelId="{591D47AB-BD78-4FAD-A788-1BF173DF8B56}" type="pres">
      <dgm:prSet presAssocID="{09604CEE-3387-4500-966B-362879E6A93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93DB53E5-91E0-48A4-BBEC-A7F256CF8BC5}" type="pres">
      <dgm:prSet presAssocID="{6AE58FB2-3CEB-4D54-A223-BC9EA0A72102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A7FD386-C2FB-421A-AF8B-29484AD9F468}" srcId="{09604CEE-3387-4500-966B-362879E6A93C}" destId="{6AE58FB2-3CEB-4D54-A223-BC9EA0A72102}" srcOrd="0" destOrd="0" parTransId="{8DE7C34F-7857-4D93-B6FC-95A75BFF6C66}" sibTransId="{3AC3347F-515C-4CA0-BF8A-D9139969D67B}"/>
    <dgm:cxn modelId="{611AC814-5BFD-4D5D-884C-BCBF6D2E8A0D}" type="presOf" srcId="{6AE58FB2-3CEB-4D54-A223-BC9EA0A72102}" destId="{93DB53E5-91E0-48A4-BBEC-A7F256CF8BC5}" srcOrd="0" destOrd="0" presId="urn:microsoft.com/office/officeart/2005/8/layout/vList2"/>
    <dgm:cxn modelId="{E8512E37-2C60-4597-9B7B-CE5A27227939}" type="presOf" srcId="{09604CEE-3387-4500-966B-362879E6A93C}" destId="{591D47AB-BD78-4FAD-A788-1BF173DF8B56}" srcOrd="0" destOrd="0" presId="urn:microsoft.com/office/officeart/2005/8/layout/vList2"/>
    <dgm:cxn modelId="{C544253F-77C8-4A33-9EFF-BC8511FEF2FB}" type="presParOf" srcId="{591D47AB-BD78-4FAD-A788-1BF173DF8B56}" destId="{93DB53E5-91E0-48A4-BBEC-A7F256CF8BC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F2D84-CB5C-4870-BE17-F34AE6398BA6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FUNDAMENTACIÓN</a:t>
          </a:r>
        </a:p>
      </dsp:txBody>
      <dsp:txXfrm>
        <a:off x="55687" y="56812"/>
        <a:ext cx="8118226" cy="10293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29C7E-E073-4C24-BFC4-FE36920507FF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PERTINENCIA</a:t>
          </a:r>
        </a:p>
      </dsp:txBody>
      <dsp:txXfrm>
        <a:off x="55687" y="56812"/>
        <a:ext cx="8118226" cy="10293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F2D84-CB5C-4870-BE17-F34AE6398BA6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5000" b="1" kern="1200" dirty="0"/>
            <a:t>CONSISTENCIA</a:t>
          </a:r>
          <a:endParaRPr lang="es-CO" sz="5000" b="1" kern="1200" dirty="0"/>
        </a:p>
      </dsp:txBody>
      <dsp:txXfrm>
        <a:off x="55687" y="56812"/>
        <a:ext cx="8118226" cy="10293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29C7E-E073-4C24-BFC4-FE36920507FF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MADUREZ</a:t>
          </a:r>
        </a:p>
      </dsp:txBody>
      <dsp:txXfrm>
        <a:off x="55687" y="56812"/>
        <a:ext cx="8118226" cy="102937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678E1-2000-4FC0-838F-85DFB5B56F1D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EMPODERAMIENTO</a:t>
          </a:r>
        </a:p>
      </dsp:txBody>
      <dsp:txXfrm>
        <a:off x="55687" y="56812"/>
        <a:ext cx="8118226" cy="102937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DBEF42-CFB9-4902-8628-91F229D11855}">
      <dsp:nvSpPr>
        <dsp:cNvPr id="0" name=""/>
        <dsp:cNvSpPr/>
      </dsp:nvSpPr>
      <dsp:spPr>
        <a:xfrm>
          <a:off x="0" y="92385"/>
          <a:ext cx="8229600" cy="95822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4200" b="1" kern="1200" dirty="0"/>
            <a:t>EVALUACIÓN Y SEGUIMIENTO</a:t>
          </a:r>
        </a:p>
      </dsp:txBody>
      <dsp:txXfrm>
        <a:off x="46777" y="139162"/>
        <a:ext cx="8136046" cy="86467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EA1D65-4B02-4517-868D-2252660EBBF2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RESULTADOS</a:t>
          </a:r>
        </a:p>
      </dsp:txBody>
      <dsp:txXfrm>
        <a:off x="55687" y="56812"/>
        <a:ext cx="8118226" cy="102937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22A99A-39B7-4281-9165-D87AAF77F3C2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TRANSFERENCIAS</a:t>
          </a:r>
        </a:p>
      </dsp:txBody>
      <dsp:txXfrm>
        <a:off x="55687" y="56812"/>
        <a:ext cx="8118226" cy="102937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2E0517-A530-4F70-BC63-122CA318C606}">
      <dsp:nvSpPr>
        <dsp:cNvPr id="0" name=""/>
        <dsp:cNvSpPr/>
      </dsp:nvSpPr>
      <dsp:spPr>
        <a:xfrm>
          <a:off x="0" y="0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SOSTENIBILIDAD</a:t>
          </a:r>
        </a:p>
      </dsp:txBody>
      <dsp:txXfrm>
        <a:off x="55687" y="55687"/>
        <a:ext cx="8118226" cy="102937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6F2A22-737A-4A85-953E-DB3EE8FD34F8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INNOVACIÓN</a:t>
          </a:r>
        </a:p>
      </dsp:txBody>
      <dsp:txXfrm>
        <a:off x="55687" y="56812"/>
        <a:ext cx="8118226" cy="102937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DB53E5-91E0-48A4-BBEC-A7F256CF8BC5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CRÉDITOS Y CONTACTO</a:t>
          </a:r>
        </a:p>
      </dsp:txBody>
      <dsp:txXfrm>
        <a:off x="55687" y="56812"/>
        <a:ext cx="8118226" cy="10293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microsoft.com/office/2007/relationships/hdphoto" Target="../media/hdphoto2.wdp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1.xml"/><Relationship Id="rId15" Type="http://schemas.microsoft.com/office/2007/relationships/hdphoto" Target="../media/hdphoto3.wdp"/><Relationship Id="rId10" Type="http://schemas.microsoft.com/office/2007/relationships/hdphoto" Target="../media/hdphoto1.wdp"/><Relationship Id="rId4" Type="http://schemas.openxmlformats.org/officeDocument/2006/relationships/diagramLayout" Target="../diagrams/layout1.xml"/><Relationship Id="rId9" Type="http://schemas.openxmlformats.org/officeDocument/2006/relationships/image" Target="../media/image3.png"/><Relationship Id="rId1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microsoft.com/office/2007/relationships/hdphoto" Target="../media/hdphoto2.wdp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2.xml"/><Relationship Id="rId10" Type="http://schemas.microsoft.com/office/2007/relationships/hdphoto" Target="../media/hdphoto1.wdp"/><Relationship Id="rId4" Type="http://schemas.openxmlformats.org/officeDocument/2006/relationships/diagramLayout" Target="../diagrams/layout2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microsoft.com/office/2007/relationships/hdphoto" Target="../media/hdphoto2.wdp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3.xml"/><Relationship Id="rId10" Type="http://schemas.microsoft.com/office/2007/relationships/hdphoto" Target="../media/hdphoto1.wdp"/><Relationship Id="rId4" Type="http://schemas.openxmlformats.org/officeDocument/2006/relationships/diagramLayout" Target="../diagrams/layout3.xml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microsoft.com/office/2007/relationships/hdphoto" Target="../media/hdphoto2.wdp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4.xml"/><Relationship Id="rId10" Type="http://schemas.microsoft.com/office/2007/relationships/hdphoto" Target="../media/hdphoto1.wdp"/><Relationship Id="rId4" Type="http://schemas.openxmlformats.org/officeDocument/2006/relationships/diagramLayout" Target="../diagrams/layout4.xml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5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5.xml"/><Relationship Id="rId10" Type="http://schemas.microsoft.com/office/2007/relationships/hdphoto" Target="../media/hdphoto1.wdp"/><Relationship Id="rId4" Type="http://schemas.openxmlformats.org/officeDocument/2006/relationships/diagramLayout" Target="../diagrams/layout5.xml"/><Relationship Id="rId9" Type="http://schemas.openxmlformats.org/officeDocument/2006/relationships/image" Target="../media/image3.png"/><Relationship Id="rId1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microsoft.com/office/2007/relationships/hdphoto" Target="../media/hdphoto2.wdp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12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6.xml"/><Relationship Id="rId10" Type="http://schemas.microsoft.com/office/2007/relationships/hdphoto" Target="../media/hdphoto1.wdp"/><Relationship Id="rId4" Type="http://schemas.openxmlformats.org/officeDocument/2006/relationships/diagramLayout" Target="../diagrams/layout6.xml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5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12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7.xml"/><Relationship Id="rId10" Type="http://schemas.microsoft.com/office/2007/relationships/hdphoto" Target="../media/hdphoto1.wdp"/><Relationship Id="rId4" Type="http://schemas.openxmlformats.org/officeDocument/2006/relationships/diagramLayout" Target="../diagrams/layout7.xml"/><Relationship Id="rId9" Type="http://schemas.openxmlformats.org/officeDocument/2006/relationships/image" Target="../media/image3.png"/><Relationship Id="rId1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microsoft.com/office/2007/relationships/hdphoto" Target="../media/hdphoto2.wdp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12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8.xml"/><Relationship Id="rId10" Type="http://schemas.microsoft.com/office/2007/relationships/hdphoto" Target="../media/hdphoto1.wdp"/><Relationship Id="rId4" Type="http://schemas.openxmlformats.org/officeDocument/2006/relationships/diagramLayout" Target="../diagrams/layout8.xml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microsoft.com/office/2007/relationships/hdphoto" Target="../media/hdphoto4.wdp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9.xml"/><Relationship Id="rId15" Type="http://schemas.microsoft.com/office/2007/relationships/hdphoto" Target="../media/hdphoto2.wdp"/><Relationship Id="rId10" Type="http://schemas.microsoft.com/office/2007/relationships/hdphoto" Target="../media/hdphoto1.wdp"/><Relationship Id="rId4" Type="http://schemas.openxmlformats.org/officeDocument/2006/relationships/diagramLayout" Target="../diagrams/layout9.xml"/><Relationship Id="rId9" Type="http://schemas.openxmlformats.org/officeDocument/2006/relationships/image" Target="../media/image3.png"/><Relationship Id="rId1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microsoft.com/office/2007/relationships/hdphoto" Target="../media/hdphoto2.wdp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12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10.xml"/><Relationship Id="rId10" Type="http://schemas.microsoft.com/office/2007/relationships/hdphoto" Target="../media/hdphoto1.wdp"/><Relationship Id="rId4" Type="http://schemas.openxmlformats.org/officeDocument/2006/relationships/diagramLayout" Target="../diagrams/layout10.xml"/><Relationship Id="rId9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microsoft.com/office/2007/relationships/hdphoto" Target="../media/hdphoto2.wdp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12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11.xml"/><Relationship Id="rId10" Type="http://schemas.microsoft.com/office/2007/relationships/hdphoto" Target="../media/hdphoto1.wdp"/><Relationship Id="rId4" Type="http://schemas.openxmlformats.org/officeDocument/2006/relationships/diagramLayout" Target="../diagrams/layout11.xm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3E4AF6F-E779-CD1D-11EF-0C24C6FC8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4120" y="1038225"/>
            <a:ext cx="7772400" cy="1470025"/>
          </a:xfrm>
        </p:spPr>
        <p:txBody>
          <a:bodyPr>
            <a:normAutofit fontScale="90000"/>
          </a:bodyPr>
          <a:lstStyle/>
          <a:p>
            <a:r>
              <a:rPr dirty="0" err="1"/>
              <a:t>Experiencia</a:t>
            </a:r>
            <a:r>
              <a:rPr dirty="0"/>
              <a:t> </a:t>
            </a:r>
            <a:r>
              <a:rPr dirty="0" err="1"/>
              <a:t>Significativa</a:t>
            </a:r>
            <a:endParaRPr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A95729C-CECB-640B-E4A6-9CF9EDDA0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9920" y="5329079"/>
            <a:ext cx="6400800" cy="1147921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s-MX" b="1" dirty="0">
                <a:solidFill>
                  <a:schemeClr val="tx1"/>
                </a:solidFill>
              </a:rPr>
              <a:t>I. E. M. </a:t>
            </a:r>
            <a:r>
              <a:rPr b="1" dirty="0">
                <a:solidFill>
                  <a:schemeClr val="tx1"/>
                </a:solidFill>
              </a:rPr>
              <a:t>Escuela Normal Superior</a:t>
            </a:r>
          </a:p>
          <a:p>
            <a:pPr>
              <a:spcBef>
                <a:spcPts val="0"/>
              </a:spcBef>
            </a:pPr>
            <a:r>
              <a:rPr lang="es-CO" b="1" dirty="0">
                <a:solidFill>
                  <a:schemeClr val="tx1"/>
                </a:solidFill>
              </a:rPr>
              <a:t>Pitalito – Huila </a:t>
            </a:r>
          </a:p>
          <a:p>
            <a:pPr>
              <a:spcBef>
                <a:spcPts val="0"/>
              </a:spcBef>
            </a:pPr>
            <a:endParaRPr b="1" dirty="0">
              <a:solidFill>
                <a:schemeClr val="tx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569E89D-FDB4-3BCA-DEDE-3D7DDE2A4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79F20E7-AAE1-C7D2-6F65-F7410C0234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507C979B-46AD-669C-69D7-52D968B14A12}"/>
              </a:ext>
            </a:extLst>
          </p:cNvPr>
          <p:cNvSpPr txBox="1">
            <a:spLocks/>
          </p:cNvSpPr>
          <p:nvPr/>
        </p:nvSpPr>
        <p:spPr>
          <a:xfrm>
            <a:off x="3169920" y="3195479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4800" b="1" dirty="0">
                <a:solidFill>
                  <a:schemeClr val="tx1"/>
                </a:solidFill>
              </a:rPr>
              <a:t>COLOR Y VIDA</a:t>
            </a:r>
          </a:p>
          <a:p>
            <a:endParaRPr lang="es-CO" dirty="0"/>
          </a:p>
          <a:p>
            <a:r>
              <a:rPr lang="es-CO" dirty="0" err="1">
                <a:solidFill>
                  <a:schemeClr val="tx1"/>
                </a:solidFill>
              </a:rPr>
              <a:t>Belen</a:t>
            </a:r>
            <a:r>
              <a:rPr lang="es-CO" dirty="0">
                <a:solidFill>
                  <a:schemeClr val="tx1"/>
                </a:solidFill>
              </a:rPr>
              <a:t> </a:t>
            </a:r>
            <a:r>
              <a:rPr lang="es-CO" dirty="0" err="1">
                <a:solidFill>
                  <a:schemeClr val="tx1"/>
                </a:solidFill>
              </a:rPr>
              <a:t>Esneda</a:t>
            </a:r>
            <a:r>
              <a:rPr lang="es-CO" dirty="0">
                <a:solidFill>
                  <a:schemeClr val="tx1"/>
                </a:solidFill>
              </a:rPr>
              <a:t> Moreno Chala</a:t>
            </a:r>
            <a:endParaRPr lang="es-CO" b="1" dirty="0">
              <a:solidFill>
                <a:schemeClr val="tx1"/>
              </a:solidFill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BB4C590-1985-4619-C253-FCC2702971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8038" y="4526260"/>
            <a:ext cx="1625049" cy="160563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15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DAFB1767-39C6-1E8D-BD02-8A7563260A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0687987"/>
              </p:ext>
            </p:extLst>
          </p:nvPr>
        </p:nvGraphicFramePr>
        <p:xfrm>
          <a:off x="1645920" y="89628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6BF94A6-6D3D-7CB4-A461-7A06FE3E1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4496" y="2202560"/>
            <a:ext cx="5129006" cy="4525963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s-MX" dirty="0"/>
              <a:t>La experiencia </a:t>
            </a:r>
            <a:r>
              <a:rPr lang="es-MX" i="1" dirty="0"/>
              <a:t>Color &amp; Vida</a:t>
            </a:r>
            <a:r>
              <a:rPr lang="es-MX" dirty="0"/>
              <a:t> se fundamenta en el modelo pedagógico socio-crítico y humanista de la Escuela Normal Superior de Pitalito, el cual concibe el arte como un lenguaje pedagógico que posibilita la construcción de conocimiento, el desarrollo socioemocional y la formación integral de los futuros maestros. Desde la enseñanza para la comprensión (</a:t>
            </a:r>
            <a:r>
              <a:rPr lang="es-MX" dirty="0" err="1"/>
              <a:t>EpC</a:t>
            </a:r>
            <a:r>
              <a:rPr lang="es-MX" dirty="0"/>
              <a:t>), el arte se convierte en mediador para la reflexión crítica, el pensamiento creativo y la construcción de ciudadanía.</a:t>
            </a:r>
          </a:p>
          <a:p>
            <a:r>
              <a:rPr lang="es-MX" dirty="0"/>
              <a:t>La propuesta se articula con el PEI al fortalecer la formación de docentes innovadores y con el PMI al aportar al mejoramiento de la calidad educativa, la convivencia, la identidad cultural </a:t>
            </a:r>
            <a:r>
              <a:rPr lang="es-MX" dirty="0" err="1"/>
              <a:t>laboyana</a:t>
            </a:r>
            <a:r>
              <a:rPr lang="es-MX" dirty="0"/>
              <a:t> y la orientación vocacional. Metodológicamente, prioriza el proceso creativo por encima del producto final, promoviendo la exploración, la experimentación y la expresión sensible como elementos clave para el aprendizaje significativo. Esto consolida al arte como herramienta para la transformación personal, social y educativa.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6F28BD8-DC00-1D30-E02F-09C872FE62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33B2458-0A17-E51B-B1D6-E3947FD323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-64819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AACA634A-54FF-3D2C-60C8-8133C5118C0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58038" y="4526260"/>
            <a:ext cx="1625049" cy="160563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24ED99D-0E0E-C160-EA42-D0B82B165F3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3565" b="91800" l="9726" r="93267">
                        <a14:foregroundMark x1="36658" y1="26916" x2="43142" y2="36007"/>
                        <a14:foregroundMark x1="30673" y1="18182" x2="32668" y2="25134"/>
                        <a14:foregroundMark x1="22195" y1="13012" x2="19202" y2="3743"/>
                        <a14:foregroundMark x1="51122" y1="22995" x2="47631" y2="14973"/>
                        <a14:foregroundMark x1="75561" y1="51337" x2="86783" y2="58467"/>
                        <a14:foregroundMark x1="74813" y1="73975" x2="85287" y2="83779"/>
                        <a14:foregroundMark x1="77057" y1="71123" x2="93267" y2="91800"/>
                        <a14:foregroundMark x1="91022" y1="91444" x2="78803" y2="77184"/>
                        <a14:foregroundMark x1="78803" y1="77184" x2="77057" y2="700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7248" y="959132"/>
            <a:ext cx="2232493" cy="3123262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8CADCDF-0D40-EA3D-AB9C-AAFD1A50BD3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6364" b="93182" l="0" r="76361">
                        <a14:foregroundMark x1="16327" y1="42500" x2="19898" y2="85227"/>
                        <a14:foregroundMark x1="23639" y1="42500" x2="20408" y2="75682"/>
                        <a14:foregroundMark x1="19898" y1="30455" x2="7993" y2="44091"/>
                        <a14:foregroundMark x1="7993" y1="44091" x2="510" y2="85682"/>
                        <a14:foregroundMark x1="39796" y1="30455" x2="33333" y2="56591"/>
                        <a14:foregroundMark x1="33333" y1="60455" x2="38265" y2="79773"/>
                        <a14:foregroundMark x1="38265" y1="79773" x2="55442" y2="84318"/>
                        <a14:foregroundMark x1="55442" y1="84318" x2="75340" y2="45909"/>
                        <a14:foregroundMark x1="71769" y1="44091" x2="64626" y2="65682"/>
                        <a14:foregroundMark x1="17177" y1="82955" x2="50850" y2="90682"/>
                        <a14:foregroundMark x1="7483" y1="82500" x2="30102" y2="93409"/>
                        <a14:foregroundMark x1="4932" y1="90000" x2="19558" y2="88636"/>
                        <a14:foregroundMark x1="36565" y1="26591" x2="32993" y2="48409"/>
                        <a14:foregroundMark x1="76361" y1="19091" x2="71769" y2="32045"/>
                        <a14:foregroundMark x1="68197" y1="42955" x2="67857" y2="57045"/>
                      </a14:backgroundRemoval>
                    </a14:imgEffect>
                  </a14:imgLayer>
                </a14:imgProps>
              </a:ext>
            </a:extLst>
          </a:blip>
          <a:srcRect t="7946" r="20075" b="6772"/>
          <a:stretch/>
        </p:blipFill>
        <p:spPr>
          <a:xfrm>
            <a:off x="1371599" y="3861099"/>
            <a:ext cx="3494127" cy="278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28CD0-7102-797F-C3D9-A885F4B9B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6B75AEE-64D5-27DD-ED06-2ECBE70E4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FD8A8747-9E51-7989-429C-D1E4727804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734654"/>
              </p:ext>
            </p:extLst>
          </p:nvPr>
        </p:nvGraphicFramePr>
        <p:xfrm>
          <a:off x="1668780" y="660160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09EF0-8BE2-9B90-3CCE-01263D992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780" y="1985722"/>
            <a:ext cx="8229600" cy="4525963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s-MX" dirty="0"/>
              <a:t>La experiencia responde a la necesidad institucional de fortalecer la formación artística como componente esencial del desarrollo integral. En un contexto cultural rico en expresiones artesanales y estéticas, </a:t>
            </a:r>
            <a:r>
              <a:rPr lang="es-MX" i="1" dirty="0"/>
              <a:t>Color &amp; Vida</a:t>
            </a:r>
            <a:r>
              <a:rPr lang="es-MX" dirty="0"/>
              <a:t> ofrece un espacio que vincula el arte con la identidad local, supera la ausencia de prácticas formativas sistemáticas y contribuye a la misión normalista de formar maestros sensibles, críticos y creativos.</a:t>
            </a:r>
          </a:p>
          <a:p>
            <a:r>
              <a:rPr lang="es-MX" dirty="0"/>
              <a:t>Además, la propuesta se alinea con políticas públicas como la Ley General de Educación, los lineamientos curriculares de educación artística, la Formación por Competencias Ciudadanas y la promoción del bienestar emocional, lo que refuerza su pertinencia pedagógica y sociocultural.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99328DF-9064-CF9F-9749-2637864399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15854E9-6669-ECBB-33BB-38729EAF3B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0"/>
            <a:ext cx="2852115" cy="434975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E01A3F4-2B8E-BA93-6B02-BD79D174790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58038" y="4526260"/>
            <a:ext cx="1625049" cy="160563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3F8C05E-0AA9-69EC-045E-E095E67ABDA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3565" b="91800" l="9726" r="93267">
                        <a14:foregroundMark x1="36658" y1="26916" x2="43142" y2="36007"/>
                        <a14:foregroundMark x1="30673" y1="18182" x2="32668" y2="25134"/>
                        <a14:foregroundMark x1="22195" y1="13012" x2="19202" y2="3743"/>
                        <a14:foregroundMark x1="51122" y1="22995" x2="47631" y2="14973"/>
                        <a14:foregroundMark x1="75561" y1="51337" x2="86783" y2="58467"/>
                        <a14:foregroundMark x1="74813" y1="73975" x2="85287" y2="83779"/>
                        <a14:foregroundMark x1="77057" y1="71123" x2="93267" y2="91800"/>
                        <a14:foregroundMark x1="91022" y1="91444" x2="78803" y2="77184"/>
                        <a14:foregroundMark x1="78803" y1="77184" x2="77057" y2="700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7248" y="959132"/>
            <a:ext cx="1942469" cy="271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533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7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EFE567D3-4DA4-45B3-7C1A-3DF3B7898E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5451773"/>
              </p:ext>
            </p:extLst>
          </p:nvPr>
        </p:nvGraphicFramePr>
        <p:xfrm>
          <a:off x="1828800" y="102901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6D443E7-86F8-4BEC-FFEB-5B2E752FBECB}"/>
              </a:ext>
            </a:extLst>
          </p:cNvPr>
          <p:cNvSpPr txBox="1">
            <a:spLocks/>
          </p:cNvSpPr>
          <p:nvPr/>
        </p:nvSpPr>
        <p:spPr>
          <a:xfrm>
            <a:off x="1981200" y="250698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s-MX" dirty="0"/>
              <a:t>La experiencia mantiene coherencia entre sus objetivos, acciones y resultados al articular talleres artísticos semanales con estrategias cooperativas, roles diferenciados entre estudiantes y actividades de exhibición, reflexión y producción creativa. Las acciones implementadas —exploración técnica, experimentación creativa, orientación entre pares, muestras artísticas— permiten avanzar hacia los objetivos de creatividad, vocación docente y construcción de ciudadanía. Los resultados evidencian avances en autonomía, sensibilidad estética y fortalecimiento del tejido social escolar.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408C248-0AA4-EFB7-998A-BFB146C323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4ED778C-C474-C5BF-9124-83C90E641E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-2857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AC49B206-932B-E99D-ED22-1195250E6FC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58038" y="4526260"/>
            <a:ext cx="1625049" cy="160563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D913398-B0F6-3F5C-5222-DAF000D58F3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3565" b="91800" l="9726" r="93267">
                        <a14:foregroundMark x1="36658" y1="26916" x2="43142" y2="36007"/>
                        <a14:foregroundMark x1="30673" y1="18182" x2="32668" y2="25134"/>
                        <a14:foregroundMark x1="22195" y1="13012" x2="19202" y2="3743"/>
                        <a14:foregroundMark x1="51122" y1="22995" x2="47631" y2="14973"/>
                        <a14:foregroundMark x1="75561" y1="51337" x2="86783" y2="58467"/>
                        <a14:foregroundMark x1="74813" y1="73975" x2="85287" y2="83779"/>
                        <a14:foregroundMark x1="77057" y1="71123" x2="93267" y2="91800"/>
                        <a14:foregroundMark x1="91022" y1="91444" x2="78803" y2="77184"/>
                        <a14:foregroundMark x1="78803" y1="77184" x2="77057" y2="700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7248" y="959132"/>
            <a:ext cx="1942469" cy="271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378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C89304F7-0A62-2031-54A2-BE3B30D621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164331"/>
              </p:ext>
            </p:extLst>
          </p:nvPr>
        </p:nvGraphicFramePr>
        <p:xfrm>
          <a:off x="1737360" y="6632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043FED7-18D5-CD66-2A6F-447F377E0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7360" y="1988820"/>
            <a:ext cx="8229600" cy="45259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s-MX" dirty="0"/>
              <a:t>Tras 4 años y 7 meses de implementación, </a:t>
            </a:r>
            <a:r>
              <a:rPr lang="es-MX" i="1" dirty="0"/>
              <a:t>Color &amp; Vida</a:t>
            </a:r>
            <a:r>
              <a:rPr lang="es-MX" dirty="0"/>
              <a:t> ha evolucionado conceptualmente y metodológicamente. Ha pasado de enfocarse en la producción plástica a consolidarse como una estrategia formativa integral que articula aspectos socioemocionales, vocacionales y ciudadanos. La experiencia ha incorporado nuevas técnicas, instrumentos de evaluación formativa, estrategias cooperativas, mecanismos de participación estudiantil y mejoras en la comunicación, las cuales demuestran su capacidad de actualización, reorganización y análisis continuo.</a:t>
            </a:r>
            <a:endParaRPr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E0D8673-DF93-3040-25D2-BAEAD33AFC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E4D10AA-ED3D-EA5E-D930-8516D90FAF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BBAF2BAA-CEA9-EA8B-E326-1953F75EFC8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58038" y="4526260"/>
            <a:ext cx="1625049" cy="160563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D7F9086-156D-BB9E-7D6B-16BB456F50A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3565" b="91800" l="9726" r="93267">
                        <a14:foregroundMark x1="36658" y1="26916" x2="43142" y2="36007"/>
                        <a14:foregroundMark x1="30673" y1="18182" x2="32668" y2="25134"/>
                        <a14:foregroundMark x1="22195" y1="13012" x2="19202" y2="3743"/>
                        <a14:foregroundMark x1="51122" y1="22995" x2="47631" y2="14973"/>
                        <a14:foregroundMark x1="75561" y1="51337" x2="86783" y2="58467"/>
                        <a14:foregroundMark x1="74813" y1="73975" x2="85287" y2="83779"/>
                        <a14:foregroundMark x1="77057" y1="71123" x2="93267" y2="91800"/>
                        <a14:foregroundMark x1="91022" y1="91444" x2="78803" y2="77184"/>
                        <a14:foregroundMark x1="78803" y1="77184" x2="77057" y2="700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7248" y="959132"/>
            <a:ext cx="1942469" cy="271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245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9420230E-9851-C4CC-EADD-F0736252DE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403707"/>
              </p:ext>
            </p:extLst>
          </p:nvPr>
        </p:nvGraphicFramePr>
        <p:xfrm>
          <a:off x="1981200" y="6632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608088F-336E-9696-2C52-FD65D86D8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988820"/>
            <a:ext cx="6103356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MX" dirty="0"/>
              <a:t>La participación activa de estudiantes, docentes, orientadores estudiantiles y familias ha fortalecido el empoderamiento de la comunidad educativa. Los estudiantes asumen roles de liderazgo como orientadores; los docentes acompañan y vinculan el proyecto con otras áreas; los directivos apoyan la </a:t>
            </a:r>
            <a:r>
              <a:rPr lang="es-MX" dirty="0" err="1"/>
              <a:t>visibilización</a:t>
            </a:r>
            <a:r>
              <a:rPr lang="es-MX" dirty="0"/>
              <a:t> institucional; y las familias participan en muestras artísticas que consolidan el reconocimiento social. Este involucramiento colectivo genera sentido de pertenencia, identidad cultural y compromiso con la transformación educativa.</a:t>
            </a:r>
            <a:endParaRPr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BDBFB93-F954-966C-258F-C2CB7FCCC2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1DF7378-EA0D-A313-DF1D-F204ED9CA32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07774569-4F88-55B9-4CED-AA0117436E9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58038" y="4526260"/>
            <a:ext cx="1625049" cy="160563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911E285-9FE6-0D86-F3BB-B0B8BFE7C1A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5490" b="10598"/>
          <a:stretch/>
        </p:blipFill>
        <p:spPr>
          <a:xfrm>
            <a:off x="8425614" y="1921231"/>
            <a:ext cx="3425327" cy="242852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3D2F7A6-5163-0CCF-D73F-BF634D8BC99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3565" b="91800" l="9726" r="93267">
                        <a14:foregroundMark x1="36658" y1="26916" x2="43142" y2="36007"/>
                        <a14:foregroundMark x1="30673" y1="18182" x2="32668" y2="25134"/>
                        <a14:foregroundMark x1="22195" y1="13012" x2="19202" y2="3743"/>
                        <a14:foregroundMark x1="51122" y1="22995" x2="47631" y2="14973"/>
                        <a14:foregroundMark x1="75561" y1="51337" x2="86783" y2="58467"/>
                        <a14:foregroundMark x1="74813" y1="73975" x2="85287" y2="83779"/>
                        <a14:foregroundMark x1="77057" y1="71123" x2="93267" y2="91800"/>
                        <a14:foregroundMark x1="91022" y1="91444" x2="78803" y2="77184"/>
                        <a14:foregroundMark x1="78803" y1="77184" x2="77057" y2="700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7248" y="959132"/>
            <a:ext cx="1942469" cy="271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190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AC8D1D27-C9DA-CD17-B5D0-A98BDE0BD8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1261072"/>
              </p:ext>
            </p:extLst>
          </p:nvPr>
        </p:nvGraphicFramePr>
        <p:xfrm>
          <a:off x="1981200" y="1036955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257CB8-0169-D007-5942-20EEA4036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2332037"/>
            <a:ext cx="8229600" cy="4525963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s-MX" dirty="0"/>
              <a:t>La experiencia utiliza herramientas de evaluación formativa como: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Rúbricas cualitativas de desempeño artístico.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Autoevaluaciones y coevaluaciones.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Observación participante.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Registros fotográficos y audiovisuales.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Bitácoras de proceso y retroalimentación constante.</a:t>
            </a:r>
          </a:p>
          <a:p>
            <a:r>
              <a:rPr lang="es-MX" dirty="0"/>
              <a:t>Estos instrumentos permiten valorar la progresión en creatividad, autonomía, cooperación y vocación docente. El seguimiento se realiza de manera continua durante los talleres, en las muestras artísticas y en los espacios de reflexión con los estudiantes.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8A101CE-9B0A-2569-F642-A5B37CF1C7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47A7FDD-5750-268B-9809-E34462C554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3A9FDE96-A8F5-06E5-BADB-C707A6FD8CC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58038" y="4526260"/>
            <a:ext cx="1625049" cy="160563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A5D4D35-5C6B-AB0E-5AA0-5100D7F4380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3565" b="91800" l="9726" r="93267">
                        <a14:foregroundMark x1="36658" y1="26916" x2="43142" y2="36007"/>
                        <a14:foregroundMark x1="30673" y1="18182" x2="32668" y2="25134"/>
                        <a14:foregroundMark x1="22195" y1="13012" x2="19202" y2="3743"/>
                        <a14:foregroundMark x1="51122" y1="22995" x2="47631" y2="14973"/>
                        <a14:foregroundMark x1="75561" y1="51337" x2="86783" y2="58467"/>
                        <a14:foregroundMark x1="74813" y1="73975" x2="85287" y2="83779"/>
                        <a14:foregroundMark x1="77057" y1="71123" x2="93267" y2="91800"/>
                        <a14:foregroundMark x1="91022" y1="91444" x2="78803" y2="77184"/>
                        <a14:foregroundMark x1="78803" y1="77184" x2="77057" y2="700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7248" y="959132"/>
            <a:ext cx="1942469" cy="271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426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4F1A2995-237F-9841-B807-0ACF4C1806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4446270"/>
              </p:ext>
            </p:extLst>
          </p:nvPr>
        </p:nvGraphicFramePr>
        <p:xfrm>
          <a:off x="1981200" y="68611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94AFD9-4D03-1C00-321D-72C3065C9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2011680"/>
            <a:ext cx="3041672" cy="4525963"/>
          </a:xfrm>
        </p:spPr>
        <p:txBody>
          <a:bodyPr>
            <a:normAutofit fontScale="40000" lnSpcReduction="20000"/>
          </a:bodyPr>
          <a:lstStyle/>
          <a:p>
            <a:pPr>
              <a:buNone/>
            </a:pPr>
            <a:r>
              <a:rPr lang="es-MX" dirty="0"/>
              <a:t>Entre los logros alcanzados se destacan: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Incremento de la creatividad, autonomía y sensibilidad estética.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Fortalecimiento del liderazgo juvenil a través de los orientadores estudiantiles.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Consolidación de la Muestra Artística Estudiantil (M.A.E.) como espacio institucional de </a:t>
            </a:r>
            <a:r>
              <a:rPr lang="es-MX" dirty="0" err="1"/>
              <a:t>visibilización</a:t>
            </a:r>
            <a:r>
              <a:rPr lang="es-MX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Participación intergeneracional que favorece la cooperación y la construcción colectiva del conocimiento.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Mayor sentido de identidad cultural y valoración del arte en la comunidad normalista.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Impacto positivo en la vocación docente, la convivencia escolar y el bienestar socioemocional.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4FCE432-FC79-3908-C41A-BEE7A15B41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920876A-F256-DD23-817B-567AEB8B495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FBF1CF3A-6D2F-E340-4A24-6DB562B6694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58038" y="4526260"/>
            <a:ext cx="1625049" cy="160563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59A5D1E-88BA-9A62-83ED-AD563E9FD1FE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5174" t="20003" r="-1249" b="17172"/>
          <a:stretch/>
        </p:blipFill>
        <p:spPr>
          <a:xfrm>
            <a:off x="5791199" y="2005627"/>
            <a:ext cx="5991888" cy="416625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37B7FC2-5829-5C91-33C9-A2105C8889B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3565" b="91800" l="9726" r="93267">
                        <a14:foregroundMark x1="36658" y1="26916" x2="43142" y2="36007"/>
                        <a14:foregroundMark x1="30673" y1="18182" x2="32668" y2="25134"/>
                        <a14:foregroundMark x1="22195" y1="13012" x2="19202" y2="3743"/>
                        <a14:foregroundMark x1="51122" y1="22995" x2="47631" y2="14973"/>
                        <a14:foregroundMark x1="75561" y1="51337" x2="86783" y2="58467"/>
                        <a14:foregroundMark x1="74813" y1="73975" x2="85287" y2="83779"/>
                        <a14:foregroundMark x1="77057" y1="71123" x2="93267" y2="91800"/>
                        <a14:foregroundMark x1="91022" y1="91444" x2="78803" y2="77184"/>
                        <a14:foregroundMark x1="78803" y1="77184" x2="77057" y2="700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7248" y="959132"/>
            <a:ext cx="1942469" cy="271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454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A2CF1-2EF7-7C11-ADAE-0F64F1C1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77BE91-BCDE-E1BE-C15F-C32CE76AF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9B4091B8-2DD1-2FFE-E6E2-3380B5AF03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171619"/>
              </p:ext>
            </p:extLst>
          </p:nvPr>
        </p:nvGraphicFramePr>
        <p:xfrm>
          <a:off x="1805940" y="82327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703EF-0623-38AE-33D6-9954A777F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5940" y="2148840"/>
            <a:ext cx="8229600" cy="4525963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s-MX" dirty="0"/>
              <a:t>La metodología implementada permite replicar la experiencia en otras instituciones gracias 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Su estructura flexible basada en talleres cooperativos.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El enfoque por roles entre aprendices y orientadores.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El uso de materiales accesibles y técnicas de bajo costo.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La incorporación de estrategias formativas y evaluativas que pueden adaptarse a diversos contextos.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La sistematización de prácticas que facilita su difusión en redes educativas y territoriales.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4E86064-C228-1CFD-9A51-3E724CEFC3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AEBAFCE-979A-A612-F0FF-C908154A3D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D14151E-A7AE-39AD-BA6F-B575E6F93FC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58038" y="4526260"/>
            <a:ext cx="1625049" cy="160563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5096D74-8E21-84EB-430B-4FA743E2698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3565" b="91800" l="9726" r="93267">
                        <a14:foregroundMark x1="36658" y1="26916" x2="43142" y2="36007"/>
                        <a14:foregroundMark x1="30673" y1="18182" x2="32668" y2="25134"/>
                        <a14:foregroundMark x1="22195" y1="13012" x2="19202" y2="3743"/>
                        <a14:foregroundMark x1="51122" y1="22995" x2="47631" y2="14973"/>
                        <a14:foregroundMark x1="75561" y1="51337" x2="86783" y2="58467"/>
                        <a14:foregroundMark x1="74813" y1="73975" x2="85287" y2="83779"/>
                        <a14:foregroundMark x1="77057" y1="71123" x2="93267" y2="91800"/>
                        <a14:foregroundMark x1="91022" y1="91444" x2="78803" y2="77184"/>
                        <a14:foregroundMark x1="78803" y1="77184" x2="77057" y2="700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7248" y="959132"/>
            <a:ext cx="1942469" cy="271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357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248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2E281524-A474-8C7C-8776-52D0949F69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1360712"/>
              </p:ext>
            </p:extLst>
          </p:nvPr>
        </p:nvGraphicFramePr>
        <p:xfrm>
          <a:off x="1981200" y="8461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0B610F2-5603-5175-5C8E-12D9C8E86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0800" y="2171700"/>
            <a:ext cx="6081486" cy="4525963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s-MX" dirty="0"/>
              <a:t>La sostenibilidad del proyecto se garantiza mediante: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La continuidad de sesiones sabatinas integradas al servicio social estudiantil.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El compromiso de la docente responsable y de los orientadores.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El respaldo institucional a través del PEI, el PMI y la promoción cultural.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El uso de materiales accesibles y donaciones internas.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La M.A.E. como estrategia permanente de </a:t>
            </a:r>
            <a:r>
              <a:rPr lang="es-MX" dirty="0" err="1"/>
              <a:t>visibilización</a:t>
            </a:r>
            <a:r>
              <a:rPr lang="es-MX" dirty="0"/>
              <a:t>.</a:t>
            </a:r>
          </a:p>
          <a:p>
            <a:r>
              <a:rPr lang="es-MX" dirty="0"/>
              <a:t>Estas acciones aseguran la permanencia y el fortalecimiento progresivo de la experiencia.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24A422B-7AC3-D6D1-B920-CFE288F871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639B7ED-3ABB-824A-2CD0-913977E7AC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391EA5FB-5C64-FA4E-9EB0-F7FBB1B1AC1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58038" y="4526260"/>
            <a:ext cx="1625049" cy="160563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FF6AD30-CF6A-B819-77C3-C47A36AC9F5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9609" b="92883" l="1425" r="91449">
                        <a14:foregroundMark x1="20903" y1="43594" x2="17577" y2="62100"/>
                        <a14:foregroundMark x1="17577" y1="62100" x2="23515" y2="84342"/>
                        <a14:foregroundMark x1="16627" y1="37189" x2="9976" y2="58541"/>
                        <a14:foregroundMark x1="9976" y1="58541" x2="11401" y2="85587"/>
                        <a14:foregroundMark x1="11401" y1="85587" x2="12114" y2="87011"/>
                        <a14:foregroundMark x1="10689" y1="31673" x2="5226" y2="53025"/>
                        <a14:foregroundMark x1="74347" y1="78826" x2="91686" y2="30605"/>
                        <a14:foregroundMark x1="91686" y1="30605" x2="91686" y2="27758"/>
                        <a14:foregroundMark x1="15914" y1="31673" x2="17102" y2="40036"/>
                        <a14:foregroundMark x1="32304" y1="90747" x2="54869" y2="93238"/>
                        <a14:foregroundMark x1="54869" y1="93238" x2="81710" y2="92705"/>
                        <a14:foregroundMark x1="2613" y1="33808" x2="12827" y2="30783"/>
                        <a14:foregroundMark x1="4276" y1="32384" x2="7838" y2="31317"/>
                        <a14:foregroundMark x1="3088" y1="32206" x2="2613" y2="37544"/>
                        <a14:foregroundMark x1="1900" y1="35053" x2="1425" y2="38434"/>
                        <a14:foregroundMark x1="71734" y1="44840" x2="70309" y2="5053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4705" y="1119814"/>
            <a:ext cx="3708666" cy="464953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1E6FDE7-C7F6-DA67-8504-121C79AD003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3565" b="91800" l="9726" r="93267">
                        <a14:foregroundMark x1="36658" y1="26916" x2="43142" y2="36007"/>
                        <a14:foregroundMark x1="30673" y1="18182" x2="32668" y2="25134"/>
                        <a14:foregroundMark x1="22195" y1="13012" x2="19202" y2="3743"/>
                        <a14:foregroundMark x1="51122" y1="22995" x2="47631" y2="14973"/>
                        <a14:foregroundMark x1="75561" y1="51337" x2="86783" y2="58467"/>
                        <a14:foregroundMark x1="74813" y1="73975" x2="85287" y2="83779"/>
                        <a14:foregroundMark x1="77057" y1="71123" x2="93267" y2="91800"/>
                        <a14:foregroundMark x1="91022" y1="91444" x2="78803" y2="77184"/>
                        <a14:foregroundMark x1="78803" y1="77184" x2="77057" y2="700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57779" y="4258242"/>
            <a:ext cx="1692136" cy="236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24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249EE349-634F-B004-0014-8453DC4EBE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1886592"/>
              </p:ext>
            </p:extLst>
          </p:nvPr>
        </p:nvGraphicFramePr>
        <p:xfrm>
          <a:off x="1981200" y="7775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CD10EEC-514F-C364-0B9C-1EE0A3330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2103120"/>
            <a:ext cx="8229600" cy="4525963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s-MX" dirty="0"/>
              <a:t>La experiencia incorpora innovaciones como: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Organización intergeneracional mediante roles de aprendices y orientadores.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Combinación de técnicas artísticas tradicionales con recursos digitales y audiovisuales.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Evaluación formativa centrada en procesos creativos más que en productos finales.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Integración del arte con el desarrollo socioemocional, vocacional y ciudadano.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Estrategias cooperativas que transforman la enseñanza vertical en aprendizaje colaborativo.</a:t>
            </a:r>
          </a:p>
          <a:p>
            <a:r>
              <a:rPr lang="es-MX" dirty="0"/>
              <a:t>Estas acciones potencian el desarrollo integral y responden creativamente a las políticas educativas actuales.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E1C13FD-C8A4-5BD0-F9EE-2E74AD460B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0DA47C6-D915-98B0-45E5-D6C9A76D5B8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0270A4C7-6A3C-C137-6457-6CA33A16812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58038" y="4526260"/>
            <a:ext cx="1625049" cy="160563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4A3D365-B18E-7080-16F9-106359D15A3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3565" b="91800" l="9726" r="93267">
                        <a14:foregroundMark x1="36658" y1="26916" x2="43142" y2="36007"/>
                        <a14:foregroundMark x1="30673" y1="18182" x2="32668" y2="25134"/>
                        <a14:foregroundMark x1="22195" y1="13012" x2="19202" y2="3743"/>
                        <a14:foregroundMark x1="51122" y1="22995" x2="47631" y2="14973"/>
                        <a14:foregroundMark x1="75561" y1="51337" x2="86783" y2="58467"/>
                        <a14:foregroundMark x1="74813" y1="73975" x2="85287" y2="83779"/>
                        <a14:foregroundMark x1="77057" y1="71123" x2="93267" y2="91800"/>
                        <a14:foregroundMark x1="91022" y1="91444" x2="78803" y2="77184"/>
                        <a14:foregroundMark x1="78803" y1="77184" x2="77057" y2="700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7248" y="959132"/>
            <a:ext cx="1942469" cy="271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96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AB60D-9DB1-8AD4-24B9-E3C1FA81B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6E46B83-5BA9-4B4C-E118-874016A90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9E624C4-7463-954A-94B2-88929AA666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8641978"/>
              </p:ext>
            </p:extLst>
          </p:nvPr>
        </p:nvGraphicFramePr>
        <p:xfrm>
          <a:off x="2217420" y="70897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Imagen 8">
            <a:extLst>
              <a:ext uri="{FF2B5EF4-FFF2-40B4-BE49-F238E27FC236}">
                <a16:creationId xmlns:a16="http://schemas.microsoft.com/office/drawing/2014/main" id="{B0935F67-8368-98DF-7166-843F67B62F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DB17440-D406-3DEE-108B-7D9F225BFF7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26CF630-384A-3771-8B15-7B68724F8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7420" y="2034540"/>
            <a:ext cx="8229600" cy="4525963"/>
          </a:xfrm>
        </p:spPr>
        <p:txBody>
          <a:bodyPr/>
          <a:lstStyle/>
          <a:p>
            <a:pPr marL="0" indent="0" algn="ctr">
              <a:buNone/>
            </a:pPr>
            <a:r>
              <a:rPr dirty="0" err="1"/>
              <a:t>Responsable</a:t>
            </a:r>
            <a:r>
              <a:rPr lang="es-MX" dirty="0"/>
              <a:t>: </a:t>
            </a:r>
            <a:r>
              <a:rPr lang="es-CO" dirty="0" err="1">
                <a:solidFill>
                  <a:schemeClr val="tx1"/>
                </a:solidFill>
              </a:rPr>
              <a:t>Belen</a:t>
            </a:r>
            <a:r>
              <a:rPr lang="es-CO" dirty="0">
                <a:solidFill>
                  <a:schemeClr val="tx1"/>
                </a:solidFill>
              </a:rPr>
              <a:t> </a:t>
            </a:r>
            <a:r>
              <a:rPr lang="es-CO" dirty="0" err="1">
                <a:solidFill>
                  <a:schemeClr val="tx1"/>
                </a:solidFill>
              </a:rPr>
              <a:t>Esneda</a:t>
            </a:r>
            <a:r>
              <a:rPr lang="es-CO" dirty="0">
                <a:solidFill>
                  <a:schemeClr val="tx1"/>
                </a:solidFill>
              </a:rPr>
              <a:t> Moreno Chala</a:t>
            </a:r>
            <a:endParaRPr lang="es-CO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dirty="0"/>
              <a:t>Correo: </a:t>
            </a:r>
            <a:r>
              <a:rPr lang="es-CO" dirty="0"/>
              <a:t>belen.moreno@normalpitalito.edu.co</a:t>
            </a:r>
            <a:endParaRPr lang="es-MX" dirty="0"/>
          </a:p>
          <a:p>
            <a:pPr marL="0" indent="0" algn="ctr">
              <a:buNone/>
            </a:pPr>
            <a:r>
              <a:rPr dirty="0" err="1"/>
              <a:t>Teléfono</a:t>
            </a:r>
            <a:r>
              <a:rPr lang="es-MX" dirty="0"/>
              <a:t>: 3173289853</a:t>
            </a:r>
            <a:endParaRPr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92BFADA-6D22-9640-EBBB-1001D013CCA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58038" y="4526260"/>
            <a:ext cx="1625049" cy="160563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DA24608-D1CD-65B1-4E51-10B3B6F0832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3565" b="91800" l="9726" r="93267">
                        <a14:foregroundMark x1="36658" y1="26916" x2="43142" y2="36007"/>
                        <a14:foregroundMark x1="30673" y1="18182" x2="32668" y2="25134"/>
                        <a14:foregroundMark x1="22195" y1="13012" x2="19202" y2="3743"/>
                        <a14:foregroundMark x1="51122" y1="22995" x2="47631" y2="14973"/>
                        <a14:foregroundMark x1="75561" y1="51337" x2="86783" y2="58467"/>
                        <a14:foregroundMark x1="74813" y1="73975" x2="85287" y2="83779"/>
                        <a14:foregroundMark x1="77057" y1="71123" x2="93267" y2="91800"/>
                        <a14:foregroundMark x1="91022" y1="91444" x2="78803" y2="77184"/>
                        <a14:foregroundMark x1="78803" y1="77184" x2="77057" y2="700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7248" y="959132"/>
            <a:ext cx="1942469" cy="271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4842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943</Words>
  <Application>Microsoft Office PowerPoint</Application>
  <PresentationFormat>Panorámica</PresentationFormat>
  <Paragraphs>61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Tema de Office</vt:lpstr>
      <vt:lpstr>Experiencia Significativa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Santamaria</dc:creator>
  <cp:lastModifiedBy>CALIDAD-MEJORAMIENTO</cp:lastModifiedBy>
  <cp:revision>18</cp:revision>
  <dcterms:created xsi:type="dcterms:W3CDTF">2025-07-23T15:35:07Z</dcterms:created>
  <dcterms:modified xsi:type="dcterms:W3CDTF">2026-06-16T17:21:24Z</dcterms:modified>
</cp:coreProperties>
</file>