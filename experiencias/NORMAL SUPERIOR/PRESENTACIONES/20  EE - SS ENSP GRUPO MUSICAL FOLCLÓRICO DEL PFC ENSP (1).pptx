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600" b="1" kern="1200" dirty="0"/>
            <a:t>EMPODERAMIENTO</a:t>
          </a:r>
        </a:p>
      </dsp:txBody>
      <dsp:txXfrm>
        <a:off x="55173" y="61563"/>
        <a:ext cx="8119254" cy="10198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18675"/>
          <a:ext cx="8229600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500" b="1" kern="1200" dirty="0"/>
            <a:t>EVALUACIÓN Y SEGUIMIENTO</a:t>
          </a:r>
        </a:p>
      </dsp:txBody>
      <dsp:txXfrm>
        <a:off x="53973" y="72648"/>
        <a:ext cx="8121654" cy="9977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600" b="1" kern="1200" dirty="0"/>
            <a:t>RESULTADOS</a:t>
          </a:r>
        </a:p>
      </dsp:txBody>
      <dsp:txXfrm>
        <a:off x="55173" y="61563"/>
        <a:ext cx="8119254" cy="10198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600" b="1" kern="1200" dirty="0"/>
            <a:t>TRANSFERENCIAS</a:t>
          </a:r>
        </a:p>
      </dsp:txBody>
      <dsp:txXfrm>
        <a:off x="55173" y="61563"/>
        <a:ext cx="8119254" cy="10198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600" b="1" kern="1200" dirty="0"/>
            <a:t>SOSTENIBILIDAD</a:t>
          </a:r>
        </a:p>
      </dsp:txBody>
      <dsp:txXfrm>
        <a:off x="55173" y="55173"/>
        <a:ext cx="8119254" cy="10198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600" b="1" kern="1200" dirty="0"/>
            <a:t>INNOVACIÓN</a:t>
          </a:r>
        </a:p>
      </dsp:txBody>
      <dsp:txXfrm>
        <a:off x="55173" y="61563"/>
        <a:ext cx="8119254" cy="101987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600" b="1" kern="1200" dirty="0"/>
            <a:t>CRÉDITOS Y CONTACTO</a:t>
          </a:r>
        </a:p>
      </dsp:txBody>
      <dsp:txXfrm>
        <a:off x="55173" y="61563"/>
        <a:ext cx="8119254" cy="1019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jpeg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5.jpe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9.jpe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1.pn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ricardo.meneses@normalpitalito.edu.co" TargetMode="Externa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microsoft.com/office/2007/relationships/hdphoto" Target="../media/hdphoto1.wdp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1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2697480" y="3058318"/>
            <a:ext cx="7559040" cy="2133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>
                <a:solidFill>
                  <a:schemeClr val="tx1"/>
                </a:solidFill>
              </a:rPr>
              <a:t>Grupo Musical Folclórico del Programa de Formación Complementaria – ENSP</a:t>
            </a:r>
          </a:p>
          <a:p>
            <a:endParaRPr lang="es-CO" dirty="0">
              <a:solidFill>
                <a:schemeClr val="tx1"/>
              </a:solidFill>
            </a:endParaRPr>
          </a:p>
          <a:p>
            <a:r>
              <a:rPr lang="es-CO" dirty="0"/>
              <a:t>RICARDO ALFONSO MENESES DELGADO</a:t>
            </a:r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3339" y="2315922"/>
            <a:ext cx="60960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200" dirty="0"/>
              <a:t>La música folclórica constituye patrimonio cultural de los pueblos, reflejando su historia y tradiciones. Este proyecto se sustenta en la misión institucional de fortalecer la identidad cultural y el compromiso social de los futuros docentes, integrando arte, pedagogía y comunidad. El grupo fomenta el trabajo colaborativo, la apropiación cultural y el sentido de pertenencia, contribuyendo a la formación integral y a la proyección institucional.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AB48C24-DF52-A553-AD28-E0850EC3FDC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48" y="2951692"/>
            <a:ext cx="5324947" cy="240612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2190750"/>
            <a:ext cx="6324600" cy="374515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dirty="0">
                <a:latin typeface="+mj-lt"/>
              </a:rPr>
              <a:t>La experiencia responde a la necesidad de fortalecer la identidad cultural de los docentes en formación, generar espacios de valoración del patrimonio musical y articular la educación artística con el desarrollo pedagógico. </a:t>
            </a:r>
          </a:p>
          <a:p>
            <a:pPr marL="0" indent="0">
              <a:buNone/>
            </a:pPr>
            <a:r>
              <a:rPr lang="es-MX" dirty="0">
                <a:latin typeface="+mj-lt"/>
              </a:rPr>
              <a:t>Además, se alinea con políticas públicas de educación cultural, artística e inclusiva que promueven la formación integral y la construcción de ciudadanía desde el arte.</a:t>
            </a:r>
            <a:endParaRPr dirty="0">
              <a:latin typeface="+mj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A549ED7-2365-9BC0-1B69-9EA5C44F87E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2" r="21342"/>
          <a:stretch>
            <a:fillRect/>
          </a:stretch>
        </p:blipFill>
        <p:spPr bwMode="auto">
          <a:xfrm>
            <a:off x="7360920" y="2400535"/>
            <a:ext cx="4583430" cy="32393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5212080" y="2506980"/>
            <a:ext cx="6755215" cy="3741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/>
              <a:t>Existe coherencia entre los objetivos planteados (fortalecer la identidad cultural, sensibilizar sobre el folclor musical, promover la participación y desarrollar competencias), las acciones implementadas (convocatoria, ensayos, repertorio folclórico, presentaciones, festivales) y los resultados alcanzados (conformación del grupo, proyección cultural, participación en eventos).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E655FF2-4AB8-F73A-A03F-0BF3872C38D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94" r="42573" b="11005"/>
          <a:stretch>
            <a:fillRect/>
          </a:stretch>
        </p:blipFill>
        <p:spPr bwMode="auto">
          <a:xfrm>
            <a:off x="224705" y="2330134"/>
            <a:ext cx="4868950" cy="32238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988820"/>
            <a:ext cx="5166361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El proceso evidencia un avance progresivo en su organización y actualización.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Ha sido evaluado por pares académicos y cuenta con una articulación clara con el Proyecto Educativo Institucional (PEI), lo cual fortalece su legitimidad.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experiencia ha mejorado en su planeación y se proyecta hacia nuevos escenarios de participación cultural.</a:t>
            </a:r>
            <a:endParaRPr dirty="0">
              <a:latin typeface="+mj-l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5196909-B4F2-6789-284B-4B639A1468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960" y="2819832"/>
            <a:ext cx="5471627" cy="24633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119" y="1988820"/>
            <a:ext cx="7197175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La experiencia involucra activamente a docentes en formación, estudiantes, familias, directivos y comunidad.</a:t>
            </a:r>
          </a:p>
          <a:p>
            <a:pPr marL="0" indent="0">
              <a:buNone/>
            </a:pPr>
            <a:r>
              <a:rPr lang="es-MX" dirty="0"/>
              <a:t> La participación se da en ensayos, actividades de sensibilización, presentaciones artísticas y festivales. </a:t>
            </a:r>
          </a:p>
          <a:p>
            <a:pPr marL="0" indent="0">
              <a:buNone/>
            </a:pPr>
            <a:r>
              <a:rPr lang="es-MX" dirty="0"/>
              <a:t>El compromiso colectivo fortalece el sentido de pertenencia y asegura la continuidad del grupo musical como proyecto formativo y cultural.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2EAEAEC-16ED-D46C-97C1-1818E26FB2F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" r="30241"/>
          <a:stretch>
            <a:fillRect/>
          </a:stretch>
        </p:blipFill>
        <p:spPr bwMode="auto">
          <a:xfrm>
            <a:off x="222031" y="2427688"/>
            <a:ext cx="4326057" cy="2834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FA86FC44-46BF-AE3E-E366-1D1CE7491D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2199" y="2364591"/>
            <a:ext cx="656446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Monitoreo de asistencia y compromiso en los ensayos.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Evaluación de presentaciones por parte de comunidad y directivos.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Retroalimentación continua a los participantes.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Análisis cualitativo de competencias musicales, pedagógicas y de identidad cultural fortalecida.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9C16BB-5E2C-B344-EAC3-313488E65D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94"/>
          <a:stretch>
            <a:fillRect/>
          </a:stretch>
        </p:blipFill>
        <p:spPr bwMode="auto">
          <a:xfrm>
            <a:off x="8012953" y="2328862"/>
            <a:ext cx="3048450" cy="38010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7415" y="1964849"/>
            <a:ext cx="665988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b="0" i="0" dirty="0">
                <a:effectLst/>
                <a:latin typeface="fkGroteskNeue"/>
              </a:rPr>
              <a:t>Conformación del Grupo Musical Folclórico del PFC.</a:t>
            </a:r>
          </a:p>
          <a:p>
            <a:pPr marL="514350" indent="-514350">
              <a:buFont typeface="+mj-lt"/>
              <a:buAutoNum type="arabicPeriod"/>
            </a:pPr>
            <a:r>
              <a:rPr lang="es-MX" b="0" i="0" dirty="0">
                <a:effectLst/>
                <a:latin typeface="fkGroteskNeue"/>
              </a:rPr>
              <a:t>Participación activa de docentes en formación en procesos musicales.</a:t>
            </a:r>
          </a:p>
          <a:p>
            <a:pPr marL="514350" indent="-514350">
              <a:buFont typeface="+mj-lt"/>
              <a:buAutoNum type="arabicPeriod"/>
            </a:pPr>
            <a:r>
              <a:rPr lang="es-MX" b="0" i="0" dirty="0">
                <a:effectLst/>
                <a:latin typeface="fkGroteskNeue"/>
              </a:rPr>
              <a:t>Fortalecimiento del sentido de pertenencia e identidad cultural.</a:t>
            </a:r>
          </a:p>
          <a:p>
            <a:pPr marL="514350" indent="-514350">
              <a:buFont typeface="+mj-lt"/>
              <a:buAutoNum type="arabicPeriod"/>
            </a:pPr>
            <a:r>
              <a:rPr lang="es-MX" b="0" i="0" dirty="0">
                <a:effectLst/>
                <a:latin typeface="fkGroteskNeue"/>
              </a:rPr>
              <a:t>Proyección cultural de la institución a nivel municipal y regional.</a:t>
            </a:r>
          </a:p>
          <a:p>
            <a:pPr marL="514350" indent="-514350">
              <a:buFont typeface="+mj-lt"/>
              <a:buAutoNum type="arabicPeriod"/>
            </a:pPr>
            <a:r>
              <a:rPr lang="es-MX" b="0" i="0" dirty="0">
                <a:effectLst/>
                <a:latin typeface="fkGroteskNeue"/>
              </a:rPr>
              <a:t>Intercambio cultural con otras instituciones educativas.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D1628E7-F5AC-CBE0-B70A-DDEE6DA7728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9" r="22263"/>
          <a:stretch>
            <a:fillRect/>
          </a:stretch>
        </p:blipFill>
        <p:spPr bwMode="auto">
          <a:xfrm>
            <a:off x="455588" y="2136776"/>
            <a:ext cx="4851826" cy="34159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753" y="2174876"/>
            <a:ext cx="5372167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es replicable mediante la socialización, la documentación sistemática y la metodología participativa de ensayos, repertorios y presentaciones. Puede implementarse en:</a:t>
            </a:r>
          </a:p>
          <a:p>
            <a:r>
              <a:rPr lang="es-MX" b="0" i="0" dirty="0">
                <a:effectLst/>
                <a:latin typeface="fkGroteskNeue"/>
              </a:rPr>
              <a:t>Programas de formación docente. Instituciones educativas de diferentes niveles.</a:t>
            </a:r>
          </a:p>
          <a:p>
            <a:r>
              <a:rPr lang="es-MX" b="0" i="0" dirty="0">
                <a:effectLst/>
                <a:latin typeface="fkGroteskNeue"/>
              </a:rPr>
              <a:t>Universidades con licenciaturas afines.</a:t>
            </a:r>
          </a:p>
          <a:p>
            <a:r>
              <a:rPr lang="es-MX" b="0" i="0" dirty="0">
                <a:effectLst/>
                <a:latin typeface="fkGroteskNeue"/>
              </a:rPr>
              <a:t>Espacios comunitarios, culturales y festivales.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Otros actores que pueden involucrarse: familias, gestores culturales, entidades gubernamentales y organizaciones sociales.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AB4AF41-23B2-C12A-47EE-1865611E86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71" t="13112" r="-1"/>
          <a:stretch>
            <a:fillRect/>
          </a:stretch>
        </p:blipFill>
        <p:spPr bwMode="auto">
          <a:xfrm>
            <a:off x="6564778" y="2166939"/>
            <a:ext cx="4936659" cy="39030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9583" y="2174876"/>
            <a:ext cx="4800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Se garantiza con:</a:t>
            </a:r>
          </a:p>
          <a:p>
            <a:r>
              <a:rPr lang="es-MX" dirty="0">
                <a:latin typeface="fkGroteskNeue"/>
              </a:rPr>
              <a:t>Compromiso de estudiantes y docentes del PFC.</a:t>
            </a:r>
          </a:p>
          <a:p>
            <a:r>
              <a:rPr lang="es-MX" dirty="0">
                <a:latin typeface="fkGroteskNeue"/>
              </a:rPr>
              <a:t>Institucionalización del grupo en el PEI.</a:t>
            </a:r>
          </a:p>
          <a:p>
            <a:r>
              <a:rPr lang="es-MX" dirty="0">
                <a:latin typeface="fkGroteskNeue"/>
              </a:rPr>
              <a:t>Respaldo de la comunidad educativa.</a:t>
            </a:r>
          </a:p>
          <a:p>
            <a:r>
              <a:rPr lang="es-MX" dirty="0">
                <a:latin typeface="fkGroteskNeue"/>
              </a:rPr>
              <a:t>Gestión de recursos e instrumentos musicales.</a:t>
            </a:r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1279074-0F02-9CE7-82EA-B4B667CBACF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36030" b="15907"/>
          <a:stretch/>
        </p:blipFill>
        <p:spPr>
          <a:xfrm>
            <a:off x="1146894" y="2310580"/>
            <a:ext cx="5792689" cy="407834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614" y="2086769"/>
            <a:ext cx="554736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La experiencia incorpora el folclor musical como estrategia pedagógica y cultural, integrando arte y formación docente. 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La innovación radica en proyectar la música como recurso educativo para la identidad cultural, el liderazgo pedagógico y la cohesión comunitaria, alineándose con políticas de educación culturalmente relevante.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8A88224-5496-7DE8-1D52-9AEC88CE5C0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3" t="13544"/>
          <a:stretch>
            <a:fillRect/>
          </a:stretch>
        </p:blipFill>
        <p:spPr bwMode="auto">
          <a:xfrm>
            <a:off x="6820124" y="2698115"/>
            <a:ext cx="5039518" cy="26344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780" y="2034540"/>
            <a:ext cx="9281160" cy="4525963"/>
          </a:xfrm>
        </p:spPr>
        <p:txBody>
          <a:bodyPr/>
          <a:lstStyle/>
          <a:p>
            <a:pPr marL="0" indent="0" algn="ctr">
              <a:buNone/>
            </a:pPr>
            <a:r>
              <a:rPr dirty="0" err="1"/>
              <a:t>Responsable</a:t>
            </a:r>
            <a:r>
              <a:rPr lang="es-MX" dirty="0"/>
              <a:t> </a:t>
            </a:r>
            <a:r>
              <a:rPr lang="es-CO" dirty="0"/>
              <a:t>Ricardo Alfonso Meneses Delgado</a:t>
            </a:r>
          </a:p>
          <a:p>
            <a:pPr marL="0" indent="0" algn="ctr">
              <a:buNone/>
            </a:pPr>
            <a:r>
              <a:rPr dirty="0"/>
              <a:t>Correo(s):</a:t>
            </a:r>
            <a:r>
              <a:rPr lang="es-MX" dirty="0"/>
              <a:t> </a:t>
            </a:r>
            <a:r>
              <a:rPr lang="es-MX" dirty="0">
                <a:solidFill>
                  <a:srgbClr val="467886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</a:t>
            </a:r>
            <a:r>
              <a:rPr lang="es-CO" dirty="0">
                <a:solidFill>
                  <a:srgbClr val="00B0F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icardo.meneses@normalpitalito.edu.co</a:t>
            </a:r>
            <a:endParaRPr lang="es-CO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dirty="0" err="1"/>
              <a:t>Teléfono</a:t>
            </a:r>
            <a:r>
              <a:rPr dirty="0"/>
              <a:t> </a:t>
            </a:r>
            <a:r>
              <a:rPr lang="es-CO" dirty="0"/>
              <a:t>3146792680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584</Words>
  <Application>Microsoft Office PowerPoint</Application>
  <PresentationFormat>Panorámica</PresentationFormat>
  <Paragraphs>51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23</cp:revision>
  <dcterms:created xsi:type="dcterms:W3CDTF">2025-07-23T15:35:07Z</dcterms:created>
  <dcterms:modified xsi:type="dcterms:W3CDTF">2026-06-16T21:17:30Z</dcterms:modified>
</cp:coreProperties>
</file>