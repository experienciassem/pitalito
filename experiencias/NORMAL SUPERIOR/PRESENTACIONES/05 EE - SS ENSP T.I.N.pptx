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6" r:id="rId4"/>
    <p:sldId id="258" r:id="rId5"/>
    <p:sldId id="259" r:id="rId6"/>
    <p:sldId id="260" r:id="rId7"/>
    <p:sldId id="261" r:id="rId8"/>
    <p:sldId id="262" r:id="rId9"/>
    <p:sldId id="267" r:id="rId10"/>
    <p:sldId id="263" r:id="rId11"/>
    <p:sldId id="264" r:id="rId12"/>
    <p:sldId id="268" r:id="rId1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282" autoAdjust="0"/>
  </p:normalViewPr>
  <p:slideViewPr>
    <p:cSldViewPr snapToGrid="0">
      <p:cViewPr varScale="1">
        <p:scale>
          <a:sx n="100" d="100"/>
          <a:sy n="100" d="100"/>
        </p:scale>
        <p:origin x="9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BA035F-8179-4596-A958-AD0CD095CC0B}" type="doc">
      <dgm:prSet loTypeId="urn:microsoft.com/office/officeart/2005/8/layout/vList2" loCatId="list" qsTypeId="urn:microsoft.com/office/officeart/2005/8/quickstyle/3d3" qsCatId="3D" csTypeId="urn:microsoft.com/office/officeart/2005/8/colors/accent3_2" csCatId="accent3" phldr="1"/>
      <dgm:spPr/>
      <dgm:t>
        <a:bodyPr/>
        <a:lstStyle/>
        <a:p>
          <a:endParaRPr lang="es-CO"/>
        </a:p>
      </dgm:t>
    </dgm:pt>
    <dgm:pt modelId="{C7F6DF07-D7DA-496D-A476-04279650EC10}">
      <dgm:prSet/>
      <dgm:spPr/>
      <dgm:t>
        <a:bodyPr/>
        <a:lstStyle/>
        <a:p>
          <a:pPr algn="ctr"/>
          <a:r>
            <a:rPr lang="es-CO" b="1" dirty="0"/>
            <a:t>FUNDAMENTACIÓN</a:t>
          </a:r>
        </a:p>
      </dgm:t>
    </dgm:pt>
    <dgm:pt modelId="{0ECAD35C-55AC-49B2-9831-6C0AD50D8838}" type="parTrans" cxnId="{B1B0198F-FEFE-40D2-AC81-6D2B8747BEBE}">
      <dgm:prSet/>
      <dgm:spPr/>
      <dgm:t>
        <a:bodyPr/>
        <a:lstStyle/>
        <a:p>
          <a:endParaRPr lang="es-CO"/>
        </a:p>
      </dgm:t>
    </dgm:pt>
    <dgm:pt modelId="{907A49F8-9E5F-4930-B223-E1F5A4A21D99}" type="sibTrans" cxnId="{B1B0198F-FEFE-40D2-AC81-6D2B8747BEBE}">
      <dgm:prSet/>
      <dgm:spPr/>
      <dgm:t>
        <a:bodyPr/>
        <a:lstStyle/>
        <a:p>
          <a:endParaRPr lang="es-CO"/>
        </a:p>
      </dgm:t>
    </dgm:pt>
    <dgm:pt modelId="{9C3235FC-F9ED-4543-A39E-F3FF0E30798A}" type="pres">
      <dgm:prSet presAssocID="{95BA035F-8179-4596-A958-AD0CD095CC0B}" presName="linear" presStyleCnt="0">
        <dgm:presLayoutVars>
          <dgm:animLvl val="lvl"/>
          <dgm:resizeHandles val="exact"/>
        </dgm:presLayoutVars>
      </dgm:prSet>
      <dgm:spPr/>
      <dgm:t>
        <a:bodyPr/>
        <a:lstStyle/>
        <a:p>
          <a:endParaRPr lang="es-ES"/>
        </a:p>
      </dgm:t>
    </dgm:pt>
    <dgm:pt modelId="{C8CF2D84-CB5C-4870-BE17-F34AE6398BA6}" type="pres">
      <dgm:prSet presAssocID="{C7F6DF07-D7DA-496D-A476-04279650EC10}" presName="parentText" presStyleLbl="node1" presStyleIdx="0" presStyleCnt="1">
        <dgm:presLayoutVars>
          <dgm:chMax val="0"/>
          <dgm:bulletEnabled val="1"/>
        </dgm:presLayoutVars>
      </dgm:prSet>
      <dgm:spPr/>
      <dgm:t>
        <a:bodyPr/>
        <a:lstStyle/>
        <a:p>
          <a:endParaRPr lang="es-ES"/>
        </a:p>
      </dgm:t>
    </dgm:pt>
  </dgm:ptLst>
  <dgm:cxnLst>
    <dgm:cxn modelId="{B1B0198F-FEFE-40D2-AC81-6D2B8747BEBE}" srcId="{95BA035F-8179-4596-A958-AD0CD095CC0B}" destId="{C7F6DF07-D7DA-496D-A476-04279650EC10}" srcOrd="0" destOrd="0" parTransId="{0ECAD35C-55AC-49B2-9831-6C0AD50D8838}" sibTransId="{907A49F8-9E5F-4930-B223-E1F5A4A21D99}"/>
    <dgm:cxn modelId="{67650EA7-892A-45BA-88EF-B08FB87FEEB2}" type="presOf" srcId="{95BA035F-8179-4596-A958-AD0CD095CC0B}" destId="{9C3235FC-F9ED-4543-A39E-F3FF0E30798A}" srcOrd="0" destOrd="0" presId="urn:microsoft.com/office/officeart/2005/8/layout/vList2"/>
    <dgm:cxn modelId="{9C0516A3-0F2A-4CE4-A9A9-2E81B03FE9C7}" type="presOf" srcId="{C7F6DF07-D7DA-496D-A476-04279650EC10}" destId="{C8CF2D84-CB5C-4870-BE17-F34AE6398BA6}" srcOrd="0" destOrd="0" presId="urn:microsoft.com/office/officeart/2005/8/layout/vList2"/>
    <dgm:cxn modelId="{3F0A0657-F7A1-4735-A7E6-DE57DDE0A8FD}" type="presParOf" srcId="{9C3235FC-F9ED-4543-A39E-F3FF0E30798A}" destId="{C8CF2D84-CB5C-4870-BE17-F34AE6398BA6}"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76C8184-9B6A-4D7E-AE6D-6DD92843F1DC}" type="doc">
      <dgm:prSet loTypeId="urn:microsoft.com/office/officeart/2005/8/layout/vList2" loCatId="list" qsTypeId="urn:microsoft.com/office/officeart/2005/8/quickstyle/3d3" qsCatId="3D" csTypeId="urn:microsoft.com/office/officeart/2005/8/colors/accent2_2" csCatId="accent2" phldr="1"/>
      <dgm:spPr/>
      <dgm:t>
        <a:bodyPr/>
        <a:lstStyle/>
        <a:p>
          <a:endParaRPr lang="es-CO"/>
        </a:p>
      </dgm:t>
    </dgm:pt>
    <dgm:pt modelId="{D763F825-BCA9-42C1-A01E-CD07126038A9}">
      <dgm:prSet/>
      <dgm:spPr/>
      <dgm:t>
        <a:bodyPr/>
        <a:lstStyle/>
        <a:p>
          <a:pPr algn="ctr"/>
          <a:r>
            <a:rPr lang="es-CO" b="1" dirty="0"/>
            <a:t>PERTINENCIA</a:t>
          </a:r>
        </a:p>
      </dgm:t>
    </dgm:pt>
    <dgm:pt modelId="{4D348EE0-A11C-41C9-9CDB-B3C59950A90F}" type="parTrans" cxnId="{1C13F7B1-B293-46F0-8D39-63437B91D6B1}">
      <dgm:prSet/>
      <dgm:spPr/>
      <dgm:t>
        <a:bodyPr/>
        <a:lstStyle/>
        <a:p>
          <a:endParaRPr lang="es-CO"/>
        </a:p>
      </dgm:t>
    </dgm:pt>
    <dgm:pt modelId="{89C347BD-6F1D-438E-A1D0-A8671AD78AC9}" type="sibTrans" cxnId="{1C13F7B1-B293-46F0-8D39-63437B91D6B1}">
      <dgm:prSet/>
      <dgm:spPr/>
      <dgm:t>
        <a:bodyPr/>
        <a:lstStyle/>
        <a:p>
          <a:endParaRPr lang="es-CO"/>
        </a:p>
      </dgm:t>
    </dgm:pt>
    <dgm:pt modelId="{90BA5739-2A23-42E9-8157-853E0509D165}" type="pres">
      <dgm:prSet presAssocID="{376C8184-9B6A-4D7E-AE6D-6DD92843F1DC}" presName="linear" presStyleCnt="0">
        <dgm:presLayoutVars>
          <dgm:animLvl val="lvl"/>
          <dgm:resizeHandles val="exact"/>
        </dgm:presLayoutVars>
      </dgm:prSet>
      <dgm:spPr/>
      <dgm:t>
        <a:bodyPr/>
        <a:lstStyle/>
        <a:p>
          <a:endParaRPr lang="es-ES"/>
        </a:p>
      </dgm:t>
    </dgm:pt>
    <dgm:pt modelId="{DEF29C7E-E073-4C24-BFC4-FE36920507FF}" type="pres">
      <dgm:prSet presAssocID="{D763F825-BCA9-42C1-A01E-CD07126038A9}" presName="parentText" presStyleLbl="node1" presStyleIdx="0" presStyleCnt="1">
        <dgm:presLayoutVars>
          <dgm:chMax val="0"/>
          <dgm:bulletEnabled val="1"/>
        </dgm:presLayoutVars>
      </dgm:prSet>
      <dgm:spPr/>
      <dgm:t>
        <a:bodyPr/>
        <a:lstStyle/>
        <a:p>
          <a:endParaRPr lang="es-ES"/>
        </a:p>
      </dgm:t>
    </dgm:pt>
  </dgm:ptLst>
  <dgm:cxnLst>
    <dgm:cxn modelId="{D7F30D7B-F389-4115-A5A9-CD630504A619}" type="presOf" srcId="{376C8184-9B6A-4D7E-AE6D-6DD92843F1DC}" destId="{90BA5739-2A23-42E9-8157-853E0509D165}" srcOrd="0" destOrd="0" presId="urn:microsoft.com/office/officeart/2005/8/layout/vList2"/>
    <dgm:cxn modelId="{198B1697-9C27-4CA9-ADFF-97E31701E105}" type="presOf" srcId="{D763F825-BCA9-42C1-A01E-CD07126038A9}" destId="{DEF29C7E-E073-4C24-BFC4-FE36920507FF}" srcOrd="0" destOrd="0" presId="urn:microsoft.com/office/officeart/2005/8/layout/vList2"/>
    <dgm:cxn modelId="{1C13F7B1-B293-46F0-8D39-63437B91D6B1}" srcId="{376C8184-9B6A-4D7E-AE6D-6DD92843F1DC}" destId="{D763F825-BCA9-42C1-A01E-CD07126038A9}" srcOrd="0" destOrd="0" parTransId="{4D348EE0-A11C-41C9-9CDB-B3C59950A90F}" sibTransId="{89C347BD-6F1D-438E-A1D0-A8671AD78AC9}"/>
    <dgm:cxn modelId="{28DF575F-C6CE-4D87-BBD4-DFFE26966AF6}" type="presParOf" srcId="{90BA5739-2A23-42E9-8157-853E0509D165}" destId="{DEF29C7E-E073-4C24-BFC4-FE36920507FF}"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BA035F-8179-4596-A958-AD0CD095CC0B}" type="doc">
      <dgm:prSet loTypeId="urn:microsoft.com/office/officeart/2005/8/layout/vList2" loCatId="list" qsTypeId="urn:microsoft.com/office/officeart/2005/8/quickstyle/3d3" qsCatId="3D" csTypeId="urn:microsoft.com/office/officeart/2005/8/colors/accent3_2" csCatId="accent3" phldr="1"/>
      <dgm:spPr/>
      <dgm:t>
        <a:bodyPr/>
        <a:lstStyle/>
        <a:p>
          <a:endParaRPr lang="es-CO"/>
        </a:p>
      </dgm:t>
    </dgm:pt>
    <dgm:pt modelId="{C7F6DF07-D7DA-496D-A476-04279650EC10}">
      <dgm:prSet/>
      <dgm:spPr/>
      <dgm:t>
        <a:bodyPr/>
        <a:lstStyle/>
        <a:p>
          <a:pPr algn="ctr"/>
          <a:r>
            <a:rPr lang="es-MX" b="1" dirty="0"/>
            <a:t>CONSISTENCIA</a:t>
          </a:r>
          <a:endParaRPr lang="es-CO" b="1" dirty="0"/>
        </a:p>
      </dgm:t>
    </dgm:pt>
    <dgm:pt modelId="{0ECAD35C-55AC-49B2-9831-6C0AD50D8838}" type="parTrans" cxnId="{B1B0198F-FEFE-40D2-AC81-6D2B8747BEBE}">
      <dgm:prSet/>
      <dgm:spPr/>
      <dgm:t>
        <a:bodyPr/>
        <a:lstStyle/>
        <a:p>
          <a:endParaRPr lang="es-CO"/>
        </a:p>
      </dgm:t>
    </dgm:pt>
    <dgm:pt modelId="{907A49F8-9E5F-4930-B223-E1F5A4A21D99}" type="sibTrans" cxnId="{B1B0198F-FEFE-40D2-AC81-6D2B8747BEBE}">
      <dgm:prSet/>
      <dgm:spPr/>
      <dgm:t>
        <a:bodyPr/>
        <a:lstStyle/>
        <a:p>
          <a:endParaRPr lang="es-CO"/>
        </a:p>
      </dgm:t>
    </dgm:pt>
    <dgm:pt modelId="{9C3235FC-F9ED-4543-A39E-F3FF0E30798A}" type="pres">
      <dgm:prSet presAssocID="{95BA035F-8179-4596-A958-AD0CD095CC0B}" presName="linear" presStyleCnt="0">
        <dgm:presLayoutVars>
          <dgm:animLvl val="lvl"/>
          <dgm:resizeHandles val="exact"/>
        </dgm:presLayoutVars>
      </dgm:prSet>
      <dgm:spPr/>
      <dgm:t>
        <a:bodyPr/>
        <a:lstStyle/>
        <a:p>
          <a:endParaRPr lang="es-ES"/>
        </a:p>
      </dgm:t>
    </dgm:pt>
    <dgm:pt modelId="{C8CF2D84-CB5C-4870-BE17-F34AE6398BA6}" type="pres">
      <dgm:prSet presAssocID="{C7F6DF07-D7DA-496D-A476-04279650EC10}" presName="parentText" presStyleLbl="node1" presStyleIdx="0" presStyleCnt="1">
        <dgm:presLayoutVars>
          <dgm:chMax val="0"/>
          <dgm:bulletEnabled val="1"/>
        </dgm:presLayoutVars>
      </dgm:prSet>
      <dgm:spPr/>
      <dgm:t>
        <a:bodyPr/>
        <a:lstStyle/>
        <a:p>
          <a:endParaRPr lang="es-ES"/>
        </a:p>
      </dgm:t>
    </dgm:pt>
  </dgm:ptLst>
  <dgm:cxnLst>
    <dgm:cxn modelId="{B1B0198F-FEFE-40D2-AC81-6D2B8747BEBE}" srcId="{95BA035F-8179-4596-A958-AD0CD095CC0B}" destId="{C7F6DF07-D7DA-496D-A476-04279650EC10}" srcOrd="0" destOrd="0" parTransId="{0ECAD35C-55AC-49B2-9831-6C0AD50D8838}" sibTransId="{907A49F8-9E5F-4930-B223-E1F5A4A21D99}"/>
    <dgm:cxn modelId="{67650EA7-892A-45BA-88EF-B08FB87FEEB2}" type="presOf" srcId="{95BA035F-8179-4596-A958-AD0CD095CC0B}" destId="{9C3235FC-F9ED-4543-A39E-F3FF0E30798A}" srcOrd="0" destOrd="0" presId="urn:microsoft.com/office/officeart/2005/8/layout/vList2"/>
    <dgm:cxn modelId="{9C0516A3-0F2A-4CE4-A9A9-2E81B03FE9C7}" type="presOf" srcId="{C7F6DF07-D7DA-496D-A476-04279650EC10}" destId="{C8CF2D84-CB5C-4870-BE17-F34AE6398BA6}" srcOrd="0" destOrd="0" presId="urn:microsoft.com/office/officeart/2005/8/layout/vList2"/>
    <dgm:cxn modelId="{3F0A0657-F7A1-4735-A7E6-DE57DDE0A8FD}" type="presParOf" srcId="{9C3235FC-F9ED-4543-A39E-F3FF0E30798A}" destId="{C8CF2D84-CB5C-4870-BE17-F34AE6398BA6}"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376C8184-9B6A-4D7E-AE6D-6DD92843F1DC}" type="doc">
      <dgm:prSet loTypeId="urn:microsoft.com/office/officeart/2005/8/layout/vList2" loCatId="list" qsTypeId="urn:microsoft.com/office/officeart/2005/8/quickstyle/3d3" qsCatId="3D" csTypeId="urn:microsoft.com/office/officeart/2005/8/colors/accent2_2" csCatId="accent2" phldr="1"/>
      <dgm:spPr/>
      <dgm:t>
        <a:bodyPr/>
        <a:lstStyle/>
        <a:p>
          <a:endParaRPr lang="es-CO"/>
        </a:p>
      </dgm:t>
    </dgm:pt>
    <dgm:pt modelId="{D763F825-BCA9-42C1-A01E-CD07126038A9}">
      <dgm:prSet/>
      <dgm:spPr/>
      <dgm:t>
        <a:bodyPr/>
        <a:lstStyle/>
        <a:p>
          <a:pPr algn="ctr"/>
          <a:r>
            <a:rPr lang="es-CO" b="1" dirty="0"/>
            <a:t>MADUREZ</a:t>
          </a:r>
        </a:p>
      </dgm:t>
    </dgm:pt>
    <dgm:pt modelId="{4D348EE0-A11C-41C9-9CDB-B3C59950A90F}" type="parTrans" cxnId="{1C13F7B1-B293-46F0-8D39-63437B91D6B1}">
      <dgm:prSet/>
      <dgm:spPr/>
      <dgm:t>
        <a:bodyPr/>
        <a:lstStyle/>
        <a:p>
          <a:endParaRPr lang="es-CO"/>
        </a:p>
      </dgm:t>
    </dgm:pt>
    <dgm:pt modelId="{89C347BD-6F1D-438E-A1D0-A8671AD78AC9}" type="sibTrans" cxnId="{1C13F7B1-B293-46F0-8D39-63437B91D6B1}">
      <dgm:prSet/>
      <dgm:spPr/>
      <dgm:t>
        <a:bodyPr/>
        <a:lstStyle/>
        <a:p>
          <a:endParaRPr lang="es-CO"/>
        </a:p>
      </dgm:t>
    </dgm:pt>
    <dgm:pt modelId="{90BA5739-2A23-42E9-8157-853E0509D165}" type="pres">
      <dgm:prSet presAssocID="{376C8184-9B6A-4D7E-AE6D-6DD92843F1DC}" presName="linear" presStyleCnt="0">
        <dgm:presLayoutVars>
          <dgm:animLvl val="lvl"/>
          <dgm:resizeHandles val="exact"/>
        </dgm:presLayoutVars>
      </dgm:prSet>
      <dgm:spPr/>
      <dgm:t>
        <a:bodyPr/>
        <a:lstStyle/>
        <a:p>
          <a:endParaRPr lang="es-ES"/>
        </a:p>
      </dgm:t>
    </dgm:pt>
    <dgm:pt modelId="{DEF29C7E-E073-4C24-BFC4-FE36920507FF}" type="pres">
      <dgm:prSet presAssocID="{D763F825-BCA9-42C1-A01E-CD07126038A9}" presName="parentText" presStyleLbl="node1" presStyleIdx="0" presStyleCnt="1">
        <dgm:presLayoutVars>
          <dgm:chMax val="0"/>
          <dgm:bulletEnabled val="1"/>
        </dgm:presLayoutVars>
      </dgm:prSet>
      <dgm:spPr/>
      <dgm:t>
        <a:bodyPr/>
        <a:lstStyle/>
        <a:p>
          <a:endParaRPr lang="es-ES"/>
        </a:p>
      </dgm:t>
    </dgm:pt>
  </dgm:ptLst>
  <dgm:cxnLst>
    <dgm:cxn modelId="{D7F30D7B-F389-4115-A5A9-CD630504A619}" type="presOf" srcId="{376C8184-9B6A-4D7E-AE6D-6DD92843F1DC}" destId="{90BA5739-2A23-42E9-8157-853E0509D165}" srcOrd="0" destOrd="0" presId="urn:microsoft.com/office/officeart/2005/8/layout/vList2"/>
    <dgm:cxn modelId="{198B1697-9C27-4CA9-ADFF-97E31701E105}" type="presOf" srcId="{D763F825-BCA9-42C1-A01E-CD07126038A9}" destId="{DEF29C7E-E073-4C24-BFC4-FE36920507FF}" srcOrd="0" destOrd="0" presId="urn:microsoft.com/office/officeart/2005/8/layout/vList2"/>
    <dgm:cxn modelId="{1C13F7B1-B293-46F0-8D39-63437B91D6B1}" srcId="{376C8184-9B6A-4D7E-AE6D-6DD92843F1DC}" destId="{D763F825-BCA9-42C1-A01E-CD07126038A9}" srcOrd="0" destOrd="0" parTransId="{4D348EE0-A11C-41C9-9CDB-B3C59950A90F}" sibTransId="{89C347BD-6F1D-438E-A1D0-A8671AD78AC9}"/>
    <dgm:cxn modelId="{28DF575F-C6CE-4D87-BBD4-DFFE26966AF6}" type="presParOf" srcId="{90BA5739-2A23-42E9-8157-853E0509D165}" destId="{DEF29C7E-E073-4C24-BFC4-FE36920507FF}"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3A31B69-566F-4499-A255-C960BF21662E}" type="doc">
      <dgm:prSet loTypeId="urn:microsoft.com/office/officeart/2005/8/layout/vList2" loCatId="list" qsTypeId="urn:microsoft.com/office/officeart/2005/8/quickstyle/3d3" qsCatId="3D" csTypeId="urn:microsoft.com/office/officeart/2005/8/colors/accent3_3" csCatId="accent3" phldr="1"/>
      <dgm:spPr/>
      <dgm:t>
        <a:bodyPr/>
        <a:lstStyle/>
        <a:p>
          <a:endParaRPr lang="es-CO"/>
        </a:p>
      </dgm:t>
    </dgm:pt>
    <dgm:pt modelId="{7F922071-A59B-4287-9D0E-7DF877A3045C}">
      <dgm:prSet/>
      <dgm:spPr/>
      <dgm:t>
        <a:bodyPr/>
        <a:lstStyle/>
        <a:p>
          <a:pPr algn="ctr"/>
          <a:r>
            <a:rPr lang="es-CO" b="1" dirty="0"/>
            <a:t>EMPODERAMIENTO</a:t>
          </a:r>
        </a:p>
      </dgm:t>
    </dgm:pt>
    <dgm:pt modelId="{E9C193A8-A247-4C39-A3FE-B504305332DF}" type="parTrans" cxnId="{1DB7F010-2F4E-456D-B4C0-2FE7D9AE0F4F}">
      <dgm:prSet/>
      <dgm:spPr/>
      <dgm:t>
        <a:bodyPr/>
        <a:lstStyle/>
        <a:p>
          <a:endParaRPr lang="es-CO" b="1"/>
        </a:p>
      </dgm:t>
    </dgm:pt>
    <dgm:pt modelId="{9281B5D9-05E2-4982-B9B4-2700AAECF309}" type="sibTrans" cxnId="{1DB7F010-2F4E-456D-B4C0-2FE7D9AE0F4F}">
      <dgm:prSet/>
      <dgm:spPr/>
      <dgm:t>
        <a:bodyPr/>
        <a:lstStyle/>
        <a:p>
          <a:endParaRPr lang="es-CO" b="1"/>
        </a:p>
      </dgm:t>
    </dgm:pt>
    <dgm:pt modelId="{EE60C2F3-6D59-4EF4-99CC-E08E4187B5AD}" type="pres">
      <dgm:prSet presAssocID="{83A31B69-566F-4499-A255-C960BF21662E}" presName="linear" presStyleCnt="0">
        <dgm:presLayoutVars>
          <dgm:animLvl val="lvl"/>
          <dgm:resizeHandles val="exact"/>
        </dgm:presLayoutVars>
      </dgm:prSet>
      <dgm:spPr/>
      <dgm:t>
        <a:bodyPr/>
        <a:lstStyle/>
        <a:p>
          <a:endParaRPr lang="es-ES"/>
        </a:p>
      </dgm:t>
    </dgm:pt>
    <dgm:pt modelId="{31B678E1-2000-4FC0-838F-85DFB5B56F1D}" type="pres">
      <dgm:prSet presAssocID="{7F922071-A59B-4287-9D0E-7DF877A3045C}" presName="parentText" presStyleLbl="node1" presStyleIdx="0" presStyleCnt="1">
        <dgm:presLayoutVars>
          <dgm:chMax val="0"/>
          <dgm:bulletEnabled val="1"/>
        </dgm:presLayoutVars>
      </dgm:prSet>
      <dgm:spPr/>
      <dgm:t>
        <a:bodyPr/>
        <a:lstStyle/>
        <a:p>
          <a:endParaRPr lang="es-ES"/>
        </a:p>
      </dgm:t>
    </dgm:pt>
  </dgm:ptLst>
  <dgm:cxnLst>
    <dgm:cxn modelId="{FD4F9621-F8E9-4ECC-8981-5720E0F99AC2}" type="presOf" srcId="{83A31B69-566F-4499-A255-C960BF21662E}" destId="{EE60C2F3-6D59-4EF4-99CC-E08E4187B5AD}" srcOrd="0" destOrd="0" presId="urn:microsoft.com/office/officeart/2005/8/layout/vList2"/>
    <dgm:cxn modelId="{1DB7F010-2F4E-456D-B4C0-2FE7D9AE0F4F}" srcId="{83A31B69-566F-4499-A255-C960BF21662E}" destId="{7F922071-A59B-4287-9D0E-7DF877A3045C}" srcOrd="0" destOrd="0" parTransId="{E9C193A8-A247-4C39-A3FE-B504305332DF}" sibTransId="{9281B5D9-05E2-4982-B9B4-2700AAECF309}"/>
    <dgm:cxn modelId="{07D11A80-66BF-4FBD-BA76-79F3089DA47E}" type="presOf" srcId="{7F922071-A59B-4287-9D0E-7DF877A3045C}" destId="{31B678E1-2000-4FC0-838F-85DFB5B56F1D}" srcOrd="0" destOrd="0" presId="urn:microsoft.com/office/officeart/2005/8/layout/vList2"/>
    <dgm:cxn modelId="{177D5206-8400-4099-8762-F6244B234210}" type="presParOf" srcId="{EE60C2F3-6D59-4EF4-99CC-E08E4187B5AD}" destId="{31B678E1-2000-4FC0-838F-85DFB5B56F1D}"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6514916-3387-426F-A9A9-E61B9485027B}" type="doc">
      <dgm:prSet loTypeId="urn:microsoft.com/office/officeart/2005/8/layout/vList2" loCatId="list" qsTypeId="urn:microsoft.com/office/officeart/2005/8/quickstyle/3d3" qsCatId="3D" csTypeId="urn:microsoft.com/office/officeart/2005/8/colors/colorful2" csCatId="colorful" phldr="1"/>
      <dgm:spPr/>
      <dgm:t>
        <a:bodyPr/>
        <a:lstStyle/>
        <a:p>
          <a:endParaRPr lang="es-CO"/>
        </a:p>
      </dgm:t>
    </dgm:pt>
    <dgm:pt modelId="{2BA2871D-4D81-449B-BC5B-1C6D17252554}">
      <dgm:prSet/>
      <dgm:spPr/>
      <dgm:t>
        <a:bodyPr/>
        <a:lstStyle/>
        <a:p>
          <a:pPr algn="ctr"/>
          <a:r>
            <a:rPr lang="es-CO" b="1" dirty="0"/>
            <a:t>EVALUACIÓN Y SEGUIMIENTO</a:t>
          </a:r>
        </a:p>
      </dgm:t>
    </dgm:pt>
    <dgm:pt modelId="{A2D1B0C6-1A70-485D-BDAA-35E0FA57F7F1}" type="parTrans" cxnId="{2517FB1F-33DE-4F65-8466-9BE6FC21C8EF}">
      <dgm:prSet/>
      <dgm:spPr/>
      <dgm:t>
        <a:bodyPr/>
        <a:lstStyle/>
        <a:p>
          <a:endParaRPr lang="es-CO"/>
        </a:p>
      </dgm:t>
    </dgm:pt>
    <dgm:pt modelId="{3FE21DCF-86CA-4EA9-BC90-807B687D300A}" type="sibTrans" cxnId="{2517FB1F-33DE-4F65-8466-9BE6FC21C8EF}">
      <dgm:prSet/>
      <dgm:spPr/>
      <dgm:t>
        <a:bodyPr/>
        <a:lstStyle/>
        <a:p>
          <a:endParaRPr lang="es-CO"/>
        </a:p>
      </dgm:t>
    </dgm:pt>
    <dgm:pt modelId="{080806E0-BA41-4A10-84E1-9CB4EB13CD23}" type="pres">
      <dgm:prSet presAssocID="{A6514916-3387-426F-A9A9-E61B9485027B}" presName="linear" presStyleCnt="0">
        <dgm:presLayoutVars>
          <dgm:animLvl val="lvl"/>
          <dgm:resizeHandles val="exact"/>
        </dgm:presLayoutVars>
      </dgm:prSet>
      <dgm:spPr/>
      <dgm:t>
        <a:bodyPr/>
        <a:lstStyle/>
        <a:p>
          <a:endParaRPr lang="es-ES"/>
        </a:p>
      </dgm:t>
    </dgm:pt>
    <dgm:pt modelId="{46DBEF42-CFB9-4902-8628-91F229D11855}" type="pres">
      <dgm:prSet presAssocID="{2BA2871D-4D81-449B-BC5B-1C6D17252554}" presName="parentText" presStyleLbl="node1" presStyleIdx="0" presStyleCnt="1">
        <dgm:presLayoutVars>
          <dgm:chMax val="0"/>
          <dgm:bulletEnabled val="1"/>
        </dgm:presLayoutVars>
      </dgm:prSet>
      <dgm:spPr/>
      <dgm:t>
        <a:bodyPr/>
        <a:lstStyle/>
        <a:p>
          <a:endParaRPr lang="es-ES"/>
        </a:p>
      </dgm:t>
    </dgm:pt>
  </dgm:ptLst>
  <dgm:cxnLst>
    <dgm:cxn modelId="{2517FB1F-33DE-4F65-8466-9BE6FC21C8EF}" srcId="{A6514916-3387-426F-A9A9-E61B9485027B}" destId="{2BA2871D-4D81-449B-BC5B-1C6D17252554}" srcOrd="0" destOrd="0" parTransId="{A2D1B0C6-1A70-485D-BDAA-35E0FA57F7F1}" sibTransId="{3FE21DCF-86CA-4EA9-BC90-807B687D300A}"/>
    <dgm:cxn modelId="{D01498A4-5C70-4BFF-AE5E-8F50CD19E28C}" type="presOf" srcId="{2BA2871D-4D81-449B-BC5B-1C6D17252554}" destId="{46DBEF42-CFB9-4902-8628-91F229D11855}" srcOrd="0" destOrd="0" presId="urn:microsoft.com/office/officeart/2005/8/layout/vList2"/>
    <dgm:cxn modelId="{074143AF-D452-4271-A46A-20CFFBC8535D}" type="presOf" srcId="{A6514916-3387-426F-A9A9-E61B9485027B}" destId="{080806E0-BA41-4A10-84E1-9CB4EB13CD23}" srcOrd="0" destOrd="0" presId="urn:microsoft.com/office/officeart/2005/8/layout/vList2"/>
    <dgm:cxn modelId="{4F76AB15-EAF1-4140-AC09-5832B4F2EC95}" type="presParOf" srcId="{080806E0-BA41-4A10-84E1-9CB4EB13CD23}" destId="{46DBEF42-CFB9-4902-8628-91F229D11855}"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0D6CE0B-2D60-414F-8282-1607279681D0}" type="doc">
      <dgm:prSet loTypeId="urn:microsoft.com/office/officeart/2005/8/layout/vList2" loCatId="list" qsTypeId="urn:microsoft.com/office/officeart/2005/8/quickstyle/simple1" qsCatId="simple" csTypeId="urn:microsoft.com/office/officeart/2005/8/colors/accent3_3" csCatId="accent3" phldr="1"/>
      <dgm:spPr/>
      <dgm:t>
        <a:bodyPr/>
        <a:lstStyle/>
        <a:p>
          <a:endParaRPr lang="es-CO"/>
        </a:p>
      </dgm:t>
    </dgm:pt>
    <dgm:pt modelId="{4BE1E9D8-92A4-4131-98FE-32C23E18DF9E}">
      <dgm:prSet/>
      <dgm:spPr/>
      <dgm:t>
        <a:bodyPr/>
        <a:lstStyle/>
        <a:p>
          <a:pPr algn="ctr"/>
          <a:r>
            <a:rPr lang="es-CO" b="1" dirty="0"/>
            <a:t>RESULTADOS</a:t>
          </a:r>
        </a:p>
      </dgm:t>
    </dgm:pt>
    <dgm:pt modelId="{1930D40E-B03D-4839-A982-53AD0489D07B}" type="parTrans" cxnId="{85C0D94F-054A-4F2D-8824-BE123990943E}">
      <dgm:prSet/>
      <dgm:spPr/>
      <dgm:t>
        <a:bodyPr/>
        <a:lstStyle/>
        <a:p>
          <a:endParaRPr lang="es-CO"/>
        </a:p>
      </dgm:t>
    </dgm:pt>
    <dgm:pt modelId="{80F9BB87-4645-4FA1-86B7-EB92A4FF299B}" type="sibTrans" cxnId="{85C0D94F-054A-4F2D-8824-BE123990943E}">
      <dgm:prSet/>
      <dgm:spPr/>
      <dgm:t>
        <a:bodyPr/>
        <a:lstStyle/>
        <a:p>
          <a:endParaRPr lang="es-CO"/>
        </a:p>
      </dgm:t>
    </dgm:pt>
    <dgm:pt modelId="{8B493A19-E0B3-4362-83A1-95600E5C1841}" type="pres">
      <dgm:prSet presAssocID="{F0D6CE0B-2D60-414F-8282-1607279681D0}" presName="linear" presStyleCnt="0">
        <dgm:presLayoutVars>
          <dgm:animLvl val="lvl"/>
          <dgm:resizeHandles val="exact"/>
        </dgm:presLayoutVars>
      </dgm:prSet>
      <dgm:spPr/>
      <dgm:t>
        <a:bodyPr/>
        <a:lstStyle/>
        <a:p>
          <a:endParaRPr lang="es-ES"/>
        </a:p>
      </dgm:t>
    </dgm:pt>
    <dgm:pt modelId="{5AEA1D65-4B02-4517-868D-2252660EBBF2}" type="pres">
      <dgm:prSet presAssocID="{4BE1E9D8-92A4-4131-98FE-32C23E18DF9E}" presName="parentText" presStyleLbl="node1" presStyleIdx="0" presStyleCnt="1">
        <dgm:presLayoutVars>
          <dgm:chMax val="0"/>
          <dgm:bulletEnabled val="1"/>
        </dgm:presLayoutVars>
      </dgm:prSet>
      <dgm:spPr/>
      <dgm:t>
        <a:bodyPr/>
        <a:lstStyle/>
        <a:p>
          <a:endParaRPr lang="es-ES"/>
        </a:p>
      </dgm:t>
    </dgm:pt>
  </dgm:ptLst>
  <dgm:cxnLst>
    <dgm:cxn modelId="{85C0D94F-054A-4F2D-8824-BE123990943E}" srcId="{F0D6CE0B-2D60-414F-8282-1607279681D0}" destId="{4BE1E9D8-92A4-4131-98FE-32C23E18DF9E}" srcOrd="0" destOrd="0" parTransId="{1930D40E-B03D-4839-A982-53AD0489D07B}" sibTransId="{80F9BB87-4645-4FA1-86B7-EB92A4FF299B}"/>
    <dgm:cxn modelId="{501B4ACA-5E48-43ED-863A-C545ECA7DCEC}" type="presOf" srcId="{F0D6CE0B-2D60-414F-8282-1607279681D0}" destId="{8B493A19-E0B3-4362-83A1-95600E5C1841}" srcOrd="0" destOrd="0" presId="urn:microsoft.com/office/officeart/2005/8/layout/vList2"/>
    <dgm:cxn modelId="{07E2B8AE-E04C-43C3-AFB8-369A44CEDD86}" type="presOf" srcId="{4BE1E9D8-92A4-4131-98FE-32C23E18DF9E}" destId="{5AEA1D65-4B02-4517-868D-2252660EBBF2}" srcOrd="0" destOrd="0" presId="urn:microsoft.com/office/officeart/2005/8/layout/vList2"/>
    <dgm:cxn modelId="{86F0A67D-39D2-4BEF-9524-073A3D7CBB7A}" type="presParOf" srcId="{8B493A19-E0B3-4362-83A1-95600E5C1841}" destId="{5AEA1D65-4B02-4517-868D-2252660EBBF2}"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8F95D73-2495-44C2-9DD5-C70761581563}"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s-CO"/>
        </a:p>
      </dgm:t>
    </dgm:pt>
    <dgm:pt modelId="{51233226-7FFA-47FA-ADDE-E1F038A8910B}">
      <dgm:prSet/>
      <dgm:spPr/>
      <dgm:t>
        <a:bodyPr/>
        <a:lstStyle/>
        <a:p>
          <a:pPr algn="ctr"/>
          <a:r>
            <a:rPr lang="es-CO" b="1" dirty="0"/>
            <a:t>TRANSFERENCIA</a:t>
          </a:r>
        </a:p>
      </dgm:t>
    </dgm:pt>
    <dgm:pt modelId="{A1875DB1-7F9C-4C1E-9DD0-4A62ED88E181}" type="parTrans" cxnId="{B79677B4-0036-49C2-8874-83C890FB5FBB}">
      <dgm:prSet/>
      <dgm:spPr/>
      <dgm:t>
        <a:bodyPr/>
        <a:lstStyle/>
        <a:p>
          <a:endParaRPr lang="es-CO"/>
        </a:p>
      </dgm:t>
    </dgm:pt>
    <dgm:pt modelId="{C474848E-D8AD-4CD6-AE91-CB79CC955440}" type="sibTrans" cxnId="{B79677B4-0036-49C2-8874-83C890FB5FBB}">
      <dgm:prSet/>
      <dgm:spPr/>
      <dgm:t>
        <a:bodyPr/>
        <a:lstStyle/>
        <a:p>
          <a:endParaRPr lang="es-CO"/>
        </a:p>
      </dgm:t>
    </dgm:pt>
    <dgm:pt modelId="{9F9918A5-B1D9-4E6F-A0AB-9DCECB5A8FF1}" type="pres">
      <dgm:prSet presAssocID="{88F95D73-2495-44C2-9DD5-C70761581563}" presName="linear" presStyleCnt="0">
        <dgm:presLayoutVars>
          <dgm:animLvl val="lvl"/>
          <dgm:resizeHandles val="exact"/>
        </dgm:presLayoutVars>
      </dgm:prSet>
      <dgm:spPr/>
      <dgm:t>
        <a:bodyPr/>
        <a:lstStyle/>
        <a:p>
          <a:endParaRPr lang="es-ES"/>
        </a:p>
      </dgm:t>
    </dgm:pt>
    <dgm:pt modelId="{4F22A99A-39B7-4281-9165-D87AAF77F3C2}" type="pres">
      <dgm:prSet presAssocID="{51233226-7FFA-47FA-ADDE-E1F038A8910B}" presName="parentText" presStyleLbl="node1" presStyleIdx="0" presStyleCnt="1">
        <dgm:presLayoutVars>
          <dgm:chMax val="0"/>
          <dgm:bulletEnabled val="1"/>
        </dgm:presLayoutVars>
      </dgm:prSet>
      <dgm:spPr/>
      <dgm:t>
        <a:bodyPr/>
        <a:lstStyle/>
        <a:p>
          <a:endParaRPr lang="es-ES"/>
        </a:p>
      </dgm:t>
    </dgm:pt>
  </dgm:ptLst>
  <dgm:cxnLst>
    <dgm:cxn modelId="{EB480121-F741-49F6-996F-1BF9FFC34FC7}" type="presOf" srcId="{51233226-7FFA-47FA-ADDE-E1F038A8910B}" destId="{4F22A99A-39B7-4281-9165-D87AAF77F3C2}" srcOrd="0" destOrd="0" presId="urn:microsoft.com/office/officeart/2005/8/layout/vList2"/>
    <dgm:cxn modelId="{B79677B4-0036-49C2-8874-83C890FB5FBB}" srcId="{88F95D73-2495-44C2-9DD5-C70761581563}" destId="{51233226-7FFA-47FA-ADDE-E1F038A8910B}" srcOrd="0" destOrd="0" parTransId="{A1875DB1-7F9C-4C1E-9DD0-4A62ED88E181}" sibTransId="{C474848E-D8AD-4CD6-AE91-CB79CC955440}"/>
    <dgm:cxn modelId="{C9A76027-D350-42E7-B3AA-20CBFF60E6BF}" type="presOf" srcId="{88F95D73-2495-44C2-9DD5-C70761581563}" destId="{9F9918A5-B1D9-4E6F-A0AB-9DCECB5A8FF1}" srcOrd="0" destOrd="0" presId="urn:microsoft.com/office/officeart/2005/8/layout/vList2"/>
    <dgm:cxn modelId="{B350DDBA-E2E4-400E-B7F1-9CFD435E4A69}" type="presParOf" srcId="{9F9918A5-B1D9-4E6F-A0AB-9DCECB5A8FF1}" destId="{4F22A99A-39B7-4281-9165-D87AAF77F3C2}"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4929F62-7B14-47FD-A4BE-3EC3871F8D5D}" type="doc">
      <dgm:prSet loTypeId="urn:microsoft.com/office/officeart/2005/8/layout/vList2" loCatId="list" qsTypeId="urn:microsoft.com/office/officeart/2005/8/quickstyle/3d3" qsCatId="3D" csTypeId="urn:microsoft.com/office/officeart/2005/8/colors/accent3_3" csCatId="accent3" phldr="1"/>
      <dgm:spPr/>
      <dgm:t>
        <a:bodyPr/>
        <a:lstStyle/>
        <a:p>
          <a:endParaRPr lang="es-CO"/>
        </a:p>
      </dgm:t>
    </dgm:pt>
    <dgm:pt modelId="{DECEA15A-D46B-428D-9682-CA9A56C11C5A}">
      <dgm:prSet/>
      <dgm:spPr/>
      <dgm:t>
        <a:bodyPr/>
        <a:lstStyle/>
        <a:p>
          <a:pPr algn="ctr"/>
          <a:r>
            <a:rPr lang="es-CO" b="1" dirty="0"/>
            <a:t>SOSTENIBILIDAD</a:t>
          </a:r>
        </a:p>
      </dgm:t>
    </dgm:pt>
    <dgm:pt modelId="{2CE2A4B8-4AE8-4446-92E2-EE00E47D2293}" type="parTrans" cxnId="{2DA7F9C8-910F-4045-8E9A-3687E0B00620}">
      <dgm:prSet/>
      <dgm:spPr/>
      <dgm:t>
        <a:bodyPr/>
        <a:lstStyle/>
        <a:p>
          <a:endParaRPr lang="es-CO"/>
        </a:p>
      </dgm:t>
    </dgm:pt>
    <dgm:pt modelId="{CB4E4B0E-F529-455B-A904-E316D0C8FBC4}" type="sibTrans" cxnId="{2DA7F9C8-910F-4045-8E9A-3687E0B00620}">
      <dgm:prSet/>
      <dgm:spPr/>
      <dgm:t>
        <a:bodyPr/>
        <a:lstStyle/>
        <a:p>
          <a:endParaRPr lang="es-CO"/>
        </a:p>
      </dgm:t>
    </dgm:pt>
    <dgm:pt modelId="{0D2DB1D5-139B-4807-820F-9799181F6647}" type="pres">
      <dgm:prSet presAssocID="{64929F62-7B14-47FD-A4BE-3EC3871F8D5D}" presName="linear" presStyleCnt="0">
        <dgm:presLayoutVars>
          <dgm:animLvl val="lvl"/>
          <dgm:resizeHandles val="exact"/>
        </dgm:presLayoutVars>
      </dgm:prSet>
      <dgm:spPr/>
      <dgm:t>
        <a:bodyPr/>
        <a:lstStyle/>
        <a:p>
          <a:endParaRPr lang="es-ES"/>
        </a:p>
      </dgm:t>
    </dgm:pt>
    <dgm:pt modelId="{C52E0517-A530-4F70-BC63-122CA318C606}" type="pres">
      <dgm:prSet presAssocID="{DECEA15A-D46B-428D-9682-CA9A56C11C5A}" presName="parentText" presStyleLbl="node1" presStyleIdx="0" presStyleCnt="1" custLinFactNeighborX="-1481" custLinFactNeighborY="-697">
        <dgm:presLayoutVars>
          <dgm:chMax val="0"/>
          <dgm:bulletEnabled val="1"/>
        </dgm:presLayoutVars>
      </dgm:prSet>
      <dgm:spPr/>
      <dgm:t>
        <a:bodyPr/>
        <a:lstStyle/>
        <a:p>
          <a:endParaRPr lang="es-ES"/>
        </a:p>
      </dgm:t>
    </dgm:pt>
  </dgm:ptLst>
  <dgm:cxnLst>
    <dgm:cxn modelId="{2DA7F9C8-910F-4045-8E9A-3687E0B00620}" srcId="{64929F62-7B14-47FD-A4BE-3EC3871F8D5D}" destId="{DECEA15A-D46B-428D-9682-CA9A56C11C5A}" srcOrd="0" destOrd="0" parTransId="{2CE2A4B8-4AE8-4446-92E2-EE00E47D2293}" sibTransId="{CB4E4B0E-F529-455B-A904-E316D0C8FBC4}"/>
    <dgm:cxn modelId="{E123F8E2-AA45-4C6C-B4B3-1C6259036316}" type="presOf" srcId="{DECEA15A-D46B-428D-9682-CA9A56C11C5A}" destId="{C52E0517-A530-4F70-BC63-122CA318C606}" srcOrd="0" destOrd="0" presId="urn:microsoft.com/office/officeart/2005/8/layout/vList2"/>
    <dgm:cxn modelId="{053F08D3-1A18-4CB2-901A-A426D17557E0}" type="presOf" srcId="{64929F62-7B14-47FD-A4BE-3EC3871F8D5D}" destId="{0D2DB1D5-139B-4807-820F-9799181F6647}" srcOrd="0" destOrd="0" presId="urn:microsoft.com/office/officeart/2005/8/layout/vList2"/>
    <dgm:cxn modelId="{4958C595-F7FB-4AD0-A65E-6E7576DB6508}" type="presParOf" srcId="{0D2DB1D5-139B-4807-820F-9799181F6647}" destId="{C52E0517-A530-4F70-BC63-122CA318C606}"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CD9E832-D3A2-4F58-B2B7-1681B07D7437}" type="doc">
      <dgm:prSet loTypeId="urn:microsoft.com/office/officeart/2005/8/layout/vList2" loCatId="list" qsTypeId="urn:microsoft.com/office/officeart/2005/8/quickstyle/3d3" qsCatId="3D" csTypeId="urn:microsoft.com/office/officeart/2005/8/colors/colorful2" csCatId="colorful" phldr="1"/>
      <dgm:spPr/>
      <dgm:t>
        <a:bodyPr/>
        <a:lstStyle/>
        <a:p>
          <a:endParaRPr lang="es-CO"/>
        </a:p>
      </dgm:t>
    </dgm:pt>
    <dgm:pt modelId="{B940F0B8-0B9A-471B-A0D9-438E24817FBA}">
      <dgm:prSet/>
      <dgm:spPr/>
      <dgm:t>
        <a:bodyPr/>
        <a:lstStyle/>
        <a:p>
          <a:pPr algn="ctr"/>
          <a:r>
            <a:rPr lang="es-CO" b="1" dirty="0"/>
            <a:t>INNOVACIÓN</a:t>
          </a:r>
        </a:p>
      </dgm:t>
    </dgm:pt>
    <dgm:pt modelId="{4B7A4A79-D3F4-4EDF-8D3C-D27EC6DA16C4}" type="parTrans" cxnId="{7B25536C-5C41-4593-9610-06F544638F5B}">
      <dgm:prSet/>
      <dgm:spPr/>
      <dgm:t>
        <a:bodyPr/>
        <a:lstStyle/>
        <a:p>
          <a:endParaRPr lang="es-CO"/>
        </a:p>
      </dgm:t>
    </dgm:pt>
    <dgm:pt modelId="{92909E5B-8887-4E23-85E7-1708A89F5809}" type="sibTrans" cxnId="{7B25536C-5C41-4593-9610-06F544638F5B}">
      <dgm:prSet/>
      <dgm:spPr/>
      <dgm:t>
        <a:bodyPr/>
        <a:lstStyle/>
        <a:p>
          <a:endParaRPr lang="es-CO"/>
        </a:p>
      </dgm:t>
    </dgm:pt>
    <dgm:pt modelId="{634D75D7-C143-4B58-A6BE-8680AAE7AB88}" type="pres">
      <dgm:prSet presAssocID="{CCD9E832-D3A2-4F58-B2B7-1681B07D7437}" presName="linear" presStyleCnt="0">
        <dgm:presLayoutVars>
          <dgm:animLvl val="lvl"/>
          <dgm:resizeHandles val="exact"/>
        </dgm:presLayoutVars>
      </dgm:prSet>
      <dgm:spPr/>
      <dgm:t>
        <a:bodyPr/>
        <a:lstStyle/>
        <a:p>
          <a:endParaRPr lang="es-ES"/>
        </a:p>
      </dgm:t>
    </dgm:pt>
    <dgm:pt modelId="{0A6F2A22-737A-4A85-953E-DB3EE8FD34F8}" type="pres">
      <dgm:prSet presAssocID="{B940F0B8-0B9A-471B-A0D9-438E24817FBA}" presName="parentText" presStyleLbl="node1" presStyleIdx="0" presStyleCnt="1">
        <dgm:presLayoutVars>
          <dgm:chMax val="0"/>
          <dgm:bulletEnabled val="1"/>
        </dgm:presLayoutVars>
      </dgm:prSet>
      <dgm:spPr/>
      <dgm:t>
        <a:bodyPr/>
        <a:lstStyle/>
        <a:p>
          <a:endParaRPr lang="es-ES"/>
        </a:p>
      </dgm:t>
    </dgm:pt>
  </dgm:ptLst>
  <dgm:cxnLst>
    <dgm:cxn modelId="{7B25536C-5C41-4593-9610-06F544638F5B}" srcId="{CCD9E832-D3A2-4F58-B2B7-1681B07D7437}" destId="{B940F0B8-0B9A-471B-A0D9-438E24817FBA}" srcOrd="0" destOrd="0" parTransId="{4B7A4A79-D3F4-4EDF-8D3C-D27EC6DA16C4}" sibTransId="{92909E5B-8887-4E23-85E7-1708A89F5809}"/>
    <dgm:cxn modelId="{7F1BC0DA-785F-4D0C-A809-3D6914303071}" type="presOf" srcId="{CCD9E832-D3A2-4F58-B2B7-1681B07D7437}" destId="{634D75D7-C143-4B58-A6BE-8680AAE7AB88}" srcOrd="0" destOrd="0" presId="urn:microsoft.com/office/officeart/2005/8/layout/vList2"/>
    <dgm:cxn modelId="{7E9882F6-FF59-44A4-B7B7-6F5B482BA248}" type="presOf" srcId="{B940F0B8-0B9A-471B-A0D9-438E24817FBA}" destId="{0A6F2A22-737A-4A85-953E-DB3EE8FD34F8}" srcOrd="0" destOrd="0" presId="urn:microsoft.com/office/officeart/2005/8/layout/vList2"/>
    <dgm:cxn modelId="{989BF5ED-91BE-4444-90B5-A072847FF992}" type="presParOf" srcId="{634D75D7-C143-4B58-A6BE-8680AAE7AB88}" destId="{0A6F2A22-737A-4A85-953E-DB3EE8FD34F8}"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604CEE-3387-4500-966B-362879E6A93C}" type="doc">
      <dgm:prSet loTypeId="urn:microsoft.com/office/officeart/2005/8/layout/vList2" loCatId="list" qsTypeId="urn:microsoft.com/office/officeart/2005/8/quickstyle/simple1" qsCatId="simple" csTypeId="urn:microsoft.com/office/officeart/2005/8/colors/accent3_3" csCatId="accent3" phldr="1"/>
      <dgm:spPr/>
      <dgm:t>
        <a:bodyPr/>
        <a:lstStyle/>
        <a:p>
          <a:endParaRPr lang="es-CO"/>
        </a:p>
      </dgm:t>
    </dgm:pt>
    <dgm:pt modelId="{6AE58FB2-3CEB-4D54-A223-BC9EA0A72102}">
      <dgm:prSet/>
      <dgm:spPr/>
      <dgm:t>
        <a:bodyPr/>
        <a:lstStyle/>
        <a:p>
          <a:pPr algn="ctr"/>
          <a:r>
            <a:rPr lang="es-CO" b="1" dirty="0"/>
            <a:t>CRÉDITOS Y CONTACTO</a:t>
          </a:r>
        </a:p>
      </dgm:t>
    </dgm:pt>
    <dgm:pt modelId="{8DE7C34F-7857-4D93-B6FC-95A75BFF6C66}" type="parTrans" cxnId="{2A7FD386-C2FB-421A-AF8B-29484AD9F468}">
      <dgm:prSet/>
      <dgm:spPr/>
      <dgm:t>
        <a:bodyPr/>
        <a:lstStyle/>
        <a:p>
          <a:endParaRPr lang="es-CO" b="1"/>
        </a:p>
      </dgm:t>
    </dgm:pt>
    <dgm:pt modelId="{3AC3347F-515C-4CA0-BF8A-D9139969D67B}" type="sibTrans" cxnId="{2A7FD386-C2FB-421A-AF8B-29484AD9F468}">
      <dgm:prSet/>
      <dgm:spPr/>
      <dgm:t>
        <a:bodyPr/>
        <a:lstStyle/>
        <a:p>
          <a:endParaRPr lang="es-CO" b="1"/>
        </a:p>
      </dgm:t>
    </dgm:pt>
    <dgm:pt modelId="{591D47AB-BD78-4FAD-A788-1BF173DF8B56}" type="pres">
      <dgm:prSet presAssocID="{09604CEE-3387-4500-966B-362879E6A93C}" presName="linear" presStyleCnt="0">
        <dgm:presLayoutVars>
          <dgm:animLvl val="lvl"/>
          <dgm:resizeHandles val="exact"/>
        </dgm:presLayoutVars>
      </dgm:prSet>
      <dgm:spPr/>
      <dgm:t>
        <a:bodyPr/>
        <a:lstStyle/>
        <a:p>
          <a:endParaRPr lang="es-ES"/>
        </a:p>
      </dgm:t>
    </dgm:pt>
    <dgm:pt modelId="{93DB53E5-91E0-48A4-BBEC-A7F256CF8BC5}" type="pres">
      <dgm:prSet presAssocID="{6AE58FB2-3CEB-4D54-A223-BC9EA0A72102}" presName="parentText" presStyleLbl="node1" presStyleIdx="0" presStyleCnt="1">
        <dgm:presLayoutVars>
          <dgm:chMax val="0"/>
          <dgm:bulletEnabled val="1"/>
        </dgm:presLayoutVars>
      </dgm:prSet>
      <dgm:spPr/>
      <dgm:t>
        <a:bodyPr/>
        <a:lstStyle/>
        <a:p>
          <a:endParaRPr lang="es-ES"/>
        </a:p>
      </dgm:t>
    </dgm:pt>
  </dgm:ptLst>
  <dgm:cxnLst>
    <dgm:cxn modelId="{2A7FD386-C2FB-421A-AF8B-29484AD9F468}" srcId="{09604CEE-3387-4500-966B-362879E6A93C}" destId="{6AE58FB2-3CEB-4D54-A223-BC9EA0A72102}" srcOrd="0" destOrd="0" parTransId="{8DE7C34F-7857-4D93-B6FC-95A75BFF6C66}" sibTransId="{3AC3347F-515C-4CA0-BF8A-D9139969D67B}"/>
    <dgm:cxn modelId="{611AC814-5BFD-4D5D-884C-BCBF6D2E8A0D}" type="presOf" srcId="{6AE58FB2-3CEB-4D54-A223-BC9EA0A72102}" destId="{93DB53E5-91E0-48A4-BBEC-A7F256CF8BC5}" srcOrd="0" destOrd="0" presId="urn:microsoft.com/office/officeart/2005/8/layout/vList2"/>
    <dgm:cxn modelId="{E8512E37-2C60-4597-9B7B-CE5A27227939}" type="presOf" srcId="{09604CEE-3387-4500-966B-362879E6A93C}" destId="{591D47AB-BD78-4FAD-A788-1BF173DF8B56}" srcOrd="0" destOrd="0" presId="urn:microsoft.com/office/officeart/2005/8/layout/vList2"/>
    <dgm:cxn modelId="{C544253F-77C8-4A33-9EFF-BC8511FEF2FB}" type="presParOf" srcId="{591D47AB-BD78-4FAD-A788-1BF173DF8B56}" destId="{93DB53E5-91E0-48A4-BBEC-A7F256CF8BC5}"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CF2D84-CB5C-4870-BE17-F34AE6398BA6}">
      <dsp:nvSpPr>
        <dsp:cNvPr id="0" name=""/>
        <dsp:cNvSpPr/>
      </dsp:nvSpPr>
      <dsp:spPr>
        <a:xfrm>
          <a:off x="0" y="1125"/>
          <a:ext cx="8229600" cy="1140750"/>
        </a:xfrm>
        <a:prstGeom prst="round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FUNDAMENTACIÓN</a:t>
          </a:r>
        </a:p>
      </dsp:txBody>
      <dsp:txXfrm>
        <a:off x="55687" y="56812"/>
        <a:ext cx="8118226" cy="10293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F29C7E-E073-4C24-BFC4-FE36920507FF}">
      <dsp:nvSpPr>
        <dsp:cNvPr id="0" name=""/>
        <dsp:cNvSpPr/>
      </dsp:nvSpPr>
      <dsp:spPr>
        <a:xfrm>
          <a:off x="0" y="1125"/>
          <a:ext cx="8229600" cy="114075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PERTINENCIA</a:t>
          </a:r>
        </a:p>
      </dsp:txBody>
      <dsp:txXfrm>
        <a:off x="55687" y="56812"/>
        <a:ext cx="8118226" cy="10293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CF2D84-CB5C-4870-BE17-F34AE6398BA6}">
      <dsp:nvSpPr>
        <dsp:cNvPr id="0" name=""/>
        <dsp:cNvSpPr/>
      </dsp:nvSpPr>
      <dsp:spPr>
        <a:xfrm>
          <a:off x="0" y="1125"/>
          <a:ext cx="8229600" cy="1140750"/>
        </a:xfrm>
        <a:prstGeom prst="round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MX" sz="5000" b="1" kern="1200" dirty="0"/>
            <a:t>CONSISTENCIA</a:t>
          </a:r>
          <a:endParaRPr lang="es-CO" sz="5000" b="1" kern="1200" dirty="0"/>
        </a:p>
      </dsp:txBody>
      <dsp:txXfrm>
        <a:off x="55687" y="56812"/>
        <a:ext cx="8118226" cy="102937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F29C7E-E073-4C24-BFC4-FE36920507FF}">
      <dsp:nvSpPr>
        <dsp:cNvPr id="0" name=""/>
        <dsp:cNvSpPr/>
      </dsp:nvSpPr>
      <dsp:spPr>
        <a:xfrm>
          <a:off x="0" y="1125"/>
          <a:ext cx="8229600" cy="114075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MADUREZ</a:t>
          </a:r>
        </a:p>
      </dsp:txBody>
      <dsp:txXfrm>
        <a:off x="55687" y="56812"/>
        <a:ext cx="8118226" cy="10293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B678E1-2000-4FC0-838F-85DFB5B56F1D}">
      <dsp:nvSpPr>
        <dsp:cNvPr id="0" name=""/>
        <dsp:cNvSpPr/>
      </dsp:nvSpPr>
      <dsp:spPr>
        <a:xfrm>
          <a:off x="0" y="1125"/>
          <a:ext cx="8229600" cy="1140750"/>
        </a:xfrm>
        <a:prstGeom prst="roundRect">
          <a:avLst/>
        </a:prstGeom>
        <a:solidFill>
          <a:schemeClr val="accent3">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EMPODERAMIENTO</a:t>
          </a:r>
        </a:p>
      </dsp:txBody>
      <dsp:txXfrm>
        <a:off x="55687" y="56812"/>
        <a:ext cx="8118226" cy="102937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DBEF42-CFB9-4902-8628-91F229D11855}">
      <dsp:nvSpPr>
        <dsp:cNvPr id="0" name=""/>
        <dsp:cNvSpPr/>
      </dsp:nvSpPr>
      <dsp:spPr>
        <a:xfrm>
          <a:off x="0" y="92385"/>
          <a:ext cx="8229600" cy="958229"/>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lvl="0" algn="ctr" defTabSz="1866900">
            <a:lnSpc>
              <a:spcPct val="90000"/>
            </a:lnSpc>
            <a:spcBef>
              <a:spcPct val="0"/>
            </a:spcBef>
            <a:spcAft>
              <a:spcPct val="35000"/>
            </a:spcAft>
          </a:pPr>
          <a:r>
            <a:rPr lang="es-CO" sz="4200" b="1" kern="1200" dirty="0"/>
            <a:t>EVALUACIÓN Y SEGUIMIENTO</a:t>
          </a:r>
        </a:p>
      </dsp:txBody>
      <dsp:txXfrm>
        <a:off x="46777" y="139162"/>
        <a:ext cx="8136046" cy="86467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EA1D65-4B02-4517-868D-2252660EBBF2}">
      <dsp:nvSpPr>
        <dsp:cNvPr id="0" name=""/>
        <dsp:cNvSpPr/>
      </dsp:nvSpPr>
      <dsp:spPr>
        <a:xfrm>
          <a:off x="0" y="1125"/>
          <a:ext cx="8229600" cy="1140750"/>
        </a:xfrm>
        <a:prstGeom prst="roundRect">
          <a:avLst/>
        </a:prstGeom>
        <a:solidFill>
          <a:schemeClr val="accent3">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RESULTADOS</a:t>
          </a:r>
        </a:p>
      </dsp:txBody>
      <dsp:txXfrm>
        <a:off x="55687" y="56812"/>
        <a:ext cx="8118226" cy="102937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22A99A-39B7-4281-9165-D87AAF77F3C2}">
      <dsp:nvSpPr>
        <dsp:cNvPr id="0" name=""/>
        <dsp:cNvSpPr/>
      </dsp:nvSpPr>
      <dsp:spPr>
        <a:xfrm>
          <a:off x="0" y="1125"/>
          <a:ext cx="8229600" cy="114075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TRANSFERENCIA</a:t>
          </a:r>
        </a:p>
      </dsp:txBody>
      <dsp:txXfrm>
        <a:off x="55687" y="56812"/>
        <a:ext cx="8118226" cy="102937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2E0517-A530-4F70-BC63-122CA318C606}">
      <dsp:nvSpPr>
        <dsp:cNvPr id="0" name=""/>
        <dsp:cNvSpPr/>
      </dsp:nvSpPr>
      <dsp:spPr>
        <a:xfrm>
          <a:off x="0" y="0"/>
          <a:ext cx="8229600" cy="1140750"/>
        </a:xfrm>
        <a:prstGeom prst="roundRect">
          <a:avLst/>
        </a:prstGeom>
        <a:solidFill>
          <a:schemeClr val="accent3">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SOSTENIBILIDAD</a:t>
          </a:r>
        </a:p>
      </dsp:txBody>
      <dsp:txXfrm>
        <a:off x="55687" y="55687"/>
        <a:ext cx="8118226" cy="102937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F2A22-737A-4A85-953E-DB3EE8FD34F8}">
      <dsp:nvSpPr>
        <dsp:cNvPr id="0" name=""/>
        <dsp:cNvSpPr/>
      </dsp:nvSpPr>
      <dsp:spPr>
        <a:xfrm>
          <a:off x="0" y="1125"/>
          <a:ext cx="8229600" cy="114075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INNOVACIÓN</a:t>
          </a:r>
        </a:p>
      </dsp:txBody>
      <dsp:txXfrm>
        <a:off x="55687" y="56812"/>
        <a:ext cx="8118226" cy="102937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DB53E5-91E0-48A4-BBEC-A7F256CF8BC5}">
      <dsp:nvSpPr>
        <dsp:cNvPr id="0" name=""/>
        <dsp:cNvSpPr/>
      </dsp:nvSpPr>
      <dsp:spPr>
        <a:xfrm>
          <a:off x="0" y="1125"/>
          <a:ext cx="8229600" cy="1140750"/>
        </a:xfrm>
        <a:prstGeom prst="roundRect">
          <a:avLst/>
        </a:prstGeom>
        <a:solidFill>
          <a:schemeClr val="accent3">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CRÉDITOS Y CONTACTO</a:t>
          </a:r>
        </a:p>
      </dsp:txBody>
      <dsp:txXfrm>
        <a:off x="55687" y="56812"/>
        <a:ext cx="8118226" cy="102937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0AC4A5-E13B-4E77-8334-1FD0B7991C58}" type="datetimeFigureOut">
              <a:rPr lang="es-CO" smtClean="0"/>
              <a:t>10/06/2026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A6C3B-BFCC-4F24-8021-DD25010C79AA}" type="slidenum">
              <a:rPr lang="es-CO" smtClean="0"/>
              <a:t>‹Nº›</a:t>
            </a:fld>
            <a:endParaRPr lang="es-CO"/>
          </a:p>
        </p:txBody>
      </p:sp>
    </p:spTree>
    <p:extLst>
      <p:ext uri="{BB962C8B-B14F-4D97-AF65-F5344CB8AC3E}">
        <p14:creationId xmlns:p14="http://schemas.microsoft.com/office/powerpoint/2010/main" val="1397320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MX" dirty="0"/>
              <a:t>La experiencia </a:t>
            </a:r>
            <a:r>
              <a:rPr lang="es-MX" b="1" dirty="0"/>
              <a:t>TIN TEATRO IN</a:t>
            </a:r>
            <a:r>
              <a:rPr lang="es-MX" dirty="0"/>
              <a:t> se fundamenta en un </a:t>
            </a:r>
            <a:r>
              <a:rPr lang="es-MX" b="1" dirty="0"/>
              <a:t>enfoque pedagógico socio-crítico y humanista</a:t>
            </a:r>
            <a:r>
              <a:rPr lang="es-MX" dirty="0"/>
              <a:t>, concibiendo el </a:t>
            </a:r>
            <a:r>
              <a:rPr lang="es-MX" b="1" dirty="0"/>
              <a:t>arte dramático</a:t>
            </a:r>
            <a:r>
              <a:rPr lang="es-MX" dirty="0"/>
              <a:t> como un </a:t>
            </a:r>
            <a:r>
              <a:rPr lang="es-MX" b="1" dirty="0"/>
              <a:t>mediador esencial para el aprendizaje integral</a:t>
            </a:r>
            <a:r>
              <a:rPr lang="es-MX" dirty="0"/>
              <a:t> y la formación de ciudadanos reflexivos y críticos.</a:t>
            </a:r>
          </a:p>
          <a:p>
            <a:pPr>
              <a:buFont typeface="Arial" panose="020B0604020202020204" pitchFamily="34" charset="0"/>
              <a:buChar char="•"/>
            </a:pPr>
            <a:r>
              <a:rPr lang="es-MX" b="1" dirty="0"/>
              <a:t>Referentes Conceptuales y Pedagógicos:</a:t>
            </a:r>
            <a:r>
              <a:rPr lang="es-MX" dirty="0"/>
              <a:t> Se basa en el teatro como lenguaje artístico (expresión, comunicación) y herramienta pedagógica (fomento de pensamiento crítico, autonomía, empatía, resiliencia).</a:t>
            </a:r>
          </a:p>
          <a:p>
            <a:pPr>
              <a:buFont typeface="Arial" panose="020B0604020202020204" pitchFamily="34" charset="0"/>
              <a:buChar char="•"/>
            </a:pPr>
            <a:r>
              <a:rPr lang="es-MX" b="1" dirty="0"/>
              <a:t>Articulación con el PEI:</a:t>
            </a:r>
            <a:r>
              <a:rPr lang="es-MX" dirty="0"/>
              <a:t> Coherencia directa con la </a:t>
            </a:r>
            <a:r>
              <a:rPr lang="es-MX" b="1" dirty="0"/>
              <a:t>misión institucional</a:t>
            </a:r>
            <a:r>
              <a:rPr lang="es-MX" dirty="0"/>
              <a:t> de la Normal Superior de Pitalito: formar </a:t>
            </a:r>
            <a:r>
              <a:rPr lang="es-MX" b="1" dirty="0"/>
              <a:t>maestros líderes, críticos y socialmente responsables</a:t>
            </a:r>
            <a:r>
              <a:rPr lang="es-MX" dirty="0"/>
              <a:t>. La práctica teatral contribuye a este propósito al potenciar habilidades blandas y socioemocionales.</a:t>
            </a:r>
          </a:p>
          <a:p>
            <a:pPr>
              <a:buFont typeface="Arial" panose="020B0604020202020204" pitchFamily="34" charset="0"/>
              <a:buChar char="•"/>
            </a:pPr>
            <a:r>
              <a:rPr lang="es-MX" b="1" dirty="0"/>
              <a:t>Articulación con el PMI:</a:t>
            </a:r>
            <a:r>
              <a:rPr lang="es-MX" dirty="0"/>
              <a:t> Contribuye a los objetivos de mejoramiento al fortalecer la </a:t>
            </a:r>
            <a:r>
              <a:rPr lang="es-MX" b="1" dirty="0"/>
              <a:t>convivencia escolar</a:t>
            </a:r>
            <a:r>
              <a:rPr lang="es-MX" dirty="0"/>
              <a:t>, la </a:t>
            </a:r>
            <a:r>
              <a:rPr lang="es-MX" b="1" dirty="0"/>
              <a:t>salud mental</a:t>
            </a:r>
            <a:r>
              <a:rPr lang="es-MX" dirty="0"/>
              <a:t> y el </a:t>
            </a:r>
            <a:r>
              <a:rPr lang="es-MX" b="1" dirty="0"/>
              <a:t>desarrollo socioemocional</a:t>
            </a:r>
            <a:r>
              <a:rPr lang="es-MX" dirty="0"/>
              <a:t> de los estudiantes a través de procesos artísticos y culturales.</a:t>
            </a:r>
          </a:p>
          <a:p>
            <a:endParaRPr lang="es-MX" dirty="0"/>
          </a:p>
          <a:p>
            <a:endParaRPr lang="es-MX" dirty="0"/>
          </a:p>
          <a:p>
            <a:r>
              <a:rPr lang="es-MX" dirty="0"/>
              <a:t>La experiencia </a:t>
            </a:r>
            <a:r>
              <a:rPr lang="es-MX" i="1" dirty="0"/>
              <a:t>TIN TEATRO IN</a:t>
            </a:r>
            <a:r>
              <a:rPr lang="es-MX" dirty="0"/>
              <a:t> se fundamenta en un enfoque socio–crítico y humanista que reconoce al estudiante como sujeto activo en la construcción de aprendizaje significativo. Se articula con políticas educativas nacionales como la Ley General de Educación, los lineamientos de Educación Artística, las orientaciones de Educación para la Ciudadanía y la Convivencia, y el desarrollo de competencias socioemocionales promovidas por el MEN.</a:t>
            </a:r>
            <a:br>
              <a:rPr lang="es-MX" dirty="0"/>
            </a:br>
            <a:r>
              <a:rPr lang="es-MX" dirty="0"/>
              <a:t>Pedagógicamente se sustenta en metodologías activas, el aprendizaje experiencial, el teatro escolar como estrategia de mediación cultural y la formación integral establecida en el PEI y el PMI de la institución. Metodológicamente se basa en procesos creativos, expresivos y colaborativos que fortalecen la comunicación, la sensibilidad estética y el pensamiento crítico.</a:t>
            </a:r>
          </a:p>
          <a:p>
            <a:endParaRPr lang="es-MX" dirty="0"/>
          </a:p>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“Comunicarse es sobrevivir permanentemente donde el mundo y nosotros somos </a:t>
            </a:r>
            <a:r>
              <a:rPr lang="es-MX" dirty="0" err="1"/>
              <a:t>tecnodependientes</a:t>
            </a:r>
            <a:r>
              <a:rPr lang="es-MX" dirty="0"/>
              <a:t> dentro de una sociedad intercomunicada a través de redes y códigos con un propósito determinado” (</a:t>
            </a:r>
            <a:r>
              <a:rPr lang="es-MX" dirty="0" err="1"/>
              <a:t>Llovess</a:t>
            </a:r>
            <a:r>
              <a:rPr lang="es-MX" dirty="0"/>
              <a:t>, A., Williamson, B. 2017). De manera que la comunicación y sus canales de difusión, deben encaminarse hacia la construcción de conocimiento, sentido y significado en una sociedad cambiante que vaya a la vanguardia con el crecimiento tecnológico.</a:t>
            </a:r>
          </a:p>
          <a:p>
            <a:endParaRPr lang="es-CO" dirty="0"/>
          </a:p>
        </p:txBody>
      </p:sp>
      <p:sp>
        <p:nvSpPr>
          <p:cNvPr id="4" name="Marcador de número de diapositiva 3"/>
          <p:cNvSpPr>
            <a:spLocks noGrp="1"/>
          </p:cNvSpPr>
          <p:nvPr>
            <p:ph type="sldNum" sz="quarter" idx="5"/>
          </p:nvPr>
        </p:nvSpPr>
        <p:spPr/>
        <p:txBody>
          <a:bodyPr/>
          <a:lstStyle/>
          <a:p>
            <a:fld id="{38EA6C3B-BFCC-4F24-8021-DD25010C79AA}" type="slidenum">
              <a:rPr lang="es-CO" smtClean="0"/>
              <a:t>2</a:t>
            </a:fld>
            <a:endParaRPr lang="es-CO"/>
          </a:p>
        </p:txBody>
      </p:sp>
    </p:spTree>
    <p:extLst>
      <p:ext uri="{BB962C8B-B14F-4D97-AF65-F5344CB8AC3E}">
        <p14:creationId xmlns:p14="http://schemas.microsoft.com/office/powerpoint/2010/main" val="2903861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38EA6C3B-BFCC-4F24-8021-DD25010C79AA}" type="slidenum">
              <a:rPr lang="es-CO" smtClean="0"/>
              <a:t>3</a:t>
            </a:fld>
            <a:endParaRPr lang="es-CO"/>
          </a:p>
        </p:txBody>
      </p:sp>
    </p:spTree>
    <p:extLst>
      <p:ext uri="{BB962C8B-B14F-4D97-AF65-F5344CB8AC3E}">
        <p14:creationId xmlns:p14="http://schemas.microsoft.com/office/powerpoint/2010/main" val="3341515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38EA6C3B-BFCC-4F24-8021-DD25010C79AA}" type="slidenum">
              <a:rPr lang="es-CO" smtClean="0"/>
              <a:t>4</a:t>
            </a:fld>
            <a:endParaRPr lang="es-CO"/>
          </a:p>
        </p:txBody>
      </p:sp>
    </p:spTree>
    <p:extLst>
      <p:ext uri="{BB962C8B-B14F-4D97-AF65-F5344CB8AC3E}">
        <p14:creationId xmlns:p14="http://schemas.microsoft.com/office/powerpoint/2010/main" val="3313412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38EA6C3B-BFCC-4F24-8021-DD25010C79AA}" type="slidenum">
              <a:rPr lang="es-CO" smtClean="0"/>
              <a:t>5</a:t>
            </a:fld>
            <a:endParaRPr lang="es-CO"/>
          </a:p>
        </p:txBody>
      </p:sp>
    </p:spTree>
    <p:extLst>
      <p:ext uri="{BB962C8B-B14F-4D97-AF65-F5344CB8AC3E}">
        <p14:creationId xmlns:p14="http://schemas.microsoft.com/office/powerpoint/2010/main" val="795223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38EA6C3B-BFCC-4F24-8021-DD25010C79AA}" type="slidenum">
              <a:rPr lang="es-CO" smtClean="0"/>
              <a:t>6</a:t>
            </a:fld>
            <a:endParaRPr lang="es-CO"/>
          </a:p>
        </p:txBody>
      </p:sp>
    </p:spTree>
    <p:extLst>
      <p:ext uri="{BB962C8B-B14F-4D97-AF65-F5344CB8AC3E}">
        <p14:creationId xmlns:p14="http://schemas.microsoft.com/office/powerpoint/2010/main" val="2262686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38EA6C3B-BFCC-4F24-8021-DD25010C79AA}" type="slidenum">
              <a:rPr lang="es-CO" smtClean="0"/>
              <a:t>7</a:t>
            </a:fld>
            <a:endParaRPr lang="es-CO"/>
          </a:p>
        </p:txBody>
      </p:sp>
    </p:spTree>
    <p:extLst>
      <p:ext uri="{BB962C8B-B14F-4D97-AF65-F5344CB8AC3E}">
        <p14:creationId xmlns:p14="http://schemas.microsoft.com/office/powerpoint/2010/main" val="1160303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38EA6C3B-BFCC-4F24-8021-DD25010C79AA}" type="slidenum">
              <a:rPr lang="es-CO" smtClean="0"/>
              <a:t>8</a:t>
            </a:fld>
            <a:endParaRPr lang="es-CO"/>
          </a:p>
        </p:txBody>
      </p:sp>
    </p:spTree>
    <p:extLst>
      <p:ext uri="{BB962C8B-B14F-4D97-AF65-F5344CB8AC3E}">
        <p14:creationId xmlns:p14="http://schemas.microsoft.com/office/powerpoint/2010/main" val="4033256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38EA6C3B-BFCC-4F24-8021-DD25010C79AA}" type="slidenum">
              <a:rPr lang="es-CO" smtClean="0"/>
              <a:t>9</a:t>
            </a:fld>
            <a:endParaRPr lang="es-CO"/>
          </a:p>
        </p:txBody>
      </p:sp>
    </p:spTree>
    <p:extLst>
      <p:ext uri="{BB962C8B-B14F-4D97-AF65-F5344CB8AC3E}">
        <p14:creationId xmlns:p14="http://schemas.microsoft.com/office/powerpoint/2010/main" val="2114135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38EA6C3B-BFCC-4F24-8021-DD25010C79AA}" type="slidenum">
              <a:rPr lang="es-CO" smtClean="0"/>
              <a:t>10</a:t>
            </a:fld>
            <a:endParaRPr lang="es-CO"/>
          </a:p>
        </p:txBody>
      </p:sp>
    </p:spTree>
    <p:extLst>
      <p:ext uri="{BB962C8B-B14F-4D97-AF65-F5344CB8AC3E}">
        <p14:creationId xmlns:p14="http://schemas.microsoft.com/office/powerpoint/2010/main" val="1377220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38EA6C3B-BFCC-4F24-8021-DD25010C79AA}" type="slidenum">
              <a:rPr lang="es-CO" smtClean="0"/>
              <a:t>11</a:t>
            </a:fld>
            <a:endParaRPr lang="es-CO"/>
          </a:p>
        </p:txBody>
      </p:sp>
    </p:spTree>
    <p:extLst>
      <p:ext uri="{BB962C8B-B14F-4D97-AF65-F5344CB8AC3E}">
        <p14:creationId xmlns:p14="http://schemas.microsoft.com/office/powerpoint/2010/main" val="3331724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38EA6C3B-BFCC-4F24-8021-DD25010C79AA}" type="slidenum">
              <a:rPr lang="es-CO" smtClean="0"/>
              <a:t>12</a:t>
            </a:fld>
            <a:endParaRPr lang="es-CO"/>
          </a:p>
        </p:txBody>
      </p:sp>
    </p:spTree>
    <p:extLst>
      <p:ext uri="{BB962C8B-B14F-4D97-AF65-F5344CB8AC3E}">
        <p14:creationId xmlns:p14="http://schemas.microsoft.com/office/powerpoint/2010/main" val="1912645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3B46F3-BD87-1244-C518-539103D7FDA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1DB866E-528A-E7A1-888D-047A34E554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F0E838C8-B107-769B-CA23-0886E2F73C86}"/>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B0DF867A-4E8F-A03F-A929-7DA6ACDDBE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AD2D83F-DADF-BCE9-05D8-3A899D9B102B}"/>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570897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CE0EBB-9626-1753-03B1-50B133A5A6B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6BFEC1A-5FED-A861-DCEA-C205BB94BEB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44A9250-4773-1F58-BB28-B7EABC3DD0AE}"/>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F60FA128-B7B8-B0EF-D31D-231A72A302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30F846C-CD29-FC4E-6C35-B35E945D22D3}"/>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70401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3948D9-1D84-100B-E086-763A0B5A148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F1287FC-DE40-5FEE-99C0-5E106C5E60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3EB6DCD-998D-79C6-A391-68F2326B2345}"/>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9F42B1B5-98B4-F2C6-D48C-D9916064279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CFF1E9B-C3BA-795B-EDC3-183AD742781B}"/>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4189741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EF2BB7-E88B-5479-E88F-1FF94E10104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60D1765-B4DF-B8A8-267B-23D3D8FC0C0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9A175493-7780-2FBB-7845-55FB500A68D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15E3D2A-5DA3-B8EE-6513-1EE2D2F1691B}"/>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6" name="Marcador de pie de página 5">
            <a:extLst>
              <a:ext uri="{FF2B5EF4-FFF2-40B4-BE49-F238E27FC236}">
                <a16:creationId xmlns:a16="http://schemas.microsoft.com/office/drawing/2014/main" id="{485006BB-22EF-6C17-9AC9-8BC0A6CFEBB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6ED5FB5-C590-9217-D3CB-C4EBF32E9BAD}"/>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038476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384527-F461-E0E3-CBD4-91A3E821E06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1B32A59-9727-6758-5DA4-C470274EC0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265B3E9-34E1-6718-763E-F143E9540C7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44176C83-F680-A73B-26CC-0CF5D7F590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F9EBE45-361A-12BD-E0BF-240F81DE588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47D40406-BB14-9140-A36E-57E06C84B7B9}"/>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8" name="Marcador de pie de página 7">
            <a:extLst>
              <a:ext uri="{FF2B5EF4-FFF2-40B4-BE49-F238E27FC236}">
                <a16:creationId xmlns:a16="http://schemas.microsoft.com/office/drawing/2014/main" id="{A8A04C30-EDA6-E8D8-17E5-6FFC31775E72}"/>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6C15371C-606E-D71B-7E87-18750CB7B2CC}"/>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986970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786D20-6E3E-3281-0F95-BBF3C95D2EB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CFA1186-6ED9-F6E4-97BA-3A4F960A7318}"/>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4" name="Marcador de pie de página 3">
            <a:extLst>
              <a:ext uri="{FF2B5EF4-FFF2-40B4-BE49-F238E27FC236}">
                <a16:creationId xmlns:a16="http://schemas.microsoft.com/office/drawing/2014/main" id="{E00C95CA-1239-B99E-77D3-7A6FDE082216}"/>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376426A-9ABC-5EF1-AEB1-C0CFC2215C37}"/>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915364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CA8B009-C69D-1D5D-2898-3FAB863565E3}"/>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3" name="Marcador de pie de página 2">
            <a:extLst>
              <a:ext uri="{FF2B5EF4-FFF2-40B4-BE49-F238E27FC236}">
                <a16:creationId xmlns:a16="http://schemas.microsoft.com/office/drawing/2014/main" id="{914A400F-EF69-18E2-03A6-884F1D73A20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4CBCE93-02A5-2D01-14B0-951F79F14B7D}"/>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587554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E0CD9-7BCB-2025-6D74-C27F3B345F8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10EA8B7-9869-5158-E183-19819CDE34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841FCE9D-FC78-3797-E9CE-C3F4DD2CF3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142166-3168-72E8-7E91-C1FC8816A97A}"/>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6" name="Marcador de pie de página 5">
            <a:extLst>
              <a:ext uri="{FF2B5EF4-FFF2-40B4-BE49-F238E27FC236}">
                <a16:creationId xmlns:a16="http://schemas.microsoft.com/office/drawing/2014/main" id="{8B384531-13AD-3876-2B69-E6BF5C86C92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634F09-C68B-DFE7-CDD2-5D12307D1031}"/>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279997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F0B0B6-178A-2DE2-9D4C-1EA48B40C0E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FED4931-6DD5-8470-00B4-4AD729FB19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720390BD-29BD-3EF3-3F42-30FB741D8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1F85192-11DA-8CCF-60ED-9C2E23CB8A2B}"/>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6" name="Marcador de pie de página 5">
            <a:extLst>
              <a:ext uri="{FF2B5EF4-FFF2-40B4-BE49-F238E27FC236}">
                <a16:creationId xmlns:a16="http://schemas.microsoft.com/office/drawing/2014/main" id="{10B09ACD-B38C-A414-7D9B-22F6970DF23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864F253-73AE-4A50-5D78-FA299CF7DE26}"/>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208398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CD14DF-6133-7225-5208-6F1F8F738CB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9A2C64-4BCF-8878-42A2-2B7E30B623F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5B21BBE-E8B9-71AD-99D2-9280106CF287}"/>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EB04BB80-30DC-4522-9F3A-F376EF2E449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7D9122F-2D63-7AAC-D358-2F25E455CF39}"/>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923708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8AD4C63-322B-9289-95FE-95F8B78D340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DCC26B-B15B-4664-3A32-C1A29ADA1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B1FA146-87B7-F736-BB5A-46426D064BBA}"/>
              </a:ext>
            </a:extLst>
          </p:cNvPr>
          <p:cNvSpPr>
            <a:spLocks noGrp="1"/>
          </p:cNvSpPr>
          <p:nvPr>
            <p:ph type="dt" sz="half" idx="10"/>
          </p:nvPr>
        </p:nvSpPr>
        <p:spPr/>
        <p:txBody>
          <a:body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099FD83E-D958-4ABA-64A4-1CD41203CDA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32301AD-C2B3-B9CB-1E65-9B2DA6E56E38}"/>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2000970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2C9864D-1483-2AE5-0FEA-4885553706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FD254BB-B860-F144-7BF3-315B8786E3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BF5BED5-0585-53C3-A724-BE9242651E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32DC3D-3364-4B98-B737-2FEA8DB4EEB9}" type="datetimeFigureOut">
              <a:rPr lang="es-CO" smtClean="0"/>
              <a:t>10/06/2026</a:t>
            </a:fld>
            <a:endParaRPr lang="es-CO"/>
          </a:p>
        </p:txBody>
      </p:sp>
      <p:sp>
        <p:nvSpPr>
          <p:cNvPr id="5" name="Marcador de pie de página 4">
            <a:extLst>
              <a:ext uri="{FF2B5EF4-FFF2-40B4-BE49-F238E27FC236}">
                <a16:creationId xmlns:a16="http://schemas.microsoft.com/office/drawing/2014/main" id="{F0016D93-5AFA-DE80-D034-217A49DEC6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418A8A3A-02BF-B19A-B382-EB9221EEB8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E74EE6-D869-4078-805E-69EBC1C524E1}" type="slidenum">
              <a:rPr lang="es-CO" smtClean="0"/>
              <a:t>‹Nº›</a:t>
            </a:fld>
            <a:endParaRPr lang="es-CO"/>
          </a:p>
        </p:txBody>
      </p:sp>
    </p:spTree>
    <p:extLst>
      <p:ext uri="{BB962C8B-B14F-4D97-AF65-F5344CB8AC3E}">
        <p14:creationId xmlns:p14="http://schemas.microsoft.com/office/powerpoint/2010/main" val="4228135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diagramColors" Target="../diagrams/colors1.xml"/><Relationship Id="rId12"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microsoft.com/office/2007/relationships/hdphoto" Target="../media/hdphoto1.wdp"/><Relationship Id="rId5" Type="http://schemas.openxmlformats.org/officeDocument/2006/relationships/diagramLayout" Target="../diagrams/layout1.xml"/><Relationship Id="rId10" Type="http://schemas.openxmlformats.org/officeDocument/2006/relationships/image" Target="../media/image3.png"/><Relationship Id="rId4" Type="http://schemas.openxmlformats.org/officeDocument/2006/relationships/diagramData" Target="../diagrams/data1.xml"/><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12"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2.xml"/><Relationship Id="rId11" Type="http://schemas.microsoft.com/office/2007/relationships/hdphoto" Target="../media/hdphoto1.wdp"/><Relationship Id="rId5" Type="http://schemas.openxmlformats.org/officeDocument/2006/relationships/diagramLayout" Target="../diagrams/layout2.xml"/><Relationship Id="rId10" Type="http://schemas.openxmlformats.org/officeDocument/2006/relationships/image" Target="../media/image3.png"/><Relationship Id="rId4" Type="http://schemas.openxmlformats.org/officeDocument/2006/relationships/diagramData" Target="../diagrams/data2.xml"/><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12"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11" Type="http://schemas.microsoft.com/office/2007/relationships/hdphoto" Target="../media/hdphoto1.wdp"/><Relationship Id="rId5" Type="http://schemas.openxmlformats.org/officeDocument/2006/relationships/diagramLayout" Target="../diagrams/layout3.xml"/><Relationship Id="rId10" Type="http://schemas.openxmlformats.org/officeDocument/2006/relationships/image" Target="../media/image3.png"/><Relationship Id="rId4" Type="http://schemas.openxmlformats.org/officeDocument/2006/relationships/diagramData" Target="../diagrams/data3.xml"/><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13" Type="http://schemas.openxmlformats.org/officeDocument/2006/relationships/image" Target="../media/image6.jpg"/><Relationship Id="rId3" Type="http://schemas.openxmlformats.org/officeDocument/2006/relationships/image" Target="../media/image1.png"/><Relationship Id="rId7" Type="http://schemas.openxmlformats.org/officeDocument/2006/relationships/diagramColors" Target="../diagrams/colors4.xml"/><Relationship Id="rId12"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4.xml"/><Relationship Id="rId11" Type="http://schemas.microsoft.com/office/2007/relationships/hdphoto" Target="../media/hdphoto1.wdp"/><Relationship Id="rId5" Type="http://schemas.openxmlformats.org/officeDocument/2006/relationships/diagramLayout" Target="../diagrams/layout4.xml"/><Relationship Id="rId10" Type="http://schemas.openxmlformats.org/officeDocument/2006/relationships/image" Target="../media/image3.png"/><Relationship Id="rId4" Type="http://schemas.openxmlformats.org/officeDocument/2006/relationships/diagramData" Target="../diagrams/data4.xml"/><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13"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diagramColors" Target="../diagrams/colors5.xml"/><Relationship Id="rId12"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5.xml"/><Relationship Id="rId11" Type="http://schemas.microsoft.com/office/2007/relationships/hdphoto" Target="../media/hdphoto1.wdp"/><Relationship Id="rId5" Type="http://schemas.openxmlformats.org/officeDocument/2006/relationships/diagramLayout" Target="../diagrams/layout5.xml"/><Relationship Id="rId10" Type="http://schemas.openxmlformats.org/officeDocument/2006/relationships/image" Target="../media/image3.png"/><Relationship Id="rId4" Type="http://schemas.openxmlformats.org/officeDocument/2006/relationships/diagramData" Target="../diagrams/data5.xml"/><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png"/><Relationship Id="rId7" Type="http://schemas.openxmlformats.org/officeDocument/2006/relationships/diagramColors" Target="../diagrams/colors6.xml"/><Relationship Id="rId12"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6.xml"/><Relationship Id="rId11" Type="http://schemas.microsoft.com/office/2007/relationships/hdphoto" Target="../media/hdphoto1.wdp"/><Relationship Id="rId5" Type="http://schemas.openxmlformats.org/officeDocument/2006/relationships/diagramLayout" Target="../diagrams/layout6.xml"/><Relationship Id="rId10" Type="http://schemas.openxmlformats.org/officeDocument/2006/relationships/image" Target="../media/image3.png"/><Relationship Id="rId4" Type="http://schemas.openxmlformats.org/officeDocument/2006/relationships/diagramData" Target="../diagrams/data6.xml"/><Relationship Id="rId9"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png"/><Relationship Id="rId7" Type="http://schemas.openxmlformats.org/officeDocument/2006/relationships/diagramColors" Target="../diagrams/colors7.xml"/><Relationship Id="rId12"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7.xml"/><Relationship Id="rId11" Type="http://schemas.microsoft.com/office/2007/relationships/hdphoto" Target="../media/hdphoto1.wdp"/><Relationship Id="rId5" Type="http://schemas.openxmlformats.org/officeDocument/2006/relationships/diagramLayout" Target="../diagrams/layout7.xml"/><Relationship Id="rId10" Type="http://schemas.openxmlformats.org/officeDocument/2006/relationships/image" Target="../media/image3.png"/><Relationship Id="rId4" Type="http://schemas.openxmlformats.org/officeDocument/2006/relationships/diagramData" Target="../diagrams/data7.xml"/><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1.png"/><Relationship Id="rId7" Type="http://schemas.openxmlformats.org/officeDocument/2006/relationships/diagramColors" Target="../diagrams/colors8.xml"/><Relationship Id="rId12"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8.xml"/><Relationship Id="rId11" Type="http://schemas.microsoft.com/office/2007/relationships/hdphoto" Target="../media/hdphoto1.wdp"/><Relationship Id="rId5" Type="http://schemas.openxmlformats.org/officeDocument/2006/relationships/diagramLayout" Target="../diagrams/layout8.xml"/><Relationship Id="rId10" Type="http://schemas.openxmlformats.org/officeDocument/2006/relationships/image" Target="../media/image3.png"/><Relationship Id="rId4" Type="http://schemas.openxmlformats.org/officeDocument/2006/relationships/diagramData" Target="../diagrams/data8.xml"/><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microsoft.com/office/2007/relationships/diagramDrawing" Target="../diagrams/drawing9.xml"/><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diagramColors" Target="../diagrams/colors9.xml"/><Relationship Id="rId12"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9.xml"/><Relationship Id="rId11" Type="http://schemas.microsoft.com/office/2007/relationships/hdphoto" Target="../media/hdphoto1.wdp"/><Relationship Id="rId5" Type="http://schemas.openxmlformats.org/officeDocument/2006/relationships/diagramLayout" Target="../diagrams/layout9.xml"/><Relationship Id="rId10" Type="http://schemas.openxmlformats.org/officeDocument/2006/relationships/image" Target="../media/image3.png"/><Relationship Id="rId4" Type="http://schemas.openxmlformats.org/officeDocument/2006/relationships/diagramData" Target="../diagrams/data9.xml"/><Relationship Id="rId9"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microsoft.com/office/2007/relationships/diagramDrawing" Target="../diagrams/drawing10.xml"/><Relationship Id="rId13"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diagramColors" Target="../diagrams/colors10.xml"/><Relationship Id="rId12"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10.xml"/><Relationship Id="rId11" Type="http://schemas.microsoft.com/office/2007/relationships/hdphoto" Target="../media/hdphoto1.wdp"/><Relationship Id="rId5" Type="http://schemas.openxmlformats.org/officeDocument/2006/relationships/diagramLayout" Target="../diagrams/layout10.xml"/><Relationship Id="rId10" Type="http://schemas.openxmlformats.org/officeDocument/2006/relationships/image" Target="../media/image3.png"/><Relationship Id="rId4" Type="http://schemas.openxmlformats.org/officeDocument/2006/relationships/diagramData" Target="../diagrams/data10.xml"/><Relationship Id="rId9"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1.png"/><Relationship Id="rId7" Type="http://schemas.openxmlformats.org/officeDocument/2006/relationships/diagramColors" Target="../diagrams/colors11.xml"/><Relationship Id="rId12"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11.xml"/><Relationship Id="rId11" Type="http://schemas.microsoft.com/office/2007/relationships/hdphoto" Target="../media/hdphoto1.wdp"/><Relationship Id="rId5" Type="http://schemas.openxmlformats.org/officeDocument/2006/relationships/diagramLayout" Target="../diagrams/layout11.xml"/><Relationship Id="rId10" Type="http://schemas.openxmlformats.org/officeDocument/2006/relationships/image" Target="../media/image3.png"/><Relationship Id="rId4" Type="http://schemas.openxmlformats.org/officeDocument/2006/relationships/diagramData" Target="../diagrams/data11.xm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D1E2251-D51D-E043-921A-7495EE8A4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03E4AF6F-E779-CD1D-11EF-0C24C6FC8AFA}"/>
              </a:ext>
            </a:extLst>
          </p:cNvPr>
          <p:cNvSpPr>
            <a:spLocks noGrp="1"/>
          </p:cNvSpPr>
          <p:nvPr>
            <p:ph type="ctrTitle"/>
          </p:nvPr>
        </p:nvSpPr>
        <p:spPr>
          <a:xfrm>
            <a:off x="2484120" y="1038225"/>
            <a:ext cx="7772400" cy="1470025"/>
          </a:xfrm>
        </p:spPr>
        <p:txBody>
          <a:bodyPr>
            <a:normAutofit fontScale="90000"/>
          </a:bodyPr>
          <a:lstStyle/>
          <a:p>
            <a:r>
              <a:rPr dirty="0" err="1"/>
              <a:t>Experiencia</a:t>
            </a:r>
            <a:r>
              <a:rPr dirty="0"/>
              <a:t> </a:t>
            </a:r>
            <a:r>
              <a:rPr dirty="0" err="1"/>
              <a:t>Significativa</a:t>
            </a:r>
            <a:endParaRPr dirty="0"/>
          </a:p>
        </p:txBody>
      </p:sp>
      <p:sp>
        <p:nvSpPr>
          <p:cNvPr id="4" name="Subtitle 2">
            <a:extLst>
              <a:ext uri="{FF2B5EF4-FFF2-40B4-BE49-F238E27FC236}">
                <a16:creationId xmlns:a16="http://schemas.microsoft.com/office/drawing/2014/main" id="{8A95729C-CECB-640B-E4A6-9CF9EDDA0E49}"/>
              </a:ext>
            </a:extLst>
          </p:cNvPr>
          <p:cNvSpPr>
            <a:spLocks noGrp="1"/>
          </p:cNvSpPr>
          <p:nvPr>
            <p:ph type="subTitle" idx="1"/>
          </p:nvPr>
        </p:nvSpPr>
        <p:spPr>
          <a:xfrm>
            <a:off x="3169920" y="5329079"/>
            <a:ext cx="6400800" cy="1147921"/>
          </a:xfrm>
        </p:spPr>
        <p:txBody>
          <a:bodyPr>
            <a:normAutofit/>
          </a:bodyPr>
          <a:lstStyle/>
          <a:p>
            <a:pPr>
              <a:spcBef>
                <a:spcPts val="0"/>
              </a:spcBef>
            </a:pPr>
            <a:r>
              <a:rPr lang="es-MX" b="1" dirty="0">
                <a:solidFill>
                  <a:schemeClr val="tx1"/>
                </a:solidFill>
              </a:rPr>
              <a:t>I. E. M. </a:t>
            </a:r>
            <a:r>
              <a:rPr b="1" dirty="0">
                <a:solidFill>
                  <a:schemeClr val="tx1"/>
                </a:solidFill>
              </a:rPr>
              <a:t>Escuela Normal Superior</a:t>
            </a:r>
          </a:p>
          <a:p>
            <a:pPr>
              <a:spcBef>
                <a:spcPts val="0"/>
              </a:spcBef>
            </a:pPr>
            <a:r>
              <a:rPr lang="es-CO" b="1" dirty="0">
                <a:solidFill>
                  <a:schemeClr val="tx1"/>
                </a:solidFill>
              </a:rPr>
              <a:t>Pitalito – Huila </a:t>
            </a:r>
          </a:p>
          <a:p>
            <a:pPr>
              <a:spcBef>
                <a:spcPts val="0"/>
              </a:spcBef>
            </a:pPr>
            <a:r>
              <a:rPr lang="es-CO" b="1" dirty="0">
                <a:solidFill>
                  <a:schemeClr val="tx1"/>
                </a:solidFill>
              </a:rPr>
              <a:t>2025</a:t>
            </a:r>
            <a:endParaRPr b="1" dirty="0">
              <a:solidFill>
                <a:schemeClr val="tx1"/>
              </a:solidFill>
            </a:endParaRPr>
          </a:p>
        </p:txBody>
      </p:sp>
      <p:pic>
        <p:nvPicPr>
          <p:cNvPr id="6" name="Imagen 5">
            <a:extLst>
              <a:ext uri="{FF2B5EF4-FFF2-40B4-BE49-F238E27FC236}">
                <a16:creationId xmlns:a16="http://schemas.microsoft.com/office/drawing/2014/main" id="{6569E89D-FDB4-3BCA-DEDE-3D7DDE2A4FB2}"/>
              </a:ext>
            </a:extLst>
          </p:cNvPr>
          <p:cNvPicPr>
            <a:picLocks noChangeAspect="1"/>
          </p:cNvPicPr>
          <p:nvPr/>
        </p:nvPicPr>
        <p:blipFill>
          <a:blip r:embed="rId3"/>
          <a:stretch>
            <a:fillRect/>
          </a:stretch>
        </p:blipFill>
        <p:spPr>
          <a:xfrm>
            <a:off x="224705" y="5730875"/>
            <a:ext cx="922189" cy="949009"/>
          </a:xfrm>
          <a:prstGeom prst="rect">
            <a:avLst/>
          </a:prstGeom>
        </p:spPr>
      </p:pic>
      <p:sp>
        <p:nvSpPr>
          <p:cNvPr id="7" name="Subtitle 2">
            <a:extLst>
              <a:ext uri="{FF2B5EF4-FFF2-40B4-BE49-F238E27FC236}">
                <a16:creationId xmlns:a16="http://schemas.microsoft.com/office/drawing/2014/main" id="{9D5FC479-D7DE-25EA-1EFB-11898125D411}"/>
              </a:ext>
            </a:extLst>
          </p:cNvPr>
          <p:cNvSpPr txBox="1">
            <a:spLocks/>
          </p:cNvSpPr>
          <p:nvPr/>
        </p:nvSpPr>
        <p:spPr>
          <a:xfrm>
            <a:off x="3169920" y="3195479"/>
            <a:ext cx="6400800" cy="1752600"/>
          </a:xfrm>
          <a:prstGeom prst="rect">
            <a:avLst/>
          </a:prstGeom>
        </p:spPr>
        <p:txBody>
          <a:bodyPr vert="horz" lIns="91440" tIns="45720" rIns="91440" bIns="45720" rtlCol="0">
            <a:normAutofit fontScale="92500" lnSpcReduction="1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s-CO" sz="4800" b="1" dirty="0">
                <a:solidFill>
                  <a:schemeClr val="tx1"/>
                </a:solidFill>
              </a:rPr>
              <a:t>TIN TEATRO IN</a:t>
            </a:r>
          </a:p>
          <a:p>
            <a:endParaRPr lang="es-CO" dirty="0"/>
          </a:p>
          <a:p>
            <a:r>
              <a:rPr lang="es-CO" dirty="0" err="1">
                <a:solidFill>
                  <a:schemeClr val="tx1"/>
                </a:solidFill>
              </a:rPr>
              <a:t>Belen</a:t>
            </a:r>
            <a:r>
              <a:rPr lang="es-CO" dirty="0">
                <a:solidFill>
                  <a:schemeClr val="tx1"/>
                </a:solidFill>
              </a:rPr>
              <a:t> </a:t>
            </a:r>
            <a:r>
              <a:rPr lang="es-CO" dirty="0" err="1">
                <a:solidFill>
                  <a:schemeClr val="tx1"/>
                </a:solidFill>
              </a:rPr>
              <a:t>Esneda</a:t>
            </a:r>
            <a:r>
              <a:rPr lang="es-CO" dirty="0">
                <a:solidFill>
                  <a:schemeClr val="tx1"/>
                </a:solidFill>
              </a:rPr>
              <a:t> Moreno Chala</a:t>
            </a:r>
            <a:endParaRPr lang="es-CO" b="1" dirty="0">
              <a:solidFill>
                <a:schemeClr val="tx1"/>
              </a:solidFill>
            </a:endParaRPr>
          </a:p>
        </p:txBody>
      </p:sp>
      <p:pic>
        <p:nvPicPr>
          <p:cNvPr id="8" name="Imagen 7">
            <a:extLst>
              <a:ext uri="{FF2B5EF4-FFF2-40B4-BE49-F238E27FC236}">
                <a16:creationId xmlns:a16="http://schemas.microsoft.com/office/drawing/2014/main" id="{D79F20E7-AAE1-C7D2-6F65-F7410C02341F}"/>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2" name="Imagen 1">
            <a:extLst>
              <a:ext uri="{FF2B5EF4-FFF2-40B4-BE49-F238E27FC236}">
                <a16:creationId xmlns:a16="http://schemas.microsoft.com/office/drawing/2014/main" id="{1DA9AD66-AE42-2E9B-E3F5-AAEDA3C259BA}"/>
              </a:ext>
            </a:extLst>
          </p:cNvPr>
          <p:cNvPicPr>
            <a:picLocks noChangeAspect="1"/>
          </p:cNvPicPr>
          <p:nvPr/>
        </p:nvPicPr>
        <p:blipFill>
          <a:blip r:embed="rId6"/>
          <a:stretch>
            <a:fillRect/>
          </a:stretch>
        </p:blipFill>
        <p:spPr>
          <a:xfrm>
            <a:off x="9030378" y="2367934"/>
            <a:ext cx="3005328" cy="38160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97933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E88AC51-D933-785F-6FF3-0EAB785E7A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115"/>
            <a:ext cx="12192000" cy="6858000"/>
          </a:xfrm>
          <a:prstGeom prst="rect">
            <a:avLst/>
          </a:prstGeom>
        </p:spPr>
      </p:pic>
      <p:graphicFrame>
        <p:nvGraphicFramePr>
          <p:cNvPr id="7" name="Diagrama 6">
            <a:extLst>
              <a:ext uri="{FF2B5EF4-FFF2-40B4-BE49-F238E27FC236}">
                <a16:creationId xmlns:a16="http://schemas.microsoft.com/office/drawing/2014/main" id="{DAFB1767-39C6-1E8D-BD02-8A7563260A73}"/>
              </a:ext>
            </a:extLst>
          </p:cNvPr>
          <p:cNvGraphicFramePr/>
          <p:nvPr>
            <p:extLst>
              <p:ext uri="{D42A27DB-BD31-4B8C-83A1-F6EECF244321}">
                <p14:modId xmlns:p14="http://schemas.microsoft.com/office/powerpoint/2010/main" val="3640687987"/>
              </p:ext>
            </p:extLst>
          </p:nvPr>
        </p:nvGraphicFramePr>
        <p:xfrm>
          <a:off x="1645920" y="896288"/>
          <a:ext cx="8229600"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Content Placeholder 2">
            <a:extLst>
              <a:ext uri="{FF2B5EF4-FFF2-40B4-BE49-F238E27FC236}">
                <a16:creationId xmlns:a16="http://schemas.microsoft.com/office/drawing/2014/main" id="{86BF94A6-6D3D-7CB4-A461-7A06FE3E181A}"/>
              </a:ext>
            </a:extLst>
          </p:cNvPr>
          <p:cNvSpPr>
            <a:spLocks noGrp="1"/>
          </p:cNvSpPr>
          <p:nvPr>
            <p:ph idx="1"/>
          </p:nvPr>
        </p:nvSpPr>
        <p:spPr>
          <a:xfrm>
            <a:off x="5308262" y="2087992"/>
            <a:ext cx="4789729" cy="4525963"/>
          </a:xfrm>
        </p:spPr>
        <p:txBody>
          <a:bodyPr>
            <a:normAutofit fontScale="47500" lnSpcReduction="20000"/>
          </a:bodyPr>
          <a:lstStyle/>
          <a:p>
            <a:pPr>
              <a:buNone/>
            </a:pPr>
            <a:r>
              <a:rPr lang="es-MX" b="1" dirty="0"/>
              <a:t>Enfoque:</a:t>
            </a:r>
            <a:r>
              <a:rPr lang="es-MX" dirty="0"/>
              <a:t/>
            </a:r>
            <a:br>
              <a:rPr lang="es-MX" dirty="0"/>
            </a:br>
            <a:r>
              <a:rPr lang="es-MX" dirty="0"/>
              <a:t>Experiencia basada en un enfoque </a:t>
            </a:r>
            <a:r>
              <a:rPr lang="es-MX" b="1" dirty="0"/>
              <a:t>socio-crítico y humanista</a:t>
            </a:r>
            <a:r>
              <a:rPr lang="es-MX" dirty="0"/>
              <a:t>, donde el teatro es mediador para el aprendizaje integral y la formación ciudadana.</a:t>
            </a:r>
          </a:p>
          <a:p>
            <a:pPr>
              <a:buNone/>
            </a:pPr>
            <a:r>
              <a:rPr lang="es-MX" b="1" dirty="0"/>
              <a:t>Referentes:</a:t>
            </a:r>
            <a:r>
              <a:rPr lang="es-MX" dirty="0"/>
              <a:t/>
            </a:r>
            <a:br>
              <a:rPr lang="es-MX" dirty="0"/>
            </a:br>
            <a:r>
              <a:rPr lang="es-MX" dirty="0"/>
              <a:t>Alineada con la </a:t>
            </a:r>
            <a:r>
              <a:rPr lang="es-MX" b="1" dirty="0"/>
              <a:t>Ley General de Educación</a:t>
            </a:r>
            <a:r>
              <a:rPr lang="es-MX" dirty="0"/>
              <a:t>, Lineamientos de </a:t>
            </a:r>
            <a:r>
              <a:rPr lang="es-MX" b="1" dirty="0"/>
              <a:t>Educación Artística</a:t>
            </a:r>
            <a:r>
              <a:rPr lang="es-MX" dirty="0"/>
              <a:t>, Educación para la </a:t>
            </a:r>
            <a:r>
              <a:rPr lang="es-MX" b="1" dirty="0"/>
              <a:t>Ciudadanía y la Convivencia</a:t>
            </a:r>
            <a:r>
              <a:rPr lang="es-MX" dirty="0"/>
              <a:t> y competencias socioemocionales del </a:t>
            </a:r>
            <a:r>
              <a:rPr lang="es-MX" b="1" dirty="0"/>
              <a:t>MEN</a:t>
            </a:r>
            <a:r>
              <a:rPr lang="es-MX" dirty="0"/>
              <a:t>.</a:t>
            </a:r>
          </a:p>
          <a:p>
            <a:pPr>
              <a:buNone/>
            </a:pPr>
            <a:r>
              <a:rPr lang="es-MX" b="1" dirty="0"/>
              <a:t>Articulación Institucional:</a:t>
            </a:r>
            <a:r>
              <a:rPr lang="es-MX" dirty="0"/>
              <a:t/>
            </a:r>
            <a:br>
              <a:rPr lang="es-MX" dirty="0"/>
            </a:br>
            <a:r>
              <a:rPr lang="es-MX" dirty="0"/>
              <a:t>Coherencia con el </a:t>
            </a:r>
            <a:r>
              <a:rPr lang="es-MX" b="1" dirty="0"/>
              <a:t>PEI</a:t>
            </a:r>
            <a:r>
              <a:rPr lang="es-MX" dirty="0"/>
              <a:t> y </a:t>
            </a:r>
            <a:r>
              <a:rPr lang="es-MX" b="1" dirty="0"/>
              <a:t>PMI</a:t>
            </a:r>
            <a:r>
              <a:rPr lang="es-MX" dirty="0"/>
              <a:t> de la Normal Superior de Pitalito al fortalecer liderazgo, convivencia, salud mental y habilidades socioemocionales.</a:t>
            </a:r>
          </a:p>
          <a:p>
            <a:pPr>
              <a:buNone/>
            </a:pPr>
            <a:r>
              <a:rPr lang="es-MX" b="1" dirty="0"/>
              <a:t>Metodología:</a:t>
            </a:r>
            <a:r>
              <a:rPr lang="es-MX" dirty="0"/>
              <a:t/>
            </a:r>
            <a:br>
              <a:rPr lang="es-MX" dirty="0"/>
            </a:br>
            <a:r>
              <a:rPr lang="es-MX" dirty="0"/>
              <a:t>Metodologías activas y aprendizaje experiencial mediante procesos </a:t>
            </a:r>
            <a:r>
              <a:rPr lang="es-MX" b="1" dirty="0"/>
              <a:t>creativos, expresivos y colaborativos</a:t>
            </a:r>
            <a:r>
              <a:rPr lang="es-MX" dirty="0"/>
              <a:t>.</a:t>
            </a:r>
          </a:p>
          <a:p>
            <a:r>
              <a:rPr lang="es-MX" b="1" dirty="0"/>
              <a:t>Cita:</a:t>
            </a:r>
            <a:r>
              <a:rPr lang="es-MX" dirty="0"/>
              <a:t/>
            </a:r>
            <a:br>
              <a:rPr lang="es-MX" dirty="0"/>
            </a:br>
            <a:r>
              <a:rPr lang="es-MX" dirty="0"/>
              <a:t>“La comunicación debe construir conocimiento, sentido y significado en una sociedad </a:t>
            </a:r>
            <a:r>
              <a:rPr lang="es-MX" dirty="0" err="1"/>
              <a:t>tecnodependiente</a:t>
            </a:r>
            <a:r>
              <a:rPr lang="es-MX" dirty="0"/>
              <a:t>” (</a:t>
            </a:r>
            <a:r>
              <a:rPr lang="es-MX" dirty="0" err="1"/>
              <a:t>Llovess</a:t>
            </a:r>
            <a:r>
              <a:rPr lang="es-MX" dirty="0"/>
              <a:t> &amp; Williamson, 2017).</a:t>
            </a:r>
          </a:p>
          <a:p>
            <a:pPr marL="0" indent="0">
              <a:buNone/>
            </a:pPr>
            <a:endParaRPr lang="es-MX" dirty="0"/>
          </a:p>
        </p:txBody>
      </p:sp>
      <p:pic>
        <p:nvPicPr>
          <p:cNvPr id="9" name="Imagen 8">
            <a:extLst>
              <a:ext uri="{FF2B5EF4-FFF2-40B4-BE49-F238E27FC236}">
                <a16:creationId xmlns:a16="http://schemas.microsoft.com/office/drawing/2014/main" id="{B6F28BD8-DC00-1D30-E02F-09C872FE62EA}"/>
              </a:ext>
            </a:extLst>
          </p:cNvPr>
          <p:cNvPicPr>
            <a:picLocks noChangeAspect="1"/>
          </p:cNvPicPr>
          <p:nvPr/>
        </p:nvPicPr>
        <p:blipFill>
          <a:blip r:embed="rId9"/>
          <a:stretch>
            <a:fillRect/>
          </a:stretch>
        </p:blipFill>
        <p:spPr>
          <a:xfrm>
            <a:off x="224705" y="5730875"/>
            <a:ext cx="922189" cy="949009"/>
          </a:xfrm>
          <a:prstGeom prst="rect">
            <a:avLst/>
          </a:prstGeom>
        </p:spPr>
      </p:pic>
      <p:pic>
        <p:nvPicPr>
          <p:cNvPr id="10" name="Imagen 9">
            <a:extLst>
              <a:ext uri="{FF2B5EF4-FFF2-40B4-BE49-F238E27FC236}">
                <a16:creationId xmlns:a16="http://schemas.microsoft.com/office/drawing/2014/main" id="{033B2458-0A17-E51B-B1D6-E3947FD323EB}"/>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5" y="-64819"/>
            <a:ext cx="2852115" cy="4349750"/>
          </a:xfrm>
          <a:prstGeom prst="rect">
            <a:avLst/>
          </a:prstGeom>
        </p:spPr>
      </p:pic>
      <p:pic>
        <p:nvPicPr>
          <p:cNvPr id="2" name="Imagen 1">
            <a:extLst>
              <a:ext uri="{FF2B5EF4-FFF2-40B4-BE49-F238E27FC236}">
                <a16:creationId xmlns:a16="http://schemas.microsoft.com/office/drawing/2014/main" id="{24F44D39-8901-FAB9-2F85-2A611D4342E3}"/>
              </a:ext>
            </a:extLst>
          </p:cNvPr>
          <p:cNvPicPr>
            <a:picLocks noChangeAspect="1"/>
          </p:cNvPicPr>
          <p:nvPr/>
        </p:nvPicPr>
        <p:blipFill>
          <a:blip r:embed="rId12"/>
          <a:stretch>
            <a:fillRect/>
          </a:stretch>
        </p:blipFill>
        <p:spPr>
          <a:xfrm>
            <a:off x="10097991" y="4075298"/>
            <a:ext cx="1510995" cy="19185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 name="Imagen 2">
            <a:extLst>
              <a:ext uri="{FF2B5EF4-FFF2-40B4-BE49-F238E27FC236}">
                <a16:creationId xmlns:a16="http://schemas.microsoft.com/office/drawing/2014/main" id="{229D90F6-9B92-D614-E0CE-CFF495FBC49A}"/>
              </a:ext>
            </a:extLst>
          </p:cNvPr>
          <p:cNvPicPr>
            <a:picLocks noChangeAspect="1"/>
          </p:cNvPicPr>
          <p:nvPr/>
        </p:nvPicPr>
        <p:blipFill>
          <a:blip r:embed="rId13"/>
          <a:stretch>
            <a:fillRect/>
          </a:stretch>
        </p:blipFill>
        <p:spPr>
          <a:xfrm>
            <a:off x="1253574" y="2371383"/>
            <a:ext cx="3520696" cy="3484401"/>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568321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28CD0-7102-797F-C3D9-A885F4B9B29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6B75AEE-64D5-27DD-ED06-2ECBE70E4F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Diagrama 1">
            <a:extLst>
              <a:ext uri="{FF2B5EF4-FFF2-40B4-BE49-F238E27FC236}">
                <a16:creationId xmlns:a16="http://schemas.microsoft.com/office/drawing/2014/main" id="{FD8A8747-9E51-7989-429C-D1E4727804DE}"/>
              </a:ext>
            </a:extLst>
          </p:cNvPr>
          <p:cNvGraphicFramePr/>
          <p:nvPr>
            <p:extLst>
              <p:ext uri="{D42A27DB-BD31-4B8C-83A1-F6EECF244321}">
                <p14:modId xmlns:p14="http://schemas.microsoft.com/office/powerpoint/2010/main" val="159734654"/>
              </p:ext>
            </p:extLst>
          </p:nvPr>
        </p:nvGraphicFramePr>
        <p:xfrm>
          <a:off x="1668780" y="660160"/>
          <a:ext cx="8229600"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Content Placeholder 2">
            <a:extLst>
              <a:ext uri="{FF2B5EF4-FFF2-40B4-BE49-F238E27FC236}">
                <a16:creationId xmlns:a16="http://schemas.microsoft.com/office/drawing/2014/main" id="{7CE09EF0-8BE2-9B90-3CCE-01263D992ABA}"/>
              </a:ext>
            </a:extLst>
          </p:cNvPr>
          <p:cNvSpPr>
            <a:spLocks noGrp="1"/>
          </p:cNvSpPr>
          <p:nvPr>
            <p:ph idx="1"/>
          </p:nvPr>
        </p:nvSpPr>
        <p:spPr>
          <a:xfrm>
            <a:off x="1668780" y="1985722"/>
            <a:ext cx="8229600" cy="4525963"/>
          </a:xfrm>
        </p:spPr>
        <p:txBody>
          <a:bodyPr>
            <a:normAutofit fontScale="62500" lnSpcReduction="20000"/>
          </a:bodyPr>
          <a:lstStyle/>
          <a:p>
            <a:pPr>
              <a:buNone/>
            </a:pPr>
            <a:r>
              <a:rPr lang="es-MX" dirty="0"/>
              <a:t>La experiencia </a:t>
            </a:r>
            <a:r>
              <a:rPr lang="es-MX" b="1" dirty="0"/>
              <a:t>TIN TEATRO IN</a:t>
            </a:r>
            <a:r>
              <a:rPr lang="es-MX" dirty="0"/>
              <a:t> demuestra una alta pertinencia al ser una respuesta innovadora y directa a una necesidad crucial identificada en el contexto educativo:</a:t>
            </a:r>
          </a:p>
          <a:p>
            <a:pPr>
              <a:buFont typeface="Arial" panose="020B0604020202020204" pitchFamily="34" charset="0"/>
              <a:buChar char="•"/>
            </a:pPr>
            <a:r>
              <a:rPr lang="es-MX" b="1" dirty="0"/>
              <a:t>Problemática Contextual:</a:t>
            </a:r>
            <a:r>
              <a:rPr lang="es-MX" dirty="0"/>
              <a:t> Se detectó en la I.E. Normal Superior de Pitalito un porcentaje significativo de estudiantes con </a:t>
            </a:r>
            <a:r>
              <a:rPr lang="es-MX" b="1" dirty="0"/>
              <a:t>dificultades en la comunicación asertiva</a:t>
            </a:r>
            <a:r>
              <a:rPr lang="es-MX" dirty="0"/>
              <a:t>, la </a:t>
            </a:r>
            <a:r>
              <a:rPr lang="es-MX" b="1" dirty="0"/>
              <a:t>expresión verbal y corporal</a:t>
            </a:r>
            <a:r>
              <a:rPr lang="es-MX" dirty="0"/>
              <a:t>, y </a:t>
            </a:r>
            <a:r>
              <a:rPr lang="es-MX" b="1" dirty="0"/>
              <a:t>temor a hablar en público</a:t>
            </a:r>
            <a:r>
              <a:rPr lang="es-MX" dirty="0"/>
              <a:t>.</a:t>
            </a:r>
          </a:p>
          <a:p>
            <a:pPr>
              <a:buFont typeface="Arial" panose="020B0604020202020204" pitchFamily="34" charset="0"/>
              <a:buChar char="•"/>
            </a:pPr>
            <a:r>
              <a:rPr lang="es-MX" b="1" dirty="0"/>
              <a:t>Respuesta Estratégica:</a:t>
            </a:r>
            <a:r>
              <a:rPr lang="es-MX" dirty="0"/>
              <a:t> El proyecto utiliza el teatro como </a:t>
            </a:r>
            <a:r>
              <a:rPr lang="es-MX" b="1" dirty="0"/>
              <a:t>recurso pedagógico innovador</a:t>
            </a:r>
            <a:r>
              <a:rPr lang="es-MX" dirty="0"/>
              <a:t> para transformar estas limitaciones en oportunidades de aprendizaje, alineándose con la necesidad del contexto urbano-escolar de Pitalito de promover la </a:t>
            </a:r>
            <a:r>
              <a:rPr lang="es-MX" b="1" dirty="0"/>
              <a:t>inclusión, la colaboración y la creatividad</a:t>
            </a:r>
            <a:r>
              <a:rPr lang="es-MX" dirty="0"/>
              <a:t>.</a:t>
            </a:r>
          </a:p>
          <a:p>
            <a:pPr>
              <a:buFont typeface="Arial" panose="020B0604020202020204" pitchFamily="34" charset="0"/>
              <a:buChar char="•"/>
            </a:pPr>
            <a:r>
              <a:rPr lang="es-MX" b="1" dirty="0"/>
              <a:t>Coherencia con Políticas:</a:t>
            </a:r>
            <a:r>
              <a:rPr lang="es-MX" dirty="0"/>
              <a:t> Responde a la necesidad de fortalecer las </a:t>
            </a:r>
            <a:r>
              <a:rPr lang="es-MX" b="1" dirty="0"/>
              <a:t>habilidades socioemocionales</a:t>
            </a:r>
            <a:r>
              <a:rPr lang="es-MX" dirty="0"/>
              <a:t> y el </a:t>
            </a:r>
            <a:r>
              <a:rPr lang="es-MX" b="1" dirty="0"/>
              <a:t>desarrollo integral</a:t>
            </a:r>
            <a:r>
              <a:rPr lang="es-MX" dirty="0"/>
              <a:t> de los estudiantes, elementos clave en las políticas públicas educativas actuales que buscan la formación de ciudadanos competentes y con bienestar emocional.</a:t>
            </a:r>
          </a:p>
        </p:txBody>
      </p:sp>
      <p:pic>
        <p:nvPicPr>
          <p:cNvPr id="6" name="Imagen 5">
            <a:extLst>
              <a:ext uri="{FF2B5EF4-FFF2-40B4-BE49-F238E27FC236}">
                <a16:creationId xmlns:a16="http://schemas.microsoft.com/office/drawing/2014/main" id="{C99328DF-9064-CF9F-9749-2637864399CD}"/>
              </a:ext>
            </a:extLst>
          </p:cNvPr>
          <p:cNvPicPr>
            <a:picLocks noChangeAspect="1"/>
          </p:cNvPicPr>
          <p:nvPr/>
        </p:nvPicPr>
        <p:blipFill>
          <a:blip r:embed="rId9"/>
          <a:stretch>
            <a:fillRect/>
          </a:stretch>
        </p:blipFill>
        <p:spPr>
          <a:xfrm>
            <a:off x="224705" y="5730875"/>
            <a:ext cx="922189" cy="949009"/>
          </a:xfrm>
          <a:prstGeom prst="rect">
            <a:avLst/>
          </a:prstGeom>
        </p:spPr>
      </p:pic>
      <p:pic>
        <p:nvPicPr>
          <p:cNvPr id="7" name="Imagen 6">
            <a:extLst>
              <a:ext uri="{FF2B5EF4-FFF2-40B4-BE49-F238E27FC236}">
                <a16:creationId xmlns:a16="http://schemas.microsoft.com/office/drawing/2014/main" id="{F15854E9-6669-ECBB-33BB-38729EAF3B87}"/>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5" y="0"/>
            <a:ext cx="2852115" cy="4349750"/>
          </a:xfrm>
          <a:prstGeom prst="rect">
            <a:avLst/>
          </a:prstGeom>
        </p:spPr>
      </p:pic>
      <p:pic>
        <p:nvPicPr>
          <p:cNvPr id="4" name="Imagen 3">
            <a:extLst>
              <a:ext uri="{FF2B5EF4-FFF2-40B4-BE49-F238E27FC236}">
                <a16:creationId xmlns:a16="http://schemas.microsoft.com/office/drawing/2014/main" id="{8B19D805-AC11-D309-C31B-59F7E49F7861}"/>
              </a:ext>
            </a:extLst>
          </p:cNvPr>
          <p:cNvPicPr>
            <a:picLocks noChangeAspect="1"/>
          </p:cNvPicPr>
          <p:nvPr/>
        </p:nvPicPr>
        <p:blipFill>
          <a:blip r:embed="rId12"/>
          <a:stretch>
            <a:fillRect/>
          </a:stretch>
        </p:blipFill>
        <p:spPr>
          <a:xfrm>
            <a:off x="10097991" y="4075298"/>
            <a:ext cx="1510995" cy="19185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668533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70"/>
            <a:ext cx="12192000" cy="6858000"/>
          </a:xfrm>
          <a:prstGeom prst="rect">
            <a:avLst/>
          </a:prstGeom>
        </p:spPr>
      </p:pic>
      <p:graphicFrame>
        <p:nvGraphicFramePr>
          <p:cNvPr id="6" name="Diagrama 5">
            <a:extLst>
              <a:ext uri="{FF2B5EF4-FFF2-40B4-BE49-F238E27FC236}">
                <a16:creationId xmlns:a16="http://schemas.microsoft.com/office/drawing/2014/main" id="{EFE567D3-4DA4-45B3-7C1A-3DF3B7898ED8}"/>
              </a:ext>
            </a:extLst>
          </p:cNvPr>
          <p:cNvGraphicFramePr/>
          <p:nvPr>
            <p:extLst>
              <p:ext uri="{D42A27DB-BD31-4B8C-83A1-F6EECF244321}">
                <p14:modId xmlns:p14="http://schemas.microsoft.com/office/powerpoint/2010/main" val="1105451773"/>
              </p:ext>
            </p:extLst>
          </p:nvPr>
        </p:nvGraphicFramePr>
        <p:xfrm>
          <a:off x="1828800" y="1029018"/>
          <a:ext cx="8229600"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Content Placeholder 2">
            <a:extLst>
              <a:ext uri="{FF2B5EF4-FFF2-40B4-BE49-F238E27FC236}">
                <a16:creationId xmlns:a16="http://schemas.microsoft.com/office/drawing/2014/main" id="{76D443E7-86F8-4BEC-FFEB-5B2E752FBECB}"/>
              </a:ext>
            </a:extLst>
          </p:cNvPr>
          <p:cNvSpPr txBox="1">
            <a:spLocks/>
          </p:cNvSpPr>
          <p:nvPr/>
        </p:nvSpPr>
        <p:spPr>
          <a:xfrm>
            <a:off x="1981200" y="2506981"/>
            <a:ext cx="8116791" cy="4172904"/>
          </a:xfrm>
          <a:prstGeom prst="rect">
            <a:avLst/>
          </a:prstGeom>
        </p:spPr>
        <p:txBody>
          <a:bodyPr vert="horz" lIns="91440" tIns="45720" rIns="91440" bIns="45720" rtlCol="0">
            <a:normAutofit fontScale="5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s-MX" dirty="0">
                <a:latin typeface="fkGroteskNeue"/>
              </a:rPr>
              <a:t>La experiencia TIN TEATRO IN presenta una relación lógica y coherente entre sus elementos centrales, garantizando la efectividad de la intervención:</a:t>
            </a:r>
          </a:p>
          <a:p>
            <a:pPr marL="0" indent="0">
              <a:buFont typeface="Arial"/>
              <a:buNone/>
            </a:pPr>
            <a:r>
              <a:rPr lang="es-MX" dirty="0">
                <a:latin typeface="fkGroteskNeue"/>
              </a:rPr>
              <a:t>Objetivo General: Potenciar competencias comunicativas, creativas y socioemocionales.</a:t>
            </a:r>
          </a:p>
          <a:p>
            <a:pPr marL="0" indent="0">
              <a:buFont typeface="Arial"/>
              <a:buNone/>
            </a:pPr>
            <a:r>
              <a:rPr lang="es-MX" b="1" dirty="0">
                <a:latin typeface="fkGroteskNeue"/>
              </a:rPr>
              <a:t>Acciones Coherentes</a:t>
            </a:r>
            <a:r>
              <a:rPr lang="es-MX" dirty="0">
                <a:latin typeface="fkGroteskNeue"/>
              </a:rPr>
              <a:t>: Implementación de talleres, ensayos y presentaciones de teatro, danza contemporánea y maquillaje artístico, enfocadas directamente en el desarrollo de la expresión verbal y corporal.</a:t>
            </a:r>
          </a:p>
          <a:p>
            <a:pPr marL="0" indent="0">
              <a:buFont typeface="Arial"/>
              <a:buNone/>
            </a:pPr>
            <a:r>
              <a:rPr lang="es-MX" dirty="0">
                <a:latin typeface="fkGroteskNeue"/>
              </a:rPr>
              <a:t>Objetivos Específicos: Fomentar creatividad, pensamiento crítico y trabajo en equipo; integrar competencias digitales.</a:t>
            </a:r>
          </a:p>
          <a:p>
            <a:pPr marL="0" indent="0">
              <a:buFont typeface="Arial"/>
              <a:buNone/>
            </a:pPr>
            <a:r>
              <a:rPr lang="es-MX" b="1" dirty="0">
                <a:latin typeface="fkGroteskNeue"/>
              </a:rPr>
              <a:t>Acciones Coherentes: </a:t>
            </a:r>
            <a:r>
              <a:rPr lang="es-MX" dirty="0">
                <a:latin typeface="fkGroteskNeue"/>
              </a:rPr>
              <a:t>Énfasis en la creación y presentación de obras (pensamiento crítico y trabajo en equipo), y producción de </a:t>
            </a:r>
            <a:r>
              <a:rPr lang="es-MX" dirty="0" err="1">
                <a:latin typeface="fkGroteskNeue"/>
              </a:rPr>
              <a:t>reels</a:t>
            </a:r>
            <a:r>
              <a:rPr lang="es-MX" dirty="0">
                <a:latin typeface="fkGroteskNeue"/>
              </a:rPr>
              <a:t> y contenidos digitales (competencias digitales).</a:t>
            </a:r>
          </a:p>
          <a:p>
            <a:pPr marL="0" indent="0">
              <a:buFont typeface="Arial"/>
              <a:buNone/>
            </a:pPr>
            <a:r>
              <a:rPr lang="es-MX" dirty="0">
                <a:latin typeface="fkGroteskNeue"/>
              </a:rPr>
              <a:t>Resultados Coherentes: Los logros concretos (mejoras en autoestima, expresión, trabajo en equipo) confirman el cumplimiento de los objetivos propuestos y la respuesta efectiva a la problemática inicial.</a:t>
            </a:r>
          </a:p>
          <a:p>
            <a:pPr marL="0" indent="0">
              <a:buFont typeface="Arial"/>
              <a:buNone/>
            </a:pPr>
            <a:endParaRPr lang="es-MX" dirty="0">
              <a:latin typeface="fkGroteskNeue"/>
            </a:endParaRPr>
          </a:p>
        </p:txBody>
      </p:sp>
      <p:pic>
        <p:nvPicPr>
          <p:cNvPr id="8" name="Imagen 7">
            <a:extLst>
              <a:ext uri="{FF2B5EF4-FFF2-40B4-BE49-F238E27FC236}">
                <a16:creationId xmlns:a16="http://schemas.microsoft.com/office/drawing/2014/main" id="{C408C248-0AA4-EFB7-998A-BFB146C323FB}"/>
              </a:ext>
            </a:extLst>
          </p:cNvPr>
          <p:cNvPicPr>
            <a:picLocks noChangeAspect="1"/>
          </p:cNvPicPr>
          <p:nvPr/>
        </p:nvPicPr>
        <p:blipFill>
          <a:blip r:embed="rId9"/>
          <a:stretch>
            <a:fillRect/>
          </a:stretch>
        </p:blipFill>
        <p:spPr>
          <a:xfrm>
            <a:off x="224705" y="5730875"/>
            <a:ext cx="922189" cy="949009"/>
          </a:xfrm>
          <a:prstGeom prst="rect">
            <a:avLst/>
          </a:prstGeom>
        </p:spPr>
      </p:pic>
      <p:pic>
        <p:nvPicPr>
          <p:cNvPr id="9" name="Imagen 8">
            <a:extLst>
              <a:ext uri="{FF2B5EF4-FFF2-40B4-BE49-F238E27FC236}">
                <a16:creationId xmlns:a16="http://schemas.microsoft.com/office/drawing/2014/main" id="{24ED778C-C474-C5BF-9124-83C90E641EA1}"/>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5" y="-2857"/>
            <a:ext cx="2852115" cy="4349750"/>
          </a:xfrm>
          <a:prstGeom prst="rect">
            <a:avLst/>
          </a:prstGeom>
        </p:spPr>
      </p:pic>
      <p:pic>
        <p:nvPicPr>
          <p:cNvPr id="2" name="Imagen 1">
            <a:extLst>
              <a:ext uri="{FF2B5EF4-FFF2-40B4-BE49-F238E27FC236}">
                <a16:creationId xmlns:a16="http://schemas.microsoft.com/office/drawing/2014/main" id="{29EEF1A0-B060-9190-0A3D-CE8A91D6CCDD}"/>
              </a:ext>
            </a:extLst>
          </p:cNvPr>
          <p:cNvPicPr>
            <a:picLocks noChangeAspect="1"/>
          </p:cNvPicPr>
          <p:nvPr/>
        </p:nvPicPr>
        <p:blipFill>
          <a:blip r:embed="rId12"/>
          <a:stretch>
            <a:fillRect/>
          </a:stretch>
        </p:blipFill>
        <p:spPr>
          <a:xfrm>
            <a:off x="10097991" y="4075298"/>
            <a:ext cx="1510995" cy="19185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731378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7" name="Diagrama 6">
            <a:extLst>
              <a:ext uri="{FF2B5EF4-FFF2-40B4-BE49-F238E27FC236}">
                <a16:creationId xmlns:a16="http://schemas.microsoft.com/office/drawing/2014/main" id="{C89304F7-0A62-2031-54A2-BE3B30D62103}"/>
              </a:ext>
            </a:extLst>
          </p:cNvPr>
          <p:cNvGraphicFramePr/>
          <p:nvPr>
            <p:extLst>
              <p:ext uri="{D42A27DB-BD31-4B8C-83A1-F6EECF244321}">
                <p14:modId xmlns:p14="http://schemas.microsoft.com/office/powerpoint/2010/main" val="277164331"/>
              </p:ext>
            </p:extLst>
          </p:nvPr>
        </p:nvGraphicFramePr>
        <p:xfrm>
          <a:off x="1737360" y="663258"/>
          <a:ext cx="8229600"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Content Placeholder 2">
            <a:extLst>
              <a:ext uri="{FF2B5EF4-FFF2-40B4-BE49-F238E27FC236}">
                <a16:creationId xmlns:a16="http://schemas.microsoft.com/office/drawing/2014/main" id="{0043FED7-18D5-CD66-2A6F-447F377E0DF0}"/>
              </a:ext>
            </a:extLst>
          </p:cNvPr>
          <p:cNvSpPr>
            <a:spLocks noGrp="1"/>
          </p:cNvSpPr>
          <p:nvPr>
            <p:ph idx="1"/>
          </p:nvPr>
        </p:nvSpPr>
        <p:spPr>
          <a:xfrm>
            <a:off x="857250" y="1988821"/>
            <a:ext cx="10210800" cy="1981508"/>
          </a:xfrm>
        </p:spPr>
        <p:txBody>
          <a:bodyPr>
            <a:normAutofit fontScale="62500" lnSpcReduction="20000"/>
          </a:bodyPr>
          <a:lstStyle/>
          <a:p>
            <a:pPr marL="0" indent="0">
              <a:lnSpc>
                <a:spcPct val="120000"/>
              </a:lnSpc>
              <a:spcBef>
                <a:spcPts val="0"/>
              </a:spcBef>
              <a:buNone/>
            </a:pPr>
            <a:r>
              <a:rPr lang="es-MX" sz="2000" dirty="0">
                <a:effectLst/>
                <a:latin typeface="Calibri" panose="020F0502020204030204" pitchFamily="34" charset="0"/>
                <a:ea typeface="Calibri" panose="020F0502020204030204" pitchFamily="34" charset="0"/>
                <a:cs typeface="Times New Roman" panose="02020603050405020304" pitchFamily="18" charset="0"/>
              </a:rPr>
              <a:t>La experiencia TIN TEATRO IN evidencia un proceso de madurez sostenido a lo largo de sus tres años y ocho meses de implementación (Enero 2022 – Presente):</a:t>
            </a:r>
          </a:p>
          <a:p>
            <a:pPr marL="0" indent="0">
              <a:lnSpc>
                <a:spcPct val="120000"/>
              </a:lnSpc>
              <a:spcBef>
                <a:spcPts val="0"/>
              </a:spcBef>
              <a:buNone/>
            </a:pPr>
            <a:r>
              <a:rPr lang="es-MX" sz="2000" dirty="0">
                <a:effectLst/>
                <a:latin typeface="Calibri" panose="020F0502020204030204" pitchFamily="34" charset="0"/>
                <a:ea typeface="Calibri" panose="020F0502020204030204" pitchFamily="34" charset="0"/>
                <a:cs typeface="Times New Roman" panose="02020603050405020304" pitchFamily="18" charset="0"/>
              </a:rPr>
              <a:t>Actualización y Reorganización: Evolución metodológica constante a partir de la reflexión y retroalimentación de la comunidad educativa.</a:t>
            </a:r>
          </a:p>
          <a:p>
            <a:pPr marL="0" indent="0">
              <a:lnSpc>
                <a:spcPct val="120000"/>
              </a:lnSpc>
              <a:spcBef>
                <a:spcPts val="0"/>
              </a:spcBef>
              <a:buNone/>
            </a:pPr>
            <a:r>
              <a:rPr lang="es-MX" sz="2000" dirty="0">
                <a:effectLst/>
                <a:latin typeface="Calibri" panose="020F0502020204030204" pitchFamily="34" charset="0"/>
                <a:ea typeface="Calibri" panose="020F0502020204030204" pitchFamily="34" charset="0"/>
                <a:cs typeface="Times New Roman" panose="02020603050405020304" pitchFamily="18" charset="0"/>
              </a:rPr>
              <a:t>Mejora Continua (Ajustes):</a:t>
            </a:r>
          </a:p>
          <a:p>
            <a:pPr marL="0" indent="0">
              <a:lnSpc>
                <a:spcPct val="120000"/>
              </a:lnSpc>
              <a:spcBef>
                <a:spcPts val="0"/>
              </a:spcBef>
              <a:buNone/>
            </a:pPr>
            <a:r>
              <a:rPr lang="es-MX" sz="2000" b="1" dirty="0">
                <a:effectLst/>
                <a:latin typeface="Calibri" panose="020F0502020204030204" pitchFamily="34" charset="0"/>
                <a:ea typeface="Calibri" panose="020F0502020204030204" pitchFamily="34" charset="0"/>
                <a:cs typeface="Times New Roman" panose="02020603050405020304" pitchFamily="18" charset="0"/>
              </a:rPr>
              <a:t>Incorporación Digital: </a:t>
            </a:r>
            <a:r>
              <a:rPr lang="es-MX" sz="2000" dirty="0">
                <a:effectLst/>
                <a:latin typeface="Calibri" panose="020F0502020204030204" pitchFamily="34" charset="0"/>
                <a:ea typeface="Calibri" panose="020F0502020204030204" pitchFamily="34" charset="0"/>
                <a:cs typeface="Times New Roman" panose="02020603050405020304" pitchFamily="18" charset="0"/>
              </a:rPr>
              <a:t>Inclusión de herramientas digitales para la difusión de material artístico y promoción de la salud mental.</a:t>
            </a:r>
          </a:p>
          <a:p>
            <a:pPr marL="0" indent="0">
              <a:lnSpc>
                <a:spcPct val="120000"/>
              </a:lnSpc>
              <a:spcBef>
                <a:spcPts val="0"/>
              </a:spcBef>
              <a:buNone/>
            </a:pPr>
            <a:r>
              <a:rPr lang="es-MX" sz="2000" b="1" dirty="0">
                <a:effectLst/>
                <a:latin typeface="Calibri" panose="020F0502020204030204" pitchFamily="34" charset="0"/>
                <a:ea typeface="Calibri" panose="020F0502020204030204" pitchFamily="34" charset="0"/>
                <a:cs typeface="Times New Roman" panose="02020603050405020304" pitchFamily="18" charset="0"/>
              </a:rPr>
              <a:t>Ajustes Pedagógicos</a:t>
            </a:r>
            <a:r>
              <a:rPr lang="es-MX" sz="2000" dirty="0">
                <a:effectLst/>
                <a:latin typeface="Calibri" panose="020F0502020204030204" pitchFamily="34" charset="0"/>
                <a:ea typeface="Calibri" panose="020F0502020204030204" pitchFamily="34" charset="0"/>
                <a:cs typeface="Times New Roman" panose="02020603050405020304" pitchFamily="18" charset="0"/>
              </a:rPr>
              <a:t>: Personalización de la experiencia según los niveles educativos (Primaria, Secundaria, Media) y las necesidades específicas de los estudiantes.</a:t>
            </a:r>
          </a:p>
          <a:p>
            <a:pPr marL="0" indent="0">
              <a:lnSpc>
                <a:spcPct val="120000"/>
              </a:lnSpc>
              <a:spcBef>
                <a:spcPts val="0"/>
              </a:spcBef>
              <a:buNone/>
            </a:pPr>
            <a:r>
              <a:rPr lang="es-MX" sz="2000" b="1" dirty="0">
                <a:effectLst/>
                <a:latin typeface="Calibri" panose="020F0502020204030204" pitchFamily="34" charset="0"/>
                <a:ea typeface="Calibri" panose="020F0502020204030204" pitchFamily="34" charset="0"/>
                <a:cs typeface="Times New Roman" panose="02020603050405020304" pitchFamily="18" charset="0"/>
              </a:rPr>
              <a:t>Análisis del Proceso: </a:t>
            </a:r>
            <a:r>
              <a:rPr lang="es-MX" sz="2000" dirty="0">
                <a:effectLst/>
                <a:latin typeface="Calibri" panose="020F0502020204030204" pitchFamily="34" charset="0"/>
                <a:ea typeface="Calibri" panose="020F0502020204030204" pitchFamily="34" charset="0"/>
                <a:cs typeface="Times New Roman" panose="02020603050405020304" pitchFamily="18" charset="0"/>
              </a:rPr>
              <a:t>La aplicación de una metodología de seguimiento dual (cuantitativa y cualitativa) permite identificar fortalezas y áreas de mejora, guiando los ajustes en la metodología, la ampliación de actividades interdisciplinarias y la pertinencia de los objetivos formativos.</a:t>
            </a:r>
          </a:p>
        </p:txBody>
      </p:sp>
      <p:pic>
        <p:nvPicPr>
          <p:cNvPr id="9" name="Imagen 8">
            <a:extLst>
              <a:ext uri="{FF2B5EF4-FFF2-40B4-BE49-F238E27FC236}">
                <a16:creationId xmlns:a16="http://schemas.microsoft.com/office/drawing/2014/main" id="{7E0D8673-DF93-3040-25D2-BAEAD33AFCDF}"/>
              </a:ext>
            </a:extLst>
          </p:cNvPr>
          <p:cNvPicPr>
            <a:picLocks noChangeAspect="1"/>
          </p:cNvPicPr>
          <p:nvPr/>
        </p:nvPicPr>
        <p:blipFill>
          <a:blip r:embed="rId9"/>
          <a:stretch>
            <a:fillRect/>
          </a:stretch>
        </p:blipFill>
        <p:spPr>
          <a:xfrm>
            <a:off x="224705" y="5730875"/>
            <a:ext cx="922189" cy="949009"/>
          </a:xfrm>
          <a:prstGeom prst="rect">
            <a:avLst/>
          </a:prstGeom>
        </p:spPr>
      </p:pic>
      <p:pic>
        <p:nvPicPr>
          <p:cNvPr id="10" name="Imagen 9">
            <a:extLst>
              <a:ext uri="{FF2B5EF4-FFF2-40B4-BE49-F238E27FC236}">
                <a16:creationId xmlns:a16="http://schemas.microsoft.com/office/drawing/2014/main" id="{0E4D10AA-ED3D-EA5E-D930-8516D90FAF2E}"/>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2" name="Imagen 1">
            <a:extLst>
              <a:ext uri="{FF2B5EF4-FFF2-40B4-BE49-F238E27FC236}">
                <a16:creationId xmlns:a16="http://schemas.microsoft.com/office/drawing/2014/main" id="{2597008D-6F33-F334-C3E8-46E26E3C0D09}"/>
              </a:ext>
            </a:extLst>
          </p:cNvPr>
          <p:cNvPicPr>
            <a:picLocks noChangeAspect="1"/>
          </p:cNvPicPr>
          <p:nvPr/>
        </p:nvPicPr>
        <p:blipFill>
          <a:blip r:embed="rId12"/>
          <a:stretch>
            <a:fillRect/>
          </a:stretch>
        </p:blipFill>
        <p:spPr>
          <a:xfrm>
            <a:off x="10097991" y="4075298"/>
            <a:ext cx="1510995" cy="19185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 name="Imagen 2">
            <a:extLst>
              <a:ext uri="{FF2B5EF4-FFF2-40B4-BE49-F238E27FC236}">
                <a16:creationId xmlns:a16="http://schemas.microsoft.com/office/drawing/2014/main" id="{CD430249-8D32-8431-319C-518794FE6FA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21952" y="4075298"/>
            <a:ext cx="5748095" cy="267773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95245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9" name="Diagrama 8">
            <a:extLst>
              <a:ext uri="{FF2B5EF4-FFF2-40B4-BE49-F238E27FC236}">
                <a16:creationId xmlns:a16="http://schemas.microsoft.com/office/drawing/2014/main" id="{9420230E-9851-C4CC-EADD-F0736252DE83}"/>
              </a:ext>
            </a:extLst>
          </p:cNvPr>
          <p:cNvGraphicFramePr/>
          <p:nvPr>
            <p:extLst>
              <p:ext uri="{D42A27DB-BD31-4B8C-83A1-F6EECF244321}">
                <p14:modId xmlns:p14="http://schemas.microsoft.com/office/powerpoint/2010/main" val="199403707"/>
              </p:ext>
            </p:extLst>
          </p:nvPr>
        </p:nvGraphicFramePr>
        <p:xfrm>
          <a:off x="1981200" y="663258"/>
          <a:ext cx="8229600"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Content Placeholder 2">
            <a:extLst>
              <a:ext uri="{FF2B5EF4-FFF2-40B4-BE49-F238E27FC236}">
                <a16:creationId xmlns:a16="http://schemas.microsoft.com/office/drawing/2014/main" id="{6608088F-336E-9696-2C52-FD65D86D8E05}"/>
              </a:ext>
            </a:extLst>
          </p:cNvPr>
          <p:cNvSpPr>
            <a:spLocks noGrp="1"/>
          </p:cNvSpPr>
          <p:nvPr>
            <p:ph idx="1"/>
          </p:nvPr>
        </p:nvSpPr>
        <p:spPr>
          <a:xfrm>
            <a:off x="5288280" y="1988820"/>
            <a:ext cx="4922520" cy="4525963"/>
          </a:xfrm>
        </p:spPr>
        <p:txBody>
          <a:bodyPr>
            <a:normAutofit fontScale="55000" lnSpcReduction="20000"/>
          </a:bodyPr>
          <a:lstStyle/>
          <a:p>
            <a:pPr marL="0" indent="0">
              <a:buNone/>
            </a:pPr>
            <a:r>
              <a:rPr lang="es-MX" b="0" i="0" dirty="0">
                <a:effectLst/>
                <a:latin typeface="fkGroteskNeue"/>
              </a:rPr>
              <a:t>La experiencia se caracteriza por la participación activa y el alto nivel de apropiación de toda la comunidad educativa:</a:t>
            </a:r>
          </a:p>
          <a:p>
            <a:pPr marL="0" indent="0">
              <a:buNone/>
            </a:pPr>
            <a:r>
              <a:rPr lang="es-MX" b="1" i="0" dirty="0">
                <a:effectLst/>
                <a:latin typeface="fkGroteskNeue"/>
              </a:rPr>
              <a:t>Estudiantes: </a:t>
            </a:r>
            <a:r>
              <a:rPr lang="es-MX" b="0" i="0" dirty="0">
                <a:effectLst/>
                <a:latin typeface="fkGroteskNeue"/>
              </a:rPr>
              <a:t>Asumen roles protagónicos en la creación, diseño, producción y presentación de obras, desarrollando autonomía, liderazgo y trabajo en equipo.</a:t>
            </a:r>
          </a:p>
          <a:p>
            <a:pPr marL="0" indent="0">
              <a:buNone/>
            </a:pPr>
            <a:r>
              <a:rPr lang="es-MX" b="1" i="0" dirty="0">
                <a:effectLst/>
                <a:latin typeface="fkGroteskNeue"/>
              </a:rPr>
              <a:t>Docentes: </a:t>
            </a:r>
            <a:r>
              <a:rPr lang="es-MX" b="0" i="0" dirty="0">
                <a:effectLst/>
                <a:latin typeface="fkGroteskNeue"/>
              </a:rPr>
              <a:t>Participan activamente como facilitadores y orientadores del aprendizaje, incorporando las estrategias del teatro en un marco inclusivo y colaborativo.</a:t>
            </a:r>
          </a:p>
          <a:p>
            <a:pPr marL="0" indent="0">
              <a:buNone/>
            </a:pPr>
            <a:r>
              <a:rPr lang="es-MX" b="1" i="0" dirty="0">
                <a:effectLst/>
                <a:latin typeface="fkGroteskNeue"/>
              </a:rPr>
              <a:t>Directivos/Institución</a:t>
            </a:r>
            <a:r>
              <a:rPr lang="es-MX" b="0" i="0" dirty="0">
                <a:effectLst/>
                <a:latin typeface="fkGroteskNeue"/>
              </a:rPr>
              <a:t>: Existe un respaldo institucional consolidado, fundamentado en el PEI, que garantiza el acompañamiento pedagógico, los espacios físicos y los recursos necesarios.</a:t>
            </a:r>
          </a:p>
          <a:p>
            <a:pPr marL="0" indent="0">
              <a:buNone/>
            </a:pPr>
            <a:r>
              <a:rPr lang="es-MX" b="1" i="0" dirty="0">
                <a:effectLst/>
                <a:latin typeface="fkGroteskNeue"/>
              </a:rPr>
              <a:t>Comunidad/Familias: </a:t>
            </a:r>
            <a:r>
              <a:rPr lang="es-MX" b="0" i="0" dirty="0">
                <a:effectLst/>
                <a:latin typeface="fkGroteskNeue"/>
              </a:rPr>
              <a:t>Participan a través de la asistencia a funciones y talleres, fortaleciendo el vínculo escuela-comunidad y la valoración social y cultural del proyecto.</a:t>
            </a:r>
          </a:p>
          <a:p>
            <a:pPr marL="0" indent="0">
              <a:buNone/>
            </a:pPr>
            <a:r>
              <a:rPr lang="es-MX" b="1" i="0" dirty="0">
                <a:effectLst/>
                <a:latin typeface="fkGroteskNeue"/>
              </a:rPr>
              <a:t>Impacto Comunitario: </a:t>
            </a:r>
            <a:r>
              <a:rPr lang="es-MX" b="0" i="0" dirty="0">
                <a:effectLst/>
                <a:latin typeface="fkGroteskNeue"/>
              </a:rPr>
              <a:t>La divulgación y presentaciones en festivales internos y externos consolidan la proyección institucional y el reconocimiento académico. La experiencia genera altos niveles de participación y compromiso entre estudiantes, docentes y directivos..</a:t>
            </a:r>
          </a:p>
        </p:txBody>
      </p:sp>
      <p:pic>
        <p:nvPicPr>
          <p:cNvPr id="11" name="Imagen 10">
            <a:extLst>
              <a:ext uri="{FF2B5EF4-FFF2-40B4-BE49-F238E27FC236}">
                <a16:creationId xmlns:a16="http://schemas.microsoft.com/office/drawing/2014/main" id="{ABDBFB93-F954-966C-258F-C2CB7FCCC2E3}"/>
              </a:ext>
            </a:extLst>
          </p:cNvPr>
          <p:cNvPicPr>
            <a:picLocks noChangeAspect="1"/>
          </p:cNvPicPr>
          <p:nvPr/>
        </p:nvPicPr>
        <p:blipFill>
          <a:blip r:embed="rId9"/>
          <a:stretch>
            <a:fillRect/>
          </a:stretch>
        </p:blipFill>
        <p:spPr>
          <a:xfrm>
            <a:off x="224705" y="5730875"/>
            <a:ext cx="922189" cy="949009"/>
          </a:xfrm>
          <a:prstGeom prst="rect">
            <a:avLst/>
          </a:prstGeom>
        </p:spPr>
      </p:pic>
      <p:pic>
        <p:nvPicPr>
          <p:cNvPr id="12" name="Imagen 11">
            <a:extLst>
              <a:ext uri="{FF2B5EF4-FFF2-40B4-BE49-F238E27FC236}">
                <a16:creationId xmlns:a16="http://schemas.microsoft.com/office/drawing/2014/main" id="{71DF7378-EA0D-A313-DF1D-F204ED9CA321}"/>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2" name="Imagen 1">
            <a:extLst>
              <a:ext uri="{FF2B5EF4-FFF2-40B4-BE49-F238E27FC236}">
                <a16:creationId xmlns:a16="http://schemas.microsoft.com/office/drawing/2014/main" id="{F62DAF7B-3FEC-2C79-78E2-08DACDC5F69C}"/>
              </a:ext>
            </a:extLst>
          </p:cNvPr>
          <p:cNvPicPr>
            <a:picLocks noChangeAspect="1"/>
          </p:cNvPicPr>
          <p:nvPr/>
        </p:nvPicPr>
        <p:blipFill>
          <a:blip r:embed="rId12"/>
          <a:stretch>
            <a:fillRect/>
          </a:stretch>
        </p:blipFill>
        <p:spPr>
          <a:xfrm>
            <a:off x="10097991" y="4075298"/>
            <a:ext cx="1510995" cy="19185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 name="Imagen 2">
            <a:extLst>
              <a:ext uri="{FF2B5EF4-FFF2-40B4-BE49-F238E27FC236}">
                <a16:creationId xmlns:a16="http://schemas.microsoft.com/office/drawing/2014/main" id="{BD65A996-6693-FDFA-E7C2-A577CF1DD45A}"/>
              </a:ext>
            </a:extLst>
          </p:cNvPr>
          <p:cNvPicPr>
            <a:picLocks noChangeAspect="1"/>
          </p:cNvPicPr>
          <p:nvPr/>
        </p:nvPicPr>
        <p:blipFill>
          <a:blip r:embed="rId13"/>
          <a:stretch>
            <a:fillRect/>
          </a:stretch>
        </p:blipFill>
        <p:spPr>
          <a:xfrm>
            <a:off x="892326" y="2146602"/>
            <a:ext cx="3947863" cy="385739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06190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6" name="Diagrama 5">
            <a:extLst>
              <a:ext uri="{FF2B5EF4-FFF2-40B4-BE49-F238E27FC236}">
                <a16:creationId xmlns:a16="http://schemas.microsoft.com/office/drawing/2014/main" id="{AC8D1D27-C9DA-CD17-B5D0-A98BDE0BD86C}"/>
              </a:ext>
            </a:extLst>
          </p:cNvPr>
          <p:cNvGraphicFramePr/>
          <p:nvPr>
            <p:extLst>
              <p:ext uri="{D42A27DB-BD31-4B8C-83A1-F6EECF244321}">
                <p14:modId xmlns:p14="http://schemas.microsoft.com/office/powerpoint/2010/main" val="2381261072"/>
              </p:ext>
            </p:extLst>
          </p:nvPr>
        </p:nvGraphicFramePr>
        <p:xfrm>
          <a:off x="1981200" y="1036955"/>
          <a:ext cx="8229600"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Content Placeholder 2">
            <a:extLst>
              <a:ext uri="{FF2B5EF4-FFF2-40B4-BE49-F238E27FC236}">
                <a16:creationId xmlns:a16="http://schemas.microsoft.com/office/drawing/2014/main" id="{2C257CB8-0169-D007-5942-20EEA40363D3}"/>
              </a:ext>
            </a:extLst>
          </p:cNvPr>
          <p:cNvSpPr>
            <a:spLocks noGrp="1"/>
          </p:cNvSpPr>
          <p:nvPr>
            <p:ph idx="1"/>
          </p:nvPr>
        </p:nvSpPr>
        <p:spPr>
          <a:xfrm>
            <a:off x="1981200" y="2332038"/>
            <a:ext cx="8229600" cy="3954462"/>
          </a:xfrm>
        </p:spPr>
        <p:txBody>
          <a:bodyPr>
            <a:normAutofit fontScale="85000" lnSpcReduction="10000"/>
          </a:bodyPr>
          <a:lstStyle/>
          <a:p>
            <a:pPr indent="0">
              <a:lnSpc>
                <a:spcPct val="110000"/>
              </a:lnSpc>
              <a:spcBef>
                <a:spcPts val="0"/>
              </a:spcBef>
              <a:buNone/>
            </a:pPr>
            <a:r>
              <a:rPr lang="es-MX" sz="2000" dirty="0">
                <a:effectLst/>
                <a:latin typeface="Calibri" panose="020F0502020204030204" pitchFamily="34" charset="0"/>
                <a:ea typeface="Calibri" panose="020F0502020204030204" pitchFamily="34" charset="0"/>
                <a:cs typeface="Times New Roman" panose="02020603050405020304" pitchFamily="18" charset="0"/>
              </a:rPr>
              <a:t>Se implementa una metodología de seguimiento y valoración rigurosa que combina estrategias cualitativas y cuantitativas:</a:t>
            </a:r>
          </a:p>
          <a:p>
            <a:pPr indent="0">
              <a:lnSpc>
                <a:spcPct val="110000"/>
              </a:lnSpc>
              <a:spcBef>
                <a:spcPts val="0"/>
              </a:spcBef>
              <a:buNone/>
            </a:pPr>
            <a:r>
              <a:rPr lang="es-MX" sz="2000" dirty="0">
                <a:effectLst/>
                <a:latin typeface="Calibri" panose="020F0502020204030204" pitchFamily="34" charset="0"/>
                <a:ea typeface="Calibri" panose="020F0502020204030204" pitchFamily="34" charset="0"/>
                <a:cs typeface="Times New Roman" panose="02020603050405020304" pitchFamily="18" charset="0"/>
              </a:rPr>
              <a:t>Mecanismos e Instrumentos:</a:t>
            </a:r>
          </a:p>
          <a:p>
            <a:pPr indent="0">
              <a:lnSpc>
                <a:spcPct val="110000"/>
              </a:lnSpc>
              <a:spcBef>
                <a:spcPts val="0"/>
              </a:spcBef>
              <a:buNone/>
            </a:pPr>
            <a:r>
              <a:rPr lang="es-MX" sz="2000" dirty="0">
                <a:effectLst/>
                <a:latin typeface="Calibri" panose="020F0502020204030204" pitchFamily="34" charset="0"/>
                <a:ea typeface="Calibri" panose="020F0502020204030204" pitchFamily="34" charset="0"/>
                <a:cs typeface="Times New Roman" panose="02020603050405020304" pitchFamily="18" charset="0"/>
              </a:rPr>
              <a:t>Rúbricas de evaluación de competencias artísticas y comunicativas.</a:t>
            </a:r>
          </a:p>
          <a:p>
            <a:pPr indent="0">
              <a:lnSpc>
                <a:spcPct val="110000"/>
              </a:lnSpc>
              <a:spcBef>
                <a:spcPts val="0"/>
              </a:spcBef>
              <a:buNone/>
            </a:pPr>
            <a:r>
              <a:rPr lang="es-MX" sz="2000" dirty="0">
                <a:effectLst/>
                <a:latin typeface="Calibri" panose="020F0502020204030204" pitchFamily="34" charset="0"/>
                <a:ea typeface="Calibri" panose="020F0502020204030204" pitchFamily="34" charset="0"/>
                <a:cs typeface="Times New Roman" panose="02020603050405020304" pitchFamily="18" charset="0"/>
              </a:rPr>
              <a:t>Listas de chequeo y observación sistemática.</a:t>
            </a:r>
          </a:p>
          <a:p>
            <a:pPr indent="0">
              <a:lnSpc>
                <a:spcPct val="110000"/>
              </a:lnSpc>
              <a:spcBef>
                <a:spcPts val="0"/>
              </a:spcBef>
              <a:buNone/>
            </a:pPr>
            <a:r>
              <a:rPr lang="es-MX" sz="2000" dirty="0">
                <a:effectLst/>
                <a:latin typeface="Calibri" panose="020F0502020204030204" pitchFamily="34" charset="0"/>
                <a:ea typeface="Calibri" panose="020F0502020204030204" pitchFamily="34" charset="0"/>
                <a:cs typeface="Times New Roman" panose="02020603050405020304" pitchFamily="18" charset="0"/>
              </a:rPr>
              <a:t>Diarios de campo, registros audiovisuales y encuestas breves.</a:t>
            </a:r>
          </a:p>
          <a:p>
            <a:pPr indent="0">
              <a:lnSpc>
                <a:spcPct val="110000"/>
              </a:lnSpc>
              <a:spcBef>
                <a:spcPts val="0"/>
              </a:spcBef>
              <a:buNone/>
            </a:pPr>
            <a:r>
              <a:rPr lang="es-MX" sz="2000" dirty="0">
                <a:effectLst/>
                <a:latin typeface="Calibri" panose="020F0502020204030204" pitchFamily="34" charset="0"/>
                <a:ea typeface="Calibri" panose="020F0502020204030204" pitchFamily="34" charset="0"/>
                <a:cs typeface="Times New Roman" panose="02020603050405020304" pitchFamily="18" charset="0"/>
              </a:rPr>
              <a:t>Tipo de Análisis:</a:t>
            </a:r>
          </a:p>
          <a:p>
            <a:pPr indent="0">
              <a:lnSpc>
                <a:spcPct val="110000"/>
              </a:lnSpc>
              <a:spcBef>
                <a:spcPts val="0"/>
              </a:spcBef>
              <a:buNone/>
            </a:pPr>
            <a:r>
              <a:rPr lang="es-MX" sz="2000" b="1" dirty="0">
                <a:effectLst/>
                <a:latin typeface="Calibri" panose="020F0502020204030204" pitchFamily="34" charset="0"/>
                <a:ea typeface="Calibri" panose="020F0502020204030204" pitchFamily="34" charset="0"/>
                <a:cs typeface="Times New Roman" panose="02020603050405020304" pitchFamily="18" charset="0"/>
              </a:rPr>
              <a:t>Cuantitativo: </a:t>
            </a:r>
            <a:r>
              <a:rPr lang="es-MX" sz="2000" dirty="0">
                <a:effectLst/>
                <a:latin typeface="Calibri" panose="020F0502020204030204" pitchFamily="34" charset="0"/>
                <a:ea typeface="Calibri" panose="020F0502020204030204" pitchFamily="34" charset="0"/>
                <a:cs typeface="Times New Roman" panose="02020603050405020304" pitchFamily="18" charset="0"/>
              </a:rPr>
              <a:t>Frecuencia de ensayos, número de participantes, logros en presentaciones.</a:t>
            </a:r>
          </a:p>
          <a:p>
            <a:pPr indent="0">
              <a:lnSpc>
                <a:spcPct val="110000"/>
              </a:lnSpc>
              <a:spcBef>
                <a:spcPts val="0"/>
              </a:spcBef>
              <a:buNone/>
            </a:pPr>
            <a:r>
              <a:rPr lang="es-MX" sz="2000" b="1" dirty="0">
                <a:effectLst/>
                <a:latin typeface="Calibri" panose="020F0502020204030204" pitchFamily="34" charset="0"/>
                <a:ea typeface="Calibri" panose="020F0502020204030204" pitchFamily="34" charset="0"/>
                <a:cs typeface="Times New Roman" panose="02020603050405020304" pitchFamily="18" charset="0"/>
              </a:rPr>
              <a:t>Cualitativo</a:t>
            </a:r>
            <a:r>
              <a:rPr lang="es-MX" sz="2000" dirty="0">
                <a:effectLst/>
                <a:latin typeface="Calibri" panose="020F0502020204030204" pitchFamily="34" charset="0"/>
                <a:ea typeface="Calibri" panose="020F0502020204030204" pitchFamily="34" charset="0"/>
                <a:cs typeface="Times New Roman" panose="02020603050405020304" pitchFamily="18" charset="0"/>
              </a:rPr>
              <a:t>: Evaluación de autoestima, resiliencia, comprensión emocional, convivencia escolar, y retroalimentación de participantes.</a:t>
            </a:r>
          </a:p>
          <a:p>
            <a:pPr indent="0">
              <a:lnSpc>
                <a:spcPct val="110000"/>
              </a:lnSpc>
              <a:spcBef>
                <a:spcPts val="0"/>
              </a:spcBef>
              <a:buNone/>
            </a:pPr>
            <a:r>
              <a:rPr lang="es-MX" sz="2000" b="1" dirty="0">
                <a:effectLst/>
                <a:latin typeface="Calibri" panose="020F0502020204030204" pitchFamily="34" charset="0"/>
                <a:ea typeface="Calibri" panose="020F0502020204030204" pitchFamily="34" charset="0"/>
                <a:cs typeface="Times New Roman" panose="02020603050405020304" pitchFamily="18" charset="0"/>
              </a:rPr>
              <a:t>Función del Análisis: </a:t>
            </a:r>
            <a:r>
              <a:rPr lang="es-MX" sz="2000" dirty="0">
                <a:effectLst/>
                <a:latin typeface="Calibri" panose="020F0502020204030204" pitchFamily="34" charset="0"/>
                <a:ea typeface="Calibri" panose="020F0502020204030204" pitchFamily="34" charset="0"/>
                <a:cs typeface="Times New Roman" panose="02020603050405020304" pitchFamily="18" charset="0"/>
              </a:rPr>
              <a:t>Esta doble perspectiva permite medir el impacto en el desarrollo socioemocional y artístico, guiar los ajustes metodológicos y fomentar la autorreflexión de los participantes, asegurando la mejora continua y la pertinencia del proyecto.</a:t>
            </a:r>
          </a:p>
          <a:p>
            <a:pPr marL="685800" indent="-457200">
              <a:lnSpc>
                <a:spcPct val="110000"/>
              </a:lnSpc>
              <a:spcBef>
                <a:spcPts val="0"/>
              </a:spcBef>
              <a:buFont typeface="+mj-lt"/>
              <a:buAutoNum type="arabicPeriod"/>
            </a:pPr>
            <a:endParaRPr lang="es-CO"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Imagen 7">
            <a:extLst>
              <a:ext uri="{FF2B5EF4-FFF2-40B4-BE49-F238E27FC236}">
                <a16:creationId xmlns:a16="http://schemas.microsoft.com/office/drawing/2014/main" id="{D8A101CE-9B0A-2569-F642-A5B37CF1C789}"/>
              </a:ext>
            </a:extLst>
          </p:cNvPr>
          <p:cNvPicPr>
            <a:picLocks noChangeAspect="1"/>
          </p:cNvPicPr>
          <p:nvPr/>
        </p:nvPicPr>
        <p:blipFill>
          <a:blip r:embed="rId9"/>
          <a:stretch>
            <a:fillRect/>
          </a:stretch>
        </p:blipFill>
        <p:spPr>
          <a:xfrm>
            <a:off x="224705" y="5730875"/>
            <a:ext cx="922189" cy="949009"/>
          </a:xfrm>
          <a:prstGeom prst="rect">
            <a:avLst/>
          </a:prstGeom>
        </p:spPr>
      </p:pic>
      <p:pic>
        <p:nvPicPr>
          <p:cNvPr id="9" name="Imagen 8">
            <a:extLst>
              <a:ext uri="{FF2B5EF4-FFF2-40B4-BE49-F238E27FC236}">
                <a16:creationId xmlns:a16="http://schemas.microsoft.com/office/drawing/2014/main" id="{D47A7FDD-5750-268B-9809-E34462C554B0}"/>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2" name="Imagen 1">
            <a:extLst>
              <a:ext uri="{FF2B5EF4-FFF2-40B4-BE49-F238E27FC236}">
                <a16:creationId xmlns:a16="http://schemas.microsoft.com/office/drawing/2014/main" id="{D079A44D-D3A8-B55D-0D81-39C49CFE1E40}"/>
              </a:ext>
            </a:extLst>
          </p:cNvPr>
          <p:cNvPicPr>
            <a:picLocks noChangeAspect="1"/>
          </p:cNvPicPr>
          <p:nvPr/>
        </p:nvPicPr>
        <p:blipFill>
          <a:blip r:embed="rId12"/>
          <a:stretch>
            <a:fillRect/>
          </a:stretch>
        </p:blipFill>
        <p:spPr>
          <a:xfrm>
            <a:off x="10097991" y="4075298"/>
            <a:ext cx="1510995" cy="19185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130426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6" name="Diagrama 5">
            <a:extLst>
              <a:ext uri="{FF2B5EF4-FFF2-40B4-BE49-F238E27FC236}">
                <a16:creationId xmlns:a16="http://schemas.microsoft.com/office/drawing/2014/main" id="{4F1A2995-237F-9841-B807-0ACF4C1806A4}"/>
              </a:ext>
            </a:extLst>
          </p:cNvPr>
          <p:cNvGraphicFramePr/>
          <p:nvPr>
            <p:extLst>
              <p:ext uri="{D42A27DB-BD31-4B8C-83A1-F6EECF244321}">
                <p14:modId xmlns:p14="http://schemas.microsoft.com/office/powerpoint/2010/main" val="2684446270"/>
              </p:ext>
            </p:extLst>
          </p:nvPr>
        </p:nvGraphicFramePr>
        <p:xfrm>
          <a:off x="1981200" y="686118"/>
          <a:ext cx="8229600"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Content Placeholder 2">
            <a:extLst>
              <a:ext uri="{FF2B5EF4-FFF2-40B4-BE49-F238E27FC236}">
                <a16:creationId xmlns:a16="http://schemas.microsoft.com/office/drawing/2014/main" id="{1E94AFD9-4D03-1C00-321D-72C3065C908D}"/>
              </a:ext>
            </a:extLst>
          </p:cNvPr>
          <p:cNvSpPr>
            <a:spLocks noGrp="1"/>
          </p:cNvSpPr>
          <p:nvPr>
            <p:ph idx="1"/>
          </p:nvPr>
        </p:nvSpPr>
        <p:spPr>
          <a:xfrm>
            <a:off x="1981200" y="2011680"/>
            <a:ext cx="8229600" cy="4525963"/>
          </a:xfrm>
        </p:spPr>
        <p:txBody>
          <a:bodyPr>
            <a:normAutofit fontScale="55000" lnSpcReduction="20000"/>
          </a:bodyPr>
          <a:lstStyle/>
          <a:p>
            <a:pPr marL="0" indent="0">
              <a:buNone/>
            </a:pPr>
            <a:r>
              <a:rPr lang="es-MX" b="0" i="0" dirty="0">
                <a:effectLst/>
                <a:latin typeface="fkGroteskNeue"/>
              </a:rPr>
              <a:t>Los logros obtenidos son concretos, medibles y responden directamente a los objetivos planteados y las necesidades detectadas:</a:t>
            </a:r>
          </a:p>
          <a:p>
            <a:pPr marL="0" indent="0">
              <a:buNone/>
            </a:pPr>
            <a:r>
              <a:rPr lang="es-MX" b="1" i="0" dirty="0">
                <a:effectLst/>
                <a:latin typeface="fkGroteskNeue"/>
              </a:rPr>
              <a:t>Logros Artísticos y Comunicativos:</a:t>
            </a:r>
          </a:p>
          <a:p>
            <a:pPr marL="0" indent="0">
              <a:buNone/>
            </a:pPr>
            <a:r>
              <a:rPr lang="es-MX" b="0" i="0" dirty="0">
                <a:effectLst/>
                <a:latin typeface="fkGroteskNeue"/>
              </a:rPr>
              <a:t>Presentación de obras teatrales semestrales con notable avance en comunicación verbal y corporal, creatividad y pensamiento crítico.</a:t>
            </a:r>
          </a:p>
          <a:p>
            <a:pPr marL="0" indent="0">
              <a:buNone/>
            </a:pPr>
            <a:r>
              <a:rPr lang="es-MX" b="0" i="0" dirty="0">
                <a:effectLst/>
                <a:latin typeface="fkGroteskNeue"/>
              </a:rPr>
              <a:t>Fortalecimiento de la capacidad de trabajo en equipo y la expresión de ideas propias.</a:t>
            </a:r>
          </a:p>
          <a:p>
            <a:pPr marL="0" indent="0">
              <a:buNone/>
            </a:pPr>
            <a:r>
              <a:rPr lang="es-MX" b="1" i="0" dirty="0">
                <a:effectLst/>
                <a:latin typeface="fkGroteskNeue"/>
              </a:rPr>
              <a:t>Logros Socioemocionales:</a:t>
            </a:r>
          </a:p>
          <a:p>
            <a:pPr marL="0" indent="0">
              <a:buNone/>
            </a:pPr>
            <a:r>
              <a:rPr lang="es-MX" b="0" i="0" dirty="0">
                <a:effectLst/>
                <a:latin typeface="fkGroteskNeue"/>
              </a:rPr>
              <a:t>Mejoras en autoestima, regulación emocional y manejo del estrés.</a:t>
            </a:r>
          </a:p>
          <a:p>
            <a:pPr marL="0" indent="0">
              <a:buNone/>
            </a:pPr>
            <a:r>
              <a:rPr lang="es-MX" b="0" i="0" dirty="0">
                <a:effectLst/>
                <a:latin typeface="fkGroteskNeue"/>
              </a:rPr>
              <a:t>Mayor apertura para recibir y analizar retroalimentación constructiva y aumento de la resiliencia.</a:t>
            </a:r>
          </a:p>
          <a:p>
            <a:pPr marL="0" indent="0">
              <a:buNone/>
            </a:pPr>
            <a:r>
              <a:rPr lang="es-MX" b="1" i="0" dirty="0">
                <a:effectLst/>
                <a:latin typeface="fkGroteskNeue"/>
              </a:rPr>
              <a:t>Impacto Institucional: </a:t>
            </a:r>
            <a:r>
              <a:rPr lang="es-MX" b="0" i="0" dirty="0">
                <a:effectLst/>
                <a:latin typeface="fkGroteskNeue"/>
              </a:rPr>
              <a:t>Consolidación de un espacio permanente de aprendizaje artístico y socioemocional que fortalece el PEI, promueve la inclusión y convivencia, y orienta la mejora continua de los procesos formativos. Entre los resultados más relevantes se destacan:</a:t>
            </a:r>
          </a:p>
          <a:p>
            <a:pPr marL="0" indent="0">
              <a:buNone/>
            </a:pPr>
            <a:r>
              <a:rPr lang="es-MX" b="0" i="0" dirty="0">
                <a:effectLst/>
                <a:latin typeface="fkGroteskNeue"/>
              </a:rPr>
              <a:t>Mejora visible en la comunicación verbal y no verbal.</a:t>
            </a:r>
          </a:p>
          <a:p>
            <a:pPr marL="0" indent="0">
              <a:buNone/>
            </a:pPr>
            <a:r>
              <a:rPr lang="es-MX" b="0" i="0" dirty="0">
                <a:effectLst/>
                <a:latin typeface="fkGroteskNeue"/>
              </a:rPr>
              <a:t>Incremento en la autoestima, seguridad y expresión emocional.</a:t>
            </a:r>
          </a:p>
          <a:p>
            <a:pPr marL="0" indent="0">
              <a:buNone/>
            </a:pPr>
            <a:r>
              <a:rPr lang="es-MX" b="0" i="0" dirty="0">
                <a:effectLst/>
                <a:latin typeface="fkGroteskNeue"/>
              </a:rPr>
              <a:t>Mayor participación estudiantil en eventos institucionales.</a:t>
            </a:r>
          </a:p>
          <a:p>
            <a:pPr marL="0" indent="0">
              <a:buNone/>
            </a:pPr>
            <a:r>
              <a:rPr lang="es-MX" b="0" i="0" dirty="0">
                <a:effectLst/>
                <a:latin typeface="fkGroteskNeue"/>
              </a:rPr>
              <a:t>Fortalecimiento de la convivencia escolar y del trabajo colaborativo.</a:t>
            </a:r>
          </a:p>
          <a:p>
            <a:pPr marL="0" indent="0">
              <a:buNone/>
            </a:pPr>
            <a:r>
              <a:rPr lang="es-MX" b="0" i="0" dirty="0">
                <a:effectLst/>
                <a:latin typeface="fkGroteskNeue"/>
              </a:rPr>
              <a:t>Desarrollo de competencias artísticas y digitales. </a:t>
            </a:r>
          </a:p>
        </p:txBody>
      </p:sp>
      <p:pic>
        <p:nvPicPr>
          <p:cNvPr id="8" name="Imagen 7">
            <a:extLst>
              <a:ext uri="{FF2B5EF4-FFF2-40B4-BE49-F238E27FC236}">
                <a16:creationId xmlns:a16="http://schemas.microsoft.com/office/drawing/2014/main" id="{C4FCE432-FC79-3908-C41A-BEE7A15B41E8}"/>
              </a:ext>
            </a:extLst>
          </p:cNvPr>
          <p:cNvPicPr>
            <a:picLocks noChangeAspect="1"/>
          </p:cNvPicPr>
          <p:nvPr/>
        </p:nvPicPr>
        <p:blipFill>
          <a:blip r:embed="rId9"/>
          <a:stretch>
            <a:fillRect/>
          </a:stretch>
        </p:blipFill>
        <p:spPr>
          <a:xfrm>
            <a:off x="224705" y="5730875"/>
            <a:ext cx="922189" cy="949009"/>
          </a:xfrm>
          <a:prstGeom prst="rect">
            <a:avLst/>
          </a:prstGeom>
        </p:spPr>
      </p:pic>
      <p:pic>
        <p:nvPicPr>
          <p:cNvPr id="9" name="Imagen 8">
            <a:extLst>
              <a:ext uri="{FF2B5EF4-FFF2-40B4-BE49-F238E27FC236}">
                <a16:creationId xmlns:a16="http://schemas.microsoft.com/office/drawing/2014/main" id="{D920876A-F256-DD23-817B-567AEB8B4956}"/>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2" name="Imagen 1">
            <a:extLst>
              <a:ext uri="{FF2B5EF4-FFF2-40B4-BE49-F238E27FC236}">
                <a16:creationId xmlns:a16="http://schemas.microsoft.com/office/drawing/2014/main" id="{1BD0D52C-C877-74E9-7F73-28533D3BF5CF}"/>
              </a:ext>
            </a:extLst>
          </p:cNvPr>
          <p:cNvPicPr>
            <a:picLocks noChangeAspect="1"/>
          </p:cNvPicPr>
          <p:nvPr/>
        </p:nvPicPr>
        <p:blipFill>
          <a:blip r:embed="rId12"/>
          <a:stretch>
            <a:fillRect/>
          </a:stretch>
        </p:blipFill>
        <p:spPr>
          <a:xfrm>
            <a:off x="10097991" y="4075298"/>
            <a:ext cx="1510995" cy="19185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923454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A2CF1-2EF7-7C11-ADAE-0F64F1C149E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177BE91-BCDE-E1BE-C15F-C32CE76AFF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Diagrama 1">
            <a:extLst>
              <a:ext uri="{FF2B5EF4-FFF2-40B4-BE49-F238E27FC236}">
                <a16:creationId xmlns:a16="http://schemas.microsoft.com/office/drawing/2014/main" id="{9B4091B8-2DD1-2FFE-E6E2-3380B5AF03E4}"/>
              </a:ext>
            </a:extLst>
          </p:cNvPr>
          <p:cNvGraphicFramePr/>
          <p:nvPr>
            <p:extLst>
              <p:ext uri="{D42A27DB-BD31-4B8C-83A1-F6EECF244321}">
                <p14:modId xmlns:p14="http://schemas.microsoft.com/office/powerpoint/2010/main" val="1905850846"/>
              </p:ext>
            </p:extLst>
          </p:nvPr>
        </p:nvGraphicFramePr>
        <p:xfrm>
          <a:off x="1805940" y="823278"/>
          <a:ext cx="8229600"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Content Placeholder 2">
            <a:extLst>
              <a:ext uri="{FF2B5EF4-FFF2-40B4-BE49-F238E27FC236}">
                <a16:creationId xmlns:a16="http://schemas.microsoft.com/office/drawing/2014/main" id="{96D703EF-0623-38AE-33D6-9954A777F9E4}"/>
              </a:ext>
            </a:extLst>
          </p:cNvPr>
          <p:cNvSpPr>
            <a:spLocks noGrp="1"/>
          </p:cNvSpPr>
          <p:nvPr>
            <p:ph idx="1"/>
          </p:nvPr>
        </p:nvSpPr>
        <p:spPr>
          <a:xfrm>
            <a:off x="1805940" y="2148840"/>
            <a:ext cx="8229600" cy="4525963"/>
          </a:xfrm>
        </p:spPr>
        <p:txBody>
          <a:bodyPr>
            <a:normAutofit fontScale="62500" lnSpcReduction="20000"/>
          </a:bodyPr>
          <a:lstStyle/>
          <a:p>
            <a:pPr>
              <a:buNone/>
            </a:pPr>
            <a:r>
              <a:rPr lang="es-MX" dirty="0"/>
              <a:t>Se han establecido </a:t>
            </a:r>
            <a:r>
              <a:rPr lang="es-MX" b="1" dirty="0"/>
              <a:t>mecanismos claros</a:t>
            </a:r>
            <a:r>
              <a:rPr lang="es-MX" dirty="0"/>
              <a:t> para la replicabilidad y adaptación de la experiencia:</a:t>
            </a:r>
          </a:p>
          <a:p>
            <a:pPr>
              <a:buFont typeface="Arial" panose="020B0604020202020204" pitchFamily="34" charset="0"/>
              <a:buChar char="•"/>
            </a:pPr>
            <a:r>
              <a:rPr lang="es-MX" b="1" dirty="0"/>
              <a:t>Medios de Transferencia Interna:</a:t>
            </a:r>
            <a:endParaRPr lang="es-MX" dirty="0"/>
          </a:p>
          <a:p>
            <a:pPr marL="742950" lvl="1" indent="-285750">
              <a:buFont typeface="Arial" panose="020B0604020202020204" pitchFamily="34" charset="0"/>
              <a:buChar char="•"/>
            </a:pPr>
            <a:r>
              <a:rPr lang="es-MX" b="1" dirty="0"/>
              <a:t>Talleres de formación docente</a:t>
            </a:r>
            <a:r>
              <a:rPr lang="es-MX" dirty="0"/>
              <a:t> y asesorías especializadas para otros educadores de la I.E.</a:t>
            </a:r>
          </a:p>
          <a:p>
            <a:pPr marL="742950" lvl="1" indent="-285750">
              <a:buFont typeface="Arial" panose="020B0604020202020204" pitchFamily="34" charset="0"/>
              <a:buChar char="•"/>
            </a:pPr>
            <a:r>
              <a:rPr lang="es-MX" dirty="0"/>
              <a:t>Elaboración de </a:t>
            </a:r>
            <a:r>
              <a:rPr lang="es-MX" b="1" dirty="0"/>
              <a:t>guías metodológicas</a:t>
            </a:r>
            <a:r>
              <a:rPr lang="es-MX" dirty="0"/>
              <a:t> y </a:t>
            </a:r>
            <a:r>
              <a:rPr lang="es-MX" b="1" dirty="0"/>
              <a:t>materiales didácticos</a:t>
            </a:r>
            <a:r>
              <a:rPr lang="es-MX" dirty="0"/>
              <a:t> para facilitar la aplicación del teatro escolar como recurso pedagógico.</a:t>
            </a:r>
          </a:p>
          <a:p>
            <a:pPr marL="742950" lvl="1" indent="-285750">
              <a:buFont typeface="Arial" panose="020B0604020202020204" pitchFamily="34" charset="0"/>
              <a:buChar char="•"/>
            </a:pPr>
            <a:r>
              <a:rPr lang="es-MX" dirty="0"/>
              <a:t>Creación de </a:t>
            </a:r>
            <a:r>
              <a:rPr lang="es-MX" b="1" dirty="0"/>
              <a:t>semilleros de talento</a:t>
            </a:r>
            <a:r>
              <a:rPr lang="es-MX" dirty="0"/>
              <a:t> que extienden el conocimiento a diferentes niveles educativos.</a:t>
            </a:r>
          </a:p>
          <a:p>
            <a:pPr>
              <a:buFont typeface="Arial" panose="020B0604020202020204" pitchFamily="34" charset="0"/>
              <a:buChar char="•"/>
            </a:pPr>
            <a:r>
              <a:rPr lang="es-MX" b="1" dirty="0"/>
              <a:t>Medios de Transferencia Externa:</a:t>
            </a:r>
            <a:endParaRPr lang="es-MX" dirty="0"/>
          </a:p>
          <a:p>
            <a:pPr marL="742950" lvl="1" indent="-285750">
              <a:buFont typeface="Arial" panose="020B0604020202020204" pitchFamily="34" charset="0"/>
              <a:buChar char="•"/>
            </a:pPr>
            <a:r>
              <a:rPr lang="es-MX" b="1" dirty="0"/>
              <a:t>Participación en festivales</a:t>
            </a:r>
            <a:r>
              <a:rPr lang="es-MX" dirty="0"/>
              <a:t> artísticos y encuentros académicos.</a:t>
            </a:r>
          </a:p>
          <a:p>
            <a:pPr marL="742950" lvl="1" indent="-285750">
              <a:buFont typeface="Arial" panose="020B0604020202020204" pitchFamily="34" charset="0"/>
              <a:buChar char="•"/>
            </a:pPr>
            <a:r>
              <a:rPr lang="es-MX" b="1" dirty="0"/>
              <a:t>Publicación de contenidos digitales</a:t>
            </a:r>
            <a:r>
              <a:rPr lang="es-MX" dirty="0"/>
              <a:t> en plataformas y redes educativas (</a:t>
            </a:r>
            <a:r>
              <a:rPr lang="es-MX" dirty="0" err="1"/>
              <a:t>e.g</a:t>
            </a:r>
            <a:r>
              <a:rPr lang="es-MX" dirty="0"/>
              <a:t>., Instagram, Facebook, X), asegurando la visibilidad y accesibilidad de las buenas prácticas.</a:t>
            </a:r>
          </a:p>
          <a:p>
            <a:pPr>
              <a:buFont typeface="Arial" panose="020B0604020202020204" pitchFamily="34" charset="0"/>
              <a:buChar char="•"/>
            </a:pPr>
            <a:r>
              <a:rPr lang="es-MX" b="1" dirty="0"/>
              <a:t>Replicabilidad:</a:t>
            </a:r>
            <a:r>
              <a:rPr lang="es-MX" dirty="0"/>
              <a:t> El diseño metodológico permite que la experiencia sea </a:t>
            </a:r>
            <a:r>
              <a:rPr lang="es-MX" b="1" dirty="0"/>
              <a:t>adaptable</a:t>
            </a:r>
            <a:r>
              <a:rPr lang="es-MX" dirty="0"/>
              <a:t> a distintos contextos educativos, recursos y particularidades culturales, alineándose con la misión de la Normal Superior de Pitalito de formar futuros maestros.</a:t>
            </a:r>
          </a:p>
        </p:txBody>
      </p:sp>
      <p:pic>
        <p:nvPicPr>
          <p:cNvPr id="6" name="Imagen 5">
            <a:extLst>
              <a:ext uri="{FF2B5EF4-FFF2-40B4-BE49-F238E27FC236}">
                <a16:creationId xmlns:a16="http://schemas.microsoft.com/office/drawing/2014/main" id="{34E86064-C228-1CFD-9A51-3E724CEFC3EB}"/>
              </a:ext>
            </a:extLst>
          </p:cNvPr>
          <p:cNvPicPr>
            <a:picLocks noChangeAspect="1"/>
          </p:cNvPicPr>
          <p:nvPr/>
        </p:nvPicPr>
        <p:blipFill>
          <a:blip r:embed="rId9"/>
          <a:stretch>
            <a:fillRect/>
          </a:stretch>
        </p:blipFill>
        <p:spPr>
          <a:xfrm>
            <a:off x="224705" y="5730875"/>
            <a:ext cx="922189" cy="949009"/>
          </a:xfrm>
          <a:prstGeom prst="rect">
            <a:avLst/>
          </a:prstGeom>
        </p:spPr>
      </p:pic>
      <p:pic>
        <p:nvPicPr>
          <p:cNvPr id="7" name="Imagen 6">
            <a:extLst>
              <a:ext uri="{FF2B5EF4-FFF2-40B4-BE49-F238E27FC236}">
                <a16:creationId xmlns:a16="http://schemas.microsoft.com/office/drawing/2014/main" id="{BAEBAFCE-979A-A612-F0FF-C908154A3DBC}"/>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4" name="Imagen 3">
            <a:extLst>
              <a:ext uri="{FF2B5EF4-FFF2-40B4-BE49-F238E27FC236}">
                <a16:creationId xmlns:a16="http://schemas.microsoft.com/office/drawing/2014/main" id="{2572444C-7EF5-99B0-51E7-9B163D3AB824}"/>
              </a:ext>
            </a:extLst>
          </p:cNvPr>
          <p:cNvPicPr>
            <a:picLocks noChangeAspect="1"/>
          </p:cNvPicPr>
          <p:nvPr/>
        </p:nvPicPr>
        <p:blipFill>
          <a:blip r:embed="rId12"/>
          <a:stretch>
            <a:fillRect/>
          </a:stretch>
        </p:blipFill>
        <p:spPr>
          <a:xfrm>
            <a:off x="10097991" y="4075298"/>
            <a:ext cx="1510995" cy="19185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177357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9" name="Diagrama 8">
            <a:extLst>
              <a:ext uri="{FF2B5EF4-FFF2-40B4-BE49-F238E27FC236}">
                <a16:creationId xmlns:a16="http://schemas.microsoft.com/office/drawing/2014/main" id="{2E281524-A474-8C7C-8776-52D0949F6918}"/>
              </a:ext>
            </a:extLst>
          </p:cNvPr>
          <p:cNvGraphicFramePr/>
          <p:nvPr>
            <p:extLst>
              <p:ext uri="{D42A27DB-BD31-4B8C-83A1-F6EECF244321}">
                <p14:modId xmlns:p14="http://schemas.microsoft.com/office/powerpoint/2010/main" val="4071360712"/>
              </p:ext>
            </p:extLst>
          </p:nvPr>
        </p:nvGraphicFramePr>
        <p:xfrm>
          <a:off x="1981200" y="846138"/>
          <a:ext cx="8229600"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Content Placeholder 2">
            <a:extLst>
              <a:ext uri="{FF2B5EF4-FFF2-40B4-BE49-F238E27FC236}">
                <a16:creationId xmlns:a16="http://schemas.microsoft.com/office/drawing/2014/main" id="{C0B610F2-5603-5175-5C8E-12D9C8E86866}"/>
              </a:ext>
            </a:extLst>
          </p:cNvPr>
          <p:cNvSpPr>
            <a:spLocks noGrp="1"/>
          </p:cNvSpPr>
          <p:nvPr>
            <p:ph idx="1"/>
          </p:nvPr>
        </p:nvSpPr>
        <p:spPr>
          <a:xfrm>
            <a:off x="583014" y="2171700"/>
            <a:ext cx="5512986" cy="4525963"/>
          </a:xfrm>
        </p:spPr>
        <p:txBody>
          <a:bodyPr>
            <a:normAutofit fontScale="62500" lnSpcReduction="20000"/>
          </a:bodyPr>
          <a:lstStyle/>
          <a:p>
            <a:pPr marL="0" indent="0">
              <a:buNone/>
            </a:pPr>
            <a:r>
              <a:rPr lang="es-MX" dirty="0">
                <a:latin typeface="fkGroteskNeue"/>
              </a:rPr>
              <a:t>La continuidad de TIN TEATRO IN está garantizada por una sólida estructura estratégica:</a:t>
            </a:r>
          </a:p>
          <a:p>
            <a:pPr marL="0" indent="0">
              <a:buNone/>
            </a:pPr>
            <a:r>
              <a:rPr lang="es-MX" dirty="0">
                <a:latin typeface="fkGroteskNeue"/>
              </a:rPr>
              <a:t>Orden Político/Institucional: Respaldo institucional formalizado en el PEI y la misión de la Normal Superior, asegurando el marco de acción y acompañamiento pedagógico.</a:t>
            </a:r>
          </a:p>
          <a:p>
            <a:pPr marL="0" indent="0">
              <a:buNone/>
            </a:pPr>
            <a:r>
              <a:rPr lang="es-MX" dirty="0">
                <a:latin typeface="fkGroteskNeue"/>
              </a:rPr>
              <a:t>Orden Humano/Técnico: Participación activa y compromiso de estudiantes y docentes, y planificación anual de actividades que incluyen talleres de formación artística y la creación de semilleros de talento.</a:t>
            </a:r>
          </a:p>
          <a:p>
            <a:pPr marL="0" indent="0">
              <a:buNone/>
            </a:pPr>
            <a:r>
              <a:rPr lang="es-MX" dirty="0">
                <a:latin typeface="fkGroteskNeue"/>
              </a:rPr>
              <a:t>Orden Financiero/Proyección: Inclusión en festivales internos y externos que fortalecen la proyección y aseguran la motivación. La actualización continua de estrategias metodológicas y la evaluación periódica garantizan su relevancia y pertinencia a largo plazo</a:t>
            </a:r>
          </a:p>
        </p:txBody>
      </p:sp>
      <p:pic>
        <p:nvPicPr>
          <p:cNvPr id="11" name="Imagen 10">
            <a:extLst>
              <a:ext uri="{FF2B5EF4-FFF2-40B4-BE49-F238E27FC236}">
                <a16:creationId xmlns:a16="http://schemas.microsoft.com/office/drawing/2014/main" id="{324A422B-7AC3-D6D1-B920-CFE288F8717F}"/>
              </a:ext>
            </a:extLst>
          </p:cNvPr>
          <p:cNvPicPr>
            <a:picLocks noChangeAspect="1"/>
          </p:cNvPicPr>
          <p:nvPr/>
        </p:nvPicPr>
        <p:blipFill>
          <a:blip r:embed="rId9"/>
          <a:stretch>
            <a:fillRect/>
          </a:stretch>
        </p:blipFill>
        <p:spPr>
          <a:xfrm>
            <a:off x="224705" y="5730875"/>
            <a:ext cx="922189" cy="949009"/>
          </a:xfrm>
          <a:prstGeom prst="rect">
            <a:avLst/>
          </a:prstGeom>
        </p:spPr>
      </p:pic>
      <p:pic>
        <p:nvPicPr>
          <p:cNvPr id="12" name="Imagen 11">
            <a:extLst>
              <a:ext uri="{FF2B5EF4-FFF2-40B4-BE49-F238E27FC236}">
                <a16:creationId xmlns:a16="http://schemas.microsoft.com/office/drawing/2014/main" id="{8639B7ED-3ABB-824A-2CD0-913977E7ACA6}"/>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2" name="Imagen 1">
            <a:extLst>
              <a:ext uri="{FF2B5EF4-FFF2-40B4-BE49-F238E27FC236}">
                <a16:creationId xmlns:a16="http://schemas.microsoft.com/office/drawing/2014/main" id="{CC5FF5AC-237A-4624-60DF-BA50A754F8D8}"/>
              </a:ext>
            </a:extLst>
          </p:cNvPr>
          <p:cNvPicPr>
            <a:picLocks noChangeAspect="1"/>
          </p:cNvPicPr>
          <p:nvPr/>
        </p:nvPicPr>
        <p:blipFill>
          <a:blip r:embed="rId12"/>
          <a:stretch>
            <a:fillRect/>
          </a:stretch>
        </p:blipFill>
        <p:spPr>
          <a:xfrm>
            <a:off x="10097991" y="4075298"/>
            <a:ext cx="1510995" cy="19185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 name="Imagen 2">
            <a:extLst>
              <a:ext uri="{FF2B5EF4-FFF2-40B4-BE49-F238E27FC236}">
                <a16:creationId xmlns:a16="http://schemas.microsoft.com/office/drawing/2014/main" id="{9289010A-577B-84E1-BCED-8FD3D1DA813E}"/>
              </a:ext>
            </a:extLst>
          </p:cNvPr>
          <p:cNvPicPr>
            <a:picLocks noChangeAspect="1"/>
          </p:cNvPicPr>
          <p:nvPr/>
        </p:nvPicPr>
        <p:blipFill>
          <a:blip r:embed="rId13"/>
          <a:stretch>
            <a:fillRect/>
          </a:stretch>
        </p:blipFill>
        <p:spPr>
          <a:xfrm>
            <a:off x="6143465" y="2171700"/>
            <a:ext cx="3643681" cy="35920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972224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7" name="Diagrama 6">
            <a:extLst>
              <a:ext uri="{FF2B5EF4-FFF2-40B4-BE49-F238E27FC236}">
                <a16:creationId xmlns:a16="http://schemas.microsoft.com/office/drawing/2014/main" id="{249EE349-634F-B004-0014-8453DC4EBEB3}"/>
              </a:ext>
            </a:extLst>
          </p:cNvPr>
          <p:cNvGraphicFramePr/>
          <p:nvPr>
            <p:extLst>
              <p:ext uri="{D42A27DB-BD31-4B8C-83A1-F6EECF244321}">
                <p14:modId xmlns:p14="http://schemas.microsoft.com/office/powerpoint/2010/main" val="1061886592"/>
              </p:ext>
            </p:extLst>
          </p:nvPr>
        </p:nvGraphicFramePr>
        <p:xfrm>
          <a:off x="1981200" y="777558"/>
          <a:ext cx="8229600"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Content Placeholder 2">
            <a:extLst>
              <a:ext uri="{FF2B5EF4-FFF2-40B4-BE49-F238E27FC236}">
                <a16:creationId xmlns:a16="http://schemas.microsoft.com/office/drawing/2014/main" id="{4CD10EEC-514F-C364-0B9C-1EE0A3330052}"/>
              </a:ext>
            </a:extLst>
          </p:cNvPr>
          <p:cNvSpPr>
            <a:spLocks noGrp="1"/>
          </p:cNvSpPr>
          <p:nvPr>
            <p:ph idx="1"/>
          </p:nvPr>
        </p:nvSpPr>
        <p:spPr>
          <a:xfrm>
            <a:off x="4191000" y="2103120"/>
            <a:ext cx="6019800" cy="4525963"/>
          </a:xfrm>
        </p:spPr>
        <p:txBody>
          <a:bodyPr>
            <a:normAutofit fontScale="62500" lnSpcReduction="20000"/>
          </a:bodyPr>
          <a:lstStyle/>
          <a:p>
            <a:pPr marL="0" indent="0">
              <a:buNone/>
            </a:pPr>
            <a:r>
              <a:rPr lang="es-MX" dirty="0">
                <a:latin typeface="fkGroteskNeue"/>
              </a:rPr>
              <a:t>La experiencia TIN TEATRO IN es altamente innovadora por su combinación de métodos y recursos:</a:t>
            </a:r>
          </a:p>
          <a:p>
            <a:pPr marL="0" indent="0">
              <a:buNone/>
            </a:pPr>
            <a:r>
              <a:rPr lang="es-MX" dirty="0">
                <a:latin typeface="fkGroteskNeue"/>
              </a:rPr>
              <a:t>Proceso Educativo Novedoso: Implementa el arte dramático como eje pedagógico central para el desarrollo de competencias comunicativas y socioemocionales, trascendiendo el enfoque artístico tradicional.</a:t>
            </a:r>
          </a:p>
          <a:p>
            <a:pPr marL="0" indent="0">
              <a:buNone/>
            </a:pPr>
            <a:r>
              <a:rPr lang="es-MX" dirty="0">
                <a:latin typeface="fkGroteskNeue"/>
              </a:rPr>
              <a:t>Recursos Tecnológicos y No Tecnológicos:</a:t>
            </a:r>
          </a:p>
          <a:p>
            <a:pPr marL="0" indent="0">
              <a:buNone/>
            </a:pPr>
            <a:r>
              <a:rPr lang="es-MX" dirty="0">
                <a:latin typeface="fkGroteskNeue"/>
              </a:rPr>
              <a:t>Tecnológicos: Producción de </a:t>
            </a:r>
            <a:r>
              <a:rPr lang="es-MX" dirty="0" err="1">
                <a:latin typeface="fkGroteskNeue"/>
              </a:rPr>
              <a:t>reels</a:t>
            </a:r>
            <a:r>
              <a:rPr lang="es-MX" dirty="0">
                <a:latin typeface="fkGroteskNeue"/>
              </a:rPr>
              <a:t> y contenidos digitales para difundir material artístico y promover la salud mental.</a:t>
            </a:r>
          </a:p>
          <a:p>
            <a:pPr marL="0" indent="0">
              <a:buNone/>
            </a:pPr>
            <a:r>
              <a:rPr lang="es-MX" dirty="0">
                <a:latin typeface="fkGroteskNeue"/>
              </a:rPr>
              <a:t>No Tecnológicos: Integración de danza-teatro y maquillaje artístico como nuevas formas de expresión.</a:t>
            </a:r>
          </a:p>
          <a:p>
            <a:pPr marL="0" indent="0">
              <a:buNone/>
            </a:pPr>
            <a:r>
              <a:rPr lang="es-MX" dirty="0">
                <a:latin typeface="fkGroteskNeue"/>
              </a:rPr>
              <a:t>Aportes al Proceso E-A: Transforma el aprendizaje tradicional en experiencias significativas, lúdicas y colaborativas. Fomenta la salud mental, la autoestima y la resiliencia, cumpliendo con la formación integral promovida por las políticas educativas y el PEI de la Normal.</a:t>
            </a:r>
          </a:p>
        </p:txBody>
      </p:sp>
      <p:pic>
        <p:nvPicPr>
          <p:cNvPr id="9" name="Imagen 8">
            <a:extLst>
              <a:ext uri="{FF2B5EF4-FFF2-40B4-BE49-F238E27FC236}">
                <a16:creationId xmlns:a16="http://schemas.microsoft.com/office/drawing/2014/main" id="{DE1C13FD-C8A4-5BD0-F9EE-2E74AD460B37}"/>
              </a:ext>
            </a:extLst>
          </p:cNvPr>
          <p:cNvPicPr>
            <a:picLocks noChangeAspect="1"/>
          </p:cNvPicPr>
          <p:nvPr/>
        </p:nvPicPr>
        <p:blipFill>
          <a:blip r:embed="rId9"/>
          <a:stretch>
            <a:fillRect/>
          </a:stretch>
        </p:blipFill>
        <p:spPr>
          <a:xfrm>
            <a:off x="224705" y="5730875"/>
            <a:ext cx="922189" cy="949009"/>
          </a:xfrm>
          <a:prstGeom prst="rect">
            <a:avLst/>
          </a:prstGeom>
        </p:spPr>
      </p:pic>
      <p:pic>
        <p:nvPicPr>
          <p:cNvPr id="10" name="Imagen 9">
            <a:extLst>
              <a:ext uri="{FF2B5EF4-FFF2-40B4-BE49-F238E27FC236}">
                <a16:creationId xmlns:a16="http://schemas.microsoft.com/office/drawing/2014/main" id="{30DA47C6-D915-98B0-45E5-D6C9A76D5B8F}"/>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2" name="Imagen 1">
            <a:extLst>
              <a:ext uri="{FF2B5EF4-FFF2-40B4-BE49-F238E27FC236}">
                <a16:creationId xmlns:a16="http://schemas.microsoft.com/office/drawing/2014/main" id="{39A86347-FCC2-FD67-20CB-59F7E22C1622}"/>
              </a:ext>
            </a:extLst>
          </p:cNvPr>
          <p:cNvPicPr>
            <a:picLocks noChangeAspect="1"/>
          </p:cNvPicPr>
          <p:nvPr/>
        </p:nvPicPr>
        <p:blipFill>
          <a:blip r:embed="rId12"/>
          <a:stretch>
            <a:fillRect/>
          </a:stretch>
        </p:blipFill>
        <p:spPr>
          <a:xfrm>
            <a:off x="10097991" y="4075298"/>
            <a:ext cx="1510995" cy="19185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 name="Imagen 2">
            <a:extLst>
              <a:ext uri="{FF2B5EF4-FFF2-40B4-BE49-F238E27FC236}">
                <a16:creationId xmlns:a16="http://schemas.microsoft.com/office/drawing/2014/main" id="{D0E8E03C-2A8B-31DD-C95B-83CE127A710F}"/>
              </a:ext>
            </a:extLst>
          </p:cNvPr>
          <p:cNvPicPr>
            <a:picLocks noChangeAspect="1"/>
          </p:cNvPicPr>
          <p:nvPr/>
        </p:nvPicPr>
        <p:blipFill>
          <a:blip r:embed="rId13"/>
          <a:stretch>
            <a:fillRect/>
          </a:stretch>
        </p:blipFill>
        <p:spPr>
          <a:xfrm>
            <a:off x="444881" y="2378355"/>
            <a:ext cx="3385226" cy="335251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898996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AB60D-9DB1-8AD4-24B9-E3C1FA81B91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6E46B83-5BA9-4B4C-E118-874016A907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4" name="Diagrama 3">
            <a:extLst>
              <a:ext uri="{FF2B5EF4-FFF2-40B4-BE49-F238E27FC236}">
                <a16:creationId xmlns:a16="http://schemas.microsoft.com/office/drawing/2014/main" id="{D9E624C4-7463-954A-94B2-88929AA6669E}"/>
              </a:ext>
            </a:extLst>
          </p:cNvPr>
          <p:cNvGraphicFramePr/>
          <p:nvPr>
            <p:extLst>
              <p:ext uri="{D42A27DB-BD31-4B8C-83A1-F6EECF244321}">
                <p14:modId xmlns:p14="http://schemas.microsoft.com/office/powerpoint/2010/main" val="718641978"/>
              </p:ext>
            </p:extLst>
          </p:nvPr>
        </p:nvGraphicFramePr>
        <p:xfrm>
          <a:off x="2217420" y="708978"/>
          <a:ext cx="8229600" cy="1143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Content Placeholder 2">
            <a:extLst>
              <a:ext uri="{FF2B5EF4-FFF2-40B4-BE49-F238E27FC236}">
                <a16:creationId xmlns:a16="http://schemas.microsoft.com/office/drawing/2014/main" id="{88AA75A4-2E32-8837-855F-160F7A763D4B}"/>
              </a:ext>
            </a:extLst>
          </p:cNvPr>
          <p:cNvSpPr>
            <a:spLocks noGrp="1"/>
          </p:cNvSpPr>
          <p:nvPr>
            <p:ph idx="1"/>
          </p:nvPr>
        </p:nvSpPr>
        <p:spPr>
          <a:xfrm>
            <a:off x="2217420" y="2034540"/>
            <a:ext cx="8229600" cy="4525963"/>
          </a:xfrm>
        </p:spPr>
        <p:txBody>
          <a:bodyPr/>
          <a:lstStyle/>
          <a:p>
            <a:pPr marL="0" indent="0" algn="ctr">
              <a:buNone/>
            </a:pPr>
            <a:r>
              <a:rPr dirty="0" err="1"/>
              <a:t>Responsable</a:t>
            </a:r>
            <a:r>
              <a:rPr lang="es-MX" dirty="0"/>
              <a:t>: </a:t>
            </a:r>
            <a:r>
              <a:rPr lang="es-CO" dirty="0" err="1">
                <a:solidFill>
                  <a:schemeClr val="tx1"/>
                </a:solidFill>
              </a:rPr>
              <a:t>Belen</a:t>
            </a:r>
            <a:r>
              <a:rPr lang="es-CO" dirty="0">
                <a:solidFill>
                  <a:schemeClr val="tx1"/>
                </a:solidFill>
              </a:rPr>
              <a:t> </a:t>
            </a:r>
            <a:r>
              <a:rPr lang="es-CO" dirty="0" err="1">
                <a:solidFill>
                  <a:schemeClr val="tx1"/>
                </a:solidFill>
              </a:rPr>
              <a:t>Esneda</a:t>
            </a:r>
            <a:r>
              <a:rPr lang="es-CO" dirty="0">
                <a:solidFill>
                  <a:schemeClr val="tx1"/>
                </a:solidFill>
              </a:rPr>
              <a:t> Moreno Chala</a:t>
            </a:r>
            <a:endParaRPr lang="es-CO" b="1" dirty="0">
              <a:solidFill>
                <a:schemeClr val="tx1"/>
              </a:solidFill>
            </a:endParaRPr>
          </a:p>
          <a:p>
            <a:pPr marL="0" indent="0" algn="ctr">
              <a:buNone/>
            </a:pPr>
            <a:r>
              <a:rPr dirty="0"/>
              <a:t>Correo: </a:t>
            </a:r>
            <a:r>
              <a:rPr lang="es-CO" dirty="0"/>
              <a:t>belen.moreno@normalpitalito.edu.co</a:t>
            </a:r>
            <a:endParaRPr lang="es-MX" dirty="0"/>
          </a:p>
          <a:p>
            <a:pPr marL="0" indent="0" algn="ctr">
              <a:buNone/>
            </a:pPr>
            <a:r>
              <a:rPr dirty="0" err="1"/>
              <a:t>Teléfono</a:t>
            </a:r>
            <a:r>
              <a:rPr lang="es-MX" dirty="0"/>
              <a:t>: 3173289853</a:t>
            </a:r>
            <a:endParaRPr dirty="0"/>
          </a:p>
        </p:txBody>
      </p:sp>
      <p:pic>
        <p:nvPicPr>
          <p:cNvPr id="9" name="Imagen 8">
            <a:extLst>
              <a:ext uri="{FF2B5EF4-FFF2-40B4-BE49-F238E27FC236}">
                <a16:creationId xmlns:a16="http://schemas.microsoft.com/office/drawing/2014/main" id="{B0935F67-8368-98DF-7166-843F67B62F73}"/>
              </a:ext>
            </a:extLst>
          </p:cNvPr>
          <p:cNvPicPr>
            <a:picLocks noChangeAspect="1"/>
          </p:cNvPicPr>
          <p:nvPr/>
        </p:nvPicPr>
        <p:blipFill>
          <a:blip r:embed="rId9"/>
          <a:stretch>
            <a:fillRect/>
          </a:stretch>
        </p:blipFill>
        <p:spPr>
          <a:xfrm>
            <a:off x="224705" y="5730875"/>
            <a:ext cx="922189" cy="949009"/>
          </a:xfrm>
          <a:prstGeom prst="rect">
            <a:avLst/>
          </a:prstGeom>
        </p:spPr>
      </p:pic>
      <p:pic>
        <p:nvPicPr>
          <p:cNvPr id="10" name="Imagen 9">
            <a:extLst>
              <a:ext uri="{FF2B5EF4-FFF2-40B4-BE49-F238E27FC236}">
                <a16:creationId xmlns:a16="http://schemas.microsoft.com/office/drawing/2014/main" id="{DDB17440-D406-3DEE-108B-7D9F225BFF7E}"/>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2" name="Imagen 1">
            <a:extLst>
              <a:ext uri="{FF2B5EF4-FFF2-40B4-BE49-F238E27FC236}">
                <a16:creationId xmlns:a16="http://schemas.microsoft.com/office/drawing/2014/main" id="{F927262E-C4DC-2763-0B2A-CD8FD6268D00}"/>
              </a:ext>
            </a:extLst>
          </p:cNvPr>
          <p:cNvPicPr>
            <a:picLocks noChangeAspect="1"/>
          </p:cNvPicPr>
          <p:nvPr/>
        </p:nvPicPr>
        <p:blipFill>
          <a:blip r:embed="rId12"/>
          <a:stretch>
            <a:fillRect/>
          </a:stretch>
        </p:blipFill>
        <p:spPr>
          <a:xfrm>
            <a:off x="10097991" y="4075298"/>
            <a:ext cx="1510995" cy="19185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89548423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TotalTime>
  <Words>1540</Words>
  <Application>Microsoft Office PowerPoint</Application>
  <PresentationFormat>Panorámica</PresentationFormat>
  <Paragraphs>109</Paragraphs>
  <Slides>12</Slides>
  <Notes>11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Aptos</vt:lpstr>
      <vt:lpstr>Aptos Display</vt:lpstr>
      <vt:lpstr>Arial</vt:lpstr>
      <vt:lpstr>Calibri</vt:lpstr>
      <vt:lpstr>fkGroteskNeue</vt:lpstr>
      <vt:lpstr>Times New Roman</vt:lpstr>
      <vt:lpstr>Tema de Office</vt:lpstr>
      <vt:lpstr>Experiencia Significativa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Sebastian Santamaria</dc:creator>
  <cp:lastModifiedBy>CALIDAD-MEJORAMIENTO</cp:lastModifiedBy>
  <cp:revision>29</cp:revision>
  <dcterms:created xsi:type="dcterms:W3CDTF">2025-07-23T15:35:07Z</dcterms:created>
  <dcterms:modified xsi:type="dcterms:W3CDTF">2026-06-10T21:22:03Z</dcterms:modified>
</cp:coreProperties>
</file>