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FUNDAMENTACIÓN</a:t>
          </a:r>
        </a:p>
      </dsp:txBody>
      <dsp:txXfrm>
        <a:off x="55687" y="56812"/>
        <a:ext cx="8118226" cy="10293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PERTINENCIA</a:t>
          </a:r>
        </a:p>
      </dsp:txBody>
      <dsp:txXfrm>
        <a:off x="55687" y="56812"/>
        <a:ext cx="8118226" cy="1029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MADUREZ</a:t>
          </a:r>
        </a:p>
      </dsp:txBody>
      <dsp:txXfrm>
        <a:off x="55687" y="56812"/>
        <a:ext cx="8118226" cy="10293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EMPODERAMIENTO</a:t>
          </a:r>
        </a:p>
      </dsp:txBody>
      <dsp:txXfrm>
        <a:off x="55687" y="56812"/>
        <a:ext cx="8118226" cy="1029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92385"/>
          <a:ext cx="8229600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200" b="1" kern="1200" dirty="0"/>
            <a:t>EVALUACIÓN Y SEGUIMIENTO</a:t>
          </a:r>
        </a:p>
      </dsp:txBody>
      <dsp:txXfrm>
        <a:off x="46777" y="139162"/>
        <a:ext cx="8136046" cy="8646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RESULTADOS</a:t>
          </a:r>
        </a:p>
      </dsp:txBody>
      <dsp:txXfrm>
        <a:off x="55687" y="56812"/>
        <a:ext cx="8118226" cy="10293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TRANSFERENCIAS</a:t>
          </a:r>
        </a:p>
      </dsp:txBody>
      <dsp:txXfrm>
        <a:off x="55687" y="56812"/>
        <a:ext cx="8118226" cy="10293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SOSTENIBILIDAD</a:t>
          </a:r>
        </a:p>
      </dsp:txBody>
      <dsp:txXfrm>
        <a:off x="55687" y="55687"/>
        <a:ext cx="8118226" cy="10293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INNOVACIÓN</a:t>
          </a:r>
        </a:p>
      </dsp:txBody>
      <dsp:txXfrm>
        <a:off x="55687" y="56812"/>
        <a:ext cx="8118226" cy="10293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CRÉDITOS Y CONTACTO</a:t>
          </a:r>
        </a:p>
      </dsp:txBody>
      <dsp:txXfrm>
        <a:off x="55687" y="56812"/>
        <a:ext cx="8118226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20/02/2026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4.emf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5.emf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8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6.png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9.emf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image" Target="../media/image10.emf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11.emf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12.emf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10" Type="http://schemas.microsoft.com/office/2007/relationships/hdphoto" Target="../media/hdphoto1.wdp"/><Relationship Id="rId4" Type="http://schemas.openxmlformats.org/officeDocument/2006/relationships/diagramLayout" Target="../diagrams/layout1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3169920" y="2811780"/>
            <a:ext cx="6400800" cy="21362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/>
              <a:t>Banda Musical Pedagógica (BANMUSIP)</a:t>
            </a:r>
          </a:p>
          <a:p>
            <a:endParaRPr lang="es-CO" dirty="0"/>
          </a:p>
          <a:p>
            <a:r>
              <a:rPr lang="es-CO" dirty="0"/>
              <a:t>Sara Inés Guerrero Morales</a:t>
            </a:r>
            <a:endParaRPr lang="es-CO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F94A6-6D3D-7CB4-A461-7A06FE3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0" y="2212989"/>
            <a:ext cx="8229600" cy="4525963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s-MX" dirty="0"/>
              <a:t>La experiencia se fundamenta en enfoques pedagógicos humanistas, constructivistas y cooperativos, articulados con los lineamientos de la educación artística en Colombia, la pedagogía para la paz y la formación integral desde la escuela. La música se entiende como lenguaje pedagógico que media aprendizajes sensoriales, cognitivos, emocionales y sociales, integrando la educación artística con la construcción de ciudadanía, resiliencia y dignidad.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9EF0-8BE2-9B90-3CCE-01263D99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894" y="2067598"/>
            <a:ext cx="5031278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sz="2400" dirty="0"/>
              <a:t>La propuesta responde a la necesidad identificada en los años noventa de fortalecer la formación artística y la convivencia escolar en un contexto social marcado por la violencia y la desigualdad. </a:t>
            </a:r>
          </a:p>
          <a:p>
            <a:pPr marL="0" indent="0">
              <a:buNone/>
            </a:pPr>
            <a:r>
              <a:rPr lang="es-MX" sz="2400" dirty="0"/>
              <a:t>Se alinea con políticas públicas de educación artística, competencias ciudadanas y formación integral, generando alternativas pedagógicas que impactan en el bienestar estudiantil y comunitario</a:t>
            </a:r>
            <a:r>
              <a:rPr lang="es-MX" sz="2400" dirty="0">
                <a:latin typeface="fkGroteskNeue"/>
              </a:rPr>
              <a:t>.</a:t>
            </a:r>
            <a:endParaRPr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63F9190-BA98-6608-989A-F851FFC7E0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5282" y="2171698"/>
            <a:ext cx="5444758" cy="404112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8116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6692225" y="2297509"/>
            <a:ext cx="4232138" cy="425688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s-MX" dirty="0"/>
              <a:t>Existe coherencia entre los objetivos (promover la formación integral y la resiliencia mediante la música), las acciones (formación instrumental, ensayos colectivos, participación cultural) y los resultados alcanzados (fortalecimiento de la autoestima, mejor convivencia y reconocimiento institucional). </a:t>
            </a:r>
          </a:p>
          <a:p>
            <a:pPr marL="0" indent="0">
              <a:buFont typeface="Arial"/>
              <a:buNone/>
            </a:pPr>
            <a:r>
              <a:rPr lang="es-MX" dirty="0"/>
              <a:t>La experiencia mantiene un hilo lógico entre planteamientos iniciales, prácticas desarrolladas y logros alcanzados.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034833F-5458-E83D-E775-B9495C9587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59" y="2354048"/>
            <a:ext cx="5890543" cy="365813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6" y="2069147"/>
            <a:ext cx="4796444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dirty="0"/>
              <a:t>Con más de 27 años de trayectoria, la experiencia evidencia procesos de actualización, reorganización y mejora continua. </a:t>
            </a:r>
          </a:p>
          <a:p>
            <a:pPr marL="0" indent="0">
              <a:buNone/>
            </a:pPr>
            <a:r>
              <a:rPr lang="es-MX" dirty="0"/>
              <a:t>La sistematización permanente y la articulación con el PEI de la institución garantizan su consolidación, permitiendo que cada generación de estudiantes aporte aprendizajes y nuevas formas de innovación musical y pedagógica.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4BA5FCE-3190-2BC9-1858-09CA04562B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76" y="4737573"/>
            <a:ext cx="2140745" cy="164066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11DDB59-4C92-D1FC-B1F2-802DF0F7C5E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398" y="4830221"/>
            <a:ext cx="2582045" cy="138445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9B8E157-349E-295E-ABEA-D4053D5076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833" y="1304427"/>
            <a:ext cx="5805487" cy="360582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2813" y="2069147"/>
            <a:ext cx="4325389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dirty="0"/>
              <a:t>La experiencia involucra activamente a estudiantes de diferentes grados, docentes, directivos y comunidad. </a:t>
            </a:r>
          </a:p>
          <a:p>
            <a:pPr marL="0" indent="0">
              <a:buNone/>
            </a:pPr>
            <a:r>
              <a:rPr lang="es-MX" dirty="0"/>
              <a:t>La Banda Musical Pedagógica se ha convertido en un espacio de participación y liderazgo juvenil, donde se fomenta la responsabilidad, el trabajo en equipo y el compromiso colectivo, fortaleciendo el sentido de pertenencia institucional.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DFD925C-4ABE-FFE6-65D6-22AF7AAC91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3798" y="2069147"/>
            <a:ext cx="5621476" cy="412559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6894" y="2332037"/>
            <a:ext cx="4114800" cy="423581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dirty="0"/>
              <a:t>El proceso evaluativo se desarrolla mediante registros de avances individuales y colectivos, retroalimentación continua y análisis de impacto en convivencia y resiliencia. </a:t>
            </a:r>
          </a:p>
          <a:p>
            <a:pPr marL="0" indent="0">
              <a:buNone/>
            </a:pPr>
            <a:r>
              <a:rPr lang="es-MX" dirty="0"/>
              <a:t>Se aplican metodologías cualitativas y formativas que permiten valorar tanto el desempeño musical como los cambios actitudinales y sociales de los participantes.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173A499-89E5-D659-0AE3-5B659A6FE7E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84055" y="2332037"/>
            <a:ext cx="6243046" cy="369806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3308" y="2101359"/>
            <a:ext cx="4674524" cy="4525963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dirty="0"/>
              <a:t>Consolidación de un espacio estable y reconocido de formación musical escolar.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Mejora en la autoestima, convivencia y resiliencia de los estudiantes.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Integración de la música como estrategia pedagógica transversal.</a:t>
            </a:r>
          </a:p>
          <a:p>
            <a:pPr marL="514350" indent="-514350">
              <a:buFont typeface="+mj-lt"/>
              <a:buAutoNum type="arabicPeriod"/>
            </a:pPr>
            <a:r>
              <a:rPr lang="es-MX" dirty="0"/>
              <a:t>Reconocimiento institucional y comunitario de BANMUSIP como referente artístico y ciudadano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5D5182C-25A6-7A39-7EB7-D5A5A6798AA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941" y="1995700"/>
            <a:ext cx="5519057" cy="436969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144" y="2149157"/>
            <a:ext cx="4677987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dirty="0"/>
              <a:t>El modelo BANMUSIP puede ser replicado en otras instituciones educativas, adaptando su metodología de práctica cooperativa y uso pedagógico de la música. </a:t>
            </a:r>
          </a:p>
          <a:p>
            <a:pPr marL="0" indent="0">
              <a:buNone/>
            </a:pPr>
            <a:r>
              <a:rPr lang="es-MX" dirty="0"/>
              <a:t>La experiencia ha sido socializada en encuentros académicos y constituye un referente que inspira proyectos similares en contextos escolares y comunitarios.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4B31FEF-75A6-20D1-1B77-F178E08467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2174876"/>
            <a:ext cx="5596104" cy="374284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4408" y="2083777"/>
            <a:ext cx="6989883" cy="43532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dirty="0"/>
              <a:t>La permanencia se garantiza por el compromiso de la comunidad educativa, la inclusión en el PEI y el respaldo intergeneracional de estudiantes y docentes. </a:t>
            </a:r>
          </a:p>
          <a:p>
            <a:pPr marL="0" indent="0">
              <a:buNone/>
            </a:pPr>
            <a:r>
              <a:rPr lang="es-MX" dirty="0"/>
              <a:t>La continuidad de la formación musical asegura la sostenibilidad en el tiempo, fortalecida por el reconocimiento y apoyo institucional.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8176" y="2086770"/>
            <a:ext cx="6497516" cy="43931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dirty="0"/>
              <a:t>La propuesta incorpora la música como recurso pedagógico innovador, transformando espacios de convivencia y resignificando la violencia a través de prácticas artísticas cooperativas. </a:t>
            </a:r>
          </a:p>
          <a:p>
            <a:pPr marL="0" indent="0">
              <a:buNone/>
            </a:pPr>
            <a:r>
              <a:rPr lang="es-MX" dirty="0"/>
              <a:t>La sistematización permanente, la articulación curricular y la construcción colectiva hacen de esta experiencia un ejemplo de innovación educativa contextualizada.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420" y="203454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s-CO" b="1" dirty="0"/>
              <a:t>Responsable</a:t>
            </a:r>
            <a:r>
              <a:rPr lang="es-CO" dirty="0"/>
              <a:t>: Sara Inés Guerrero Morales</a:t>
            </a:r>
          </a:p>
          <a:p>
            <a:pPr marL="0" indent="0" algn="ctr">
              <a:buNone/>
            </a:pPr>
            <a:r>
              <a:rPr lang="es-CO" b="1" dirty="0"/>
              <a:t>Correo</a:t>
            </a:r>
            <a:r>
              <a:rPr lang="es-CO" dirty="0"/>
              <a:t>: sara.guerrero@normalpitalito.edu.co</a:t>
            </a:r>
          </a:p>
          <a:p>
            <a:pPr marL="0" indent="0" algn="ctr">
              <a:buNone/>
            </a:pPr>
            <a:r>
              <a:rPr lang="es-CO" b="1" dirty="0"/>
              <a:t>Teléfono</a:t>
            </a:r>
            <a:r>
              <a:rPr lang="es-CO" dirty="0"/>
              <a:t>: 311 812 0399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580</Words>
  <Application>Microsoft Office PowerPoint</Application>
  <PresentationFormat>Panorámica</PresentationFormat>
  <Paragraphs>41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fkGroteskNeue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19</cp:revision>
  <dcterms:created xsi:type="dcterms:W3CDTF">2025-07-23T15:35:07Z</dcterms:created>
  <dcterms:modified xsi:type="dcterms:W3CDTF">2026-02-20T14:03:49Z</dcterms:modified>
</cp:coreProperties>
</file>