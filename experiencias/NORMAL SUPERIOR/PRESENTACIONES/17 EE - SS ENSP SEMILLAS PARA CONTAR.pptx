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7" r:id="rId4"/>
    <p:sldId id="266" r:id="rId5"/>
    <p:sldId id="258" r:id="rId6"/>
    <p:sldId id="259" r:id="rId7"/>
    <p:sldId id="260" r:id="rId8"/>
    <p:sldId id="261" r:id="rId9"/>
    <p:sldId id="262" r:id="rId10"/>
    <p:sldId id="267" r:id="rId11"/>
    <p:sldId id="263" r:id="rId12"/>
    <p:sldId id="264" r:id="rId13"/>
    <p:sldId id="270" r:id="rId14"/>
    <p:sldId id="271" r:id="rId15"/>
    <p:sldId id="268" r:id="rId1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CO" b="1" dirty="0"/>
            <a:t>FUNDAMENTACIÓN</a:t>
          </a:r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PERTINENCIA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MX" b="1" dirty="0"/>
            <a:t>CONSISTENCIA</a:t>
          </a:r>
          <a:endParaRPr lang="es-CO" b="1" dirty="0"/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MADUREZ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3A31B69-566F-4499-A255-C960BF21662E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7F922071-A59B-4287-9D0E-7DF877A3045C}">
      <dgm:prSet/>
      <dgm:spPr/>
      <dgm:t>
        <a:bodyPr/>
        <a:lstStyle/>
        <a:p>
          <a:pPr algn="ctr"/>
          <a:r>
            <a:rPr lang="es-CO" b="1" dirty="0"/>
            <a:t>EMPODERAMIENTO</a:t>
          </a:r>
        </a:p>
      </dgm:t>
    </dgm:pt>
    <dgm:pt modelId="{E9C193A8-A247-4C39-A3FE-B504305332DF}" type="parTrans" cxnId="{1DB7F010-2F4E-456D-B4C0-2FE7D9AE0F4F}">
      <dgm:prSet/>
      <dgm:spPr/>
      <dgm:t>
        <a:bodyPr/>
        <a:lstStyle/>
        <a:p>
          <a:endParaRPr lang="es-CO" b="1"/>
        </a:p>
      </dgm:t>
    </dgm:pt>
    <dgm:pt modelId="{9281B5D9-05E2-4982-B9B4-2700AAECF309}" type="sibTrans" cxnId="{1DB7F010-2F4E-456D-B4C0-2FE7D9AE0F4F}">
      <dgm:prSet/>
      <dgm:spPr/>
      <dgm:t>
        <a:bodyPr/>
        <a:lstStyle/>
        <a:p>
          <a:endParaRPr lang="es-CO" b="1"/>
        </a:p>
      </dgm:t>
    </dgm:pt>
    <dgm:pt modelId="{EE60C2F3-6D59-4EF4-99CC-E08E4187B5AD}" type="pres">
      <dgm:prSet presAssocID="{83A31B69-566F-4499-A255-C960BF21662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31B678E1-2000-4FC0-838F-85DFB5B56F1D}" type="pres">
      <dgm:prSet presAssocID="{7F922071-A59B-4287-9D0E-7DF877A3045C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FD4F9621-F8E9-4ECC-8981-5720E0F99AC2}" type="presOf" srcId="{83A31B69-566F-4499-A255-C960BF21662E}" destId="{EE60C2F3-6D59-4EF4-99CC-E08E4187B5AD}" srcOrd="0" destOrd="0" presId="urn:microsoft.com/office/officeart/2005/8/layout/vList2"/>
    <dgm:cxn modelId="{1DB7F010-2F4E-456D-B4C0-2FE7D9AE0F4F}" srcId="{83A31B69-566F-4499-A255-C960BF21662E}" destId="{7F922071-A59B-4287-9D0E-7DF877A3045C}" srcOrd="0" destOrd="0" parTransId="{E9C193A8-A247-4C39-A3FE-B504305332DF}" sibTransId="{9281B5D9-05E2-4982-B9B4-2700AAECF309}"/>
    <dgm:cxn modelId="{07D11A80-66BF-4FBD-BA76-79F3089DA47E}" type="presOf" srcId="{7F922071-A59B-4287-9D0E-7DF877A3045C}" destId="{31B678E1-2000-4FC0-838F-85DFB5B56F1D}" srcOrd="0" destOrd="0" presId="urn:microsoft.com/office/officeart/2005/8/layout/vList2"/>
    <dgm:cxn modelId="{177D5206-8400-4099-8762-F6244B234210}" type="presParOf" srcId="{EE60C2F3-6D59-4EF4-99CC-E08E4187B5AD}" destId="{31B678E1-2000-4FC0-838F-85DFB5B56F1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6514916-3387-426F-A9A9-E61B9485027B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2BA2871D-4D81-449B-BC5B-1C6D17252554}">
      <dgm:prSet/>
      <dgm:spPr/>
      <dgm:t>
        <a:bodyPr/>
        <a:lstStyle/>
        <a:p>
          <a:pPr algn="ctr"/>
          <a:r>
            <a:rPr lang="es-CO" b="1" dirty="0"/>
            <a:t>EVALUACIÓN Y SEGUIMIENTO</a:t>
          </a:r>
        </a:p>
      </dgm:t>
    </dgm:pt>
    <dgm:pt modelId="{A2D1B0C6-1A70-485D-BDAA-35E0FA57F7F1}" type="parTrans" cxnId="{2517FB1F-33DE-4F65-8466-9BE6FC21C8EF}">
      <dgm:prSet/>
      <dgm:spPr/>
      <dgm:t>
        <a:bodyPr/>
        <a:lstStyle/>
        <a:p>
          <a:endParaRPr lang="es-CO"/>
        </a:p>
      </dgm:t>
    </dgm:pt>
    <dgm:pt modelId="{3FE21DCF-86CA-4EA9-BC90-807B687D300A}" type="sibTrans" cxnId="{2517FB1F-33DE-4F65-8466-9BE6FC21C8EF}">
      <dgm:prSet/>
      <dgm:spPr/>
      <dgm:t>
        <a:bodyPr/>
        <a:lstStyle/>
        <a:p>
          <a:endParaRPr lang="es-CO"/>
        </a:p>
      </dgm:t>
    </dgm:pt>
    <dgm:pt modelId="{080806E0-BA41-4A10-84E1-9CB4EB13CD23}" type="pres">
      <dgm:prSet presAssocID="{A6514916-3387-426F-A9A9-E61B9485027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6DBEF42-CFB9-4902-8628-91F229D11855}" type="pres">
      <dgm:prSet presAssocID="{2BA2871D-4D81-449B-BC5B-1C6D17252554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517FB1F-33DE-4F65-8466-9BE6FC21C8EF}" srcId="{A6514916-3387-426F-A9A9-E61B9485027B}" destId="{2BA2871D-4D81-449B-BC5B-1C6D17252554}" srcOrd="0" destOrd="0" parTransId="{A2D1B0C6-1A70-485D-BDAA-35E0FA57F7F1}" sibTransId="{3FE21DCF-86CA-4EA9-BC90-807B687D300A}"/>
    <dgm:cxn modelId="{D01498A4-5C70-4BFF-AE5E-8F50CD19E28C}" type="presOf" srcId="{2BA2871D-4D81-449B-BC5B-1C6D17252554}" destId="{46DBEF42-CFB9-4902-8628-91F229D11855}" srcOrd="0" destOrd="0" presId="urn:microsoft.com/office/officeart/2005/8/layout/vList2"/>
    <dgm:cxn modelId="{074143AF-D452-4271-A46A-20CFFBC8535D}" type="presOf" srcId="{A6514916-3387-426F-A9A9-E61B9485027B}" destId="{080806E0-BA41-4A10-84E1-9CB4EB13CD23}" srcOrd="0" destOrd="0" presId="urn:microsoft.com/office/officeart/2005/8/layout/vList2"/>
    <dgm:cxn modelId="{4F76AB15-EAF1-4140-AC09-5832B4F2EC95}" type="presParOf" srcId="{080806E0-BA41-4A10-84E1-9CB4EB13CD23}" destId="{46DBEF42-CFB9-4902-8628-91F229D1185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0D6CE0B-2D60-414F-8282-1607279681D0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4BE1E9D8-92A4-4131-98FE-32C23E18DF9E}">
      <dgm:prSet/>
      <dgm:spPr/>
      <dgm:t>
        <a:bodyPr/>
        <a:lstStyle/>
        <a:p>
          <a:pPr algn="ctr"/>
          <a:r>
            <a:rPr lang="es-CO" b="1" dirty="0"/>
            <a:t>RESULTADOS</a:t>
          </a:r>
        </a:p>
      </dgm:t>
    </dgm:pt>
    <dgm:pt modelId="{1930D40E-B03D-4839-A982-53AD0489D07B}" type="parTrans" cxnId="{85C0D94F-054A-4F2D-8824-BE123990943E}">
      <dgm:prSet/>
      <dgm:spPr/>
      <dgm:t>
        <a:bodyPr/>
        <a:lstStyle/>
        <a:p>
          <a:endParaRPr lang="es-CO"/>
        </a:p>
      </dgm:t>
    </dgm:pt>
    <dgm:pt modelId="{80F9BB87-4645-4FA1-86B7-EB92A4FF299B}" type="sibTrans" cxnId="{85C0D94F-054A-4F2D-8824-BE123990943E}">
      <dgm:prSet/>
      <dgm:spPr/>
      <dgm:t>
        <a:bodyPr/>
        <a:lstStyle/>
        <a:p>
          <a:endParaRPr lang="es-CO"/>
        </a:p>
      </dgm:t>
    </dgm:pt>
    <dgm:pt modelId="{8B493A19-E0B3-4362-83A1-95600E5C1841}" type="pres">
      <dgm:prSet presAssocID="{F0D6CE0B-2D60-414F-8282-1607279681D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5AEA1D65-4B02-4517-868D-2252660EBBF2}" type="pres">
      <dgm:prSet presAssocID="{4BE1E9D8-92A4-4131-98FE-32C23E18DF9E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85C0D94F-054A-4F2D-8824-BE123990943E}" srcId="{F0D6CE0B-2D60-414F-8282-1607279681D0}" destId="{4BE1E9D8-92A4-4131-98FE-32C23E18DF9E}" srcOrd="0" destOrd="0" parTransId="{1930D40E-B03D-4839-A982-53AD0489D07B}" sibTransId="{80F9BB87-4645-4FA1-86B7-EB92A4FF299B}"/>
    <dgm:cxn modelId="{501B4ACA-5E48-43ED-863A-C545ECA7DCEC}" type="presOf" srcId="{F0D6CE0B-2D60-414F-8282-1607279681D0}" destId="{8B493A19-E0B3-4362-83A1-95600E5C1841}" srcOrd="0" destOrd="0" presId="urn:microsoft.com/office/officeart/2005/8/layout/vList2"/>
    <dgm:cxn modelId="{07E2B8AE-E04C-43C3-AFB8-369A44CEDD86}" type="presOf" srcId="{4BE1E9D8-92A4-4131-98FE-32C23E18DF9E}" destId="{5AEA1D65-4B02-4517-868D-2252660EBBF2}" srcOrd="0" destOrd="0" presId="urn:microsoft.com/office/officeart/2005/8/layout/vList2"/>
    <dgm:cxn modelId="{86F0A67D-39D2-4BEF-9524-073A3D7CBB7A}" type="presParOf" srcId="{8B493A19-E0B3-4362-83A1-95600E5C1841}" destId="{5AEA1D65-4B02-4517-868D-2252660EBB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8F95D73-2495-44C2-9DD5-C7076158156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51233226-7FFA-47FA-ADDE-E1F038A8910B}">
      <dgm:prSet/>
      <dgm:spPr/>
      <dgm:t>
        <a:bodyPr/>
        <a:lstStyle/>
        <a:p>
          <a:pPr algn="ctr"/>
          <a:r>
            <a:rPr lang="es-CO" b="1" dirty="0"/>
            <a:t>TRANSFERENCIA</a:t>
          </a:r>
        </a:p>
      </dgm:t>
    </dgm:pt>
    <dgm:pt modelId="{A1875DB1-7F9C-4C1E-9DD0-4A62ED88E181}" type="parTrans" cxnId="{B79677B4-0036-49C2-8874-83C890FB5FBB}">
      <dgm:prSet/>
      <dgm:spPr/>
      <dgm:t>
        <a:bodyPr/>
        <a:lstStyle/>
        <a:p>
          <a:endParaRPr lang="es-CO"/>
        </a:p>
      </dgm:t>
    </dgm:pt>
    <dgm:pt modelId="{C474848E-D8AD-4CD6-AE91-CB79CC955440}" type="sibTrans" cxnId="{B79677B4-0036-49C2-8874-83C890FB5FBB}">
      <dgm:prSet/>
      <dgm:spPr/>
      <dgm:t>
        <a:bodyPr/>
        <a:lstStyle/>
        <a:p>
          <a:endParaRPr lang="es-CO"/>
        </a:p>
      </dgm:t>
    </dgm:pt>
    <dgm:pt modelId="{9F9918A5-B1D9-4E6F-A0AB-9DCECB5A8FF1}" type="pres">
      <dgm:prSet presAssocID="{88F95D73-2495-44C2-9DD5-C7076158156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F22A99A-39B7-4281-9165-D87AAF77F3C2}" type="pres">
      <dgm:prSet presAssocID="{51233226-7FFA-47FA-ADDE-E1F038A8910B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EB480121-F741-49F6-996F-1BF9FFC34FC7}" type="presOf" srcId="{51233226-7FFA-47FA-ADDE-E1F038A8910B}" destId="{4F22A99A-39B7-4281-9165-D87AAF77F3C2}" srcOrd="0" destOrd="0" presId="urn:microsoft.com/office/officeart/2005/8/layout/vList2"/>
    <dgm:cxn modelId="{B79677B4-0036-49C2-8874-83C890FB5FBB}" srcId="{88F95D73-2495-44C2-9DD5-C70761581563}" destId="{51233226-7FFA-47FA-ADDE-E1F038A8910B}" srcOrd="0" destOrd="0" parTransId="{A1875DB1-7F9C-4C1E-9DD0-4A62ED88E181}" sibTransId="{C474848E-D8AD-4CD6-AE91-CB79CC955440}"/>
    <dgm:cxn modelId="{C9A76027-D350-42E7-B3AA-20CBFF60E6BF}" type="presOf" srcId="{88F95D73-2495-44C2-9DD5-C70761581563}" destId="{9F9918A5-B1D9-4E6F-A0AB-9DCECB5A8FF1}" srcOrd="0" destOrd="0" presId="urn:microsoft.com/office/officeart/2005/8/layout/vList2"/>
    <dgm:cxn modelId="{B350DDBA-E2E4-400E-B7F1-9CFD435E4A69}" type="presParOf" srcId="{9F9918A5-B1D9-4E6F-A0AB-9DCECB5A8FF1}" destId="{4F22A99A-39B7-4281-9165-D87AAF77F3C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4929F62-7B14-47FD-A4BE-3EC3871F8D5D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DECEA15A-D46B-428D-9682-CA9A56C11C5A}">
      <dgm:prSet/>
      <dgm:spPr/>
      <dgm:t>
        <a:bodyPr/>
        <a:lstStyle/>
        <a:p>
          <a:pPr algn="ctr"/>
          <a:r>
            <a:rPr lang="es-CO" b="1" dirty="0"/>
            <a:t>SOSTENIBILIDAD</a:t>
          </a:r>
        </a:p>
      </dgm:t>
    </dgm:pt>
    <dgm:pt modelId="{2CE2A4B8-4AE8-4446-92E2-EE00E47D2293}" type="parTrans" cxnId="{2DA7F9C8-910F-4045-8E9A-3687E0B00620}">
      <dgm:prSet/>
      <dgm:spPr/>
      <dgm:t>
        <a:bodyPr/>
        <a:lstStyle/>
        <a:p>
          <a:endParaRPr lang="es-CO"/>
        </a:p>
      </dgm:t>
    </dgm:pt>
    <dgm:pt modelId="{CB4E4B0E-F529-455B-A904-E316D0C8FBC4}" type="sibTrans" cxnId="{2DA7F9C8-910F-4045-8E9A-3687E0B00620}">
      <dgm:prSet/>
      <dgm:spPr/>
      <dgm:t>
        <a:bodyPr/>
        <a:lstStyle/>
        <a:p>
          <a:endParaRPr lang="es-CO"/>
        </a:p>
      </dgm:t>
    </dgm:pt>
    <dgm:pt modelId="{0D2DB1D5-139B-4807-820F-9799181F6647}" type="pres">
      <dgm:prSet presAssocID="{64929F62-7B14-47FD-A4BE-3EC3871F8D5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52E0517-A530-4F70-BC63-122CA318C606}" type="pres">
      <dgm:prSet presAssocID="{DECEA15A-D46B-428D-9682-CA9A56C11C5A}" presName="parentText" presStyleLbl="node1" presStyleIdx="0" presStyleCnt="1" custLinFactNeighborX="-1481" custLinFactNeighborY="-697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DA7F9C8-910F-4045-8E9A-3687E0B00620}" srcId="{64929F62-7B14-47FD-A4BE-3EC3871F8D5D}" destId="{DECEA15A-D46B-428D-9682-CA9A56C11C5A}" srcOrd="0" destOrd="0" parTransId="{2CE2A4B8-4AE8-4446-92E2-EE00E47D2293}" sibTransId="{CB4E4B0E-F529-455B-A904-E316D0C8FBC4}"/>
    <dgm:cxn modelId="{E123F8E2-AA45-4C6C-B4B3-1C6259036316}" type="presOf" srcId="{DECEA15A-D46B-428D-9682-CA9A56C11C5A}" destId="{C52E0517-A530-4F70-BC63-122CA318C606}" srcOrd="0" destOrd="0" presId="urn:microsoft.com/office/officeart/2005/8/layout/vList2"/>
    <dgm:cxn modelId="{053F08D3-1A18-4CB2-901A-A426D17557E0}" type="presOf" srcId="{64929F62-7B14-47FD-A4BE-3EC3871F8D5D}" destId="{0D2DB1D5-139B-4807-820F-9799181F6647}" srcOrd="0" destOrd="0" presId="urn:microsoft.com/office/officeart/2005/8/layout/vList2"/>
    <dgm:cxn modelId="{4958C595-F7FB-4AD0-A65E-6E7576DB6508}" type="presParOf" srcId="{0D2DB1D5-139B-4807-820F-9799181F6647}" destId="{C52E0517-A530-4F70-BC63-122CA318C60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CD9E832-D3A2-4F58-B2B7-1681B07D7437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B940F0B8-0B9A-471B-A0D9-438E24817FBA}">
      <dgm:prSet/>
      <dgm:spPr/>
      <dgm:t>
        <a:bodyPr/>
        <a:lstStyle/>
        <a:p>
          <a:pPr algn="ctr"/>
          <a:r>
            <a:rPr lang="es-CO" b="1" dirty="0"/>
            <a:t>INNOVACIÓN</a:t>
          </a:r>
        </a:p>
      </dgm:t>
    </dgm:pt>
    <dgm:pt modelId="{4B7A4A79-D3F4-4EDF-8D3C-D27EC6DA16C4}" type="parTrans" cxnId="{7B25536C-5C41-4593-9610-06F544638F5B}">
      <dgm:prSet/>
      <dgm:spPr/>
      <dgm:t>
        <a:bodyPr/>
        <a:lstStyle/>
        <a:p>
          <a:endParaRPr lang="es-CO"/>
        </a:p>
      </dgm:t>
    </dgm:pt>
    <dgm:pt modelId="{92909E5B-8887-4E23-85E7-1708A89F5809}" type="sibTrans" cxnId="{7B25536C-5C41-4593-9610-06F544638F5B}">
      <dgm:prSet/>
      <dgm:spPr/>
      <dgm:t>
        <a:bodyPr/>
        <a:lstStyle/>
        <a:p>
          <a:endParaRPr lang="es-CO"/>
        </a:p>
      </dgm:t>
    </dgm:pt>
    <dgm:pt modelId="{634D75D7-C143-4B58-A6BE-8680AAE7AB88}" type="pres">
      <dgm:prSet presAssocID="{CCD9E832-D3A2-4F58-B2B7-1681B07D743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0A6F2A22-737A-4A85-953E-DB3EE8FD34F8}" type="pres">
      <dgm:prSet presAssocID="{B940F0B8-0B9A-471B-A0D9-438E24817FB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7B25536C-5C41-4593-9610-06F544638F5B}" srcId="{CCD9E832-D3A2-4F58-B2B7-1681B07D7437}" destId="{B940F0B8-0B9A-471B-A0D9-438E24817FBA}" srcOrd="0" destOrd="0" parTransId="{4B7A4A79-D3F4-4EDF-8D3C-D27EC6DA16C4}" sibTransId="{92909E5B-8887-4E23-85E7-1708A89F5809}"/>
    <dgm:cxn modelId="{7F1BC0DA-785F-4D0C-A809-3D6914303071}" type="presOf" srcId="{CCD9E832-D3A2-4F58-B2B7-1681B07D7437}" destId="{634D75D7-C143-4B58-A6BE-8680AAE7AB88}" srcOrd="0" destOrd="0" presId="urn:microsoft.com/office/officeart/2005/8/layout/vList2"/>
    <dgm:cxn modelId="{7E9882F6-FF59-44A4-B7B7-6F5B482BA248}" type="presOf" srcId="{B940F0B8-0B9A-471B-A0D9-438E24817FBA}" destId="{0A6F2A22-737A-4A85-953E-DB3EE8FD34F8}" srcOrd="0" destOrd="0" presId="urn:microsoft.com/office/officeart/2005/8/layout/vList2"/>
    <dgm:cxn modelId="{989BF5ED-91BE-4444-90B5-A072847FF992}" type="presParOf" srcId="{634D75D7-C143-4B58-A6BE-8680AAE7AB88}" destId="{0A6F2A22-737A-4A85-953E-DB3EE8FD34F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4929F62-7B14-47FD-A4BE-3EC3871F8D5D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DECEA15A-D46B-428D-9682-CA9A56C11C5A}">
      <dgm:prSet/>
      <dgm:spPr/>
      <dgm:t>
        <a:bodyPr/>
        <a:lstStyle/>
        <a:p>
          <a:pPr algn="ctr"/>
          <a:r>
            <a:rPr lang="es-MX" b="1" dirty="0"/>
            <a:t>“SEMBRAR EN LA TIERRA Y EN LA MENTE, PARA</a:t>
          </a:r>
          <a:endParaRPr lang="es-CO" b="1" dirty="0"/>
        </a:p>
        <a:p>
          <a:pPr algn="ctr"/>
          <a:r>
            <a:rPr lang="es-CO" b="1" dirty="0"/>
            <a:t>COSECHAR FUTURO”</a:t>
          </a:r>
        </a:p>
      </dgm:t>
    </dgm:pt>
    <dgm:pt modelId="{2CE2A4B8-4AE8-4446-92E2-EE00E47D2293}" type="parTrans" cxnId="{2DA7F9C8-910F-4045-8E9A-3687E0B00620}">
      <dgm:prSet/>
      <dgm:spPr/>
      <dgm:t>
        <a:bodyPr/>
        <a:lstStyle/>
        <a:p>
          <a:endParaRPr lang="es-CO"/>
        </a:p>
      </dgm:t>
    </dgm:pt>
    <dgm:pt modelId="{CB4E4B0E-F529-455B-A904-E316D0C8FBC4}" type="sibTrans" cxnId="{2DA7F9C8-910F-4045-8E9A-3687E0B00620}">
      <dgm:prSet/>
      <dgm:spPr/>
      <dgm:t>
        <a:bodyPr/>
        <a:lstStyle/>
        <a:p>
          <a:endParaRPr lang="es-CO"/>
        </a:p>
      </dgm:t>
    </dgm:pt>
    <dgm:pt modelId="{0D2DB1D5-139B-4807-820F-9799181F6647}" type="pres">
      <dgm:prSet presAssocID="{64929F62-7B14-47FD-A4BE-3EC3871F8D5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52E0517-A530-4F70-BC63-122CA318C606}" type="pres">
      <dgm:prSet presAssocID="{DECEA15A-D46B-428D-9682-CA9A56C11C5A}" presName="parentText" presStyleLbl="node1" presStyleIdx="0" presStyleCnt="1" custLinFactNeighborX="-1481" custLinFactNeighborY="-697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DA7F9C8-910F-4045-8E9A-3687E0B00620}" srcId="{64929F62-7B14-47FD-A4BE-3EC3871F8D5D}" destId="{DECEA15A-D46B-428D-9682-CA9A56C11C5A}" srcOrd="0" destOrd="0" parTransId="{2CE2A4B8-4AE8-4446-92E2-EE00E47D2293}" sibTransId="{CB4E4B0E-F529-455B-A904-E316D0C8FBC4}"/>
    <dgm:cxn modelId="{E123F8E2-AA45-4C6C-B4B3-1C6259036316}" type="presOf" srcId="{DECEA15A-D46B-428D-9682-CA9A56C11C5A}" destId="{C52E0517-A530-4F70-BC63-122CA318C606}" srcOrd="0" destOrd="0" presId="urn:microsoft.com/office/officeart/2005/8/layout/vList2"/>
    <dgm:cxn modelId="{053F08D3-1A18-4CB2-901A-A426D17557E0}" type="presOf" srcId="{64929F62-7B14-47FD-A4BE-3EC3871F8D5D}" destId="{0D2DB1D5-139B-4807-820F-9799181F6647}" srcOrd="0" destOrd="0" presId="urn:microsoft.com/office/officeart/2005/8/layout/vList2"/>
    <dgm:cxn modelId="{4958C595-F7FB-4AD0-A65E-6E7576DB6508}" type="presParOf" srcId="{0D2DB1D5-139B-4807-820F-9799181F6647}" destId="{C52E0517-A530-4F70-BC63-122CA318C60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CCD9E832-D3A2-4F58-B2B7-1681B07D7437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B940F0B8-0B9A-471B-A0D9-438E24817FBA}">
      <dgm:prSet/>
      <dgm:spPr/>
      <dgm:t>
        <a:bodyPr/>
        <a:lstStyle/>
        <a:p>
          <a:pPr algn="ctr"/>
          <a:r>
            <a:rPr lang="es-CO" b="1" dirty="0"/>
            <a:t>EVIDENCIAS</a:t>
          </a:r>
        </a:p>
      </dgm:t>
    </dgm:pt>
    <dgm:pt modelId="{4B7A4A79-D3F4-4EDF-8D3C-D27EC6DA16C4}" type="parTrans" cxnId="{7B25536C-5C41-4593-9610-06F544638F5B}">
      <dgm:prSet/>
      <dgm:spPr/>
      <dgm:t>
        <a:bodyPr/>
        <a:lstStyle/>
        <a:p>
          <a:endParaRPr lang="es-CO"/>
        </a:p>
      </dgm:t>
    </dgm:pt>
    <dgm:pt modelId="{92909E5B-8887-4E23-85E7-1708A89F5809}" type="sibTrans" cxnId="{7B25536C-5C41-4593-9610-06F544638F5B}">
      <dgm:prSet/>
      <dgm:spPr/>
      <dgm:t>
        <a:bodyPr/>
        <a:lstStyle/>
        <a:p>
          <a:endParaRPr lang="es-CO"/>
        </a:p>
      </dgm:t>
    </dgm:pt>
    <dgm:pt modelId="{634D75D7-C143-4B58-A6BE-8680AAE7AB88}" type="pres">
      <dgm:prSet presAssocID="{CCD9E832-D3A2-4F58-B2B7-1681B07D743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0A6F2A22-737A-4A85-953E-DB3EE8FD34F8}" type="pres">
      <dgm:prSet presAssocID="{B940F0B8-0B9A-471B-A0D9-438E24817FB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7B25536C-5C41-4593-9610-06F544638F5B}" srcId="{CCD9E832-D3A2-4F58-B2B7-1681B07D7437}" destId="{B940F0B8-0B9A-471B-A0D9-438E24817FBA}" srcOrd="0" destOrd="0" parTransId="{4B7A4A79-D3F4-4EDF-8D3C-D27EC6DA16C4}" sibTransId="{92909E5B-8887-4E23-85E7-1708A89F5809}"/>
    <dgm:cxn modelId="{7F1BC0DA-785F-4D0C-A809-3D6914303071}" type="presOf" srcId="{CCD9E832-D3A2-4F58-B2B7-1681B07D7437}" destId="{634D75D7-C143-4B58-A6BE-8680AAE7AB88}" srcOrd="0" destOrd="0" presId="urn:microsoft.com/office/officeart/2005/8/layout/vList2"/>
    <dgm:cxn modelId="{7E9882F6-FF59-44A4-B7B7-6F5B482BA248}" type="presOf" srcId="{B940F0B8-0B9A-471B-A0D9-438E24817FBA}" destId="{0A6F2A22-737A-4A85-953E-DB3EE8FD34F8}" srcOrd="0" destOrd="0" presId="urn:microsoft.com/office/officeart/2005/8/layout/vList2"/>
    <dgm:cxn modelId="{989BF5ED-91BE-4444-90B5-A072847FF992}" type="presParOf" srcId="{634D75D7-C143-4B58-A6BE-8680AAE7AB88}" destId="{0A6F2A22-737A-4A85-953E-DB3EE8FD34F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9604CEE-3387-4500-966B-362879E6A93C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6AE58FB2-3CEB-4D54-A223-BC9EA0A72102}">
      <dgm:prSet/>
      <dgm:spPr/>
      <dgm:t>
        <a:bodyPr/>
        <a:lstStyle/>
        <a:p>
          <a:pPr algn="ctr"/>
          <a:r>
            <a:rPr lang="es-CO" b="1" dirty="0"/>
            <a:t>CRÉDITOS Y CONTACTO</a:t>
          </a:r>
        </a:p>
      </dgm:t>
    </dgm:pt>
    <dgm:pt modelId="{8DE7C34F-7857-4D93-B6FC-95A75BFF6C66}" type="parTrans" cxnId="{2A7FD386-C2FB-421A-AF8B-29484AD9F468}">
      <dgm:prSet/>
      <dgm:spPr/>
      <dgm:t>
        <a:bodyPr/>
        <a:lstStyle/>
        <a:p>
          <a:endParaRPr lang="es-CO" b="1"/>
        </a:p>
      </dgm:t>
    </dgm:pt>
    <dgm:pt modelId="{3AC3347F-515C-4CA0-BF8A-D9139969D67B}" type="sibTrans" cxnId="{2A7FD386-C2FB-421A-AF8B-29484AD9F468}">
      <dgm:prSet/>
      <dgm:spPr/>
      <dgm:t>
        <a:bodyPr/>
        <a:lstStyle/>
        <a:p>
          <a:endParaRPr lang="es-CO" b="1"/>
        </a:p>
      </dgm:t>
    </dgm:pt>
    <dgm:pt modelId="{591D47AB-BD78-4FAD-A788-1BF173DF8B56}" type="pres">
      <dgm:prSet presAssocID="{09604CEE-3387-4500-966B-362879E6A93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93DB53E5-91E0-48A4-BBEC-A7F256CF8BC5}" type="pres">
      <dgm:prSet presAssocID="{6AE58FB2-3CEB-4D54-A223-BC9EA0A72102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A7FD386-C2FB-421A-AF8B-29484AD9F468}" srcId="{09604CEE-3387-4500-966B-362879E6A93C}" destId="{6AE58FB2-3CEB-4D54-A223-BC9EA0A72102}" srcOrd="0" destOrd="0" parTransId="{8DE7C34F-7857-4D93-B6FC-95A75BFF6C66}" sibTransId="{3AC3347F-515C-4CA0-BF8A-D9139969D67B}"/>
    <dgm:cxn modelId="{611AC814-5BFD-4D5D-884C-BCBF6D2E8A0D}" type="presOf" srcId="{6AE58FB2-3CEB-4D54-A223-BC9EA0A72102}" destId="{93DB53E5-91E0-48A4-BBEC-A7F256CF8BC5}" srcOrd="0" destOrd="0" presId="urn:microsoft.com/office/officeart/2005/8/layout/vList2"/>
    <dgm:cxn modelId="{E8512E37-2C60-4597-9B7B-CE5A27227939}" type="presOf" srcId="{09604CEE-3387-4500-966B-362879E6A93C}" destId="{591D47AB-BD78-4FAD-A788-1BF173DF8B56}" srcOrd="0" destOrd="0" presId="urn:microsoft.com/office/officeart/2005/8/layout/vList2"/>
    <dgm:cxn modelId="{C544253F-77C8-4A33-9EFF-BC8511FEF2FB}" type="presParOf" srcId="{591D47AB-BD78-4FAD-A788-1BF173DF8B56}" destId="{93DB53E5-91E0-48A4-BBEC-A7F256CF8BC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FUNDAMENTACIÓN</a:t>
          </a:r>
        </a:p>
      </dsp:txBody>
      <dsp:txXfrm>
        <a:off x="55687" y="56812"/>
        <a:ext cx="8118226" cy="10293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PERTINENCIA</a:t>
          </a:r>
        </a:p>
      </dsp:txBody>
      <dsp:txXfrm>
        <a:off x="55687" y="56812"/>
        <a:ext cx="8118226" cy="10293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5000" b="1" kern="1200" dirty="0"/>
            <a:t>CONSISTENCIA</a:t>
          </a:r>
          <a:endParaRPr lang="es-CO" sz="5000" b="1" kern="1200" dirty="0"/>
        </a:p>
      </dsp:txBody>
      <dsp:txXfrm>
        <a:off x="55687" y="56812"/>
        <a:ext cx="8118226" cy="10293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MADUREZ</a:t>
          </a:r>
        </a:p>
      </dsp:txBody>
      <dsp:txXfrm>
        <a:off x="55687" y="56812"/>
        <a:ext cx="8118226" cy="10293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678E1-2000-4FC0-838F-85DFB5B56F1D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EMPODERAMIENTO</a:t>
          </a:r>
        </a:p>
      </dsp:txBody>
      <dsp:txXfrm>
        <a:off x="55687" y="56812"/>
        <a:ext cx="8118226" cy="10293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DBEF42-CFB9-4902-8628-91F229D11855}">
      <dsp:nvSpPr>
        <dsp:cNvPr id="0" name=""/>
        <dsp:cNvSpPr/>
      </dsp:nvSpPr>
      <dsp:spPr>
        <a:xfrm>
          <a:off x="0" y="92385"/>
          <a:ext cx="8229600" cy="95822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200" b="1" kern="1200" dirty="0"/>
            <a:t>EVALUACIÓN Y SEGUIMIENTO</a:t>
          </a:r>
        </a:p>
      </dsp:txBody>
      <dsp:txXfrm>
        <a:off x="46777" y="139162"/>
        <a:ext cx="8136046" cy="86467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EA1D65-4B02-4517-868D-2252660EBBF2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RESULTADOS</a:t>
          </a:r>
        </a:p>
      </dsp:txBody>
      <dsp:txXfrm>
        <a:off x="55687" y="56812"/>
        <a:ext cx="8118226" cy="102937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22A99A-39B7-4281-9165-D87AAF77F3C2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TRANSFERENCIA</a:t>
          </a:r>
        </a:p>
      </dsp:txBody>
      <dsp:txXfrm>
        <a:off x="55687" y="56812"/>
        <a:ext cx="8118226" cy="102937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2E0517-A530-4F70-BC63-122CA318C606}">
      <dsp:nvSpPr>
        <dsp:cNvPr id="0" name=""/>
        <dsp:cNvSpPr/>
      </dsp:nvSpPr>
      <dsp:spPr>
        <a:xfrm>
          <a:off x="0" y="0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SOSTENIBILIDAD</a:t>
          </a:r>
        </a:p>
      </dsp:txBody>
      <dsp:txXfrm>
        <a:off x="55687" y="55687"/>
        <a:ext cx="8118226" cy="102937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6F2A22-737A-4A85-953E-DB3EE8FD34F8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INNOVACIÓN</a:t>
          </a:r>
        </a:p>
      </dsp:txBody>
      <dsp:txXfrm>
        <a:off x="55687" y="56812"/>
        <a:ext cx="8118226" cy="102937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2E0517-A530-4F70-BC63-122CA318C606}">
      <dsp:nvSpPr>
        <dsp:cNvPr id="0" name=""/>
        <dsp:cNvSpPr/>
      </dsp:nvSpPr>
      <dsp:spPr>
        <a:xfrm>
          <a:off x="0" y="22831"/>
          <a:ext cx="8229600" cy="10822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500" b="1" kern="1200" dirty="0"/>
            <a:t>“SEMBRAR EN LA TIERRA Y EN LA MENTE, PARA</a:t>
          </a:r>
          <a:endParaRPr lang="es-CO" sz="2500" b="1" kern="1200" dirty="0"/>
        </a:p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2500" b="1" kern="1200" dirty="0"/>
            <a:t>COSECHAR FUTURO”</a:t>
          </a:r>
        </a:p>
      </dsp:txBody>
      <dsp:txXfrm>
        <a:off x="52831" y="75662"/>
        <a:ext cx="8123938" cy="97658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6F2A22-737A-4A85-953E-DB3EE8FD34F8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EVIDENCIAS</a:t>
          </a:r>
        </a:p>
      </dsp:txBody>
      <dsp:txXfrm>
        <a:off x="55687" y="56812"/>
        <a:ext cx="8118226" cy="102937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B53E5-91E0-48A4-BBEC-A7F256CF8BC5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CRÉDITOS Y CONTACTO</a:t>
          </a:r>
        </a:p>
      </dsp:txBody>
      <dsp:txXfrm>
        <a:off x="55687" y="56812"/>
        <a:ext cx="8118226" cy="10293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8.emf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7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6.emf"/><Relationship Id="rId5" Type="http://schemas.openxmlformats.org/officeDocument/2006/relationships/diagramQuickStyle" Target="../diagrams/quickStyle1.xml"/><Relationship Id="rId15" Type="http://schemas.microsoft.com/office/2007/relationships/hdphoto" Target="../media/hdphoto2.wdp"/><Relationship Id="rId10" Type="http://schemas.microsoft.com/office/2007/relationships/hdphoto" Target="../media/hdphoto1.wdp"/><Relationship Id="rId4" Type="http://schemas.openxmlformats.org/officeDocument/2006/relationships/diagramLayout" Target="../diagrams/layout1.xml"/><Relationship Id="rId9" Type="http://schemas.openxmlformats.org/officeDocument/2006/relationships/image" Target="../media/image3.png"/><Relationship Id="rId1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2.xml"/><Relationship Id="rId10" Type="http://schemas.microsoft.com/office/2007/relationships/hdphoto" Target="../media/hdphoto1.wdp"/><Relationship Id="rId4" Type="http://schemas.openxmlformats.org/officeDocument/2006/relationships/diagramLayout" Target="../diagrams/layout2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9.emf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3.xml"/><Relationship Id="rId10" Type="http://schemas.microsoft.com/office/2007/relationships/hdphoto" Target="../media/hdphoto1.wdp"/><Relationship Id="rId4" Type="http://schemas.openxmlformats.org/officeDocument/2006/relationships/diagramLayout" Target="../diagrams/layout3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10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4.xml"/><Relationship Id="rId15" Type="http://schemas.openxmlformats.org/officeDocument/2006/relationships/image" Target="../media/image12.emf"/><Relationship Id="rId10" Type="http://schemas.microsoft.com/office/2007/relationships/hdphoto" Target="../media/hdphoto1.wdp"/><Relationship Id="rId4" Type="http://schemas.openxmlformats.org/officeDocument/2006/relationships/diagramLayout" Target="../diagrams/layout4.xml"/><Relationship Id="rId9" Type="http://schemas.openxmlformats.org/officeDocument/2006/relationships/image" Target="../media/image3.png"/><Relationship Id="rId1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13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5.xml"/><Relationship Id="rId10" Type="http://schemas.microsoft.com/office/2007/relationships/hdphoto" Target="../media/hdphoto1.wdp"/><Relationship Id="rId4" Type="http://schemas.openxmlformats.org/officeDocument/2006/relationships/diagramLayout" Target="../diagrams/layout5.xml"/><Relationship Id="rId9" Type="http://schemas.openxmlformats.org/officeDocument/2006/relationships/image" Target="../media/image3.png"/><Relationship Id="rId1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6.xml"/><Relationship Id="rId10" Type="http://schemas.microsoft.com/office/2007/relationships/hdphoto" Target="../media/hdphoto1.wdp"/><Relationship Id="rId4" Type="http://schemas.openxmlformats.org/officeDocument/2006/relationships/diagramLayout" Target="../diagrams/layout6.xml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12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7.xml"/><Relationship Id="rId10" Type="http://schemas.microsoft.com/office/2007/relationships/hdphoto" Target="../media/hdphoto1.wdp"/><Relationship Id="rId4" Type="http://schemas.openxmlformats.org/officeDocument/2006/relationships/diagramLayout" Target="../diagrams/layout7.xml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12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8.xml"/><Relationship Id="rId10" Type="http://schemas.microsoft.com/office/2007/relationships/hdphoto" Target="../media/hdphoto1.wdp"/><Relationship Id="rId4" Type="http://schemas.openxmlformats.org/officeDocument/2006/relationships/diagramLayout" Target="../diagrams/layout8.xml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12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9.xml"/><Relationship Id="rId10" Type="http://schemas.microsoft.com/office/2007/relationships/hdphoto" Target="../media/hdphoto1.wdp"/><Relationship Id="rId4" Type="http://schemas.openxmlformats.org/officeDocument/2006/relationships/diagramLayout" Target="../diagrams/layout9.xml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12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10.xml"/><Relationship Id="rId10" Type="http://schemas.microsoft.com/office/2007/relationships/hdphoto" Target="../media/hdphoto1.wdp"/><Relationship Id="rId4" Type="http://schemas.openxmlformats.org/officeDocument/2006/relationships/diagramLayout" Target="../diagrams/layout10.xml"/><Relationship Id="rId9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15.emf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12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11.xml"/><Relationship Id="rId10" Type="http://schemas.microsoft.com/office/2007/relationships/hdphoto" Target="../media/hdphoto1.wdp"/><Relationship Id="rId4" Type="http://schemas.openxmlformats.org/officeDocument/2006/relationships/diagramLayout" Target="../diagrams/layout11.xml"/><Relationship Id="rId9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16.emf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12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12.xml"/><Relationship Id="rId10" Type="http://schemas.microsoft.com/office/2007/relationships/hdphoto" Target="../media/hdphoto1.wdp"/><Relationship Id="rId4" Type="http://schemas.openxmlformats.org/officeDocument/2006/relationships/diagramLayout" Target="../diagrams/layout12.xml"/><Relationship Id="rId9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mailto:gilberto.rojas@normalpitalito.edu.coT" TargetMode="External"/><Relationship Id="rId13" Type="http://schemas.microsoft.com/office/2007/relationships/hdphoto" Target="../media/hdphoto2.wdp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11" Type="http://schemas.microsoft.com/office/2007/relationships/hdphoto" Target="../media/hdphoto1.wdp"/><Relationship Id="rId5" Type="http://schemas.openxmlformats.org/officeDocument/2006/relationships/diagramQuickStyle" Target="../diagrams/quickStyle13.xml"/><Relationship Id="rId10" Type="http://schemas.openxmlformats.org/officeDocument/2006/relationships/image" Target="../media/image3.png"/><Relationship Id="rId4" Type="http://schemas.openxmlformats.org/officeDocument/2006/relationships/diagramLayout" Target="../diagrams/layout13.xm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3E4AF6F-E779-CD1D-11EF-0C24C6FC8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4120" y="1038225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 err="1"/>
              <a:t>Experiencia</a:t>
            </a:r>
            <a:r>
              <a:rPr dirty="0"/>
              <a:t> </a:t>
            </a:r>
            <a:r>
              <a:rPr dirty="0" err="1"/>
              <a:t>Significativa</a:t>
            </a:r>
            <a:endParaRPr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A95729C-CECB-640B-E4A6-9CF9EDDA0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9920" y="5329079"/>
            <a:ext cx="6400800" cy="114792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s-MX" b="1" dirty="0">
                <a:solidFill>
                  <a:schemeClr val="tx1"/>
                </a:solidFill>
              </a:rPr>
              <a:t>I. E. M. </a:t>
            </a:r>
            <a:r>
              <a:rPr b="1" dirty="0">
                <a:solidFill>
                  <a:schemeClr val="tx1"/>
                </a:solidFill>
              </a:rPr>
              <a:t>Escuela Normal Superior</a:t>
            </a:r>
          </a:p>
          <a:p>
            <a:pPr>
              <a:spcBef>
                <a:spcPts val="0"/>
              </a:spcBef>
            </a:pPr>
            <a:r>
              <a:rPr lang="es-CO" b="1" dirty="0">
                <a:solidFill>
                  <a:schemeClr val="tx1"/>
                </a:solidFill>
              </a:rPr>
              <a:t>Pitalito – Huila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69E89D-FDB4-3BCA-DEDE-3D7DDE2A4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D5FC479-D7DE-25EA-1EFB-11898125D411}"/>
              </a:ext>
            </a:extLst>
          </p:cNvPr>
          <p:cNvSpPr txBox="1">
            <a:spLocks/>
          </p:cNvSpPr>
          <p:nvPr/>
        </p:nvSpPr>
        <p:spPr>
          <a:xfrm>
            <a:off x="3169920" y="3195479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dirty="0"/>
              <a:t>SEMILLAS PARA CONTAR</a:t>
            </a:r>
          </a:p>
          <a:p>
            <a:r>
              <a:rPr lang="es-CO" dirty="0"/>
              <a:t>GILBERTO ROJAS MURCIA</a:t>
            </a:r>
          </a:p>
          <a:p>
            <a:endParaRPr lang="es-CO" b="1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79F20E7-AAE1-C7D2-6F65-F7410C023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1473B7C-9D8E-F8C7-2505-69C591724C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948" b="90495" l="9883" r="89971">
                        <a14:foregroundMark x1="32357" y1="27474" x2="49707" y2="28646"/>
                        <a14:foregroundMark x1="33455" y1="21354" x2="33455" y2="21354"/>
                        <a14:foregroundMark x1="31698" y1="23307" x2="36091" y2="23047"/>
                        <a14:foregroundMark x1="36091" y1="23047" x2="40337" y2="23047"/>
                        <a14:foregroundMark x1="25476" y1="32161" x2="30161" y2="16536"/>
                        <a14:foregroundMark x1="30161" y1="16536" x2="35286" y2="10286"/>
                        <a14:foregroundMark x1="35286" y1="10286" x2="46706" y2="4948"/>
                        <a14:foregroundMark x1="40922" y1="92578" x2="51025" y2="90495"/>
                        <a14:foregroundMark x1="51025" y1="90495" x2="52635" y2="89193"/>
                        <a14:foregroundMark x1="62958" y1="26432" x2="62152" y2="19922"/>
                        <a14:foregroundMark x1="65813" y1="45052" x2="65813" y2="34115"/>
                        <a14:foregroundMark x1="31406" y1="24740" x2="34041" y2="14974"/>
                      </a14:backgroundRemoval>
                    </a14:imgEffect>
                  </a14:imgLayer>
                </a14:imgProps>
              </a:ext>
            </a:extLst>
          </a:blip>
          <a:srcRect l="18812" r="26051"/>
          <a:stretch/>
        </p:blipFill>
        <p:spPr>
          <a:xfrm>
            <a:off x="9898380" y="4912747"/>
            <a:ext cx="1385011" cy="141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0AAD1-4CA0-0249-1F25-997FA92E8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8CA59C8-46D2-3188-0552-218494F177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2644E98-5803-07ED-F9D1-DA0F12ADD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C7DC599B-BEFE-9B2E-5645-32532F284ABE}"/>
              </a:ext>
            </a:extLst>
          </p:cNvPr>
          <p:cNvSpPr txBox="1">
            <a:spLocks/>
          </p:cNvSpPr>
          <p:nvPr/>
        </p:nvSpPr>
        <p:spPr>
          <a:xfrm>
            <a:off x="2939084" y="5329079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dirty="0"/>
              <a:t>GILBERTO ROJAS MURCIA</a:t>
            </a:r>
          </a:p>
          <a:p>
            <a:endParaRPr lang="es-CO" b="1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20F6443-FEF4-1E37-D9C1-771FBF458A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67FC997-175F-54CF-D94E-A0AF180669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948" b="90495" l="9883" r="89971">
                        <a14:foregroundMark x1="32357" y1="27474" x2="49707" y2="28646"/>
                        <a14:foregroundMark x1="33455" y1="21354" x2="33455" y2="21354"/>
                        <a14:foregroundMark x1="31698" y1="23307" x2="36091" y2="23047"/>
                        <a14:foregroundMark x1="36091" y1="23047" x2="40337" y2="23047"/>
                        <a14:foregroundMark x1="25476" y1="32161" x2="30161" y2="16536"/>
                        <a14:foregroundMark x1="30161" y1="16536" x2="35286" y2="10286"/>
                        <a14:foregroundMark x1="35286" y1="10286" x2="46706" y2="4948"/>
                        <a14:foregroundMark x1="40922" y1="92578" x2="51025" y2="90495"/>
                        <a14:foregroundMark x1="51025" y1="90495" x2="52635" y2="89193"/>
                        <a14:foregroundMark x1="62958" y1="26432" x2="62152" y2="19922"/>
                        <a14:foregroundMark x1="65813" y1="45052" x2="65813" y2="34115"/>
                        <a14:foregroundMark x1="31406" y1="24740" x2="34041" y2="14974"/>
                      </a14:backgroundRemoval>
                    </a14:imgEffect>
                  </a14:imgLayer>
                </a14:imgProps>
              </a:ext>
            </a:extLst>
          </a:blip>
          <a:srcRect l="18812" r="26051"/>
          <a:stretch/>
        </p:blipFill>
        <p:spPr>
          <a:xfrm>
            <a:off x="9898380" y="4912747"/>
            <a:ext cx="1385011" cy="141227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5251D04-0FC7-8D29-8FFB-E94EC3DAAEB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375" r="45375"/>
          <a:stretch/>
        </p:blipFill>
        <p:spPr>
          <a:xfrm>
            <a:off x="3703320" y="282994"/>
            <a:ext cx="4785360" cy="455642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266414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15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DAFB1767-39C6-1E8D-BD02-8A7563260A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0687987"/>
              </p:ext>
            </p:extLst>
          </p:nvPr>
        </p:nvGraphicFramePr>
        <p:xfrm>
          <a:off x="1645920" y="89628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BF94A6-6D3D-7CB4-A461-7A06FE3E1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920" y="2212989"/>
            <a:ext cx="8229600" cy="4525963"/>
          </a:xfrm>
        </p:spPr>
        <p:txBody>
          <a:bodyPr>
            <a:normAutofit/>
          </a:bodyPr>
          <a:lstStyle/>
          <a:p>
            <a:pPr algn="l"/>
            <a:r>
              <a:rPr lang="es-MX" sz="2400" b="1" i="0" u="none" strike="noStrike" baseline="0" dirty="0">
                <a:latin typeface="Childling-Regular"/>
              </a:rPr>
              <a:t>Basado en ABP, investigación-acción y </a:t>
            </a:r>
            <a:r>
              <a:rPr lang="es-MX" sz="2400" b="1" i="0" u="none" strike="noStrike" baseline="0" dirty="0" err="1">
                <a:latin typeface="Childling-Regular"/>
              </a:rPr>
              <a:t>pei</a:t>
            </a:r>
            <a:r>
              <a:rPr lang="es-MX" sz="2400" b="1" i="0" u="none" strike="noStrike" baseline="0" dirty="0">
                <a:latin typeface="Childling-Regular"/>
              </a:rPr>
              <a:t>.</a:t>
            </a:r>
          </a:p>
          <a:p>
            <a:pPr algn="l"/>
            <a:r>
              <a:rPr lang="es-CO" sz="2400" b="1" dirty="0">
                <a:latin typeface="Childling-Regular"/>
              </a:rPr>
              <a:t>R</a:t>
            </a:r>
            <a:r>
              <a:rPr lang="es-CO" sz="2400" b="1" i="0" u="none" strike="noStrike" baseline="0" dirty="0">
                <a:latin typeface="Childling-Regular"/>
              </a:rPr>
              <a:t>esponde a necesidades reales del contexto</a:t>
            </a:r>
          </a:p>
          <a:p>
            <a:pPr algn="l"/>
            <a:r>
              <a:rPr lang="es-MX" sz="2400" b="1" dirty="0"/>
              <a:t>Enfoque socio-crítico y construcción de aprendizajes significativos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6F28BD8-DC00-1D30-E02F-09C872FE62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33B2458-0A17-E51B-B1D6-E3947FD323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64819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10476C8-E09B-5427-62FC-06B7A882864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01591" y="3931920"/>
            <a:ext cx="2058930" cy="274796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D70D131-BB86-E11A-CD37-52DAB1A714F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76975" y="3931920"/>
            <a:ext cx="2058931" cy="285152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6D1C2E1-5F7A-8320-BE94-AEE4C09F55E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77276" y="3931920"/>
            <a:ext cx="2347905" cy="285849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2F75B3B-B236-9176-3260-77AC636F22A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4948" b="90495" l="9883" r="89971">
                        <a14:foregroundMark x1="32357" y1="27474" x2="49707" y2="28646"/>
                        <a14:foregroundMark x1="33455" y1="21354" x2="33455" y2="21354"/>
                        <a14:foregroundMark x1="31698" y1="23307" x2="36091" y2="23047"/>
                        <a14:foregroundMark x1="36091" y1="23047" x2="40337" y2="23047"/>
                        <a14:foregroundMark x1="25476" y1="32161" x2="30161" y2="16536"/>
                        <a14:foregroundMark x1="30161" y1="16536" x2="35286" y2="10286"/>
                        <a14:foregroundMark x1="35286" y1="10286" x2="46706" y2="4948"/>
                        <a14:foregroundMark x1="40922" y1="92578" x2="51025" y2="90495"/>
                        <a14:foregroundMark x1="51025" y1="90495" x2="52635" y2="89193"/>
                        <a14:foregroundMark x1="62958" y1="26432" x2="62152" y2="19922"/>
                        <a14:foregroundMark x1="65813" y1="45052" x2="65813" y2="34115"/>
                        <a14:foregroundMark x1="31406" y1="24740" x2="34041" y2="14974"/>
                      </a14:backgroundRemoval>
                    </a14:imgEffect>
                  </a14:imgLayer>
                </a14:imgProps>
              </a:ext>
            </a:extLst>
          </a:blip>
          <a:srcRect l="18812" r="26051"/>
          <a:stretch/>
        </p:blipFill>
        <p:spPr>
          <a:xfrm>
            <a:off x="9898380" y="4912747"/>
            <a:ext cx="1385011" cy="141227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6AEBF519-4A70-142E-A50F-830DADDB35D5}"/>
              </a:ext>
            </a:extLst>
          </p:cNvPr>
          <p:cNvSpPr txBox="1"/>
          <p:nvPr/>
        </p:nvSpPr>
        <p:spPr>
          <a:xfrm>
            <a:off x="9712683" y="2117435"/>
            <a:ext cx="23254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solidFill>
                  <a:srgbClr val="FF0000"/>
                </a:solidFill>
              </a:rPr>
              <a:t>(Botella &amp; Ramos, 1999; Markham, </a:t>
            </a:r>
            <a:r>
              <a:rPr lang="es-CO" dirty="0" err="1">
                <a:solidFill>
                  <a:srgbClr val="FF0000"/>
                </a:solidFill>
              </a:rPr>
              <a:t>Larmer</a:t>
            </a:r>
            <a:r>
              <a:rPr lang="es-CO" dirty="0">
                <a:solidFill>
                  <a:srgbClr val="FF0000"/>
                </a:solidFill>
              </a:rPr>
              <a:t> &amp; </a:t>
            </a:r>
            <a:r>
              <a:rPr lang="es-CO" dirty="0" err="1">
                <a:solidFill>
                  <a:srgbClr val="FF0000"/>
                </a:solidFill>
              </a:rPr>
              <a:t>Ravitz</a:t>
            </a:r>
            <a:r>
              <a:rPr lang="es-CO" dirty="0">
                <a:solidFill>
                  <a:srgbClr val="FF0000"/>
                </a:solidFill>
              </a:rPr>
              <a:t>, 2003).</a:t>
            </a:r>
          </a:p>
        </p:txBody>
      </p:sp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8CD0-7102-797F-C3D9-A885F4B9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6B75AEE-64D5-27DD-ED06-2ECBE70E4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FD8A8747-9E51-7989-429C-D1E4727804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734654"/>
              </p:ext>
            </p:extLst>
          </p:nvPr>
        </p:nvGraphicFramePr>
        <p:xfrm>
          <a:off x="1668780" y="660160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09EF0-8BE2-9B90-3CCE-01263D992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780" y="1985722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MX" sz="2400" b="1" i="0" u="none" strike="noStrike" baseline="0" dirty="0">
                <a:latin typeface="Childling-Regular"/>
              </a:rPr>
              <a:t>La experiencia responde a la acumulación de basuras en la sede Agustín Sierra Losada, cercana a la galería municipal, que afectaba la salud y el rendimiento escolar. Aborda una necesidad local alineada con políticas públicas de educación ambiental y desarrollo sostenible, integrando competencias básicas con prácticas de cuidado ambiental.</a:t>
            </a:r>
            <a:endParaRPr sz="2400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99328DF-9064-CF9F-9749-2637864399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15854E9-6669-ECBB-33BB-38729EAF3B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0"/>
            <a:ext cx="2852115" cy="434975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2011496-4E75-A621-5757-401BD9B1F2D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4948" b="90495" l="9883" r="89971">
                        <a14:foregroundMark x1="32357" y1="27474" x2="49707" y2="28646"/>
                        <a14:foregroundMark x1="33455" y1="21354" x2="33455" y2="21354"/>
                        <a14:foregroundMark x1="31698" y1="23307" x2="36091" y2="23047"/>
                        <a14:foregroundMark x1="36091" y1="23047" x2="40337" y2="23047"/>
                        <a14:foregroundMark x1="25476" y1="32161" x2="30161" y2="16536"/>
                        <a14:foregroundMark x1="30161" y1="16536" x2="35286" y2="10286"/>
                        <a14:foregroundMark x1="35286" y1="10286" x2="46706" y2="4948"/>
                        <a14:foregroundMark x1="40922" y1="92578" x2="51025" y2="90495"/>
                        <a14:foregroundMark x1="51025" y1="90495" x2="52635" y2="89193"/>
                        <a14:foregroundMark x1="62958" y1="26432" x2="62152" y2="19922"/>
                        <a14:foregroundMark x1="65813" y1="45052" x2="65813" y2="34115"/>
                        <a14:foregroundMark x1="31406" y1="24740" x2="34041" y2="14974"/>
                      </a14:backgroundRemoval>
                    </a14:imgEffect>
                  </a14:imgLayer>
                </a14:imgProps>
              </a:ext>
            </a:extLst>
          </a:blip>
          <a:srcRect l="18812" r="26051"/>
          <a:stretch/>
        </p:blipFill>
        <p:spPr>
          <a:xfrm>
            <a:off x="3984227" y="4555070"/>
            <a:ext cx="2347993" cy="239421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83AAE4B-A51D-D66B-4201-2C300941454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4948" b="90495" l="9883" r="89971">
                        <a14:foregroundMark x1="32357" y1="27474" x2="49707" y2="28646"/>
                        <a14:foregroundMark x1="33455" y1="21354" x2="33455" y2="21354"/>
                        <a14:foregroundMark x1="31698" y1="23307" x2="36091" y2="23047"/>
                        <a14:foregroundMark x1="36091" y1="23047" x2="40337" y2="23047"/>
                        <a14:foregroundMark x1="25476" y1="32161" x2="30161" y2="16536"/>
                        <a14:foregroundMark x1="30161" y1="16536" x2="35286" y2="10286"/>
                        <a14:foregroundMark x1="35286" y1="10286" x2="46706" y2="4948"/>
                        <a14:foregroundMark x1="40922" y1="92578" x2="51025" y2="90495"/>
                        <a14:foregroundMark x1="51025" y1="90495" x2="52635" y2="89193"/>
                        <a14:foregroundMark x1="62958" y1="26432" x2="62152" y2="19922"/>
                        <a14:foregroundMark x1="65813" y1="45052" x2="65813" y2="34115"/>
                        <a14:foregroundMark x1="31406" y1="24740" x2="34041" y2="14974"/>
                      </a14:backgroundRemoval>
                    </a14:imgEffect>
                  </a14:imgLayer>
                </a14:imgProps>
              </a:ext>
            </a:extLst>
          </a:blip>
          <a:srcRect l="18812" r="26051"/>
          <a:stretch/>
        </p:blipFill>
        <p:spPr>
          <a:xfrm>
            <a:off x="9898380" y="4912747"/>
            <a:ext cx="1385011" cy="141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533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EFE567D3-4DA4-45B3-7C1A-3DF3B7898E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5451773"/>
              </p:ext>
            </p:extLst>
          </p:nvPr>
        </p:nvGraphicFramePr>
        <p:xfrm>
          <a:off x="1828800" y="10290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D443E7-86F8-4BEC-FFEB-5B2E752FBECB}"/>
              </a:ext>
            </a:extLst>
          </p:cNvPr>
          <p:cNvSpPr txBox="1">
            <a:spLocks/>
          </p:cNvSpPr>
          <p:nvPr/>
        </p:nvSpPr>
        <p:spPr>
          <a:xfrm>
            <a:off x="1146894" y="2423001"/>
            <a:ext cx="78609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s-MX" b="1" dirty="0">
                <a:latin typeface="fkGroteskNeue"/>
              </a:rPr>
              <a:t>Objetivos</a:t>
            </a:r>
            <a:r>
              <a:rPr lang="es-MX" dirty="0">
                <a:latin typeface="fkGroteskNeue"/>
              </a:rPr>
              <a:t>: fortalecer lenguaje, matemáticas y ciencias; fomentar el cuidado ambiental.</a:t>
            </a:r>
          </a:p>
          <a:p>
            <a:pPr marL="514350" indent="-514350">
              <a:buFont typeface="+mj-lt"/>
              <a:buAutoNum type="arabicPeriod"/>
            </a:pPr>
            <a:r>
              <a:rPr lang="es-MX" b="1" dirty="0">
                <a:latin typeface="fkGroteskNeue"/>
              </a:rPr>
              <a:t>Acciones</a:t>
            </a:r>
            <a:r>
              <a:rPr lang="es-MX" dirty="0">
                <a:latin typeface="fkGroteskNeue"/>
              </a:rPr>
              <a:t>: producción de textos, transformación de residuos, visitas pedagógicas.</a:t>
            </a:r>
          </a:p>
          <a:p>
            <a:pPr marL="514350" indent="-514350">
              <a:buFont typeface="+mj-lt"/>
              <a:buAutoNum type="arabicPeriod"/>
            </a:pPr>
            <a:r>
              <a:rPr lang="es-MX" b="1" dirty="0">
                <a:latin typeface="fkGroteskNeue"/>
              </a:rPr>
              <a:t>Resultados</a:t>
            </a:r>
            <a:r>
              <a:rPr lang="es-MX" dirty="0">
                <a:latin typeface="fkGroteskNeue"/>
              </a:rPr>
              <a:t>: elaboración de cuentos, creación de abono, impacto positivo en estudiantes y familias.</a:t>
            </a:r>
            <a:endParaRPr lang="es-MX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08C248-0AA4-EFB7-998A-BFB146C323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ED778C-C474-C5BF-9124-83C90E641E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2857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0DC7F26-03D7-6D05-FB62-EAD52CD39E8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4948" b="90495" l="9883" r="89971">
                        <a14:foregroundMark x1="32357" y1="27474" x2="49707" y2="28646"/>
                        <a14:foregroundMark x1="33455" y1="21354" x2="33455" y2="21354"/>
                        <a14:foregroundMark x1="31698" y1="23307" x2="36091" y2="23047"/>
                        <a14:foregroundMark x1="36091" y1="23047" x2="40337" y2="23047"/>
                        <a14:foregroundMark x1="25476" y1="32161" x2="30161" y2="16536"/>
                        <a14:foregroundMark x1="30161" y1="16536" x2="35286" y2="10286"/>
                        <a14:foregroundMark x1="35286" y1="10286" x2="46706" y2="4948"/>
                        <a14:foregroundMark x1="40922" y1="92578" x2="51025" y2="90495"/>
                        <a14:foregroundMark x1="51025" y1="90495" x2="52635" y2="89193"/>
                        <a14:foregroundMark x1="62958" y1="26432" x2="62152" y2="19922"/>
                        <a14:foregroundMark x1="65813" y1="45052" x2="65813" y2="34115"/>
                        <a14:foregroundMark x1="31406" y1="24740" x2="34041" y2="14974"/>
                      </a14:backgroundRemoval>
                    </a14:imgEffect>
                  </a14:imgLayer>
                </a14:imgProps>
              </a:ext>
            </a:extLst>
          </a:blip>
          <a:srcRect l="18812" r="26051"/>
          <a:stretch/>
        </p:blipFill>
        <p:spPr>
          <a:xfrm>
            <a:off x="9898380" y="4912747"/>
            <a:ext cx="1385011" cy="141227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15EB9C8-E696-E062-419D-C1B437DEBF69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9348"/>
          <a:stretch/>
        </p:blipFill>
        <p:spPr>
          <a:xfrm>
            <a:off x="8169139" y="2583797"/>
            <a:ext cx="4165237" cy="210218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C89304F7-0A62-2031-54A2-BE3B30D621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164331"/>
              </p:ext>
            </p:extLst>
          </p:nvPr>
        </p:nvGraphicFramePr>
        <p:xfrm>
          <a:off x="173736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43FED7-18D5-CD66-2A6F-447F377E0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7360" y="1988820"/>
            <a:ext cx="8229600" cy="102291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En ejecución desde 2019, fortalecido en 2022, vigente 2025.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participan estudiantes, familias y comunidad.</a:t>
            </a:r>
            <a:endParaRPr lang="es-MX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E0D8673-DF93-3040-25D2-BAEAD33AFC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E4D10AA-ED3D-EA5E-D930-8516D90FAF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0940F973-4608-6A8E-D2B9-2C49F837B16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4948" b="90495" l="9883" r="89971">
                        <a14:foregroundMark x1="32357" y1="27474" x2="49707" y2="28646"/>
                        <a14:foregroundMark x1="33455" y1="21354" x2="33455" y2="21354"/>
                        <a14:foregroundMark x1="31698" y1="23307" x2="36091" y2="23047"/>
                        <a14:foregroundMark x1="36091" y1="23047" x2="40337" y2="23047"/>
                        <a14:foregroundMark x1="25476" y1="32161" x2="30161" y2="16536"/>
                        <a14:foregroundMark x1="30161" y1="16536" x2="35286" y2="10286"/>
                        <a14:foregroundMark x1="35286" y1="10286" x2="46706" y2="4948"/>
                        <a14:foregroundMark x1="40922" y1="92578" x2="51025" y2="90495"/>
                        <a14:foregroundMark x1="51025" y1="90495" x2="52635" y2="89193"/>
                        <a14:foregroundMark x1="62958" y1="26432" x2="62152" y2="19922"/>
                        <a14:foregroundMark x1="65813" y1="45052" x2="65813" y2="34115"/>
                        <a14:foregroundMark x1="31406" y1="24740" x2="34041" y2="14974"/>
                      </a14:backgroundRemoval>
                    </a14:imgEffect>
                  </a14:imgLayer>
                </a14:imgProps>
              </a:ext>
            </a:extLst>
          </a:blip>
          <a:srcRect l="18812" r="26051"/>
          <a:stretch/>
        </p:blipFill>
        <p:spPr>
          <a:xfrm>
            <a:off x="9898380" y="4912747"/>
            <a:ext cx="1385011" cy="141227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61B7878-10E1-6D0A-FC1A-84EC3FECA8CA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28125" t="21653" r="32344" b="9651"/>
          <a:stretch/>
        </p:blipFill>
        <p:spPr>
          <a:xfrm>
            <a:off x="350017" y="3226255"/>
            <a:ext cx="2381251" cy="232650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1A76E58-8201-E90E-8D80-B962CBE8FA6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48768" y="3123198"/>
            <a:ext cx="3216047" cy="151078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A1C1210-8A79-A116-EB01-80BE54253BC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83812" y="2948280"/>
            <a:ext cx="3551124" cy="3566503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856ACF9F-203B-981E-65DD-60055FEAD071}"/>
              </a:ext>
            </a:extLst>
          </p:cNvPr>
          <p:cNvSpPr txBox="1"/>
          <p:nvPr/>
        </p:nvSpPr>
        <p:spPr>
          <a:xfrm>
            <a:off x="7143751" y="4715212"/>
            <a:ext cx="282321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 sz="1600" dirty="0"/>
              <a:t>Incorporación de nuevas estrategias pedagógicas.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1600" dirty="0"/>
              <a:t>Integración de aliados externos (ingenieros agrícolas y agroecológicos).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2395245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9420230E-9851-C4CC-EADD-F0736252DE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403707"/>
              </p:ext>
            </p:extLst>
          </p:nvPr>
        </p:nvGraphicFramePr>
        <p:xfrm>
          <a:off x="198120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08088F-336E-9696-2C52-FD65D86D8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4928" y="2141854"/>
            <a:ext cx="5413451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Participan los estudiantes, (producción literaria, prácticas ambientales). Dramatizan los cuentos mediante obras de teatro con el apoyo de TIN</a:t>
            </a:r>
          </a:p>
          <a:p>
            <a:pPr marL="0" indent="0">
              <a:buNone/>
            </a:pPr>
            <a:endParaRPr lang="es-MX" dirty="0">
              <a:latin typeface="fkGroteskNeue"/>
            </a:endParaRP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Familias (apoyo en el proceso de compostaje y cuidado ambiental).</a:t>
            </a:r>
          </a:p>
          <a:p>
            <a:pPr marL="0" indent="0">
              <a:buNone/>
            </a:pPr>
            <a:endParaRPr lang="es-MX" b="0" i="0" dirty="0">
              <a:effectLst/>
              <a:latin typeface="fkGroteskNeue"/>
            </a:endParaRP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Entre todos se genera un dialo</a:t>
            </a:r>
            <a:r>
              <a:rPr lang="es-MX" dirty="0">
                <a:latin typeface="fkGroteskNeue"/>
              </a:rPr>
              <a:t>go de doble vía donde se desarrollan habilidades blandas y nacen los cuentos.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Los cuentos se relacionan principalmente a resolver problemas alrededor del temas ecológicos y ambientales.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 </a:t>
            </a:r>
            <a:endParaRPr lang="es-MX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BDBFB93-F954-966C-258F-C2CB7FCCC2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1DF7378-EA0D-A313-DF1D-F204ED9CA3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4B3C239-8DDB-04C9-F5DB-2523D1A0701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4948" b="90495" l="9883" r="89971">
                        <a14:foregroundMark x1="32357" y1="27474" x2="49707" y2="28646"/>
                        <a14:foregroundMark x1="33455" y1="21354" x2="33455" y2="21354"/>
                        <a14:foregroundMark x1="31698" y1="23307" x2="36091" y2="23047"/>
                        <a14:foregroundMark x1="36091" y1="23047" x2="40337" y2="23047"/>
                        <a14:foregroundMark x1="25476" y1="32161" x2="30161" y2="16536"/>
                        <a14:foregroundMark x1="30161" y1="16536" x2="35286" y2="10286"/>
                        <a14:foregroundMark x1="35286" y1="10286" x2="46706" y2="4948"/>
                        <a14:foregroundMark x1="40922" y1="92578" x2="51025" y2="90495"/>
                        <a14:foregroundMark x1="51025" y1="90495" x2="52635" y2="89193"/>
                        <a14:foregroundMark x1="62958" y1="26432" x2="62152" y2="19922"/>
                        <a14:foregroundMark x1="65813" y1="45052" x2="65813" y2="34115"/>
                        <a14:foregroundMark x1="31406" y1="24740" x2="34041" y2="14974"/>
                      </a14:backgroundRemoval>
                    </a14:imgEffect>
                  </a14:imgLayer>
                </a14:imgProps>
              </a:ext>
            </a:extLst>
          </a:blip>
          <a:srcRect l="18812" r="26051"/>
          <a:stretch/>
        </p:blipFill>
        <p:spPr>
          <a:xfrm>
            <a:off x="9898380" y="4912747"/>
            <a:ext cx="1385011" cy="141227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FD2655F-9C7C-BA24-4E37-21B6F1CFE36E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38356" t="19540" r="38250" b="22208"/>
          <a:stretch/>
        </p:blipFill>
        <p:spPr>
          <a:xfrm>
            <a:off x="1295684" y="2185513"/>
            <a:ext cx="3040454" cy="401986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4A5651D-CD39-0C5F-6531-087FA083EBC7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18666" r="14593"/>
          <a:stretch/>
        </p:blipFill>
        <p:spPr>
          <a:xfrm>
            <a:off x="9877923" y="2469515"/>
            <a:ext cx="1883650" cy="239172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06190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AC8D1D27-C9DA-CD17-B5D0-A98BDE0BD8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1261072"/>
              </p:ext>
            </p:extLst>
          </p:nvPr>
        </p:nvGraphicFramePr>
        <p:xfrm>
          <a:off x="1981200" y="1036955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257CB8-0169-D007-5942-20EEA4036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332037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MX" dirty="0"/>
              <a:t>La evaluación combina: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Registro narrativo y evidencias estudiantiles.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Benchmarking con experiencias similares.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Valoración cualitativa del impacto comunitario.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Indicadores cuantitativos de desempeño académico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8A101CE-9B0A-2569-F642-A5B37CF1C7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47A7FDD-5750-268B-9809-E34462C554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3472B6C-2049-FE00-B332-653BBBAE389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4948" b="90495" l="9883" r="89971">
                        <a14:foregroundMark x1="32357" y1="27474" x2="49707" y2="28646"/>
                        <a14:foregroundMark x1="33455" y1="21354" x2="33455" y2="21354"/>
                        <a14:foregroundMark x1="31698" y1="23307" x2="36091" y2="23047"/>
                        <a14:foregroundMark x1="36091" y1="23047" x2="40337" y2="23047"/>
                        <a14:foregroundMark x1="25476" y1="32161" x2="30161" y2="16536"/>
                        <a14:foregroundMark x1="30161" y1="16536" x2="35286" y2="10286"/>
                        <a14:foregroundMark x1="35286" y1="10286" x2="46706" y2="4948"/>
                        <a14:foregroundMark x1="40922" y1="92578" x2="51025" y2="90495"/>
                        <a14:foregroundMark x1="51025" y1="90495" x2="52635" y2="89193"/>
                        <a14:foregroundMark x1="62958" y1="26432" x2="62152" y2="19922"/>
                        <a14:foregroundMark x1="65813" y1="45052" x2="65813" y2="34115"/>
                        <a14:foregroundMark x1="31406" y1="24740" x2="34041" y2="14974"/>
                      </a14:backgroundRemoval>
                    </a14:imgEffect>
                  </a14:imgLayer>
                </a14:imgProps>
              </a:ext>
            </a:extLst>
          </a:blip>
          <a:srcRect l="18812" r="26051"/>
          <a:stretch/>
        </p:blipFill>
        <p:spPr>
          <a:xfrm>
            <a:off x="9898380" y="4912747"/>
            <a:ext cx="1385011" cy="141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426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4F1A2995-237F-9841-B807-0ACF4C1806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4446270"/>
              </p:ext>
            </p:extLst>
          </p:nvPr>
        </p:nvGraphicFramePr>
        <p:xfrm>
          <a:off x="1981200" y="6861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94AFD9-4D03-1C00-321D-72C3065C9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01168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MX" dirty="0"/>
              <a:t>Producción de cuentos, poemas, canciones y anécdotas.</a:t>
            </a:r>
          </a:p>
          <a:p>
            <a:pPr marL="0" indent="0">
              <a:buNone/>
            </a:pPr>
            <a:r>
              <a:rPr lang="es-MX" dirty="0"/>
              <a:t>Desarrollo de competencias matemáticas aplicadas a problemas reales.</a:t>
            </a:r>
          </a:p>
          <a:p>
            <a:pPr marL="0" indent="0">
              <a:buNone/>
            </a:pPr>
            <a:r>
              <a:rPr lang="es-MX" dirty="0"/>
              <a:t>Transformación de residuos en abono orgánico.</a:t>
            </a:r>
          </a:p>
          <a:p>
            <a:pPr marL="0" indent="0">
              <a:buNone/>
            </a:pPr>
            <a:r>
              <a:rPr lang="es-MX" dirty="0"/>
              <a:t>Mejor calidad de vida en estudiantes y familias.</a:t>
            </a:r>
          </a:p>
          <a:p>
            <a:pPr marL="0" indent="0">
              <a:buNone/>
            </a:pPr>
            <a:r>
              <a:rPr lang="es-MX" dirty="0"/>
              <a:t>Dificultades: falta de recursos y compromiso parcial de algunos actores.</a:t>
            </a:r>
          </a:p>
          <a:p>
            <a:pPr marL="0" indent="0">
              <a:buNone/>
            </a:pPr>
            <a:r>
              <a:rPr lang="es-MX" dirty="0"/>
              <a:t>Estrategias de superación: resiliencia, compromiso docente y apoyo familiar.</a:t>
            </a:r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FCE432-FC79-3908-C41A-BEE7A15B41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920876A-F256-DD23-817B-567AEB8B49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2D3B41EF-59DF-DCF0-80B7-E5B9F7DB8A3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4948" b="90495" l="9883" r="89971">
                        <a14:foregroundMark x1="32357" y1="27474" x2="49707" y2="28646"/>
                        <a14:foregroundMark x1="33455" y1="21354" x2="33455" y2="21354"/>
                        <a14:foregroundMark x1="31698" y1="23307" x2="36091" y2="23047"/>
                        <a14:foregroundMark x1="36091" y1="23047" x2="40337" y2="23047"/>
                        <a14:foregroundMark x1="25476" y1="32161" x2="30161" y2="16536"/>
                        <a14:foregroundMark x1="30161" y1="16536" x2="35286" y2="10286"/>
                        <a14:foregroundMark x1="35286" y1="10286" x2="46706" y2="4948"/>
                        <a14:foregroundMark x1="40922" y1="92578" x2="51025" y2="90495"/>
                        <a14:foregroundMark x1="51025" y1="90495" x2="52635" y2="89193"/>
                        <a14:foregroundMark x1="62958" y1="26432" x2="62152" y2="19922"/>
                        <a14:foregroundMark x1="65813" y1="45052" x2="65813" y2="34115"/>
                        <a14:foregroundMark x1="31406" y1="24740" x2="34041" y2="14974"/>
                      </a14:backgroundRemoval>
                    </a14:imgEffect>
                  </a14:imgLayer>
                </a14:imgProps>
              </a:ext>
            </a:extLst>
          </a:blip>
          <a:srcRect l="18812" r="26051"/>
          <a:stretch/>
        </p:blipFill>
        <p:spPr>
          <a:xfrm>
            <a:off x="9898380" y="4912747"/>
            <a:ext cx="1385011" cy="141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454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A2CF1-2EF7-7C11-ADAE-0F64F1C1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77BE91-BCDE-E1BE-C15F-C32CE76AF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9B4091B8-2DD1-2FFE-E6E2-3380B5AF03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5694386"/>
              </p:ext>
            </p:extLst>
          </p:nvPr>
        </p:nvGraphicFramePr>
        <p:xfrm>
          <a:off x="1805940" y="8232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703EF-0623-38AE-33D6-9954A777F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5940" y="214884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La experiencia es replicable en:</a:t>
            </a:r>
          </a:p>
          <a:p>
            <a:pPr marL="0" indent="0">
              <a:buNone/>
            </a:pPr>
            <a:r>
              <a:rPr lang="es-MX" dirty="0"/>
              <a:t>Otras sedes educativas.</a:t>
            </a:r>
          </a:p>
          <a:p>
            <a:pPr marL="0" indent="0">
              <a:buNone/>
            </a:pPr>
            <a:r>
              <a:rPr lang="es-MX" dirty="0"/>
              <a:t>Contextos donde se busque integrar lenguaje, matemáticas y ciencias con educación ambiental.</a:t>
            </a:r>
          </a:p>
          <a:p>
            <a:pPr marL="0" indent="0">
              <a:buNone/>
            </a:pPr>
            <a:r>
              <a:rPr lang="es-MX" dirty="0"/>
              <a:t>Procesos que vinculen a la familia como actor central en aprendizajes significativos.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4E86064-C228-1CFD-9A51-3E724CEFC3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AEBAFCE-979A-A612-F0FF-C908154A3D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DFD0F42-33A8-C922-A849-FA7175BB678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4948" b="90495" l="9883" r="89971">
                        <a14:foregroundMark x1="32357" y1="27474" x2="49707" y2="28646"/>
                        <a14:foregroundMark x1="33455" y1="21354" x2="33455" y2="21354"/>
                        <a14:foregroundMark x1="31698" y1="23307" x2="36091" y2="23047"/>
                        <a14:foregroundMark x1="36091" y1="23047" x2="40337" y2="23047"/>
                        <a14:foregroundMark x1="25476" y1="32161" x2="30161" y2="16536"/>
                        <a14:foregroundMark x1="30161" y1="16536" x2="35286" y2="10286"/>
                        <a14:foregroundMark x1="35286" y1="10286" x2="46706" y2="4948"/>
                        <a14:foregroundMark x1="40922" y1="92578" x2="51025" y2="90495"/>
                        <a14:foregroundMark x1="51025" y1="90495" x2="52635" y2="89193"/>
                        <a14:foregroundMark x1="62958" y1="26432" x2="62152" y2="19922"/>
                        <a14:foregroundMark x1="65813" y1="45052" x2="65813" y2="34115"/>
                        <a14:foregroundMark x1="31406" y1="24740" x2="34041" y2="14974"/>
                      </a14:backgroundRemoval>
                    </a14:imgEffect>
                  </a14:imgLayer>
                </a14:imgProps>
              </a:ext>
            </a:extLst>
          </a:blip>
          <a:srcRect l="18812" r="26051"/>
          <a:stretch/>
        </p:blipFill>
        <p:spPr>
          <a:xfrm>
            <a:off x="9898380" y="4912747"/>
            <a:ext cx="1385011" cy="141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57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2E281524-A474-8C7C-8776-52D0949F69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1360712"/>
              </p:ext>
            </p:extLst>
          </p:nvPr>
        </p:nvGraphicFramePr>
        <p:xfrm>
          <a:off x="1981200" y="8461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0B610F2-5603-5175-5C8E-12D9C8E86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1717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s-MX" dirty="0">
                <a:latin typeface="+mj-lt"/>
                <a:cs typeface="Arial" panose="020B0604020202020204" pitchFamily="34" charset="0"/>
              </a:rPr>
              <a:t>Se garantiza mediante: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+mj-lt"/>
                <a:cs typeface="Arial" panose="020B0604020202020204" pitchFamily="34" charset="0"/>
              </a:rPr>
              <a:t>Investigación-Acción y ABP como ejes permanentes.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+mj-lt"/>
                <a:cs typeface="Arial" panose="020B0604020202020204" pitchFamily="34" charset="0"/>
              </a:rPr>
              <a:t>Integración de comunidad educativa en el cuidado ambiental.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+mj-lt"/>
                <a:cs typeface="Arial" panose="020B0604020202020204" pitchFamily="34" charset="0"/>
              </a:rPr>
              <a:t>Estrategias de continuidad en producción de textos y compostaje escolar.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24A422B-7AC3-D6D1-B920-CFE288F871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639B7ED-3ABB-824A-2CD0-913977E7AC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5D6D555F-75C1-561A-182B-D0AE0B07863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4948" b="90495" l="9883" r="89971">
                        <a14:foregroundMark x1="32357" y1="27474" x2="49707" y2="28646"/>
                        <a14:foregroundMark x1="33455" y1="21354" x2="33455" y2="21354"/>
                        <a14:foregroundMark x1="31698" y1="23307" x2="36091" y2="23047"/>
                        <a14:foregroundMark x1="36091" y1="23047" x2="40337" y2="23047"/>
                        <a14:foregroundMark x1="25476" y1="32161" x2="30161" y2="16536"/>
                        <a14:foregroundMark x1="30161" y1="16536" x2="35286" y2="10286"/>
                        <a14:foregroundMark x1="35286" y1="10286" x2="46706" y2="4948"/>
                        <a14:foregroundMark x1="40922" y1="92578" x2="51025" y2="90495"/>
                        <a14:foregroundMark x1="51025" y1="90495" x2="52635" y2="89193"/>
                        <a14:foregroundMark x1="62958" y1="26432" x2="62152" y2="19922"/>
                        <a14:foregroundMark x1="65813" y1="45052" x2="65813" y2="34115"/>
                        <a14:foregroundMark x1="31406" y1="24740" x2="34041" y2="14974"/>
                      </a14:backgroundRemoval>
                    </a14:imgEffect>
                  </a14:imgLayer>
                </a14:imgProps>
              </a:ext>
            </a:extLst>
          </a:blip>
          <a:srcRect l="18812" r="26051"/>
          <a:stretch/>
        </p:blipFill>
        <p:spPr>
          <a:xfrm>
            <a:off x="9898380" y="4912747"/>
            <a:ext cx="1385011" cy="141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24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249EE349-634F-B004-0014-8453DC4EBE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1886592"/>
              </p:ext>
            </p:extLst>
          </p:nvPr>
        </p:nvGraphicFramePr>
        <p:xfrm>
          <a:off x="1981200" y="7775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CD10EEC-514F-C364-0B9C-1EE0A3330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10312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MX" dirty="0">
              <a:latin typeface="+mj-lt"/>
              <a:cs typeface="Arial" panose="020B0604020202020204" pitchFamily="34" charset="0"/>
            </a:endParaRPr>
          </a:p>
          <a:p>
            <a:pPr>
              <a:buNone/>
            </a:pPr>
            <a:r>
              <a:rPr lang="es-MX" dirty="0">
                <a:latin typeface="+mj-lt"/>
                <a:cs typeface="Arial" panose="020B0604020202020204" pitchFamily="34" charset="0"/>
              </a:rPr>
              <a:t>La experiencia aporta innovación al: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+mj-lt"/>
                <a:cs typeface="Arial" panose="020B0604020202020204" pitchFamily="34" charset="0"/>
              </a:rPr>
              <a:t>Vincular la producción literaria con procesos ambientales.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+mj-lt"/>
                <a:cs typeface="Arial" panose="020B0604020202020204" pitchFamily="34" charset="0"/>
              </a:rPr>
              <a:t>Transformar un problema local en oportunidad pedagógica.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+mj-lt"/>
                <a:cs typeface="Arial" panose="020B0604020202020204" pitchFamily="34" charset="0"/>
              </a:rPr>
              <a:t>Combinar áreas básicas con metodologías activas y participativas.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E1C13FD-C8A4-5BD0-F9EE-2E74AD460B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0DA47C6-D915-98B0-45E5-D6C9A76D5B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3356E461-6F6E-E7C8-9743-B2BA932413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4948" b="90495" l="9883" r="89971">
                        <a14:foregroundMark x1="32357" y1="27474" x2="49707" y2="28646"/>
                        <a14:foregroundMark x1="33455" y1="21354" x2="33455" y2="21354"/>
                        <a14:foregroundMark x1="31698" y1="23307" x2="36091" y2="23047"/>
                        <a14:foregroundMark x1="36091" y1="23047" x2="40337" y2="23047"/>
                        <a14:foregroundMark x1="25476" y1="32161" x2="30161" y2="16536"/>
                        <a14:foregroundMark x1="30161" y1="16536" x2="35286" y2="10286"/>
                        <a14:foregroundMark x1="35286" y1="10286" x2="46706" y2="4948"/>
                        <a14:foregroundMark x1="40922" y1="92578" x2="51025" y2="90495"/>
                        <a14:foregroundMark x1="51025" y1="90495" x2="52635" y2="89193"/>
                        <a14:foregroundMark x1="62958" y1="26432" x2="62152" y2="19922"/>
                        <a14:foregroundMark x1="65813" y1="45052" x2="65813" y2="34115"/>
                        <a14:foregroundMark x1="31406" y1="24740" x2="34041" y2="14974"/>
                      </a14:backgroundRemoval>
                    </a14:imgEffect>
                  </a14:imgLayer>
                </a14:imgProps>
              </a:ext>
            </a:extLst>
          </a:blip>
          <a:srcRect l="18812" r="26051"/>
          <a:stretch/>
        </p:blipFill>
        <p:spPr>
          <a:xfrm>
            <a:off x="9898380" y="4912747"/>
            <a:ext cx="1385011" cy="141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96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6512B-E339-B67B-1A1B-120D5FA0E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EB441EA-815C-E9F8-393A-98A9750C60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4C9A6DE0-4FD8-1DFA-4522-B34ED681C7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5817943"/>
              </p:ext>
            </p:extLst>
          </p:nvPr>
        </p:nvGraphicFramePr>
        <p:xfrm>
          <a:off x="1981200" y="8461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Imagen 10">
            <a:extLst>
              <a:ext uri="{FF2B5EF4-FFF2-40B4-BE49-F238E27FC236}">
                <a16:creationId xmlns:a16="http://schemas.microsoft.com/office/drawing/2014/main" id="{36C057CD-06B9-5048-8E70-80F2E6FE13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CC397A5-C6BA-2579-9129-233D01C0B4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90423394-49AD-1033-0DB9-D6AD66ECA33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4948" b="90495" l="9883" r="89971">
                        <a14:foregroundMark x1="32357" y1="27474" x2="49707" y2="28646"/>
                        <a14:foregroundMark x1="33455" y1="21354" x2="33455" y2="21354"/>
                        <a14:foregroundMark x1="31698" y1="23307" x2="36091" y2="23047"/>
                        <a14:foregroundMark x1="36091" y1="23047" x2="40337" y2="23047"/>
                        <a14:foregroundMark x1="25476" y1="32161" x2="30161" y2="16536"/>
                        <a14:foregroundMark x1="30161" y1="16536" x2="35286" y2="10286"/>
                        <a14:foregroundMark x1="35286" y1="10286" x2="46706" y2="4948"/>
                        <a14:foregroundMark x1="40922" y1="92578" x2="51025" y2="90495"/>
                        <a14:foregroundMark x1="51025" y1="90495" x2="52635" y2="89193"/>
                        <a14:foregroundMark x1="62958" y1="26432" x2="62152" y2="19922"/>
                        <a14:foregroundMark x1="65813" y1="45052" x2="65813" y2="34115"/>
                        <a14:foregroundMark x1="31406" y1="24740" x2="34041" y2="14974"/>
                      </a14:backgroundRemoval>
                    </a14:imgEffect>
                  </a14:imgLayer>
                </a14:imgProps>
              </a:ext>
            </a:extLst>
          </a:blip>
          <a:srcRect l="18812" r="26051"/>
          <a:stretch/>
        </p:blipFill>
        <p:spPr>
          <a:xfrm>
            <a:off x="9898380" y="4912747"/>
            <a:ext cx="1385011" cy="141227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89CD0A3-D47D-560A-C6DA-4AB46F4D42D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35208" y="2382234"/>
            <a:ext cx="7993647" cy="375719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27561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6D19D-A662-3A93-AC9B-96BACA743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FC3F167-E7A1-5FEA-8407-718397C155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8684D69C-0AE5-78D9-D9FA-37B734BDE7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5625376"/>
              </p:ext>
            </p:extLst>
          </p:nvPr>
        </p:nvGraphicFramePr>
        <p:xfrm>
          <a:off x="1981200" y="7775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Imagen 8">
            <a:extLst>
              <a:ext uri="{FF2B5EF4-FFF2-40B4-BE49-F238E27FC236}">
                <a16:creationId xmlns:a16="http://schemas.microsoft.com/office/drawing/2014/main" id="{58578729-FB59-A332-9F3E-7A8B277DFC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2513C82-ACFE-773E-7327-8154C59878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8083A4FF-51FD-E9FE-B296-E7ADFF4579A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4948" b="90495" l="9883" r="89971">
                        <a14:foregroundMark x1="32357" y1="27474" x2="49707" y2="28646"/>
                        <a14:foregroundMark x1="33455" y1="21354" x2="33455" y2="21354"/>
                        <a14:foregroundMark x1="31698" y1="23307" x2="36091" y2="23047"/>
                        <a14:foregroundMark x1="36091" y1="23047" x2="40337" y2="23047"/>
                        <a14:foregroundMark x1="25476" y1="32161" x2="30161" y2="16536"/>
                        <a14:foregroundMark x1="30161" y1="16536" x2="35286" y2="10286"/>
                        <a14:foregroundMark x1="35286" y1="10286" x2="46706" y2="4948"/>
                        <a14:foregroundMark x1="40922" y1="92578" x2="51025" y2="90495"/>
                        <a14:foregroundMark x1="51025" y1="90495" x2="52635" y2="89193"/>
                        <a14:foregroundMark x1="62958" y1="26432" x2="62152" y2="19922"/>
                        <a14:foregroundMark x1="65813" y1="45052" x2="65813" y2="34115"/>
                        <a14:foregroundMark x1="31406" y1="24740" x2="34041" y2="14974"/>
                      </a14:backgroundRemoval>
                    </a14:imgEffect>
                  </a14:imgLayer>
                </a14:imgProps>
              </a:ext>
            </a:extLst>
          </a:blip>
          <a:srcRect l="18812" r="26051"/>
          <a:stretch/>
        </p:blipFill>
        <p:spPr>
          <a:xfrm>
            <a:off x="9898380" y="4912747"/>
            <a:ext cx="1385011" cy="141227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3AA322A-F017-E342-DB5E-0D8ADD830A72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4714" r="3047"/>
          <a:stretch/>
        </p:blipFill>
        <p:spPr>
          <a:xfrm>
            <a:off x="3877587" y="1920558"/>
            <a:ext cx="4553688" cy="4871129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66108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AB60D-9DB1-8AD4-24B9-E3C1FA81B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6E46B83-5BA9-4B4C-E118-874016A90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9E624C4-7463-954A-94B2-88929AA666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8641978"/>
              </p:ext>
            </p:extLst>
          </p:nvPr>
        </p:nvGraphicFramePr>
        <p:xfrm>
          <a:off x="2217420" y="7089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AA75A4-2E32-8837-855F-160F7A763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7178" y="2153921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s-MX" dirty="0"/>
              <a:t>Responsable: Gilberto Rojas Murcia</a:t>
            </a:r>
          </a:p>
          <a:p>
            <a:pPr marL="0" indent="0" algn="ctr">
              <a:buNone/>
            </a:pPr>
            <a:r>
              <a:rPr lang="es-MX" dirty="0"/>
              <a:t>Cargo: Docente de </a:t>
            </a:r>
            <a:r>
              <a:rPr lang="es-MX" dirty="0" err="1"/>
              <a:t>aulaCorreo</a:t>
            </a:r>
            <a:r>
              <a:rPr lang="es-MX" dirty="0"/>
              <a:t>: </a:t>
            </a:r>
            <a:r>
              <a:rPr lang="es-MX" dirty="0" err="1">
                <a:hlinkClick r:id="rId8"/>
              </a:rPr>
              <a:t>gilberto.rojas@normalpitalito.edu.coT</a:t>
            </a:r>
            <a:endParaRPr lang="es-MX" dirty="0"/>
          </a:p>
          <a:p>
            <a:pPr marL="0" indent="0" algn="ctr">
              <a:buNone/>
            </a:pPr>
            <a:r>
              <a:rPr lang="es-MX" dirty="0" err="1"/>
              <a:t>eléfono</a:t>
            </a:r>
            <a:r>
              <a:rPr lang="es-MX" dirty="0"/>
              <a:t>: 310 271 7153</a:t>
            </a:r>
          </a:p>
          <a:p>
            <a:pPr marL="0" indent="0" algn="ctr">
              <a:buNone/>
            </a:pPr>
            <a:r>
              <a:rPr lang="es-MX" dirty="0"/>
              <a:t>Otros participantes: Nancy Pascuas y Gerardo Meneses Claros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0935F67-8368-98DF-7166-843F67B62F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DB17440-D406-3DEE-108B-7D9F225BF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9F349C8C-7B33-7CE4-325A-C4B63C5283A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4948" b="90495" l="9883" r="89971">
                        <a14:foregroundMark x1="32357" y1="27474" x2="49707" y2="28646"/>
                        <a14:foregroundMark x1="33455" y1="21354" x2="33455" y2="21354"/>
                        <a14:foregroundMark x1="31698" y1="23307" x2="36091" y2="23047"/>
                        <a14:foregroundMark x1="36091" y1="23047" x2="40337" y2="23047"/>
                        <a14:foregroundMark x1="25476" y1="32161" x2="30161" y2="16536"/>
                        <a14:foregroundMark x1="30161" y1="16536" x2="35286" y2="10286"/>
                        <a14:foregroundMark x1="35286" y1="10286" x2="46706" y2="4948"/>
                        <a14:foregroundMark x1="40922" y1="92578" x2="51025" y2="90495"/>
                        <a14:foregroundMark x1="51025" y1="90495" x2="52635" y2="89193"/>
                        <a14:foregroundMark x1="62958" y1="26432" x2="62152" y2="19922"/>
                        <a14:foregroundMark x1="65813" y1="45052" x2="65813" y2="34115"/>
                        <a14:foregroundMark x1="31406" y1="24740" x2="34041" y2="14974"/>
                      </a14:backgroundRemoval>
                    </a14:imgEffect>
                  </a14:imgLayer>
                </a14:imgProps>
              </a:ext>
            </a:extLst>
          </a:blip>
          <a:srcRect l="18812" r="26051"/>
          <a:stretch/>
        </p:blipFill>
        <p:spPr>
          <a:xfrm>
            <a:off x="9576359" y="3692969"/>
            <a:ext cx="2615641" cy="266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4842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502</Words>
  <Application>Microsoft Office PowerPoint</Application>
  <PresentationFormat>Panorámica</PresentationFormat>
  <Paragraphs>67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Childling-Regular</vt:lpstr>
      <vt:lpstr>fkGroteskNeue</vt:lpstr>
      <vt:lpstr>Tema de Office</vt:lpstr>
      <vt:lpstr>Experiencia Significativa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Santamaria</dc:creator>
  <cp:lastModifiedBy>CALIDAD-MEJORAMIENTO</cp:lastModifiedBy>
  <cp:revision>33</cp:revision>
  <dcterms:created xsi:type="dcterms:W3CDTF">2025-07-23T15:35:07Z</dcterms:created>
  <dcterms:modified xsi:type="dcterms:W3CDTF">2026-06-16T19:52:48Z</dcterms:modified>
</cp:coreProperties>
</file>