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5.pn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6.jpe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jpe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microsoft.com/office/2007/relationships/hdphoto" Target="../media/hdphoto4.wdp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5.xml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8.jpe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2.png"/><Relationship Id="rId5" Type="http://schemas.openxmlformats.org/officeDocument/2006/relationships/diagramQuickStyle" Target="../diagrams/quickStyle8.xml"/><Relationship Id="rId10" Type="http://schemas.openxmlformats.org/officeDocument/2006/relationships/image" Target="../media/image10.jpeg"/><Relationship Id="rId4" Type="http://schemas.openxmlformats.org/officeDocument/2006/relationships/diagramLayout" Target="../diagrams/layout8.xml"/><Relationship Id="rId9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2.png"/><Relationship Id="rId5" Type="http://schemas.openxmlformats.org/officeDocument/2006/relationships/diagramQuickStyle" Target="../diagrams/quickStyle9.xml"/><Relationship Id="rId10" Type="http://schemas.openxmlformats.org/officeDocument/2006/relationships/image" Target="../media/image11.jpeg"/><Relationship Id="rId4" Type="http://schemas.openxmlformats.org/officeDocument/2006/relationships/diagramLayout" Target="../diagrams/layout9.xml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2.jpe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ricardo.meneses@normalpitalito.edu.co" TargetMode="Externa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1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2697480" y="3058318"/>
            <a:ext cx="7559040" cy="2133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tx1"/>
                </a:solidFill>
              </a:rPr>
              <a:t>Orquesta Normalista de Cuerdas “Arcadia”</a:t>
            </a:r>
          </a:p>
          <a:p>
            <a:endParaRPr lang="es-CO" dirty="0">
              <a:solidFill>
                <a:schemeClr val="tx1"/>
              </a:solidFill>
            </a:endParaRPr>
          </a:p>
          <a:p>
            <a:r>
              <a:rPr lang="es-CO" dirty="0"/>
              <a:t>RICARDO ALFONSO MENESES DELGADO</a:t>
            </a:r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94" y="2126425"/>
            <a:ext cx="67818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La Orquesta Normalista de Cuerdas “Arcadia” se fundamenta en la convicción de que la música es un lenguaje universal que potencia el aprendizaje integral. </a:t>
            </a:r>
          </a:p>
          <a:p>
            <a:pPr marL="0" indent="0">
              <a:buNone/>
            </a:pPr>
            <a:r>
              <a:rPr lang="es-MX" dirty="0"/>
              <a:t>La experiencia articula referentes pedagógicos nacionales e internacionales que demuestran el impacto positivo de la práctica orquestal en la disciplina, la memoria, la creatividad y el trabajo colaborativo. </a:t>
            </a:r>
          </a:p>
          <a:p>
            <a:pPr marL="0" indent="0">
              <a:buNone/>
            </a:pPr>
            <a:r>
              <a:rPr lang="es-MX" dirty="0"/>
              <a:t>Se vincula al PEI de la institución, en coherencia con las políticas del Ministerio de Educación Nacional sobre la formación integral, el aprovechamiento del tiempo libre y el fortalecimiento de la identidad cultural. “Arcadia” simboliza la paz, la armonía y la belleza, reforzando la relación entre música, pedagogía y transformación social.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48F7E85-004F-2F45-BC90-D4776576D1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75" t="-1169" r="3375" b="10952"/>
          <a:stretch/>
        </p:blipFill>
        <p:spPr>
          <a:xfrm>
            <a:off x="7733319" y="2039288"/>
            <a:ext cx="4284402" cy="392242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640" y="1888296"/>
            <a:ext cx="9616440" cy="190420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MX" dirty="0"/>
              <a:t>La experiencia responde a la necesidad de consolidar proyectos culturales musicales estables en el Huila, un territorio donde pocos establecimientos educativos ofrecen formación en cuerdas frotadas. </a:t>
            </a:r>
          </a:p>
          <a:p>
            <a:pPr marL="0" indent="0">
              <a:buNone/>
            </a:pPr>
            <a:r>
              <a:rPr lang="es-MX" dirty="0"/>
              <a:t>Contribuye a cerrar brechas en el acceso a la educación musical, fomenta el aprovechamiento del tiempo libre y fortalece la identidad normalista. </a:t>
            </a:r>
          </a:p>
          <a:p>
            <a:pPr marL="0" indent="0">
              <a:buNone/>
            </a:pPr>
            <a:r>
              <a:rPr lang="es-MX" dirty="0"/>
              <a:t>Se ajusta a las políticas públicas de inclusión, formación artística y educación para la paz, aportando al desarrollo social y cultural de la región.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2A6D31-97EB-9F68-DD3A-A078091495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2522" b="85739" l="6875" r="83750">
                        <a14:foregroundMark x1="45469" y1="77913" x2="60781" y2="74609"/>
                        <a14:foregroundMark x1="60781" y1="74609" x2="73750" y2="40522"/>
                        <a14:foregroundMark x1="73750" y1="40522" x2="75625" y2="22261"/>
                        <a14:foregroundMark x1="71016" y1="80000" x2="80000" y2="31652"/>
                        <a14:foregroundMark x1="80859" y1="76174" x2="80781" y2="22783"/>
                        <a14:foregroundMark x1="80859" y1="21565" x2="82969" y2="12522"/>
                        <a14:foregroundMark x1="82969" y1="12522" x2="82969" y2="12522"/>
                        <a14:foregroundMark x1="61406" y1="57043" x2="60391" y2="47478"/>
                        <a14:foregroundMark x1="43281" y1="83652" x2="36016" y2="73913"/>
                        <a14:foregroundMark x1="11641" y1="60000" x2="42031" y2="34783"/>
                        <a14:foregroundMark x1="42031" y1="34783" x2="42031" y2="34783"/>
                        <a14:foregroundMark x1="6875" y1="51130" x2="30156" y2="37217"/>
                        <a14:foregroundMark x1="30156" y1="37217" x2="30156" y2="37217"/>
                        <a14:foregroundMark x1="8906" y1="48696" x2="17109" y2="76522"/>
                        <a14:foregroundMark x1="14766" y1="74783" x2="30391" y2="61913"/>
                        <a14:foregroundMark x1="39531" y1="85043" x2="43750" y2="85913"/>
                        <a14:foregroundMark x1="60781" y1="83478" x2="69766" y2="79478"/>
                        <a14:foregroundMark x1="71484" y1="85043" x2="78594" y2="82609"/>
                        <a14:foregroundMark x1="78594" y1="82609" x2="83359" y2="74957"/>
                        <a14:foregroundMark x1="83359" y1="74957" x2="83750" y2="68696"/>
                        <a14:foregroundMark x1="82031" y1="30261" x2="82656" y2="271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50" t="6875" r="13687" b="10487"/>
          <a:stretch/>
        </p:blipFill>
        <p:spPr>
          <a:xfrm>
            <a:off x="838200" y="3621332"/>
            <a:ext cx="8965575" cy="323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4872905" y="2605087"/>
            <a:ext cx="6846655" cy="3223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/>
              <a:t>Existe coherencia entre los objetivos planteados (formación musical, cohesión social y proyección cultural), las acciones desarrolladas (convocatorias, ensayos, presentaciones y talleres) y los resultados obtenidos (consolidación de la orquesta, desarrollo de competencias y participación en escenarios culturales). Esta relación asegura que la experiencia mantenga su solidez pedagógica y cultural.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4DD3CB0-0F7D-CD81-FA21-BEA82FBF5E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08" t="24" r="12267" b="3078"/>
          <a:stretch/>
        </p:blipFill>
        <p:spPr>
          <a:xfrm>
            <a:off x="472440" y="2191907"/>
            <a:ext cx="4234653" cy="43099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627" y="2174876"/>
            <a:ext cx="7659218" cy="39547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En sus dos años de implementación, la experiencia ha pasado de ser una iniciativa emergente a consolidarse como un proyecto institucional reconocido. </a:t>
            </a:r>
          </a:p>
          <a:p>
            <a:pPr marL="0" indent="0">
              <a:buNone/>
            </a:pPr>
            <a:r>
              <a:rPr lang="es-MX" dirty="0"/>
              <a:t>Se han ajustado metodologías de enseñanza, repertorios y estrategias de participación. </a:t>
            </a:r>
          </a:p>
          <a:p>
            <a:pPr marL="0" indent="0">
              <a:buNone/>
            </a:pPr>
            <a:r>
              <a:rPr lang="es-MX" dirty="0"/>
              <a:t>El análisis constante de los procesos y los aportes de docentes, estudiantes y comunidad han permitido reorganizar acciones y garantizar la mejora continua.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1D1F11-DB65-0083-BA7E-C15CADB16C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t="2523" r="55000" b="8065"/>
          <a:stretch/>
        </p:blipFill>
        <p:spPr>
          <a:xfrm>
            <a:off x="8340547" y="1832715"/>
            <a:ext cx="3485693" cy="44174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3507" y="2476500"/>
            <a:ext cx="5962734" cy="3835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La orquesta cuenta con la participación activa de estudiantes de secundaria y media, quienes asumen un compromiso disciplinado con su formación musical. </a:t>
            </a:r>
          </a:p>
          <a:p>
            <a:pPr marL="0" indent="0">
              <a:buNone/>
            </a:pPr>
            <a:r>
              <a:rPr lang="es-MX" dirty="0"/>
              <a:t>Docentes de diferentes áreas apoyan el proceso, mientras que la dirección institucional brinda respaldo estratégico. </a:t>
            </a:r>
          </a:p>
          <a:p>
            <a:pPr marL="0" indent="0">
              <a:buNone/>
            </a:pPr>
            <a:r>
              <a:rPr lang="es-MX" dirty="0"/>
              <a:t>La comunidad local y cultural participa como público en conciertos y como aliada en la gestión de recursos, fortaleciendo el sentido de pertenencia y empoderamiento colectivo.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5AFD1FD-198E-4793-DA94-F405165ED7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875" r="8125" b="3611"/>
          <a:stretch/>
        </p:blipFill>
        <p:spPr>
          <a:xfrm>
            <a:off x="295233" y="2283938"/>
            <a:ext cx="5273041" cy="38354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928" y="2713196"/>
            <a:ext cx="4946905" cy="396668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s-MX" dirty="0"/>
              <a:t>El seguimiento se realiza mediante: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Registro de asistencia y avances técnicos por fila instrumental.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Evaluaciones formativas con rúbricas de interpretación y disciplina.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Retroalimentación cualitativa de estudiantes, padres y docentes.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Revisión semestral de repertorios y logros alcanzados.</a:t>
            </a:r>
            <a:br>
              <a:rPr lang="es-MX" dirty="0"/>
            </a:br>
            <a:r>
              <a:rPr lang="es-MX" dirty="0"/>
              <a:t>Estos instrumentos permiten valorar el proceso individual y colectivo, garantizando la calidad del aprendizaje.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E546B51-1BD3-1CCF-DBBD-E254C4B472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6" t="8176" r="18624" b="3902"/>
          <a:stretch/>
        </p:blipFill>
        <p:spPr>
          <a:xfrm>
            <a:off x="6261168" y="2540309"/>
            <a:ext cx="5706127" cy="339852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0644" y="2011681"/>
            <a:ext cx="5985596" cy="4160202"/>
          </a:xfrm>
        </p:spPr>
        <p:txBody>
          <a:bodyPr>
            <a:normAutofit lnSpcReduction="10000"/>
          </a:bodyPr>
          <a:lstStyle/>
          <a:p>
            <a:r>
              <a:rPr lang="es-MX" b="0" i="0" dirty="0">
                <a:effectLst/>
                <a:latin typeface="fkGroteskNeue"/>
              </a:rPr>
              <a:t>Conformación de la Orquesta Normalista con 30 integrantes.</a:t>
            </a:r>
          </a:p>
          <a:p>
            <a:r>
              <a:rPr lang="es-MX" b="0" i="0" dirty="0">
                <a:effectLst/>
                <a:latin typeface="fkGroteskNeue"/>
              </a:rPr>
              <a:t>Desarrollo de competencias musicales, sociales y culturales en estudiantes.</a:t>
            </a:r>
          </a:p>
          <a:p>
            <a:r>
              <a:rPr lang="es-MX" b="0" i="0" dirty="0">
                <a:effectLst/>
                <a:latin typeface="fkGroteskNeue"/>
              </a:rPr>
              <a:t>Proyección de la institución en escenarios locales y comunitarios.</a:t>
            </a:r>
          </a:p>
          <a:p>
            <a:r>
              <a:rPr lang="es-MX" b="0" i="0" dirty="0">
                <a:effectLst/>
                <a:latin typeface="fkGroteskNeue"/>
              </a:rPr>
              <a:t>Fortalecimiento de la identidad cultural normalista y de la cohesión social a través de la música.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7E814E0-EDE2-C3AE-EA4F-17960F24C6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370" t="17631" r="15185" b="8113"/>
          <a:stretch/>
        </p:blipFill>
        <p:spPr>
          <a:xfrm>
            <a:off x="670559" y="2011681"/>
            <a:ext cx="4968241" cy="416020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862" y="2406810"/>
            <a:ext cx="5962433" cy="388588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metodología de formación orquestal puede ser replicada en otras instituciones educativas urbanas y rurales.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El modelo combina audiciones, formación técnica, ensayos colectivos y conciertos públicos, lo cual puede adaptarse a diversos contextos.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Además, abre posibilidades de articulación con redes culturales y programas de educación artística a nivel departamental y nacional.</a:t>
            </a:r>
            <a:endParaRPr dirty="0">
              <a:latin typeface="+mj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D25B454-8CAB-49EC-81B1-AFF7DFD4FB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10" y="2086770"/>
            <a:ext cx="5131451" cy="43497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695" y="2278064"/>
            <a:ext cx="5943600" cy="384016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MX" dirty="0"/>
              <a:t>La sostenibilidad se garantiza mediante: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respaldo institucional en el PEI.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existencia de un inventario de instrumentos musicales.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motivación de nuevas generaciones de estudiantes.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gestión de alianzas con entidades culturales y festivales.</a:t>
            </a:r>
            <a:br>
              <a:rPr lang="es-MX" dirty="0"/>
            </a:br>
            <a:r>
              <a:rPr lang="es-MX" dirty="0"/>
              <a:t>Estas estrategias aseguran la permanencia y el crecimiento del proyecto a largo plazo.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E9B4CF7-99A2-FBED-4AD5-AC00A39F78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25" t="28442" r="1435" b="29316"/>
          <a:stretch/>
        </p:blipFill>
        <p:spPr>
          <a:xfrm>
            <a:off x="838199" y="2292786"/>
            <a:ext cx="5112905" cy="371907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377438"/>
            <a:ext cx="5646590" cy="37030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La experiencia innova al integrar la práctica orquestal con la formación integral en un contexto escolar. Combina repertorios clásicos, colombianos y contemporáneos, fomentando la creatividad y la inclusión. </a:t>
            </a:r>
          </a:p>
          <a:p>
            <a:pPr marL="0" indent="0">
              <a:buNone/>
            </a:pPr>
            <a:r>
              <a:rPr lang="es-MX" dirty="0"/>
              <a:t>Asimismo, introduce talleres de improvisación y composición, que responden a los lineamientos actuales de la educación artística y fortalecen el vínculo entre música, identidad cultural y paz social.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1FE8F60-2198-FD69-67DC-A85131F8F2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5" t="10020" r="25000" b="22519"/>
          <a:stretch/>
        </p:blipFill>
        <p:spPr>
          <a:xfrm>
            <a:off x="6435175" y="2087561"/>
            <a:ext cx="5532120" cy="37030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780" y="2034540"/>
            <a:ext cx="9281160" cy="4525963"/>
          </a:xfrm>
        </p:spPr>
        <p:txBody>
          <a:bodyPr/>
          <a:lstStyle/>
          <a:p>
            <a:pPr marL="0" indent="0" algn="ctr">
              <a:buNone/>
            </a:pPr>
            <a:r>
              <a:rPr dirty="0" err="1"/>
              <a:t>Responsable</a:t>
            </a:r>
            <a:r>
              <a:rPr lang="es-MX" dirty="0"/>
              <a:t> </a:t>
            </a:r>
            <a:r>
              <a:rPr lang="es-CO" dirty="0"/>
              <a:t>Ricardo Alfonso Meneses Delgado</a:t>
            </a:r>
          </a:p>
          <a:p>
            <a:pPr marL="0" indent="0" algn="ctr">
              <a:buNone/>
            </a:pPr>
            <a:r>
              <a:rPr dirty="0"/>
              <a:t>Correo(s):</a:t>
            </a:r>
            <a:r>
              <a:rPr lang="es-MX" dirty="0"/>
              <a:t> </a:t>
            </a:r>
            <a:r>
              <a:rPr lang="es-MX" dirty="0">
                <a:solidFill>
                  <a:srgbClr val="467886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</a:t>
            </a:r>
            <a:r>
              <a:rPr lang="es-CO" dirty="0">
                <a:solidFill>
                  <a:srgbClr val="00B0F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icardo.meneses@normalpitalito.edu.co</a:t>
            </a:r>
            <a:endParaRPr lang="es-CO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dirty="0" err="1"/>
              <a:t>Teléfono</a:t>
            </a:r>
            <a:r>
              <a:rPr dirty="0"/>
              <a:t> </a:t>
            </a:r>
            <a:r>
              <a:rPr lang="es-CO" dirty="0"/>
              <a:t>3146792680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690</Words>
  <Application>Microsoft Office PowerPoint</Application>
  <PresentationFormat>Panorámica</PresentationFormat>
  <Paragraphs>52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23</cp:revision>
  <dcterms:created xsi:type="dcterms:W3CDTF">2025-07-23T15:35:07Z</dcterms:created>
  <dcterms:modified xsi:type="dcterms:W3CDTF">2026-06-10T21:25:57Z</dcterms:modified>
</cp:coreProperties>
</file>