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5.jpe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7.jpe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8.jpe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.jpe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8.jpeg"/><Relationship Id="rId5" Type="http://schemas.openxmlformats.org/officeDocument/2006/relationships/diagramQuickStyle" Target="../diagrams/quickStyle7.xml"/><Relationship Id="rId1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Relationship Id="rId1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4400" b="1" dirty="0">
                <a:solidFill>
                  <a:schemeClr val="tx1"/>
                </a:solidFill>
              </a:rPr>
              <a:t>Reporteros en Con-Texto</a:t>
            </a:r>
          </a:p>
          <a:p>
            <a:pPr algn="r"/>
            <a:r>
              <a:rPr lang="es-CO" dirty="0">
                <a:solidFill>
                  <a:schemeClr val="tx1"/>
                </a:solidFill>
              </a:rPr>
              <a:t>Aida Mary Bolaños </a:t>
            </a:r>
            <a:r>
              <a:rPr lang="es-CO" dirty="0" err="1">
                <a:solidFill>
                  <a:schemeClr val="tx1"/>
                </a:solidFill>
              </a:rPr>
              <a:t>Ome</a:t>
            </a:r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9" name="AutoShape 2" descr="Este es el logo de la experiencia, sería pertinente colocarlo en las dispositivas">
            <a:extLst>
              <a:ext uri="{FF2B5EF4-FFF2-40B4-BE49-F238E27FC236}">
                <a16:creationId xmlns:a16="http://schemas.microsoft.com/office/drawing/2014/main" id="{782FE45A-30F3-065F-2209-CF45ACEB9E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FD9A53-2392-F882-461A-3FD529D0AF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34" r="7333" b="12933"/>
          <a:stretch/>
        </p:blipFill>
        <p:spPr>
          <a:xfrm>
            <a:off x="548640" y="2658058"/>
            <a:ext cx="3156875" cy="316171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se sustenta en el modelo pedagógico socio-crítico y el enfoque humanista de la institución, concibiendo el lenguaje como una práctica social y cultural que genera pensamiento crítico, capacidad de diálogo y fluidez.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Articula la lectura, escritura y oralidad como procesos de construcción de significados a partir de la interacción entre lector, texto y contexto.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Referentes teóricos como Cassany, Luna y Sanz destacan la lectoescritura para el aprendizaje autónomo y desarrollo social. Se usa un enfoque pragmático de la significación y principios Montessori para el disfrute de la lectura contextualizada.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Esta fundamentación se integra con el PEI, aprovechando el entorno del estudiante como ambiente de aprendizaje y vinculándose con los objetivos del PMI en convivencia y desarrollo socioemocional.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26F938C-2B97-CF0C-1531-BDCBAFF4716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734" r="7333" b="12933"/>
          <a:stretch/>
        </p:blipFill>
        <p:spPr>
          <a:xfrm>
            <a:off x="9782629" y="3941749"/>
            <a:ext cx="2132806" cy="213607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53921"/>
            <a:ext cx="5288281" cy="375919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El proyecto responde a la problemática de altos riesgos psicosociales en estudiantes de secundaria y media, tales como mal uso de dispositivos electrónicos, ciberacoso, consumo de sustancias, trastornos mentales y embarazo adolescente.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Esta situación requiere una práctica pedagógica innovadora que vincule competencias comunicativas con las realidades contextuales.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La experiencia aborda necesidades detectadas en el contexto educativo y social, aportando al desarrollo integral de los estudiantes y fortaleciendo la misión institucional de formar líderes sociales y críticos.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094231-DFCA-D20D-DC60-19C318266F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80" y="2077481"/>
            <a:ext cx="5865495" cy="375919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6FE0786-1464-01DD-C33C-08977F9B88E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734" r="7333" b="12933"/>
          <a:stretch/>
        </p:blipFill>
        <p:spPr>
          <a:xfrm>
            <a:off x="4938161" y="5596879"/>
            <a:ext cx="1035919" cy="10375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5638800" y="2506981"/>
            <a:ext cx="6080760" cy="38328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Los objetivos generales y específicos orientan acciones que vinculan la investigación de riesgos psicosociales con la producción de reportajes y documentales. </a:t>
            </a:r>
          </a:p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La coherencia entre objetivos, actividades y resultados se evidencia en la construcción de competencias comunicativas críticas y ciudadanas, la participación activa de estudiantes y actores comunitarios, y la generación de propuestas para transformar problemáticas reales.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FAD72E1-4303-1388-99BE-E17ADEAD4E51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79" y="2632393"/>
            <a:ext cx="4262119" cy="319658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EE8F676-AD3B-7884-0CF8-C740F210595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734" r="7333" b="12933"/>
          <a:stretch/>
        </p:blipFill>
        <p:spPr>
          <a:xfrm>
            <a:off x="4982296" y="5827555"/>
            <a:ext cx="922189" cy="9236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153921"/>
            <a:ext cx="5059680" cy="38201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ha evolucionado con análisis continuos y ajustes en metodología, transformando motivaciones tecnológicas en mecanismos pedagógicos efectivos.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incorporación de retroalimentación de jurados externos y entes municipales evidencia mejora continua y capacidad de adaptación a limitaciones contextuales, como inseguridad y acceso tecnológico.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A412F53-765D-C0DD-1706-8E79DADAD9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634" y="1943259"/>
            <a:ext cx="5682826" cy="42621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1C69B89-C7F4-FBAC-EB6F-8966175EF84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734" r="7333" b="12933"/>
          <a:stretch/>
        </p:blipFill>
        <p:spPr>
          <a:xfrm>
            <a:off x="5097231" y="5478975"/>
            <a:ext cx="1212131" cy="12139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988821"/>
            <a:ext cx="5913120" cy="4205922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destaca la activa participación y compromiso de estudiantes, docentes, directivos, familias y autoridades municipales en todas las fases del proyecto, fortaleciendo la apropiación colectiva, el trabajo colaborativo y la construcción de liderazgos para la convivencia y paz social.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AE862AA-E785-A912-F2B9-92C62A1286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988821"/>
            <a:ext cx="5212080" cy="390906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DE55795-50A3-7A5C-B2D1-EF92F6B7164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734" r="7333" b="12933"/>
          <a:stretch/>
        </p:blipFill>
        <p:spPr>
          <a:xfrm>
            <a:off x="5631180" y="5428017"/>
            <a:ext cx="1212131" cy="12139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2332037"/>
            <a:ext cx="5303520" cy="33988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seguimiento es permanente y colectivo, con evaluación integral de aspectos cognitivos, procedimentales y actitudinales, apoyada en crítica constructiva entre pares y jurados externos.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emplea análisis mixto (cuantitativo y cualitativo) para valorizar productos textuales y audiovisuales, con metas claras de mejoramiento y ajuste continuo.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405094" y="0"/>
            <a:ext cx="2852115" cy="434975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6E971E8-2C53-928D-9BD6-4E4179B147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3529" y1="73529" x2="29085" y2="66013"/>
                        <a14:foregroundMark x1="30065" y1="63072" x2="30065" y2="63072"/>
                        <a14:foregroundMark x1="24183" y1="71895" x2="25980" y2="65686"/>
                        <a14:foregroundMark x1="24673" y1="78268" x2="24183" y2="57026"/>
                        <a14:foregroundMark x1="24183" y1="57026" x2="24346" y2="56536"/>
                        <a14:foregroundMark x1="44771" y1="60131" x2="49183" y2="46895"/>
                        <a14:foregroundMark x1="58333" y1="56536" x2="59641" y2="49020"/>
                        <a14:foregroundMark x1="54739" y1="59150" x2="57026" y2="44771"/>
                        <a14:foregroundMark x1="78268" y1="50000" x2="76961" y2="3006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7922" y="1820036"/>
            <a:ext cx="4859848" cy="485984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89FA1B3-9727-051F-FB66-4D89ECAE231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734" r="7333" b="12933"/>
          <a:stretch/>
        </p:blipFill>
        <p:spPr>
          <a:xfrm>
            <a:off x="4794553" y="5465894"/>
            <a:ext cx="1212131" cy="12139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0481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1681"/>
            <a:ext cx="5410200" cy="41602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han logrado avances significativos en formación integral, prevención de riesgos psicosociales, motivación, convivencia armoniosa y desarrollo de liderazgos estudiantiles.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ha fortalecido la integración curricular, promovido el uso pedagógico de TIC y consolidado estudiantes como agentes de cambio social acorde con la misión institucional.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ED14BF9-F03B-6C9D-0B32-53A69B62F89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52" t="11929" r="27877" b="19463"/>
          <a:stretch/>
        </p:blipFill>
        <p:spPr>
          <a:xfrm>
            <a:off x="4082490" y="4062938"/>
            <a:ext cx="936916" cy="156163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F1546E5-8582-5567-A8F7-FE21A5328AF6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3" t="6223" r="30475" b="31787"/>
          <a:stretch/>
        </p:blipFill>
        <p:spPr>
          <a:xfrm>
            <a:off x="1215624" y="4812855"/>
            <a:ext cx="1552162" cy="162343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0741A8D-A291-A5F1-506A-64EF5C965D4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886" y="1829118"/>
            <a:ext cx="2852115" cy="2137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182BAB1-C11F-F26B-E4FD-BE2054B34D0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39" t="50000" r="9000" b="19333"/>
          <a:stretch/>
        </p:blipFill>
        <p:spPr>
          <a:xfrm>
            <a:off x="158789" y="1834287"/>
            <a:ext cx="3100989" cy="26163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C9DE3E6-BAB3-5B9D-7DD7-C0A3C4182EE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5734" r="7333" b="12933"/>
          <a:stretch/>
        </p:blipFill>
        <p:spPr>
          <a:xfrm>
            <a:off x="4951638" y="5559366"/>
            <a:ext cx="1212131" cy="12139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662" y="2174877"/>
            <a:ext cx="4321658" cy="38598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se replica y adapta mediante socialización en el Consejo Académico, Asamblea de Maestros y eventos municipales.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Su metodología basada en rutas de planeación y tipologías textuales contextualizadas es flexible y aplicable en diversos escenarios, contribuyendo a la formación de maestros líderes y al fortalecimiento de prácticas pedagógicas innovadoras.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DB0619B-9A3B-DDCD-C9DB-CB2BCFCCB8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7916" y="2174877"/>
            <a:ext cx="4898025" cy="40301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C6E54A8-2AA5-4FFC-1099-69830CEE48E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734" r="7333" b="12933"/>
          <a:stretch/>
        </p:blipFill>
        <p:spPr>
          <a:xfrm>
            <a:off x="4696146" y="5465894"/>
            <a:ext cx="1212131" cy="12139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0" y="2171701"/>
            <a:ext cx="5516880" cy="41224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Se garantiza la continuidad mediante la inscripción formal como experiencia significativa, compromiso comunitario colectivo y respaldo institucional continuo, incluyendo apoyo del rector y directivos.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La institucionalización y alineación con el PEI aseguran su consolidación desde los ámbitos político, técnico, humano y financiero, pese a limitaciones tecnológicas.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EF4B8F9-C4B1-94A6-F2B0-EE06B30E2B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502" b="96304" l="3994" r="95208">
                        <a14:foregroundMark x1="15016" y1="89300" x2="15016" y2="60895"/>
                        <a14:foregroundMark x1="15016" y1="60895" x2="15016" y2="60895"/>
                        <a14:foregroundMark x1="7827" y1="92412" x2="12460" y2="53502"/>
                        <a14:foregroundMark x1="46486" y1="72374" x2="40735" y2="21401"/>
                        <a14:foregroundMark x1="53355" y1="55642" x2="53355" y2="7393"/>
                        <a14:foregroundMark x1="31310" y1="53113" x2="33387" y2="29183"/>
                        <a14:foregroundMark x1="33387" y1="29183" x2="47125" y2="7782"/>
                        <a14:foregroundMark x1="47125" y1="7782" x2="49201" y2="7393"/>
                        <a14:foregroundMark x1="25240" y1="17899" x2="34665" y2="11868"/>
                        <a14:foregroundMark x1="34665" y1="11868" x2="58147" y2="11868"/>
                        <a14:foregroundMark x1="58147" y1="11868" x2="69808" y2="21401"/>
                        <a14:foregroundMark x1="69808" y1="21401" x2="70767" y2="24125"/>
                        <a14:foregroundMark x1="66294" y1="29377" x2="47444" y2="33463"/>
                        <a14:foregroundMark x1="47444" y1="33463" x2="33387" y2="43385"/>
                        <a14:foregroundMark x1="33387" y1="43385" x2="33387" y2="44163"/>
                        <a14:foregroundMark x1="64058" y1="61284" x2="24441" y2="42607"/>
                        <a14:foregroundMark x1="48403" y1="44747" x2="42812" y2="53502"/>
                        <a14:foregroundMark x1="68690" y1="53113" x2="68211" y2="44747"/>
                        <a14:foregroundMark x1="89137" y1="79183" x2="89137" y2="49416"/>
                        <a14:foregroundMark x1="94409" y1="93580" x2="90895" y2="72763"/>
                        <a14:foregroundMark x1="95208" y1="74514" x2="94728" y2="64008"/>
                        <a14:foregroundMark x1="22364" y1="15759" x2="24121" y2="15370"/>
                        <a14:foregroundMark x1="26038" y1="14591" x2="39457" y2="3891"/>
                        <a14:foregroundMark x1="39457" y1="7004" x2="39457" y2="7004"/>
                        <a14:foregroundMark x1="26198" y1="35019" x2="26198" y2="35019"/>
                        <a14:foregroundMark x1="27476" y1="54669" x2="27476" y2="54669"/>
                        <a14:foregroundMark x1="49521" y1="97082" x2="60383" y2="94553"/>
                        <a14:foregroundMark x1="60383" y1="94553" x2="61502" y2="94553"/>
                        <a14:foregroundMark x1="7827" y1="94747" x2="3994" y2="96304"/>
                        <a14:foregroundMark x1="23962" y1="35409" x2="36262" y2="27043"/>
                        <a14:foregroundMark x1="49521" y1="22568" x2="55431" y2="12646"/>
                        <a14:foregroundMark x1="55431" y1="6809" x2="67093" y2="16342"/>
                        <a14:foregroundMark x1="68371" y1="45720" x2="59904" y2="72374"/>
                        <a14:foregroundMark x1="55431" y1="48833" x2="49042" y2="74514"/>
                        <a14:foregroundMark x1="29073" y1="54280" x2="34665" y2="68288"/>
                        <a14:foregroundMark x1="25719" y1="51946" x2="30351" y2="65953"/>
                        <a14:foregroundMark x1="30351" y1="65953" x2="36741" y2="73735"/>
                        <a14:foregroundMark x1="51278" y1="37549" x2="55911" y2="71401"/>
                        <a14:foregroundMark x1="47125" y1="58949" x2="51278" y2="745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2223772"/>
            <a:ext cx="4672888" cy="39636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AD3F06C-A975-B825-5662-DCFE8F0F881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734" r="7333" b="12933"/>
          <a:stretch/>
        </p:blipFill>
        <p:spPr>
          <a:xfrm>
            <a:off x="4912452" y="5580445"/>
            <a:ext cx="1212131" cy="12139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2103121"/>
            <a:ext cx="5471160" cy="39773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La innovación radica en la integración del periodismo de investigación para enseñar Lengua Castellana, combinando recursos tecnológicos (YouTube, correo) y no tecnológicos (lectura de imágenes, juegos de roles, participación de jurados).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Este enfoque rompe con la enseñanza tradicional, fomentando pensamiento crítico, fluidez comunicativa y soluciones a problemas sociales reales.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24FA2FA-060D-6E2A-5FC3-0A808B9037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78" b="96889" l="1778" r="99556">
                        <a14:foregroundMark x1="17778" y1="29778" x2="13778" y2="58222"/>
                        <a14:foregroundMark x1="13778" y1="58222" x2="21333" y2="88444"/>
                        <a14:foregroundMark x1="21333" y1="88444" x2="35111" y2="90222"/>
                        <a14:foregroundMark x1="20000" y1="31111" x2="70667" y2="72000"/>
                        <a14:foregroundMark x1="70667" y1="72000" x2="91111" y2="75556"/>
                        <a14:foregroundMark x1="19111" y1="41778" x2="47556" y2="42667"/>
                        <a14:foregroundMark x1="47556" y1="42667" x2="91111" y2="30667"/>
                        <a14:foregroundMark x1="77778" y1="36000" x2="74222" y2="68444"/>
                        <a14:foregroundMark x1="74222" y1="68444" x2="83111" y2="56444"/>
                        <a14:foregroundMark x1="83111" y1="56444" x2="75556" y2="79556"/>
                        <a14:foregroundMark x1="75556" y1="79556" x2="51111" y2="68889"/>
                        <a14:foregroundMark x1="51111" y1="68889" x2="66667" y2="85333"/>
                        <a14:foregroundMark x1="66667" y1="85333" x2="33333" y2="84889"/>
                        <a14:foregroundMark x1="33333" y1="84889" x2="47111" y2="92889"/>
                        <a14:foregroundMark x1="47111" y1="92889" x2="89333" y2="92889"/>
                        <a14:foregroundMark x1="89333" y1="92889" x2="88889" y2="93333"/>
                        <a14:foregroundMark x1="84000" y1="96000" x2="82667" y2="65778"/>
                        <a14:foregroundMark x1="82667" y1="65778" x2="91556" y2="47111"/>
                        <a14:foregroundMark x1="91556" y1="47111" x2="93333" y2="75556"/>
                        <a14:foregroundMark x1="93333" y1="75556" x2="92444" y2="37333"/>
                        <a14:foregroundMark x1="92444" y1="37333" x2="86222" y2="76000"/>
                        <a14:foregroundMark x1="84889" y1="78222" x2="91556" y2="40889"/>
                        <a14:foregroundMark x1="91556" y1="40889" x2="79111" y2="58222"/>
                        <a14:foregroundMark x1="59556" y1="58222" x2="78222" y2="44889"/>
                        <a14:foregroundMark x1="78222" y1="44889" x2="68000" y2="53778"/>
                        <a14:foregroundMark x1="68000" y1="53778" x2="80000" y2="41333"/>
                        <a14:foregroundMark x1="60000" y1="59111" x2="71556" y2="43111"/>
                        <a14:foregroundMark x1="71556" y1="43111" x2="56000" y2="49778"/>
                        <a14:foregroundMark x1="56000" y1="49778" x2="30222" y2="37333"/>
                        <a14:foregroundMark x1="30222" y1="37333" x2="59111" y2="35111"/>
                        <a14:foregroundMark x1="59111" y1="35111" x2="13778" y2="30667"/>
                        <a14:foregroundMark x1="13778" y1="30667" x2="16000" y2="44889"/>
                        <a14:foregroundMark x1="16000" y1="44889" x2="15556" y2="30667"/>
                        <a14:foregroundMark x1="15556" y1="30667" x2="12444" y2="62222"/>
                        <a14:foregroundMark x1="10222" y1="21778" x2="28000" y2="74667"/>
                        <a14:foregroundMark x1="17333" y1="13333" x2="25778" y2="35111"/>
                        <a14:foregroundMark x1="25778" y1="35111" x2="55111" y2="65333"/>
                        <a14:foregroundMark x1="15111" y1="8000" x2="6222" y2="38222"/>
                        <a14:foregroundMark x1="6222" y1="38222" x2="26667" y2="89778"/>
                        <a14:foregroundMark x1="8889" y1="8000" x2="2222" y2="36000"/>
                        <a14:foregroundMark x1="2222" y1="36000" x2="7111" y2="69333"/>
                        <a14:foregroundMark x1="9333" y1="52000" x2="11111" y2="94222"/>
                        <a14:foregroundMark x1="9333" y1="53778" x2="4444" y2="74222"/>
                        <a14:foregroundMark x1="4444" y1="74222" x2="5778" y2="87556"/>
                        <a14:foregroundMark x1="29778" y1="88000" x2="81333" y2="56000"/>
                        <a14:foregroundMark x1="14667" y1="70222" x2="35556" y2="44889"/>
                        <a14:foregroundMark x1="35556" y1="44889" x2="55556" y2="41333"/>
                        <a14:foregroundMark x1="76444" y1="96889" x2="88444" y2="66667"/>
                        <a14:foregroundMark x1="88444" y1="66667" x2="92000" y2="22222"/>
                        <a14:foregroundMark x1="89333" y1="67111" x2="91556" y2="44444"/>
                        <a14:foregroundMark x1="91556" y1="44444" x2="93333" y2="93333"/>
                        <a14:foregroundMark x1="98667" y1="84000" x2="99556" y2="58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4197" y="1635285"/>
            <a:ext cx="4652963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42BB096-C278-E8FC-A85C-79A7CCB884D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734" r="7333" b="12933"/>
          <a:stretch/>
        </p:blipFill>
        <p:spPr>
          <a:xfrm>
            <a:off x="5351101" y="5715606"/>
            <a:ext cx="1019219" cy="10207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b="1" dirty="0" err="1"/>
              <a:t>Responsable</a:t>
            </a:r>
            <a:r>
              <a:rPr lang="es-MX" b="1" dirty="0"/>
              <a:t>: </a:t>
            </a:r>
            <a:r>
              <a:rPr lang="es-CO" dirty="0"/>
              <a:t>Aida Mary Bolaños </a:t>
            </a:r>
            <a:r>
              <a:rPr lang="es-CO" dirty="0" err="1"/>
              <a:t>Ome</a:t>
            </a:r>
            <a:r>
              <a:rPr dirty="0"/>
              <a:t>]</a:t>
            </a:r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dirty="0"/>
              <a:t>aidamary.bolanos@normalpitalito.edu.co</a:t>
            </a:r>
            <a:endParaRPr dirty="0"/>
          </a:p>
          <a:p>
            <a:pPr marL="0" indent="0" algn="ctr">
              <a:buNone/>
            </a:pPr>
            <a:r>
              <a:rPr b="1" dirty="0" err="1"/>
              <a:t>Teléfono</a:t>
            </a:r>
            <a:r>
              <a:rPr dirty="0"/>
              <a:t> </a:t>
            </a:r>
            <a:r>
              <a:rPr lang="es-CO" dirty="0"/>
              <a:t>3125571289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6A4322C-4C31-1971-183D-5BA96C914EB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734" r="7333" b="12933"/>
          <a:stretch/>
        </p:blipFill>
        <p:spPr>
          <a:xfrm>
            <a:off x="8398923" y="3081973"/>
            <a:ext cx="3118623" cy="31234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687</Words>
  <Application>Microsoft Office PowerPoint</Application>
  <PresentationFormat>Panorámica</PresentationFormat>
  <Paragraphs>41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19</cp:revision>
  <dcterms:created xsi:type="dcterms:W3CDTF">2025-07-23T15:35:07Z</dcterms:created>
  <dcterms:modified xsi:type="dcterms:W3CDTF">2026-06-16T21:27:01Z</dcterms:modified>
</cp:coreProperties>
</file>