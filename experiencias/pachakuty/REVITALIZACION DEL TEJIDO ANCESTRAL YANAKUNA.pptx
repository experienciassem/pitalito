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11/05/2026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3" y="11723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735016" y="1195755"/>
            <a:ext cx="9144000" cy="3329353"/>
          </a:xfrm>
        </p:spPr>
        <p:txBody>
          <a:bodyPr>
            <a:normAutofit fontScale="90000"/>
          </a:bodyPr>
          <a:lstStyle/>
          <a:p>
            <a:r>
              <a:rPr lang="es-CO" sz="4800" dirty="0"/>
              <a:t> “REVITALIZACIÓN DEL TEJIDO ANCESTRAL YANAKUNA COMO ESTRATEGIA PEDAGÓGICA INTERCULTURAL.”</a:t>
            </a:r>
            <a:r>
              <a:rPr lang="es-CO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s-CO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s-CO" sz="48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4278922"/>
            <a:ext cx="9144000" cy="978877"/>
          </a:xfrm>
        </p:spPr>
        <p:txBody>
          <a:bodyPr/>
          <a:lstStyle/>
          <a:p>
            <a:r>
              <a:rPr lang="es-ES" dirty="0"/>
              <a:t>JAMES ROMEIRO OMEN MAJIN</a:t>
            </a:r>
          </a:p>
          <a:p>
            <a:r>
              <a:rPr lang="es-ES" dirty="0"/>
              <a:t>IEM: PACHAKUTI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541858"/>
              </p:ext>
            </p:extLst>
          </p:nvPr>
        </p:nvGraphicFramePr>
        <p:xfrm>
          <a:off x="1677986" y="1663455"/>
          <a:ext cx="9458936" cy="45911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20291">
                  <a:extLst>
                    <a:ext uri="{9D8B030D-6E8A-4147-A177-3AD203B41FA5}">
                      <a16:colId xmlns:a16="http://schemas.microsoft.com/office/drawing/2014/main" val="2215923136"/>
                    </a:ext>
                  </a:extLst>
                </a:gridCol>
                <a:gridCol w="7338645">
                  <a:extLst>
                    <a:ext uri="{9D8B030D-6E8A-4147-A177-3AD203B41FA5}">
                      <a16:colId xmlns:a16="http://schemas.microsoft.com/office/drawing/2014/main" val="1923169113"/>
                    </a:ext>
                  </a:extLst>
                </a:gridCol>
              </a:tblGrid>
              <a:tr h="611947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s-CO" sz="1400" b="1" u="none" strike="noStrike" dirty="0">
                          <a:effectLst/>
                        </a:rPr>
                        <a:t>Fundamentación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Arial Narrow" panose="020B0606020202030204" pitchFamily="34" charset="0"/>
                        </a:rPr>
                        <a:t>La propuesta se articula con el PEC al apoyarse en el pilar cultural y social del Plan de Vida </a:t>
                      </a:r>
                      <a:r>
                        <a:rPr lang="es-MX" sz="1400" dirty="0" err="1">
                          <a:latin typeface="Arial Narrow" panose="020B0606020202030204" pitchFamily="34" charset="0"/>
                        </a:rPr>
                        <a:t>Yanakuna</a:t>
                      </a:r>
                      <a:r>
                        <a:rPr lang="es-MX" sz="1400" dirty="0">
                          <a:latin typeface="Arial Narrow" panose="020B0606020202030204" pitchFamily="34" charset="0"/>
                        </a:rPr>
                        <a:t>, fortaleciendo los saberes, las prácticas ancestrales y la identidad comunitaria. Este enfoque orienta la educación propia en las comunidades de Pitalito al promover la revitalización del tejido ancestral, el respeto por los mayores, el territorio y la espiritualidad. Así, la propuesta integra técnicas de tejido con la cultura, la memoria y los valores </a:t>
                      </a:r>
                      <a:r>
                        <a:rPr lang="es-MX" sz="1400" dirty="0" err="1">
                          <a:latin typeface="Arial Narrow" panose="020B0606020202030204" pitchFamily="34" charset="0"/>
                        </a:rPr>
                        <a:t>Yanakuna</a:t>
                      </a:r>
                      <a:r>
                        <a:rPr lang="es-MX" sz="1400" dirty="0">
                          <a:latin typeface="Arial Narrow" panose="020B0606020202030204" pitchFamily="34" charset="0"/>
                        </a:rPr>
                        <a:t> como una estrategia pedagógica intercultural.</a:t>
                      </a:r>
                    </a:p>
                    <a:p>
                      <a:pPr algn="just" fontAlgn="ctr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3714961306"/>
                  </a:ext>
                </a:extLst>
              </a:tr>
              <a:tr h="90507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s-MX" sz="1400" dirty="0">
                          <a:latin typeface="Arial Narrow" panose="020B0606020202030204" pitchFamily="34" charset="0"/>
                        </a:rPr>
                        <a:t>La propuesta se articula con la misión, visión, valores y principios institucionales porque fortalece la educación propia y el sentido de identidad del pueblo </a:t>
                      </a:r>
                      <a:r>
                        <a:rPr lang="es-MX" sz="1400" dirty="0" err="1">
                          <a:latin typeface="Arial Narrow" panose="020B0606020202030204" pitchFamily="34" charset="0"/>
                        </a:rPr>
                        <a:t>Yanakuna</a:t>
                      </a:r>
                      <a:r>
                        <a:rPr lang="es-MX" sz="1400" dirty="0">
                          <a:latin typeface="Arial Narrow" panose="020B0606020202030204" pitchFamily="34" charset="0"/>
                        </a:rPr>
                        <a:t>. Su enfoque cultural y pedagógico aporta a la formación integral, al respeto por la diversidad y al desarrollo comunitario.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3488044358"/>
                  </a:ext>
                </a:extLst>
              </a:tr>
              <a:tr h="120058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s-MX" sz="1400" dirty="0">
                          <a:latin typeface="Arial Narrow" panose="020B0606020202030204" pitchFamily="34" charset="0"/>
                        </a:rPr>
                        <a:t>Reorientar las acciones del proyecto según el Plan de Mejoramiento Institucional permite ajustar y fortalecer sus actividades para alinearlas con las metas educativas. Esto contribuye a que la revitalización del tejido ancestral </a:t>
                      </a:r>
                      <a:r>
                        <a:rPr lang="es-MX" sz="1400" dirty="0" err="1">
                          <a:latin typeface="Arial Narrow" panose="020B0606020202030204" pitchFamily="34" charset="0"/>
                        </a:rPr>
                        <a:t>Yanakuna</a:t>
                      </a:r>
                      <a:r>
                        <a:rPr lang="es-MX" sz="1400" dirty="0">
                          <a:latin typeface="Arial Narrow" panose="020B0606020202030204" pitchFamily="34" charset="0"/>
                        </a:rPr>
                        <a:t> conserve los saberes propios y apoye el progreso académico, cultural y comunitario, integrándose al mejoramiento continuo y fortaleciendo la educación intercultural y la identidad </a:t>
                      </a:r>
                      <a:r>
                        <a:rPr lang="es-MX" sz="1400" dirty="0" err="1">
                          <a:latin typeface="Arial Narrow" panose="020B0606020202030204" pitchFamily="34" charset="0"/>
                        </a:rPr>
                        <a:t>Yanakuna</a:t>
                      </a:r>
                      <a:r>
                        <a:rPr lang="es-MX" sz="1400" dirty="0">
                          <a:latin typeface="Arial Narrow" panose="020B0606020202030204" pitchFamily="34" charset="0"/>
                        </a:rPr>
                        <a:t>.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2166883621"/>
                  </a:ext>
                </a:extLst>
              </a:tr>
              <a:tr h="120058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s-MX" sz="1400" dirty="0">
                          <a:latin typeface="Arial Narrow" panose="020B0606020202030204" pitchFamily="34" charset="0"/>
                        </a:rPr>
                        <a:t>Consolidar las referencias teóricas, metodológicas y conceptuales con los líderes implica unificar criterios y fundamentos que orientan el proyecto, integrando saberes ancestrales y enfoques pedagógicos propios. Este proceso garantiza coherencia cultural e intercultural en la implementación de la revitalización del tejido ancestral </a:t>
                      </a:r>
                      <a:r>
                        <a:rPr lang="es-MX" sz="1400" dirty="0" err="1">
                          <a:latin typeface="Arial Narrow" panose="020B0606020202030204" pitchFamily="34" charset="0"/>
                        </a:rPr>
                        <a:t>Yanakuna</a:t>
                      </a:r>
                      <a:r>
                        <a:rPr lang="es-MX" sz="1400" dirty="0">
                          <a:latin typeface="Arial Narrow" panose="020B0606020202030204" pitchFamily="34" charset="0"/>
                        </a:rPr>
                        <a:t>.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1062487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1" y="0"/>
            <a:ext cx="1076325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397317"/>
              </p:ext>
            </p:extLst>
          </p:nvPr>
        </p:nvGraphicFramePr>
        <p:xfrm>
          <a:off x="723901" y="2118701"/>
          <a:ext cx="8877299" cy="35962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8090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7149209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3596299">
                <a:tc>
                  <a:txBody>
                    <a:bodyPr/>
                    <a:lstStyle/>
                    <a:p>
                      <a:pPr algn="l" fontAlgn="ctr"/>
                      <a:r>
                        <a:rPr lang="es-CO" sz="1800" u="none" strike="noStrike" dirty="0">
                          <a:effectLst/>
                        </a:rPr>
                        <a:t>      Pertinencia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s-MX" dirty="0">
                          <a:latin typeface="Arial Narrow" panose="020B0606020202030204" pitchFamily="34" charset="0"/>
                        </a:rPr>
                        <a:t>La propuesta es pertinente porque responde a problemáticas y necesidades reales del contexto local, las cuales están identificadas y documentadas con sus causas. Esto asegura que las acciones del proyecto sean adecuadas y coherentes con la realidad de la comunidad educativa.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25" y="66675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049780"/>
              </p:ext>
            </p:extLst>
          </p:nvPr>
        </p:nvGraphicFramePr>
        <p:xfrm>
          <a:off x="1209675" y="1825624"/>
          <a:ext cx="9134476" cy="35318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81161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7453315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3531821">
                <a:tc>
                  <a:txBody>
                    <a:bodyPr/>
                    <a:lstStyle/>
                    <a:p>
                      <a:pPr algn="l" fontAlgn="ctr"/>
                      <a:r>
                        <a:rPr lang="es-CO" sz="2000" u="none" strike="noStrike" dirty="0">
                          <a:effectLst/>
                        </a:rPr>
                        <a:t>Consistencia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2000" dirty="0">
                          <a:latin typeface="Arial Narrow" panose="020B0606020202030204" pitchFamily="34" charset="0"/>
                        </a:rPr>
                        <a:t>La propuesta es consistente porque articula de manera coherente la fundamentación, el contexto, la metodología y los resultados esperados. Esta articulación se construye a partir de procesos de autorreflexión y autocrítica, que permiten analizar el sentido cultural del proyecto, revisar las necesidades reales del territorio </a:t>
                      </a:r>
                      <a:r>
                        <a:rPr lang="es-MX" sz="2000" dirty="0" err="1">
                          <a:latin typeface="Arial Narrow" panose="020B0606020202030204" pitchFamily="34" charset="0"/>
                        </a:rPr>
                        <a:t>Yanakuna</a:t>
                      </a:r>
                      <a:r>
                        <a:rPr lang="es-MX" sz="2000" dirty="0">
                          <a:latin typeface="Arial Narrow" panose="020B0606020202030204" pitchFamily="34" charset="0"/>
                        </a:rPr>
                        <a:t> y ajustar las estrategias pedagógicas para garantizar su pertinencia y efectividad.</a:t>
                      </a: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3814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136019"/>
              </p:ext>
            </p:extLst>
          </p:nvPr>
        </p:nvGraphicFramePr>
        <p:xfrm>
          <a:off x="838200" y="1825624"/>
          <a:ext cx="10333892" cy="30746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8124092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3074621">
                <a:tc>
                  <a:txBody>
                    <a:bodyPr/>
                    <a:lstStyle/>
                    <a:p>
                      <a:pPr algn="l" fontAlgn="ctr"/>
                      <a:r>
                        <a:rPr lang="es-CO" sz="1800" u="none" strike="noStrike" dirty="0">
                          <a:effectLst/>
                        </a:rPr>
                        <a:t>Madurez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r>
                        <a:rPr lang="es-MX" dirty="0">
                          <a:latin typeface="Arial Narrow" panose="020B0606020202030204" pitchFamily="34" charset="0"/>
                        </a:rPr>
                        <a:t>El proyecto reflexiona sobre su tiempo de desarrollo, analizando de manera crítica los resultados obtenidos y el tiempo invertido en cada fase. Esta revisión continua permite fortalecer la propuesta en los cambios de año lectivo, garantizando su madurez pedagógica y su capacidad de adaptarse a las necesidades evolutivas de la comunidad educativa </a:t>
                      </a:r>
                      <a:r>
                        <a:rPr lang="es-MX" dirty="0" err="1">
                          <a:latin typeface="Arial Narrow" panose="020B0606020202030204" pitchFamily="34" charset="0"/>
                        </a:rPr>
                        <a:t>Yanakuna</a:t>
                      </a:r>
                      <a:r>
                        <a:rPr lang="es-MX" dirty="0">
                          <a:latin typeface="Arial Narrow" panose="020B0606020202030204" pitchFamily="34" charset="0"/>
                        </a:rPr>
                        <a:t>.</a:t>
                      </a: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848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805111"/>
              </p:ext>
            </p:extLst>
          </p:nvPr>
        </p:nvGraphicFramePr>
        <p:xfrm>
          <a:off x="838198" y="1825625"/>
          <a:ext cx="8905877" cy="32152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62888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6842989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3215298">
                <a:tc>
                  <a:txBody>
                    <a:bodyPr/>
                    <a:lstStyle/>
                    <a:p>
                      <a:pPr algn="l" fontAlgn="ctr"/>
                      <a:r>
                        <a:rPr lang="es-CO" sz="1800" u="none" strike="noStrike" dirty="0">
                          <a:effectLst/>
                        </a:rPr>
                        <a:t>Empoderamiento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s-MX" dirty="0">
                          <a:latin typeface="Arial Narrow" panose="020B0606020202030204" pitchFamily="34" charset="0"/>
                        </a:rPr>
                        <a:t>El proyecto promueve el empoderamiento al involucrar de manera activa a maestros, directivos, padres de familia, estudiantes y al sector productivo, según sus roles y niveles de participación. Esta articulación fortalece el compromiso colectivo y contribuye al mejoramiento continuo de la experiencia educativa y cultural.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1597408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3985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490362"/>
              </p:ext>
            </p:extLst>
          </p:nvPr>
        </p:nvGraphicFramePr>
        <p:xfrm>
          <a:off x="838200" y="1825624"/>
          <a:ext cx="10181492" cy="35787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12477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7069015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3578713">
                <a:tc>
                  <a:txBody>
                    <a:bodyPr/>
                    <a:lstStyle/>
                    <a:p>
                      <a:pPr algn="l" fontAlgn="ctr"/>
                      <a:r>
                        <a:rPr lang="es-CO" sz="2000" u="none" strike="noStrike" dirty="0">
                          <a:effectLst/>
                        </a:rPr>
                        <a:t>Evaluación y seguimiento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2000" dirty="0">
                          <a:latin typeface="Arial Narrow" panose="020B0606020202030204" pitchFamily="34" charset="0"/>
                        </a:rPr>
                        <a:t>El proyecto dispone de una metodología y de instrumentos pertinentes para el seguimiento, evaluación, registro y análisis del proceso de revitalización del tejido ancestral. Estos mecanismos permiten monitorear cómo se fortalecen los aprendizajes, las técnicas y los significados culturales del tejido </a:t>
                      </a:r>
                      <a:r>
                        <a:rPr lang="es-MX" sz="2000" dirty="0" err="1">
                          <a:latin typeface="Arial Narrow" panose="020B0606020202030204" pitchFamily="34" charset="0"/>
                        </a:rPr>
                        <a:t>Yanakuna</a:t>
                      </a:r>
                      <a:r>
                        <a:rPr lang="es-MX" sz="2000" dirty="0">
                          <a:latin typeface="Arial Narrow" panose="020B0606020202030204" pitchFamily="34" charset="0"/>
                        </a:rPr>
                        <a:t>. De esta manera, la experiencia se analiza y ajusta continuamente para garantizar su permanencia y crecimiento dentro de la comunidad.</a:t>
                      </a: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1243005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5548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567967"/>
              </p:ext>
            </p:extLst>
          </p:nvPr>
        </p:nvGraphicFramePr>
        <p:xfrm>
          <a:off x="978875" y="1872517"/>
          <a:ext cx="10556632" cy="41899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7433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8839199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518051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s-CO" sz="2000" u="none" strike="noStrike" dirty="0">
                          <a:effectLst/>
                        </a:rPr>
                        <a:t>Resultados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s-ES" sz="2000" u="none" strike="noStrike" dirty="0">
                          <a:effectLst/>
                        </a:rPr>
                        <a:t>A partir del análisis y sistematización: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2517312088"/>
                  </a:ext>
                </a:extLst>
              </a:tr>
              <a:tr h="518051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2000" dirty="0">
                          <a:latin typeface="Arial Narrow" panose="020B0606020202030204" pitchFamily="34" charset="0"/>
                        </a:rPr>
                        <a:t>. El proyecto replantea los resultados a corto, mediano y largo plazo, ajustándolos según el avance del proceso y las necesidades que surgen durante la revitalización del tejido ancestral </a:t>
                      </a:r>
                      <a:r>
                        <a:rPr lang="es-MX" sz="2000" dirty="0" err="1">
                          <a:latin typeface="Arial Narrow" panose="020B0606020202030204" pitchFamily="34" charset="0"/>
                        </a:rPr>
                        <a:t>Yanakuna</a:t>
                      </a:r>
                      <a:r>
                        <a:rPr lang="es-MX" sz="2000" dirty="0">
                          <a:latin typeface="Arial Narrow" panose="020B0606020202030204" pitchFamily="34" charset="0"/>
                        </a:rPr>
                        <a:t>.</a:t>
                      </a:r>
                    </a:p>
                  </a:txBody>
                  <a:tcPr marL="114761" marR="4782" marT="4782" marB="0" anchor="ctr"/>
                </a:tc>
                <a:extLst>
                  <a:ext uri="{0D108BD9-81ED-4DB2-BD59-A6C34878D82A}">
                    <a16:rowId xmlns:a16="http://schemas.microsoft.com/office/drawing/2014/main" val="1558713013"/>
                  </a:ext>
                </a:extLst>
              </a:tr>
              <a:tr h="518051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 fontAlgn="ctr">
                        <a:buFont typeface="Arial" panose="020B0604020202020204" pitchFamily="34" charset="0"/>
                        <a:buChar char="•"/>
                      </a:pPr>
                      <a:r>
                        <a:rPr lang="es-MX" sz="2000" dirty="0">
                          <a:latin typeface="Arial Narrow" panose="020B0606020202030204" pitchFamily="34" charset="0"/>
                        </a:rPr>
                        <a:t>El proyecto participa en diversas convocatorias y espacios de intercambio para fortalecer su desarrollo, entre ellos los encuentros con el Consejo Regional Indígena del Huila (CRIHU) y el Encuentro de Experiencias Pedagógicas en Pitalito. Estas participaciones permiten visibilizar la revitalización del tejido ancestral </a:t>
                      </a:r>
                      <a:r>
                        <a:rPr lang="es-MX" sz="2000" dirty="0" err="1">
                          <a:latin typeface="Arial Narrow" panose="020B0606020202030204" pitchFamily="34" charset="0"/>
                        </a:rPr>
                        <a:t>Yanakuna</a:t>
                      </a:r>
                      <a:r>
                        <a:rPr lang="es-MX" sz="2000" dirty="0">
                          <a:latin typeface="Arial Narrow" panose="020B0606020202030204" pitchFamily="34" charset="0"/>
                        </a:rPr>
                        <a:t> y consolidar alianzas que apoyan la continuidad.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14761" marR="4782" marT="4782" marB="0" anchor="ctr"/>
                </a:tc>
                <a:extLst>
                  <a:ext uri="{0D108BD9-81ED-4DB2-BD59-A6C34878D82A}">
                    <a16:rowId xmlns:a16="http://schemas.microsoft.com/office/drawing/2014/main" val="2484773483"/>
                  </a:ext>
                </a:extLst>
              </a:tr>
              <a:tr h="102810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 fontAlgn="ctr">
                        <a:buFont typeface="Arial" panose="020B0604020202020204" pitchFamily="34" charset="0"/>
                        <a:buChar char="•"/>
                      </a:pPr>
                      <a:r>
                        <a:rPr lang="es-MX" sz="2000" dirty="0">
                          <a:latin typeface="Arial Narrow" panose="020B0606020202030204" pitchFamily="34" charset="0"/>
                        </a:rPr>
                        <a:t>El proyecto identifica de manera sistemática los aspectos cognitivos, éticos y comportamentales que se fortalecen en los estudiantes, así como las competencias que desarrollan durante el proceso de revitalización del tejido ancestral </a:t>
                      </a:r>
                      <a:r>
                        <a:rPr lang="es-MX" sz="2000" dirty="0" err="1">
                          <a:latin typeface="Arial Narrow" panose="020B0606020202030204" pitchFamily="34" charset="0"/>
                        </a:rPr>
                        <a:t>Yanakuna</a:t>
                      </a:r>
                      <a:r>
                        <a:rPr lang="es-MX" sz="2000" dirty="0">
                          <a:latin typeface="Arial Narrow" panose="020B0606020202030204" pitchFamily="34" charset="0"/>
                        </a:rPr>
                        <a:t>. Este análisis permite evidenciar el impacto formativo y cultural en su aprendizaje y crecimiento personal.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14761" marR="4782" marT="4782" marB="0" anchor="ctr"/>
                </a:tc>
                <a:extLst>
                  <a:ext uri="{0D108BD9-81ED-4DB2-BD59-A6C34878D82A}">
                    <a16:rowId xmlns:a16="http://schemas.microsoft.com/office/drawing/2014/main" val="1550489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4727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723059"/>
              </p:ext>
            </p:extLst>
          </p:nvPr>
        </p:nvGraphicFramePr>
        <p:xfrm>
          <a:off x="1318846" y="2165593"/>
          <a:ext cx="9025304" cy="26174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21355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6803949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2617421">
                <a:tc>
                  <a:txBody>
                    <a:bodyPr/>
                    <a:lstStyle/>
                    <a:p>
                      <a:pPr algn="l" fontAlgn="ctr"/>
                      <a:r>
                        <a:rPr lang="es-CO" sz="2000" u="none" strike="noStrike" dirty="0">
                          <a:effectLst/>
                        </a:rPr>
                        <a:t>Transferencia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s-ES" sz="2000" u="none" strike="noStrike" dirty="0">
                          <a:effectLst/>
                          <a:latin typeface="Arial Narrow" panose="020B0606020202030204" pitchFamily="34" charset="0"/>
                        </a:rPr>
                        <a:t>Se </a:t>
                      </a:r>
                      <a:r>
                        <a:rPr lang="es-MX" sz="2000" u="none" strike="noStrike" dirty="0">
                          <a:effectLst/>
                          <a:latin typeface="Arial Narrow" panose="020B0606020202030204" pitchFamily="34" charset="0"/>
                        </a:rPr>
                        <a:t>c</a:t>
                      </a:r>
                      <a:r>
                        <a:rPr lang="es-MX" sz="2000" dirty="0">
                          <a:latin typeface="Arial Narrow" panose="020B0606020202030204" pitchFamily="34" charset="0"/>
                        </a:rPr>
                        <a:t>onsidera necesario reorganizar los instrumentos y mecanismos que se utilizan en el proyecto para poder dar a conocer la experiencia en otros establecimientos educativos. Por eso, se presenta de manera estructurada la propuesta, su desarrollo, la metodología empleada y los resultados alcanzados. De esta forma, se facilita que otras instituciones comprendan el proceso y puedan replicar o adaptar la experiencia de revitalización del tejido ancestral </a:t>
                      </a:r>
                      <a:r>
                        <a:rPr lang="es-MX" sz="2000" dirty="0" err="1">
                          <a:latin typeface="Arial Narrow" panose="020B0606020202030204" pitchFamily="34" charset="0"/>
                        </a:rPr>
                        <a:t>Yanakuna</a:t>
                      </a:r>
                      <a:r>
                        <a:rPr lang="es-MX" sz="2000" dirty="0">
                          <a:latin typeface="Arial Narrow" panose="020B0606020202030204" pitchFamily="34" charset="0"/>
                        </a:rPr>
                        <a:t>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2878609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8669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761543"/>
              </p:ext>
            </p:extLst>
          </p:nvPr>
        </p:nvGraphicFramePr>
        <p:xfrm>
          <a:off x="1682261" y="1907686"/>
          <a:ext cx="8868507" cy="27112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3401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6095106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2711205">
                <a:tc>
                  <a:txBody>
                    <a:bodyPr/>
                    <a:lstStyle/>
                    <a:p>
                      <a:pPr algn="l" fontAlgn="ctr"/>
                      <a:r>
                        <a:rPr lang="es-CO" sz="2000" u="none" strike="noStrike" dirty="0">
                          <a:effectLst/>
                        </a:rPr>
                        <a:t>Sostenibilidad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s-MX" sz="2000" dirty="0">
                          <a:latin typeface="Arial Narrow" panose="020B0606020202030204" pitchFamily="34" charset="0"/>
                        </a:rPr>
                        <a:t>El proyecto amplía la participación de la comunidad educativa mediante espacios de retroalimentación, socialización y validación, lo cual fortalece su sostenibilidad institucional. Estos escenarios permiten que estudiantes, docentes, familias y autoridades aporten a la evaluación y mejora continua del proceso, garantizando la permanencia y el reconocimiento de la revitalización del tejido ancestral </a:t>
                      </a:r>
                      <a:r>
                        <a:rPr lang="es-MX" sz="2000" dirty="0" err="1">
                          <a:latin typeface="Arial Narrow" panose="020B0606020202030204" pitchFamily="34" charset="0"/>
                        </a:rPr>
                        <a:t>Yanakuna</a:t>
                      </a:r>
                      <a:r>
                        <a:rPr lang="es-MX" sz="2000" dirty="0">
                          <a:latin typeface="Arial Narrow" panose="020B0606020202030204" pitchFamily="34" charset="0"/>
                        </a:rPr>
                        <a:t> dentro de la institución.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648028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0353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232054"/>
              </p:ext>
            </p:extLst>
          </p:nvPr>
        </p:nvGraphicFramePr>
        <p:xfrm>
          <a:off x="1084385" y="1582616"/>
          <a:ext cx="10369062" cy="3692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1584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7767478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647702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s-CO" sz="2000" u="none" strike="noStrike" dirty="0">
                          <a:effectLst/>
                        </a:rPr>
                        <a:t>Innovación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2000" u="none" strike="noStrike" dirty="0">
                          <a:effectLst/>
                        </a:rPr>
                        <a:t>Identifica y reorganiza: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1990812606"/>
                  </a:ext>
                </a:extLst>
              </a:tr>
              <a:tr h="1305999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2000" dirty="0">
                          <a:latin typeface="Arial Narrow" panose="020B0606020202030204" pitchFamily="34" charset="0"/>
                        </a:rPr>
                        <a:t>El proyecto identifica y reorganiza los elementos conceptuales y metodológicos necesarios para mejorar la gestión y la práctica pedagógica. Este proceso de ajuste y actualización permite fortalecer la enseñanza y consolidar nuevas formas de trabajo en torno a la revitalización del tejido ancestral </a:t>
                      </a:r>
                      <a:r>
                        <a:rPr lang="es-MX" sz="2000" dirty="0" err="1">
                          <a:latin typeface="Arial Narrow" panose="020B0606020202030204" pitchFamily="34" charset="0"/>
                        </a:rPr>
                        <a:t>Yanakuna</a:t>
                      </a:r>
                      <a:r>
                        <a:rPr lang="es-MX" sz="2000" dirty="0">
                          <a:latin typeface="Arial Narrow" panose="020B0606020202030204" pitchFamily="34" charset="0"/>
                        </a:rPr>
                        <a:t>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14761" marR="4782" marT="4782" marB="0" anchor="ctr"/>
                </a:tc>
                <a:extLst>
                  <a:ext uri="{0D108BD9-81ED-4DB2-BD59-A6C34878D82A}">
                    <a16:rowId xmlns:a16="http://schemas.microsoft.com/office/drawing/2014/main" val="4166287931"/>
                  </a:ext>
                </a:extLst>
              </a:tr>
              <a:tr h="173906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000" dirty="0">
                          <a:latin typeface="Arial Narrow" panose="020B0606020202030204" pitchFamily="34" charset="0"/>
                        </a:rPr>
                        <a:t>El proyecto incorpora elementos que le permiten trascender como una propuesta de investigación o de acción, generando nuevo conocimiento a partir de la revitalización del tejido ancestral </a:t>
                      </a:r>
                      <a:r>
                        <a:rPr lang="es-MX" sz="2000" dirty="0" err="1">
                          <a:latin typeface="Arial Narrow" panose="020B0606020202030204" pitchFamily="34" charset="0"/>
                        </a:rPr>
                        <a:t>Yanakuna</a:t>
                      </a:r>
                      <a:r>
                        <a:rPr lang="es-MX" sz="2000" dirty="0">
                          <a:latin typeface="Arial Narrow" panose="020B0606020202030204" pitchFamily="34" charset="0"/>
                        </a:rPr>
                        <a:t>. Estos aportes innovadores fortalecen la comprensión cultural y pedagógica, y contribuyen al desarrollo de prácticas educativas más pertinentes y contextualizadas.</a:t>
                      </a:r>
                    </a:p>
                  </a:txBody>
                  <a:tcPr marL="114761" marR="4782" marT="4782" marB="0" anchor="ctr"/>
                </a:tc>
                <a:extLst>
                  <a:ext uri="{0D108BD9-81ED-4DB2-BD59-A6C34878D82A}">
                    <a16:rowId xmlns:a16="http://schemas.microsoft.com/office/drawing/2014/main" val="1724067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16680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950</Words>
  <Application>Microsoft Office PowerPoint</Application>
  <PresentationFormat>Panorámica</PresentationFormat>
  <Paragraphs>31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Arial Narrow</vt:lpstr>
      <vt:lpstr>Calibri</vt:lpstr>
      <vt:lpstr>Times New Roman</vt:lpstr>
      <vt:lpstr>Tema de Office</vt:lpstr>
      <vt:lpstr> “REVITALIZACIÓN DEL TEJIDO ANCESTRAL YANAKUNA COMO ESTRATEGIA PEDAGÓGICA INTERCULTURAL.”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Nombre de la Experiencia Significativa</dc:title>
  <dc:creator>Sebastian Santamaria</dc:creator>
  <cp:lastModifiedBy>CALIDAD-MEJORAMIENTO</cp:lastModifiedBy>
  <cp:revision>11</cp:revision>
  <dcterms:created xsi:type="dcterms:W3CDTF">2025-07-23T15:35:07Z</dcterms:created>
  <dcterms:modified xsi:type="dcterms:W3CDTF">2026-05-11T20:06:19Z</dcterms:modified>
</cp:coreProperties>
</file>