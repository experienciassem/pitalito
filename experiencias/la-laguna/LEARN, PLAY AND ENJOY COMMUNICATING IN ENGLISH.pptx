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 autoAdjust="0"/>
    <p:restoredTop sz="94679"/>
  </p:normalViewPr>
  <p:slideViewPr>
    <p:cSldViewPr snapToGrid="0">
      <p:cViewPr varScale="1">
        <p:scale>
          <a:sx n="109" d="100"/>
          <a:sy n="109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8/04/2026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8/04/2026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8/04/2026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8/04/2026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8/04/2026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8/04/2026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8/04/2026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8/04/2026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8/04/2026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8/04/2026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8/04/2026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8/04/2026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LEARN, PLAY AND ENJOY COMMUNICATING IN ENGLISH</a:t>
            </a:r>
            <a:endParaRPr lang="es-CO" sz="48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278922"/>
            <a:ext cx="9745362" cy="1269262"/>
          </a:xfrm>
        </p:spPr>
        <p:txBody>
          <a:bodyPr/>
          <a:lstStyle/>
          <a:p>
            <a:r>
              <a:rPr lang="es-CO" dirty="0"/>
              <a:t>Ángela Rocío Jaramillo Losada</a:t>
            </a:r>
          </a:p>
          <a:p>
            <a:r>
              <a:rPr lang="es-MX" dirty="0"/>
              <a:t>I.E.M La Laguna</a:t>
            </a:r>
            <a:endParaRPr lang="es-C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8AA1A4-46C4-9BCC-F2FF-E4021F05D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34" y="3867150"/>
            <a:ext cx="2761220" cy="25220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027100"/>
              </p:ext>
            </p:extLst>
          </p:nvPr>
        </p:nvGraphicFramePr>
        <p:xfrm>
          <a:off x="518983" y="1391605"/>
          <a:ext cx="10911017" cy="430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5785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8465232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892892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s-CO" sz="1400" b="1" u="none" strike="noStrike" dirty="0">
                          <a:effectLst/>
                        </a:rPr>
                        <a:t>Fundamentación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La experiencia está articulada al PEI, ya que fortalece el aprendizaje del inglés como parte de la formación integral de los estudiantes.</a:t>
                      </a:r>
                    </a:p>
                    <a:p>
                      <a:pPr algn="l" fontAlgn="ctr"/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934016">
                <a:tc vMerge="1">
                  <a:txBody>
                    <a:bodyPr/>
                    <a:lstStyle/>
                    <a:p>
                      <a:pPr algn="ctr" fontAlgn="ctr"/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400" dirty="0"/>
                        <a:t>Promueve el desarrollo del bilingüismo en coherencia con la misión y visión institucional, fomentando valores como el respeto, la responsabilidad y el trabajo colaborativo.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3488044358"/>
                  </a:ext>
                </a:extLst>
              </a:tr>
              <a:tr h="1238976">
                <a:tc vMerge="1">
                  <a:txBody>
                    <a:bodyPr/>
                    <a:lstStyle/>
                    <a:p>
                      <a:pPr algn="ctr" fontAlgn="ctr"/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Responde a las necesidades institucionales al mejorar las prácticas pedagógicas y fortalecer las competencias en inglés en docentes y estudiantes.</a:t>
                      </a:r>
                    </a:p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166883621"/>
                  </a:ext>
                </a:extLst>
              </a:tr>
              <a:tr h="1238976">
                <a:tc vMerge="1">
                  <a:txBody>
                    <a:bodyPr/>
                    <a:lstStyle/>
                    <a:p>
                      <a:pPr algn="ctr" fontAlgn="ctr"/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400" dirty="0"/>
                        <a:t>Se fundamenta en el enfoque comunicativo, el aprendizaje significativo y el constructivismo, promoviendo el uso del inglés en contextos reales.</a:t>
                      </a:r>
                    </a:p>
                    <a:p>
                      <a:pPr algn="l" fontAlgn="ctr"/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062487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045327"/>
              </p:ext>
            </p:extLst>
          </p:nvPr>
        </p:nvGraphicFramePr>
        <p:xfrm>
          <a:off x="1084382" y="2118701"/>
          <a:ext cx="10251832" cy="30223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4295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147537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248846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800" u="none" strike="noStrike" dirty="0">
                          <a:effectLst/>
                        </a:rPr>
                        <a:t>Pertinencia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Responde a la necesidad de fortalecer las competencias en inglés en la I.E.M La Laguna, donde se evidencian dificultades en la enseñanza del idioma y bajo desempeño de los estudiantes.</a:t>
                      </a:r>
                    </a:p>
                    <a:p>
                      <a:r>
                        <a:rPr lang="es-MX" dirty="0"/>
                        <a:t>Estas situaciones han sido documentadas mediante actas institucionales, en las cuales se evidencian, a través de registros fotográficos, las diferentes actividades desarrolladas.</a:t>
                      </a:r>
                    </a:p>
                    <a:p>
                      <a:r>
                        <a:rPr lang="es-MX" dirty="0"/>
                        <a:t>La experiencia propone estrategias innovadoras que mejoran el aprendizaje del inglés en el contexto educativo.</a:t>
                      </a:r>
                    </a:p>
                    <a:p>
                      <a:pPr algn="l" fontAlgn="ctr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289835"/>
              </p:ext>
            </p:extLst>
          </p:nvPr>
        </p:nvGraphicFramePr>
        <p:xfrm>
          <a:off x="838200" y="1825624"/>
          <a:ext cx="10287000" cy="42719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3277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393723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531821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u="none" strike="noStrike" dirty="0">
                          <a:effectLst/>
                        </a:rPr>
                        <a:t>Consistencia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La experiencia articula de manera coherente la problemática institucional, la fundamentación pedagógica y las estrategias metodológicas implementadas.</a:t>
                      </a:r>
                    </a:p>
                    <a:p>
                      <a:r>
                        <a:rPr lang="es-MX" sz="2000" dirty="0"/>
                        <a:t>A partir del enfoque comunicativo, el aprendizaje significativo y el constructivismo, se desarrollan acciones como proyectos, actividades comunicativas y uso de herramientas digitales que responden a las necesidades identificadas.</a:t>
                      </a:r>
                    </a:p>
                    <a:p>
                      <a:r>
                        <a:rPr lang="es-MX" sz="2000" dirty="0"/>
                        <a:t>Mediante procesos de seguimiento, autorreflexión y autocrítica, se realizan ajustes que permiten mejorar continuamente y alcanzar el fortalecimiento de las competencias comunicativas en inglés.</a:t>
                      </a:r>
                    </a:p>
                    <a:p>
                      <a:pPr algn="l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814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882308"/>
              </p:ext>
            </p:extLst>
          </p:nvPr>
        </p:nvGraphicFramePr>
        <p:xfrm>
          <a:off x="838200" y="1825624"/>
          <a:ext cx="10851292" cy="34136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0441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530851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413641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u="none" strike="noStrike" dirty="0">
                          <a:effectLst/>
                        </a:rPr>
                        <a:t>Madurez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La experiencia, desarrollada desde el año 2024, ha permitido un proceso de crecimiento progresivo mediante la implementación, seguimiento y evaluación continua.</a:t>
                      </a:r>
                    </a:p>
                    <a:p>
                      <a:r>
                        <a:rPr lang="es-MX" dirty="0"/>
                        <a:t>A lo largo del tiempo, se han analizado los resultados obtenidos, lo que ha permitido realizar ajustes en las estrategias pedagógicas y fortalecer el proceso de enseñanza-aprendizaje del inglés.</a:t>
                      </a:r>
                    </a:p>
                    <a:p>
                      <a:r>
                        <a:rPr lang="es-MX" dirty="0"/>
                        <a:t>Durante los cambios de año lectivo, se reflexiona sobre el impacto de las acciones y el tiempo invertido, consolidando la experiencia como un proceso en mejora continua.</a:t>
                      </a:r>
                    </a:p>
                    <a:p>
                      <a:pPr algn="l" fontAlgn="ctr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848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48807"/>
              </p:ext>
            </p:extLst>
          </p:nvPr>
        </p:nvGraphicFramePr>
        <p:xfrm>
          <a:off x="838198" y="1825625"/>
          <a:ext cx="10451124" cy="41195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0817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030307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215298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800" u="none" strike="noStrike" dirty="0">
                          <a:effectLst/>
                        </a:rPr>
                        <a:t>Empoderamiento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La experiencia involucra activamente a los diferentes actores de la comunidad educativa.</a:t>
                      </a:r>
                    </a:p>
                    <a:p>
                      <a:r>
                        <a:rPr lang="es-MX" dirty="0"/>
                        <a:t>Los docentes participan como orientadores y se fortalecen a través de microcentros pedagógicos, donde se brindan estrategias y herramientas para implementar en el aula; esta acción hace parte del plan de acción de la experiencia.</a:t>
                      </a:r>
                    </a:p>
                    <a:p>
                      <a:r>
                        <a:rPr lang="es-MX" dirty="0"/>
                        <a:t>Los directivos apoyan mediante la gestión académica y administrativa, promoviendo espacios de formación y garantizando recursos para el desarrollo de la experiencia.</a:t>
                      </a:r>
                    </a:p>
                    <a:p>
                      <a:r>
                        <a:rPr lang="es-MX" dirty="0"/>
                        <a:t>Las familias acompañan y motivan a los estudiantes, participando en actividades institucionales que fortalecen el proceso de aprendizaje del inglés.</a:t>
                      </a:r>
                    </a:p>
                    <a:p>
                      <a:pPr algn="l" fontAlgn="ctr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597408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3985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818417"/>
              </p:ext>
            </p:extLst>
          </p:nvPr>
        </p:nvGraphicFramePr>
        <p:xfrm>
          <a:off x="838200" y="1825624"/>
          <a:ext cx="10181492" cy="42719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2477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06901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578713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000" u="none" strike="noStrike" dirty="0">
                          <a:effectLst/>
                        </a:rPr>
                        <a:t>Evaluación y seguimiento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La experiencia cuenta con una metodología de seguimiento y evaluación basada en un enfoque formativo y continuo.</a:t>
                      </a:r>
                    </a:p>
                    <a:p>
                      <a:r>
                        <a:rPr lang="es-MX" sz="2000" dirty="0"/>
                        <a:t>Se utilizan instrumentos como observación en el aula, actividades prácticas, proyectos, presentaciones orales y talleres escritos, que permiten evidenciar el desarrollo de las competencias comunicativas en inglés.</a:t>
                      </a:r>
                    </a:p>
                    <a:p>
                      <a:r>
                        <a:rPr lang="es-MX" sz="2000" dirty="0"/>
                        <a:t>Asimismo, se realiza el registro y análisis de los avances mediante indicadores de logro y evidencias, lo que permite organizar los aprendizajes y fortalecer el proceso educativo a partir de la retroalimentación constante.</a:t>
                      </a:r>
                    </a:p>
                    <a:p>
                      <a:pPr algn="l" fontAlgn="ctr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243005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54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052429"/>
              </p:ext>
            </p:extLst>
          </p:nvPr>
        </p:nvGraphicFramePr>
        <p:xfrm>
          <a:off x="800100" y="655288"/>
          <a:ext cx="9908932" cy="7349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2060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296872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324774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s-CO" sz="2000" u="none" strike="noStrike" dirty="0">
                          <a:effectLst/>
                        </a:rPr>
                        <a:t>Resultados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2000" b="1" u="none" strike="noStrike" dirty="0">
                          <a:effectLst/>
                        </a:rPr>
                        <a:t> A partir del análisis y sistematización:</a:t>
                      </a:r>
                      <a:endParaRPr lang="es-ES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258794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A corto plazo, se evidencia mayor motivación y participación de los estudiantes en el aprendizaje del inglés.</a:t>
                      </a:r>
                    </a:p>
                    <a:p>
                      <a:r>
                        <a:rPr lang="es-MX" sz="2000" dirty="0"/>
                        <a:t>A mediano plazo, se fortalecen las competencias comunicativas y el uso del idioma en contextos académicos.</a:t>
                      </a:r>
                    </a:p>
                    <a:p>
                      <a:r>
                        <a:rPr lang="es-MX" sz="2000" dirty="0"/>
                        <a:t>A largo plazo, se proyecta la formación de estudiantes con habilidades en inglés que les permitan acceder a mejores oportunidades educativas, laborales y culturales.</a:t>
                      </a: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  <a:tr h="155438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La experiencia participa en convocatorias y espacios institucionales que permiten su fortalecimiento, actualización y reconocimiento.</a:t>
                      </a:r>
                    </a:p>
                    <a:p>
                      <a:r>
                        <a:rPr lang="es-MX" sz="2000" dirty="0"/>
                        <a:t>A través de estos procesos, se promueve el intercambio de experiencias, la mejora continua y la proyección del programa de bilingüismo en otros contextos educativos.</a:t>
                      </a: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2484773483"/>
                  </a:ext>
                </a:extLst>
              </a:tr>
              <a:tr h="129599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s-MX" sz="2000" dirty="0"/>
                        <a:t>Se fortalecen habilidades de comprensión y producción en inglés, se promueven valores como el respeto y la responsabilidad, se evidencia mayor motivación y participación, y se desarrollan competencias comunicativas para interactuar en diferentes contextos.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</a:endParaRP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1550489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727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471143"/>
              </p:ext>
            </p:extLst>
          </p:nvPr>
        </p:nvGraphicFramePr>
        <p:xfrm>
          <a:off x="1318846" y="2165593"/>
          <a:ext cx="9454662" cy="33575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7031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127631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2617421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000" u="none" strike="noStrike" dirty="0">
                          <a:effectLst/>
                        </a:rPr>
                        <a:t>Transferencia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La experiencia reorganiza sus instrumentos, estrategias y metodología para ser compartida con otros establecimientos educativos.</a:t>
                      </a:r>
                    </a:p>
                    <a:p>
                      <a:r>
                        <a:rPr lang="es-MX" sz="2000" dirty="0"/>
                        <a:t>Se socializa a través de propuestas pedagógicas, desarrollo de actividades, uso de metodologías activas y presentación de resultados, permitiendo su adaptación y replicabilidad en diferentes contextos.</a:t>
                      </a:r>
                    </a:p>
                    <a:p>
                      <a:r>
                        <a:rPr lang="es-MX" sz="2000" dirty="0"/>
                        <a:t>De esta manera, se promueve el intercambio de experiencias y el fortalecimiento del bilingüismo en otras instituciones.</a:t>
                      </a: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878609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669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527769"/>
              </p:ext>
            </p:extLst>
          </p:nvPr>
        </p:nvGraphicFramePr>
        <p:xfrm>
          <a:off x="1682261" y="1907686"/>
          <a:ext cx="8868507" cy="33575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3401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6095106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2711205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2000" u="none" strike="noStrike" dirty="0">
                          <a:effectLst/>
                        </a:rPr>
                        <a:t>Sostenibilidad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r>
                        <a:rPr lang="es-MX" sz="2000" dirty="0"/>
                        <a:t>La experiencia promueve la participación activa de la comunidad educativa mediante espacios de retroalimentación, socialización y validación de los procesos desarrollados.</a:t>
                      </a:r>
                    </a:p>
                    <a:p>
                      <a:r>
                        <a:rPr lang="es-MX" sz="2000" dirty="0"/>
                        <a:t>Estos espacios permiten el intercambio de ideas, la mejora continua y el fortalecimiento de la experiencia, garantizando su permanencia como parte del proceso institucional.</a:t>
                      </a: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648028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353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368154"/>
              </p:ext>
            </p:extLst>
          </p:nvPr>
        </p:nvGraphicFramePr>
        <p:xfrm>
          <a:off x="877330" y="1582615"/>
          <a:ext cx="10576117" cy="41484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3534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922583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68688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s-CO" sz="2000" u="none" strike="noStrike" dirty="0">
                          <a:effectLst/>
                        </a:rPr>
                        <a:t>Innovación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2000" dirty="0"/>
                        <a:t>Identifica necesidades del proceso de enseñanza del inglés y reorganiza estrategias pedagógicas para mejorar los aprendizajes.</a:t>
                      </a:r>
                      <a:endParaRPr lang="es-CO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990812606"/>
                  </a:ext>
                </a:extLst>
              </a:tr>
              <a:tr h="138499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2000" dirty="0"/>
                        <a:t>Integra elementos conceptuales y metodológicos como el enfoque comunicativo, el aprendizaje significativo y el constructivismo para mejorar la gestión y la práctica pedagógica.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</a:endParaRP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4166287931"/>
                  </a:ext>
                </a:extLst>
              </a:tr>
              <a:tr h="184426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2000" dirty="0"/>
                        <a:t>Desarrolla acciones pedagógicas que permiten consolidarse como proyecto de investigación, generando nuevos conocimientos y aportes a la enseñanza del inglés.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</a:endParaRP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1724067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6680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880</Words>
  <Application>Microsoft Office PowerPoint</Application>
  <PresentationFormat>Panorámica</PresentationFormat>
  <Paragraphs>48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Symbol</vt:lpstr>
      <vt:lpstr>Tema de Office</vt:lpstr>
      <vt:lpstr>LEARN, PLAY AND ENJOY COMMUNICATING IN ENGLISH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 la Experiencia Significativa</dc:title>
  <dc:creator>Sebastian Santamaria</dc:creator>
  <cp:lastModifiedBy>CALIDAD-MEJORAMIENTO</cp:lastModifiedBy>
  <cp:revision>9</cp:revision>
  <dcterms:created xsi:type="dcterms:W3CDTF">2025-07-23T15:35:07Z</dcterms:created>
  <dcterms:modified xsi:type="dcterms:W3CDTF">2026-04-08T15:52:30Z</dcterms:modified>
</cp:coreProperties>
</file>