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68" r:id="rId4"/>
    <p:sldId id="269" r:id="rId5"/>
    <p:sldId id="270" r:id="rId6"/>
    <p:sldId id="272" r:id="rId7"/>
    <p:sldId id="260" r:id="rId8"/>
    <p:sldId id="273" r:id="rId9"/>
    <p:sldId id="262" r:id="rId10"/>
    <p:sldId id="275" r:id="rId11"/>
    <p:sldId id="276" r:id="rId12"/>
    <p:sldId id="277" r:id="rId13"/>
    <p:sldId id="278" r:id="rId14"/>
    <p:sldId id="279" r:id="rId15"/>
    <p:sldId id="281" r:id="rId16"/>
    <p:sldId id="283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Estilo claro 3 - Acento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87B473-6D16-4139-AE8D-F23CEEA79900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0D13BECC-35E3-45B6-831B-F691365C6499}">
      <dgm:prSet phldrT="[Texto]"/>
      <dgm:spPr/>
      <dgm:t>
        <a:bodyPr/>
        <a:lstStyle/>
        <a:p>
          <a:r>
            <a:rPr lang="es-MX" dirty="0"/>
            <a:t>Escasa formación en habilidades socioemocionales</a:t>
          </a:r>
          <a:endParaRPr lang="es-CO" dirty="0"/>
        </a:p>
      </dgm:t>
    </dgm:pt>
    <dgm:pt modelId="{AEA67465-B22B-4D68-8AF8-4E671D62AB8A}" type="parTrans" cxnId="{3FB8A0D9-045C-4E1F-A2F0-029408880D6B}">
      <dgm:prSet/>
      <dgm:spPr/>
      <dgm:t>
        <a:bodyPr/>
        <a:lstStyle/>
        <a:p>
          <a:endParaRPr lang="es-CO"/>
        </a:p>
      </dgm:t>
    </dgm:pt>
    <dgm:pt modelId="{5C8ED85E-D3AD-49D7-AB6F-32C82F33BDC5}" type="sibTrans" cxnId="{3FB8A0D9-045C-4E1F-A2F0-029408880D6B}">
      <dgm:prSet/>
      <dgm:spPr/>
      <dgm:t>
        <a:bodyPr/>
        <a:lstStyle/>
        <a:p>
          <a:endParaRPr lang="es-CO"/>
        </a:p>
      </dgm:t>
    </dgm:pt>
    <dgm:pt modelId="{3BAC1B0B-CD97-4621-86F3-2658D35FCAD5}">
      <dgm:prSet phldrT="[Texto]"/>
      <dgm:spPr/>
      <dgm:t>
        <a:bodyPr/>
        <a:lstStyle/>
        <a:p>
          <a:r>
            <a:rPr lang="es-MX" dirty="0"/>
            <a:t>Dificultad para reconocer, expresar y regular las emociones</a:t>
          </a:r>
          <a:endParaRPr lang="es-CO" dirty="0"/>
        </a:p>
      </dgm:t>
    </dgm:pt>
    <dgm:pt modelId="{64BBB69C-45F9-40C4-9B35-48A9A5F5259B}" type="parTrans" cxnId="{49E829F1-C496-45F1-818A-208C79AF4DF1}">
      <dgm:prSet/>
      <dgm:spPr/>
      <dgm:t>
        <a:bodyPr/>
        <a:lstStyle/>
        <a:p>
          <a:endParaRPr lang="es-CO"/>
        </a:p>
      </dgm:t>
    </dgm:pt>
    <dgm:pt modelId="{B2ADB970-1FC2-4EBC-95AB-031F4C3E68B6}" type="sibTrans" cxnId="{49E829F1-C496-45F1-818A-208C79AF4DF1}">
      <dgm:prSet/>
      <dgm:spPr/>
      <dgm:t>
        <a:bodyPr/>
        <a:lstStyle/>
        <a:p>
          <a:endParaRPr lang="es-CO"/>
        </a:p>
      </dgm:t>
    </dgm:pt>
    <dgm:pt modelId="{366808A3-94E2-4AB0-B249-3CABF77D096C}">
      <dgm:prSet phldrT="[Texto]"/>
      <dgm:spPr/>
      <dgm:t>
        <a:bodyPr/>
        <a:lstStyle/>
        <a:p>
          <a:r>
            <a:rPr lang="es-MX" dirty="0"/>
            <a:t>Ausencia de estrategias pedagógicas sistemáticas orientadas al manejo del estrés y la resolución de conflictos. </a:t>
          </a:r>
          <a:endParaRPr lang="es-CO" dirty="0"/>
        </a:p>
      </dgm:t>
    </dgm:pt>
    <dgm:pt modelId="{A9D07F1C-9770-47E9-8576-5624B8349C78}" type="parTrans" cxnId="{7C7D9DF5-BB38-444C-A9E2-B2B6877D2940}">
      <dgm:prSet/>
      <dgm:spPr/>
      <dgm:t>
        <a:bodyPr/>
        <a:lstStyle/>
        <a:p>
          <a:endParaRPr lang="es-CO"/>
        </a:p>
      </dgm:t>
    </dgm:pt>
    <dgm:pt modelId="{071F5FFB-2958-4705-8392-9EE7ECC04C0E}" type="sibTrans" cxnId="{7C7D9DF5-BB38-444C-A9E2-B2B6877D2940}">
      <dgm:prSet/>
      <dgm:spPr/>
      <dgm:t>
        <a:bodyPr/>
        <a:lstStyle/>
        <a:p>
          <a:endParaRPr lang="es-CO"/>
        </a:p>
      </dgm:t>
    </dgm:pt>
    <dgm:pt modelId="{2222F911-C143-4FE2-9C79-CB7CE53621CC}" type="pres">
      <dgm:prSet presAssocID="{A587B473-6D16-4139-AE8D-F23CEEA79900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ES"/>
        </a:p>
      </dgm:t>
    </dgm:pt>
    <dgm:pt modelId="{CB2CD2DD-9B0B-4AAC-BC6E-70881E266F03}" type="pres">
      <dgm:prSet presAssocID="{0D13BECC-35E3-45B6-831B-F691365C6499}" presName="comp" presStyleCnt="0"/>
      <dgm:spPr/>
    </dgm:pt>
    <dgm:pt modelId="{58640262-978C-46E6-8DE7-E4E7DD8166A3}" type="pres">
      <dgm:prSet presAssocID="{0D13BECC-35E3-45B6-831B-F691365C6499}" presName="box" presStyleLbl="node1" presStyleIdx="0" presStyleCnt="3"/>
      <dgm:spPr/>
      <dgm:t>
        <a:bodyPr/>
        <a:lstStyle/>
        <a:p>
          <a:endParaRPr lang="es-ES"/>
        </a:p>
      </dgm:t>
    </dgm:pt>
    <dgm:pt modelId="{64C710E4-5702-4277-A48A-CF6327C121C2}" type="pres">
      <dgm:prSet presAssocID="{0D13BECC-35E3-45B6-831B-F691365C6499}" presName="img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t="-10000" b="-10000"/>
          </a:stretch>
        </a:blipFill>
      </dgm:spPr>
    </dgm:pt>
    <dgm:pt modelId="{16B14C45-736B-4EAC-A439-A85798F5CCC9}" type="pres">
      <dgm:prSet presAssocID="{0D13BECC-35E3-45B6-831B-F691365C6499}" presName="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338E03F9-BFE6-4D2A-A6E0-73F930F75EBD}" type="pres">
      <dgm:prSet presAssocID="{5C8ED85E-D3AD-49D7-AB6F-32C82F33BDC5}" presName="spacer" presStyleCnt="0"/>
      <dgm:spPr/>
    </dgm:pt>
    <dgm:pt modelId="{F96F3DC0-4EA3-4CE6-B190-9F95A0FA2FB4}" type="pres">
      <dgm:prSet presAssocID="{3BAC1B0B-CD97-4621-86F3-2658D35FCAD5}" presName="comp" presStyleCnt="0"/>
      <dgm:spPr/>
    </dgm:pt>
    <dgm:pt modelId="{6ED88EE6-A81D-4384-9594-58AA69CF59F8}" type="pres">
      <dgm:prSet presAssocID="{3BAC1B0B-CD97-4621-86F3-2658D35FCAD5}" presName="box" presStyleLbl="node1" presStyleIdx="1" presStyleCnt="3"/>
      <dgm:spPr/>
      <dgm:t>
        <a:bodyPr/>
        <a:lstStyle/>
        <a:p>
          <a:endParaRPr lang="es-ES"/>
        </a:p>
      </dgm:t>
    </dgm:pt>
    <dgm:pt modelId="{1B4AB39B-0A3B-4DE8-8DC5-7D86C6C01F05}" type="pres">
      <dgm:prSet presAssocID="{3BAC1B0B-CD97-4621-86F3-2658D35FCAD5}" presName="img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t="-10000" b="-10000"/>
          </a:stretch>
        </a:blipFill>
      </dgm:spPr>
    </dgm:pt>
    <dgm:pt modelId="{481BA85D-2F1A-489C-854D-5E045880C67C}" type="pres">
      <dgm:prSet presAssocID="{3BAC1B0B-CD97-4621-86F3-2658D35FCAD5}" presName="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6962A74-A0A2-4DD1-8720-94FF57E385E4}" type="pres">
      <dgm:prSet presAssocID="{B2ADB970-1FC2-4EBC-95AB-031F4C3E68B6}" presName="spacer" presStyleCnt="0"/>
      <dgm:spPr/>
    </dgm:pt>
    <dgm:pt modelId="{C14A3215-28AF-4ED5-8FC0-0484D5243E67}" type="pres">
      <dgm:prSet presAssocID="{366808A3-94E2-4AB0-B249-3CABF77D096C}" presName="comp" presStyleCnt="0"/>
      <dgm:spPr/>
    </dgm:pt>
    <dgm:pt modelId="{8F199949-C2E7-4A31-97C4-3D45DC2AC92E}" type="pres">
      <dgm:prSet presAssocID="{366808A3-94E2-4AB0-B249-3CABF77D096C}" presName="box" presStyleLbl="node1" presStyleIdx="2" presStyleCnt="3"/>
      <dgm:spPr/>
      <dgm:t>
        <a:bodyPr/>
        <a:lstStyle/>
        <a:p>
          <a:endParaRPr lang="es-ES"/>
        </a:p>
      </dgm:t>
    </dgm:pt>
    <dgm:pt modelId="{20ACBD7F-B500-4B49-A3AB-F0A4CB91AF88}" type="pres">
      <dgm:prSet presAssocID="{366808A3-94E2-4AB0-B249-3CABF77D096C}" presName="img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t="-10000" b="-10000"/>
          </a:stretch>
        </a:blipFill>
      </dgm:spPr>
    </dgm:pt>
    <dgm:pt modelId="{C67CF6C7-88F0-412C-866A-D4AAABFAA0AC}" type="pres">
      <dgm:prSet presAssocID="{366808A3-94E2-4AB0-B249-3CABF77D096C}" presName="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D564FC83-40B1-4B9B-ABFA-505101F41E24}" type="presOf" srcId="{3BAC1B0B-CD97-4621-86F3-2658D35FCAD5}" destId="{6ED88EE6-A81D-4384-9594-58AA69CF59F8}" srcOrd="0" destOrd="0" presId="urn:microsoft.com/office/officeart/2005/8/layout/vList4"/>
    <dgm:cxn modelId="{3FB8A0D9-045C-4E1F-A2F0-029408880D6B}" srcId="{A587B473-6D16-4139-AE8D-F23CEEA79900}" destId="{0D13BECC-35E3-45B6-831B-F691365C6499}" srcOrd="0" destOrd="0" parTransId="{AEA67465-B22B-4D68-8AF8-4E671D62AB8A}" sibTransId="{5C8ED85E-D3AD-49D7-AB6F-32C82F33BDC5}"/>
    <dgm:cxn modelId="{6C4410C8-191E-455B-A42B-95D3F468F24C}" type="presOf" srcId="{A587B473-6D16-4139-AE8D-F23CEEA79900}" destId="{2222F911-C143-4FE2-9C79-CB7CE53621CC}" srcOrd="0" destOrd="0" presId="urn:microsoft.com/office/officeart/2005/8/layout/vList4"/>
    <dgm:cxn modelId="{A3A40F2F-3B54-4BBC-AC69-C6AC244BCCE7}" type="presOf" srcId="{3BAC1B0B-CD97-4621-86F3-2658D35FCAD5}" destId="{481BA85D-2F1A-489C-854D-5E045880C67C}" srcOrd="1" destOrd="0" presId="urn:microsoft.com/office/officeart/2005/8/layout/vList4"/>
    <dgm:cxn modelId="{76491CFA-9F38-48F5-8CE9-FC5370C0C332}" type="presOf" srcId="{0D13BECC-35E3-45B6-831B-F691365C6499}" destId="{58640262-978C-46E6-8DE7-E4E7DD8166A3}" srcOrd="0" destOrd="0" presId="urn:microsoft.com/office/officeart/2005/8/layout/vList4"/>
    <dgm:cxn modelId="{AE401B8A-23C3-4CD9-9C2E-DB39CF236ACF}" type="presOf" srcId="{366808A3-94E2-4AB0-B249-3CABF77D096C}" destId="{C67CF6C7-88F0-412C-866A-D4AAABFAA0AC}" srcOrd="1" destOrd="0" presId="urn:microsoft.com/office/officeart/2005/8/layout/vList4"/>
    <dgm:cxn modelId="{85D3F90B-02AA-49E4-9B69-EA163650ECC5}" type="presOf" srcId="{0D13BECC-35E3-45B6-831B-F691365C6499}" destId="{16B14C45-736B-4EAC-A439-A85798F5CCC9}" srcOrd="1" destOrd="0" presId="urn:microsoft.com/office/officeart/2005/8/layout/vList4"/>
    <dgm:cxn modelId="{49E829F1-C496-45F1-818A-208C79AF4DF1}" srcId="{A587B473-6D16-4139-AE8D-F23CEEA79900}" destId="{3BAC1B0B-CD97-4621-86F3-2658D35FCAD5}" srcOrd="1" destOrd="0" parTransId="{64BBB69C-45F9-40C4-9B35-48A9A5F5259B}" sibTransId="{B2ADB970-1FC2-4EBC-95AB-031F4C3E68B6}"/>
    <dgm:cxn modelId="{5691A073-C950-4E25-99D6-9E58E376C5D4}" type="presOf" srcId="{366808A3-94E2-4AB0-B249-3CABF77D096C}" destId="{8F199949-C2E7-4A31-97C4-3D45DC2AC92E}" srcOrd="0" destOrd="0" presId="urn:microsoft.com/office/officeart/2005/8/layout/vList4"/>
    <dgm:cxn modelId="{7C7D9DF5-BB38-444C-A9E2-B2B6877D2940}" srcId="{A587B473-6D16-4139-AE8D-F23CEEA79900}" destId="{366808A3-94E2-4AB0-B249-3CABF77D096C}" srcOrd="2" destOrd="0" parTransId="{A9D07F1C-9770-47E9-8576-5624B8349C78}" sibTransId="{071F5FFB-2958-4705-8392-9EE7ECC04C0E}"/>
    <dgm:cxn modelId="{7D983479-2A11-4E1A-B663-2A734092C5A9}" type="presParOf" srcId="{2222F911-C143-4FE2-9C79-CB7CE53621CC}" destId="{CB2CD2DD-9B0B-4AAC-BC6E-70881E266F03}" srcOrd="0" destOrd="0" presId="urn:microsoft.com/office/officeart/2005/8/layout/vList4"/>
    <dgm:cxn modelId="{B8C29AFF-06B4-487F-83AD-F53C2D2B0BCA}" type="presParOf" srcId="{CB2CD2DD-9B0B-4AAC-BC6E-70881E266F03}" destId="{58640262-978C-46E6-8DE7-E4E7DD8166A3}" srcOrd="0" destOrd="0" presId="urn:microsoft.com/office/officeart/2005/8/layout/vList4"/>
    <dgm:cxn modelId="{29E15A3B-F970-4279-A122-6BDB9E90397F}" type="presParOf" srcId="{CB2CD2DD-9B0B-4AAC-BC6E-70881E266F03}" destId="{64C710E4-5702-4277-A48A-CF6327C121C2}" srcOrd="1" destOrd="0" presId="urn:microsoft.com/office/officeart/2005/8/layout/vList4"/>
    <dgm:cxn modelId="{ADF7FDC3-1EF6-4A77-8966-32943536AD59}" type="presParOf" srcId="{CB2CD2DD-9B0B-4AAC-BC6E-70881E266F03}" destId="{16B14C45-736B-4EAC-A439-A85798F5CCC9}" srcOrd="2" destOrd="0" presId="urn:microsoft.com/office/officeart/2005/8/layout/vList4"/>
    <dgm:cxn modelId="{63E16C5E-A9E0-4837-A300-65F0AB419731}" type="presParOf" srcId="{2222F911-C143-4FE2-9C79-CB7CE53621CC}" destId="{338E03F9-BFE6-4D2A-A6E0-73F930F75EBD}" srcOrd="1" destOrd="0" presId="urn:microsoft.com/office/officeart/2005/8/layout/vList4"/>
    <dgm:cxn modelId="{DE249357-77BD-4005-89D8-C213F40C4016}" type="presParOf" srcId="{2222F911-C143-4FE2-9C79-CB7CE53621CC}" destId="{F96F3DC0-4EA3-4CE6-B190-9F95A0FA2FB4}" srcOrd="2" destOrd="0" presId="urn:microsoft.com/office/officeart/2005/8/layout/vList4"/>
    <dgm:cxn modelId="{17432D39-4EC8-4C0D-9280-5BC01B1A9C9D}" type="presParOf" srcId="{F96F3DC0-4EA3-4CE6-B190-9F95A0FA2FB4}" destId="{6ED88EE6-A81D-4384-9594-58AA69CF59F8}" srcOrd="0" destOrd="0" presId="urn:microsoft.com/office/officeart/2005/8/layout/vList4"/>
    <dgm:cxn modelId="{FF896E81-C487-4E9E-9287-09682548C346}" type="presParOf" srcId="{F96F3DC0-4EA3-4CE6-B190-9F95A0FA2FB4}" destId="{1B4AB39B-0A3B-4DE8-8DC5-7D86C6C01F05}" srcOrd="1" destOrd="0" presId="urn:microsoft.com/office/officeart/2005/8/layout/vList4"/>
    <dgm:cxn modelId="{19D78B98-CC0F-439D-AA4A-4DAD9926D06F}" type="presParOf" srcId="{F96F3DC0-4EA3-4CE6-B190-9F95A0FA2FB4}" destId="{481BA85D-2F1A-489C-854D-5E045880C67C}" srcOrd="2" destOrd="0" presId="urn:microsoft.com/office/officeart/2005/8/layout/vList4"/>
    <dgm:cxn modelId="{D0E95BC1-C8C9-464F-89C7-A470D8528B32}" type="presParOf" srcId="{2222F911-C143-4FE2-9C79-CB7CE53621CC}" destId="{56962A74-A0A2-4DD1-8720-94FF57E385E4}" srcOrd="3" destOrd="0" presId="urn:microsoft.com/office/officeart/2005/8/layout/vList4"/>
    <dgm:cxn modelId="{7F83BAE2-807C-49F8-90F4-503DAD7223E9}" type="presParOf" srcId="{2222F911-C143-4FE2-9C79-CB7CE53621CC}" destId="{C14A3215-28AF-4ED5-8FC0-0484D5243E67}" srcOrd="4" destOrd="0" presId="urn:microsoft.com/office/officeart/2005/8/layout/vList4"/>
    <dgm:cxn modelId="{7BF19DBE-EE79-42A6-BFCD-19F17E86F4A1}" type="presParOf" srcId="{C14A3215-28AF-4ED5-8FC0-0484D5243E67}" destId="{8F199949-C2E7-4A31-97C4-3D45DC2AC92E}" srcOrd="0" destOrd="0" presId="urn:microsoft.com/office/officeart/2005/8/layout/vList4"/>
    <dgm:cxn modelId="{D3A8C1E1-D8AE-4727-8967-47DD4F01FEDC}" type="presParOf" srcId="{C14A3215-28AF-4ED5-8FC0-0484D5243E67}" destId="{20ACBD7F-B500-4B49-A3AB-F0A4CB91AF88}" srcOrd="1" destOrd="0" presId="urn:microsoft.com/office/officeart/2005/8/layout/vList4"/>
    <dgm:cxn modelId="{F274CC58-6F0B-4C0C-9E11-BE855D7A6AD8}" type="presParOf" srcId="{C14A3215-28AF-4ED5-8FC0-0484D5243E67}" destId="{C67CF6C7-88F0-412C-866A-D4AAABFAA0AC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640262-978C-46E6-8DE7-E4E7DD8166A3}">
      <dsp:nvSpPr>
        <dsp:cNvPr id="0" name=""/>
        <dsp:cNvSpPr/>
      </dsp:nvSpPr>
      <dsp:spPr>
        <a:xfrm>
          <a:off x="0" y="0"/>
          <a:ext cx="3954835" cy="958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dirty="0"/>
            <a:t>Escasa formación en habilidades socioemocionales</a:t>
          </a:r>
          <a:endParaRPr lang="es-CO" sz="1300" kern="1200" dirty="0"/>
        </a:p>
      </dsp:txBody>
      <dsp:txXfrm>
        <a:off x="886840" y="0"/>
        <a:ext cx="3067994" cy="958731"/>
      </dsp:txXfrm>
    </dsp:sp>
    <dsp:sp modelId="{64C710E4-5702-4277-A48A-CF6327C121C2}">
      <dsp:nvSpPr>
        <dsp:cNvPr id="0" name=""/>
        <dsp:cNvSpPr/>
      </dsp:nvSpPr>
      <dsp:spPr>
        <a:xfrm>
          <a:off x="95873" y="95873"/>
          <a:ext cx="790967" cy="76698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10000" b="-10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D88EE6-A81D-4384-9594-58AA69CF59F8}">
      <dsp:nvSpPr>
        <dsp:cNvPr id="0" name=""/>
        <dsp:cNvSpPr/>
      </dsp:nvSpPr>
      <dsp:spPr>
        <a:xfrm>
          <a:off x="0" y="1054604"/>
          <a:ext cx="3954835" cy="958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dirty="0"/>
            <a:t>Dificultad para reconocer, expresar y regular las emociones</a:t>
          </a:r>
          <a:endParaRPr lang="es-CO" sz="1300" kern="1200" dirty="0"/>
        </a:p>
      </dsp:txBody>
      <dsp:txXfrm>
        <a:off x="886840" y="1054604"/>
        <a:ext cx="3067994" cy="958731"/>
      </dsp:txXfrm>
    </dsp:sp>
    <dsp:sp modelId="{1B4AB39B-0A3B-4DE8-8DC5-7D86C6C01F05}">
      <dsp:nvSpPr>
        <dsp:cNvPr id="0" name=""/>
        <dsp:cNvSpPr/>
      </dsp:nvSpPr>
      <dsp:spPr>
        <a:xfrm>
          <a:off x="95873" y="1150477"/>
          <a:ext cx="790967" cy="76698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10000" b="-10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199949-C2E7-4A31-97C4-3D45DC2AC92E}">
      <dsp:nvSpPr>
        <dsp:cNvPr id="0" name=""/>
        <dsp:cNvSpPr/>
      </dsp:nvSpPr>
      <dsp:spPr>
        <a:xfrm>
          <a:off x="0" y="2109208"/>
          <a:ext cx="3954835" cy="958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300" kern="1200" dirty="0"/>
            <a:t>Ausencia de estrategias pedagógicas sistemáticas orientadas al manejo del estrés y la resolución de conflictos. </a:t>
          </a:r>
          <a:endParaRPr lang="es-CO" sz="1300" kern="1200" dirty="0"/>
        </a:p>
      </dsp:txBody>
      <dsp:txXfrm>
        <a:off x="886840" y="2109208"/>
        <a:ext cx="3067994" cy="958731"/>
      </dsp:txXfrm>
    </dsp:sp>
    <dsp:sp modelId="{20ACBD7F-B500-4B49-A3AB-F0A4CB91AF88}">
      <dsp:nvSpPr>
        <dsp:cNvPr id="0" name=""/>
        <dsp:cNvSpPr/>
      </dsp:nvSpPr>
      <dsp:spPr>
        <a:xfrm>
          <a:off x="95873" y="2205081"/>
          <a:ext cx="790967" cy="766984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10000" b="-10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FD791C1-E2AE-D834-79ED-2FBD289EA9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BBD637A-9564-FB67-8D0D-8A3E115871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7" t="12714" r="-1" b="31431"/>
          <a:stretch>
            <a:fillRect/>
          </a:stretch>
        </p:blipFill>
        <p:spPr>
          <a:xfrm>
            <a:off x="0" y="0"/>
            <a:ext cx="7994282" cy="6863475"/>
          </a:xfrm>
          <a:custGeom>
            <a:avLst/>
            <a:gdLst/>
            <a:ahLst/>
            <a:cxnLst/>
            <a:rect l="l" t="t" r="r" b="b"/>
            <a:pathLst>
              <a:path w="9154693" h="6863485">
                <a:moveTo>
                  <a:pt x="0" y="0"/>
                </a:moveTo>
                <a:lnTo>
                  <a:pt x="5976000" y="0"/>
                </a:lnTo>
                <a:lnTo>
                  <a:pt x="9154693" y="6863485"/>
                </a:lnTo>
                <a:lnTo>
                  <a:pt x="0" y="6863485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27BC8CF2-48E5-1C16-FEC7-D92DA9861F65}"/>
              </a:ext>
            </a:extLst>
          </p:cNvPr>
          <p:cNvGrpSpPr/>
          <p:nvPr/>
        </p:nvGrpSpPr>
        <p:grpSpPr>
          <a:xfrm>
            <a:off x="7591500" y="2614625"/>
            <a:ext cx="4390638" cy="2528160"/>
            <a:chOff x="7165964" y="1683491"/>
            <a:chExt cx="4390638" cy="2528160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70620BA8-FE64-508D-4BBD-DD0968AC9879}"/>
                </a:ext>
              </a:extLst>
            </p:cNvPr>
            <p:cNvSpPr txBox="1"/>
            <p:nvPr/>
          </p:nvSpPr>
          <p:spPr>
            <a:xfrm>
              <a:off x="7261048" y="3692417"/>
              <a:ext cx="42955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i="1" dirty="0"/>
                <a:t>Experiencia significativa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3C57865C-F46D-2496-D671-C4419A9D8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8393"/>
            <a:stretch>
              <a:fillRect/>
            </a:stretch>
          </p:blipFill>
          <p:spPr>
            <a:xfrm>
              <a:off x="7165964" y="1683491"/>
              <a:ext cx="4390638" cy="2366379"/>
            </a:xfrm>
            <a:prstGeom prst="rect">
              <a:avLst/>
            </a:prstGeom>
          </p:spPr>
        </p:pic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BC7DBD5C-E664-E8E5-E485-82869F00E66B}"/>
                </a:ext>
              </a:extLst>
            </p:cNvPr>
            <p:cNvSpPr/>
            <p:nvPr/>
          </p:nvSpPr>
          <p:spPr>
            <a:xfrm rot="10800000">
              <a:off x="7358410" y="4079851"/>
              <a:ext cx="2610049" cy="131800"/>
            </a:xfrm>
            <a:custGeom>
              <a:avLst/>
              <a:gdLst>
                <a:gd name="connsiteX0" fmla="*/ 0 w 2848131"/>
                <a:gd name="connsiteY0" fmla="*/ 104931 h 119921"/>
                <a:gd name="connsiteX1" fmla="*/ 74951 w 2848131"/>
                <a:gd name="connsiteY1" fmla="*/ 74950 h 119921"/>
                <a:gd name="connsiteX2" fmla="*/ 119922 w 2848131"/>
                <a:gd name="connsiteY2" fmla="*/ 59960 h 119921"/>
                <a:gd name="connsiteX3" fmla="*/ 299804 w 2848131"/>
                <a:gd name="connsiteY3" fmla="*/ 74950 h 119921"/>
                <a:gd name="connsiteX4" fmla="*/ 629587 w 2848131"/>
                <a:gd name="connsiteY4" fmla="*/ 104931 h 119921"/>
                <a:gd name="connsiteX5" fmla="*/ 779489 w 2848131"/>
                <a:gd name="connsiteY5" fmla="*/ 119921 h 119921"/>
                <a:gd name="connsiteX6" fmla="*/ 1229194 w 2848131"/>
                <a:gd name="connsiteY6" fmla="*/ 104931 h 119921"/>
                <a:gd name="connsiteX7" fmla="*/ 1274164 w 2848131"/>
                <a:gd name="connsiteY7" fmla="*/ 89941 h 119921"/>
                <a:gd name="connsiteX8" fmla="*/ 1304145 w 2848131"/>
                <a:gd name="connsiteY8" fmla="*/ 59960 h 119921"/>
                <a:gd name="connsiteX9" fmla="*/ 1499017 w 2848131"/>
                <a:gd name="connsiteY9" fmla="*/ 74950 h 119921"/>
                <a:gd name="connsiteX10" fmla="*/ 1993692 w 2848131"/>
                <a:gd name="connsiteY10" fmla="*/ 89941 h 119921"/>
                <a:gd name="connsiteX11" fmla="*/ 2083633 w 2848131"/>
                <a:gd name="connsiteY11" fmla="*/ 119921 h 119921"/>
                <a:gd name="connsiteX12" fmla="*/ 2443397 w 2848131"/>
                <a:gd name="connsiteY12" fmla="*/ 104931 h 119921"/>
                <a:gd name="connsiteX13" fmla="*/ 2488368 w 2848131"/>
                <a:gd name="connsiteY13" fmla="*/ 89941 h 119921"/>
                <a:gd name="connsiteX14" fmla="*/ 2803161 w 2848131"/>
                <a:gd name="connsiteY14" fmla="*/ 44970 h 119921"/>
                <a:gd name="connsiteX15" fmla="*/ 2848131 w 2848131"/>
                <a:gd name="connsiteY15" fmla="*/ 0 h 11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48131" h="119921">
                  <a:moveTo>
                    <a:pt x="0" y="104931"/>
                  </a:moveTo>
                  <a:cubicBezTo>
                    <a:pt x="24984" y="94937"/>
                    <a:pt x="49756" y="84398"/>
                    <a:pt x="74951" y="74950"/>
                  </a:cubicBezTo>
                  <a:cubicBezTo>
                    <a:pt x="89746" y="69402"/>
                    <a:pt x="104121" y="59960"/>
                    <a:pt x="119922" y="59960"/>
                  </a:cubicBezTo>
                  <a:cubicBezTo>
                    <a:pt x="180090" y="59960"/>
                    <a:pt x="239843" y="69953"/>
                    <a:pt x="299804" y="74950"/>
                  </a:cubicBezTo>
                  <a:cubicBezTo>
                    <a:pt x="453057" y="113266"/>
                    <a:pt x="313384" y="82345"/>
                    <a:pt x="629587" y="104931"/>
                  </a:cubicBezTo>
                  <a:cubicBezTo>
                    <a:pt x="679676" y="108509"/>
                    <a:pt x="729522" y="114924"/>
                    <a:pt x="779489" y="119921"/>
                  </a:cubicBezTo>
                  <a:cubicBezTo>
                    <a:pt x="929391" y="114924"/>
                    <a:pt x="1079484" y="114004"/>
                    <a:pt x="1229194" y="104931"/>
                  </a:cubicBezTo>
                  <a:cubicBezTo>
                    <a:pt x="1244966" y="103975"/>
                    <a:pt x="1260615" y="98071"/>
                    <a:pt x="1274164" y="89941"/>
                  </a:cubicBezTo>
                  <a:cubicBezTo>
                    <a:pt x="1286283" y="82669"/>
                    <a:pt x="1294151" y="69954"/>
                    <a:pt x="1304145" y="59960"/>
                  </a:cubicBezTo>
                  <a:cubicBezTo>
                    <a:pt x="1369102" y="64957"/>
                    <a:pt x="1433929" y="72120"/>
                    <a:pt x="1499017" y="74950"/>
                  </a:cubicBezTo>
                  <a:cubicBezTo>
                    <a:pt x="1663829" y="82116"/>
                    <a:pt x="1829211" y="77288"/>
                    <a:pt x="1993692" y="89941"/>
                  </a:cubicBezTo>
                  <a:cubicBezTo>
                    <a:pt x="2025201" y="92365"/>
                    <a:pt x="2083633" y="119921"/>
                    <a:pt x="2083633" y="119921"/>
                  </a:cubicBezTo>
                  <a:cubicBezTo>
                    <a:pt x="2203554" y="114924"/>
                    <a:pt x="2323700" y="113797"/>
                    <a:pt x="2443397" y="104931"/>
                  </a:cubicBezTo>
                  <a:cubicBezTo>
                    <a:pt x="2459155" y="103764"/>
                    <a:pt x="2472782" y="92539"/>
                    <a:pt x="2488368" y="89941"/>
                  </a:cubicBezTo>
                  <a:cubicBezTo>
                    <a:pt x="2592922" y="72515"/>
                    <a:pt x="2698230" y="59960"/>
                    <a:pt x="2803161" y="44970"/>
                  </a:cubicBezTo>
                  <a:lnTo>
                    <a:pt x="2848131" y="0"/>
                  </a:lnTo>
                </a:path>
              </a:pathLst>
            </a:cu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924EA2CE-B199-3328-CF41-1CB297F82F13}"/>
              </a:ext>
            </a:extLst>
          </p:cNvPr>
          <p:cNvSpPr txBox="1"/>
          <p:nvPr/>
        </p:nvSpPr>
        <p:spPr>
          <a:xfrm>
            <a:off x="7742598" y="5325276"/>
            <a:ext cx="42955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 err="1"/>
              <a:t>Jhefersson</a:t>
            </a:r>
            <a:r>
              <a:rPr lang="es-CO" sz="2000" b="1" dirty="0"/>
              <a:t> </a:t>
            </a:r>
            <a:r>
              <a:rPr lang="es-CO" sz="2000" b="1" dirty="0" err="1"/>
              <a:t>Cuchimba</a:t>
            </a:r>
            <a:r>
              <a:rPr lang="es-CO" sz="2000" b="1" dirty="0"/>
              <a:t> </a:t>
            </a:r>
            <a:r>
              <a:rPr lang="es-CO" sz="2000" b="1" dirty="0" err="1"/>
              <a:t>Yucumá</a:t>
            </a:r>
            <a:endParaRPr lang="es-CO" sz="2000" b="1" dirty="0"/>
          </a:p>
          <a:p>
            <a:r>
              <a:rPr lang="es-CO" sz="2000" b="1" dirty="0"/>
              <a:t>IEM La Laguna </a:t>
            </a:r>
          </a:p>
        </p:txBody>
      </p:sp>
    </p:spTree>
    <p:extLst>
      <p:ext uri="{BB962C8B-B14F-4D97-AF65-F5344CB8AC3E}">
        <p14:creationId xmlns:p14="http://schemas.microsoft.com/office/powerpoint/2010/main" val="175604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8EC402E-34AA-BEC1-55E2-BCD3D1D9E7D4}"/>
              </a:ext>
            </a:extLst>
          </p:cNvPr>
          <p:cNvSpPr txBox="1"/>
          <p:nvPr/>
        </p:nvSpPr>
        <p:spPr>
          <a:xfrm>
            <a:off x="4177449" y="1617455"/>
            <a:ext cx="3459230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s-CO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Experiencia articulada al PEI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3745848-F611-9641-BBD0-2D4190708AAF}"/>
              </a:ext>
            </a:extLst>
          </p:cNvPr>
          <p:cNvSpPr txBox="1"/>
          <p:nvPr/>
        </p:nvSpPr>
        <p:spPr>
          <a:xfrm>
            <a:off x="6763703" y="3720339"/>
            <a:ext cx="41223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3038" indent="0" algn="l" fontAlgn="ctr"/>
            <a:r>
              <a:rPr lang="es-MX" sz="1800" dirty="0"/>
              <a:t>Se alinea con los valores y principios institucionales</a:t>
            </a:r>
            <a:r>
              <a:rPr lang="es-MX" dirty="0"/>
              <a:t> (</a:t>
            </a:r>
            <a:r>
              <a:rPr lang="es-MX" sz="1800" dirty="0"/>
              <a:t>respeto,  empatía, responsabilidad y sana convivencia), al ofrecer a los estudiantes herramientas concretas para la regulación emocional y la resolución pacífica de conflictos en su entorno escolar.</a:t>
            </a:r>
            <a:endParaRPr lang="es-E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88C2BFA-6E92-CB71-7082-4BBBD95A217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intStrok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0708" y="3476298"/>
            <a:ext cx="1102685" cy="1102685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D6EC1504-005F-5536-6C78-4623224908EA}"/>
              </a:ext>
            </a:extLst>
          </p:cNvPr>
          <p:cNvSpPr txBox="1"/>
          <p:nvPr/>
        </p:nvSpPr>
        <p:spPr>
          <a:xfrm>
            <a:off x="1713436" y="2144998"/>
            <a:ext cx="8387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3038" indent="0" algn="ctr" fontAlgn="ctr"/>
            <a:r>
              <a:rPr lang="es-MX" sz="1800" i="1" dirty="0"/>
              <a:t>Responde al propósito de formación integral de los estudiantes, en sus dimensiones cognitivas, sociales y, especialmente, emocionales.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0D00ED6-94BD-882D-6BA3-A2057B30B239}"/>
              </a:ext>
            </a:extLst>
          </p:cNvPr>
          <p:cNvSpPr txBox="1"/>
          <p:nvPr/>
        </p:nvSpPr>
        <p:spPr>
          <a:xfrm>
            <a:off x="1873764" y="3167649"/>
            <a:ext cx="35545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3038" indent="0" algn="l" fontAlgn="ctr"/>
            <a:r>
              <a:rPr lang="es-MX" sz="1800" dirty="0"/>
              <a:t>Amplía los puntos de conexión con la misión y visión institucional, al promover el bienestar, la convivencia pacífica y el desarrollo de habilidades socioemocionales como base para el aprendizaje significativo.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7554DFC-FACC-E02F-4FBB-AB23DFB28F34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56583" y="3968023"/>
            <a:ext cx="1244603" cy="1244603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05B8E06C-6B12-65C3-78B4-A9E0452827E9}"/>
              </a:ext>
            </a:extLst>
          </p:cNvPr>
          <p:cNvSpPr/>
          <p:nvPr/>
        </p:nvSpPr>
        <p:spPr>
          <a:xfrm>
            <a:off x="3431215" y="400629"/>
            <a:ext cx="5747086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9600" b="1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Chiller" panose="04020404031007020602" pitchFamily="82" charset="0"/>
              </a:rPr>
              <a:t>Fundamentación</a:t>
            </a:r>
            <a:endParaRPr lang="es-MX" sz="9600" b="1" cap="none" spc="0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hiller" panose="04020404031007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7CCD4-53FB-0F18-926A-3B720EBAC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E8EA7EC-575A-699B-B677-7E2611ED6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A55AE5E-A9B9-12E0-26E7-0ABBA0E489C3}"/>
              </a:ext>
            </a:extLst>
          </p:cNvPr>
          <p:cNvSpPr txBox="1"/>
          <p:nvPr/>
        </p:nvSpPr>
        <p:spPr>
          <a:xfrm>
            <a:off x="4984864" y="4559223"/>
            <a:ext cx="62596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3038" indent="0" algn="ctr" fontAlgn="ctr"/>
            <a:r>
              <a:rPr lang="es-MX" dirty="0"/>
              <a:t>D</a:t>
            </a:r>
            <a:r>
              <a:rPr lang="es-MX" sz="1800" dirty="0"/>
              <a:t>isminución de conductas impulsivas, al fortalecimiento de la concentración y a la construcción de ambientes de aprendizaje más armoniosos.</a:t>
            </a:r>
            <a:endParaRPr lang="es-E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Flecha: a la derecha con bandas 10">
            <a:extLst>
              <a:ext uri="{FF2B5EF4-FFF2-40B4-BE49-F238E27FC236}">
                <a16:creationId xmlns:a16="http://schemas.microsoft.com/office/drawing/2014/main" id="{21107ACF-93F8-9D57-20F4-CE660904AE28}"/>
              </a:ext>
            </a:extLst>
          </p:cNvPr>
          <p:cNvSpPr/>
          <p:nvPr/>
        </p:nvSpPr>
        <p:spPr>
          <a:xfrm>
            <a:off x="3828837" y="2205285"/>
            <a:ext cx="1999149" cy="754671"/>
          </a:xfrm>
          <a:prstGeom prst="stripedRightArrow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E49EA55-CD3F-72D3-A46F-6466FA6D5F45}"/>
              </a:ext>
            </a:extLst>
          </p:cNvPr>
          <p:cNvSpPr txBox="1"/>
          <p:nvPr/>
        </p:nvSpPr>
        <p:spPr>
          <a:xfrm>
            <a:off x="965638" y="2447117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A</a:t>
            </a:r>
            <a:r>
              <a:rPr lang="es-MX" sz="1800" b="1" dirty="0">
                <a:solidFill>
                  <a:schemeClr val="accent4">
                    <a:lumMod val="50000"/>
                  </a:schemeClr>
                </a:solidFill>
              </a:rPr>
              <a:t>cciones pedagógicas </a:t>
            </a:r>
            <a:endParaRPr lang="es-CO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4570EBF-6A01-A8F1-4FD1-2EE7A64CA41A}"/>
              </a:ext>
            </a:extLst>
          </p:cNvPr>
          <p:cNvSpPr txBox="1"/>
          <p:nvPr/>
        </p:nvSpPr>
        <p:spPr>
          <a:xfrm>
            <a:off x="5827986" y="2184388"/>
            <a:ext cx="45365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F</a:t>
            </a:r>
            <a:r>
              <a:rPr lang="es-MX" sz="1800" dirty="0"/>
              <a:t>ortalecimiento del clima escolar y la atención a las necesidades emocionales de los estudiantes</a:t>
            </a:r>
            <a:endParaRPr lang="es-CO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23BF8B7-E890-1B55-C82B-5E7A73669DF8}"/>
              </a:ext>
            </a:extLst>
          </p:cNvPr>
          <p:cNvSpPr txBox="1"/>
          <p:nvPr/>
        </p:nvSpPr>
        <p:spPr>
          <a:xfrm>
            <a:off x="3828837" y="2756684"/>
            <a:ext cx="4536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Orientadas a</a:t>
            </a:r>
            <a:endParaRPr lang="es-CO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1DD73BB4-3196-81D6-B349-CE816CC91FC4}"/>
              </a:ext>
            </a:extLst>
          </p:cNvPr>
          <p:cNvSpPr txBox="1"/>
          <p:nvPr/>
        </p:nvSpPr>
        <p:spPr>
          <a:xfrm>
            <a:off x="975500" y="4448659"/>
            <a:ext cx="385291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b="1" i="1" dirty="0">
                <a:solidFill>
                  <a:schemeClr val="accent2">
                    <a:lumMod val="50000"/>
                  </a:schemeClr>
                </a:solidFill>
              </a:rPr>
              <a:t>Se reconoce que el bienestar es una condición fundamental para el aprendizaje. </a:t>
            </a:r>
            <a:endParaRPr lang="es-CO" sz="2400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9" name="Flecha: a la derecha con bandas 18">
            <a:extLst>
              <a:ext uri="{FF2B5EF4-FFF2-40B4-BE49-F238E27FC236}">
                <a16:creationId xmlns:a16="http://schemas.microsoft.com/office/drawing/2014/main" id="{A74CF59D-8FED-7136-5C42-9D5550236AE6}"/>
              </a:ext>
            </a:extLst>
          </p:cNvPr>
          <p:cNvSpPr/>
          <p:nvPr/>
        </p:nvSpPr>
        <p:spPr>
          <a:xfrm rot="5400000">
            <a:off x="7453348" y="3410002"/>
            <a:ext cx="1322643" cy="754671"/>
          </a:xfrm>
          <a:prstGeom prst="stripedRightArrow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E397667-EECA-91DF-15D4-EBC32DC64CAD}"/>
              </a:ext>
            </a:extLst>
          </p:cNvPr>
          <p:cNvSpPr txBox="1"/>
          <p:nvPr/>
        </p:nvSpPr>
        <p:spPr>
          <a:xfrm>
            <a:off x="8365365" y="3565617"/>
            <a:ext cx="4536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Contribuye a</a:t>
            </a:r>
            <a:endParaRPr lang="es-CO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9FB44A2-FE36-1415-0D37-15AE791F1BEB}"/>
              </a:ext>
            </a:extLst>
          </p:cNvPr>
          <p:cNvSpPr txBox="1"/>
          <p:nvPr/>
        </p:nvSpPr>
        <p:spPr>
          <a:xfrm>
            <a:off x="4177449" y="1617455"/>
            <a:ext cx="3459230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s-CO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 consonancia con el PMI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BD3E8F02-5A05-D0DF-D6AE-D784389C40D4}"/>
              </a:ext>
            </a:extLst>
          </p:cNvPr>
          <p:cNvSpPr/>
          <p:nvPr/>
        </p:nvSpPr>
        <p:spPr>
          <a:xfrm>
            <a:off x="3431215" y="400629"/>
            <a:ext cx="5747086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9600" b="1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Chiller" panose="04020404031007020602" pitchFamily="82" charset="0"/>
              </a:rPr>
              <a:t>Fundamentación</a:t>
            </a:r>
            <a:endParaRPr lang="es-MX" sz="9600" b="1" cap="none" spc="0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hiller" panose="04020404031007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20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5" grpId="0"/>
      <p:bldP spid="16" grpId="0"/>
      <p:bldP spid="18" grpId="0"/>
      <p:bldP spid="19" grpId="0" animBg="1"/>
      <p:bldP spid="20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0C946-A34F-EF2B-61AE-A5413BBC7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31C54C0-3ED8-C782-0F0D-F7249F88F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B24C1A0-FE5F-F889-EB4B-F54893F67907}"/>
              </a:ext>
            </a:extLst>
          </p:cNvPr>
          <p:cNvSpPr txBox="1"/>
          <p:nvPr/>
        </p:nvSpPr>
        <p:spPr>
          <a:xfrm>
            <a:off x="3557949" y="1517231"/>
            <a:ext cx="3459230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s-CO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Referentes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64EF1E4-2AE8-BD70-BA57-60AF002E630D}"/>
              </a:ext>
            </a:extLst>
          </p:cNvPr>
          <p:cNvSpPr txBox="1"/>
          <p:nvPr/>
        </p:nvSpPr>
        <p:spPr>
          <a:xfrm>
            <a:off x="8220692" y="2696330"/>
            <a:ext cx="2846700" cy="1962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Brackett</a:t>
            </a:r>
            <a:r>
              <a:rPr lang="es-CO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(2019) </a:t>
            </a:r>
            <a:r>
              <a:rPr lang="es-C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--- </a:t>
            </a:r>
            <a:r>
              <a:rPr lang="es-CO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es-C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odelo RULER</a:t>
            </a:r>
            <a:endParaRPr lang="es-CO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es-C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indfulness como entrenamiento atencional y emocional. Es como un gimnasio de la calma.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A1A6811-EAE7-3424-ACE5-5FDE6BF1E051}"/>
              </a:ext>
            </a:extLst>
          </p:cNvPr>
          <p:cNvSpPr txBox="1"/>
          <p:nvPr/>
        </p:nvSpPr>
        <p:spPr>
          <a:xfrm>
            <a:off x="1344319" y="5543032"/>
            <a:ext cx="87875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i="1" dirty="0">
                <a:solidFill>
                  <a:schemeClr val="accent2">
                    <a:lumMod val="50000"/>
                  </a:schemeClr>
                </a:solidFill>
              </a:rPr>
              <a:t>S</a:t>
            </a:r>
            <a:r>
              <a:rPr lang="es-MX" sz="1800" b="1" i="1" dirty="0">
                <a:solidFill>
                  <a:schemeClr val="accent2">
                    <a:lumMod val="50000"/>
                  </a:schemeClr>
                </a:solidFill>
              </a:rPr>
              <a:t>e integra el enfoque de la educación socioemocional y la psicología ambiental, que resaltan la importancia del contacto con la naturaleza como elemento regulador del estrés y promotor del bienestar.</a:t>
            </a:r>
            <a:endParaRPr lang="es-CO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2050" name="Picture 2" descr="&quot;INTELIGENCIA EMOCIONAL&quot;, DANIEL GOLEMAN">
            <a:extLst>
              <a:ext uri="{FF2B5EF4-FFF2-40B4-BE49-F238E27FC236}">
                <a16:creationId xmlns:a16="http://schemas.microsoft.com/office/drawing/2014/main" id="{234B9D8C-78D8-2545-9B2A-2ECCDCEF8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29" b="97500" l="9958" r="96822">
                        <a14:foregroundMark x1="74364" y1="6429" x2="74364" y2="6429"/>
                        <a14:foregroundMark x1="46610" y1="78214" x2="92161" y2="89286"/>
                        <a14:foregroundMark x1="96822" y1="71429" x2="63136" y2="98929"/>
                        <a14:foregroundMark x1="63136" y1="98929" x2="43008" y2="97500"/>
                        <a14:foregroundMark x1="43008" y1="97500" x2="42373" y2="96429"/>
                        <a14:foregroundMark x1="96822" y1="95357" x2="95763" y2="73214"/>
                        <a14:foregroundMark x1="59322" y1="69643" x2="64407" y2="65714"/>
                        <a14:backgroundMark x1="53178" y1="50357" x2="47246" y2="189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357" y="1862132"/>
            <a:ext cx="44958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11F9ED17-ADAA-949B-7130-29AE571F1258}"/>
              </a:ext>
            </a:extLst>
          </p:cNvPr>
          <p:cNvSpPr txBox="1"/>
          <p:nvPr/>
        </p:nvSpPr>
        <p:spPr>
          <a:xfrm>
            <a:off x="1447664" y="4542614"/>
            <a:ext cx="6093372" cy="674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Goleman (2017) </a:t>
            </a:r>
            <a:r>
              <a:rPr lang="es-CO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--- Mejora la atención sostenida, regulación emocional y reduce la reactividad.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040E4918-EB37-7833-94C6-B33CDD80F1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388" b="98903" l="4430" r="99367">
                        <a14:foregroundMark x1="58228" y1="10238" x2="34599" y2="10786"/>
                        <a14:foregroundMark x1="34599" y1="10786" x2="32278" y2="11335"/>
                        <a14:foregroundMark x1="52532" y1="4753" x2="41139" y2="5302"/>
                        <a14:foregroundMark x1="44515" y1="75868" x2="21519" y2="93784"/>
                        <a14:foregroundMark x1="70675" y1="59232" x2="99789" y2="92505"/>
                        <a14:foregroundMark x1="96835" y1="76417" x2="27426" y2="97989"/>
                        <a14:foregroundMark x1="27426" y1="97989" x2="12025" y2="98903"/>
                        <a14:foregroundMark x1="4430" y1="98903" x2="8650" y2="97623"/>
                        <a14:foregroundMark x1="91983" y1="80439" x2="75316" y2="970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81701" y="2050836"/>
            <a:ext cx="2138991" cy="2468413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F5149304-027A-5662-E82B-2652AE691E10}"/>
              </a:ext>
            </a:extLst>
          </p:cNvPr>
          <p:cNvSpPr/>
          <p:nvPr/>
        </p:nvSpPr>
        <p:spPr>
          <a:xfrm>
            <a:off x="3431215" y="400629"/>
            <a:ext cx="5747086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9600" b="1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Chiller" panose="04020404031007020602" pitchFamily="82" charset="0"/>
              </a:rPr>
              <a:t>Fundamentación</a:t>
            </a:r>
            <a:endParaRPr lang="es-MX" sz="9600" b="1" cap="none" spc="0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hiller" panose="04020404031007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896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21A61-08CE-D07E-ECB3-929B4F836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BFAADFA-B957-6853-4BF3-AC7CE1B8A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71DDBA3-70EF-B22E-445C-61820EB46348}"/>
              </a:ext>
            </a:extLst>
          </p:cNvPr>
          <p:cNvSpPr txBox="1"/>
          <p:nvPr/>
        </p:nvSpPr>
        <p:spPr>
          <a:xfrm>
            <a:off x="4842324" y="1793402"/>
            <a:ext cx="6497122" cy="674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s-MX" i="1" dirty="0"/>
              <a:t>Surge como respuesta a situaciones contextuales identificadas en la sede La Florida</a:t>
            </a:r>
            <a:endParaRPr lang="es-CO" sz="1800" i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F9D2253-F18C-580C-6FE9-EE12E474F6F8}"/>
              </a:ext>
            </a:extLst>
          </p:cNvPr>
          <p:cNvGrpSpPr/>
          <p:nvPr/>
        </p:nvGrpSpPr>
        <p:grpSpPr>
          <a:xfrm>
            <a:off x="917073" y="1517231"/>
            <a:ext cx="3386000" cy="4805858"/>
            <a:chOff x="-50450" y="1956676"/>
            <a:chExt cx="3386000" cy="4805858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B6D18F0D-0E51-A064-67E5-B1C5E92C54B4}"/>
                </a:ext>
              </a:extLst>
            </p:cNvPr>
            <p:cNvGrpSpPr/>
            <p:nvPr/>
          </p:nvGrpSpPr>
          <p:grpSpPr>
            <a:xfrm>
              <a:off x="-50450" y="1956676"/>
              <a:ext cx="3072697" cy="3787062"/>
              <a:chOff x="5007239" y="1984151"/>
              <a:chExt cx="3072697" cy="3787062"/>
            </a:xfrm>
          </p:grpSpPr>
          <p:sp>
            <p:nvSpPr>
              <p:cNvPr id="10" name="Rectángulo: una sola esquina cortada 9">
                <a:extLst>
                  <a:ext uri="{FF2B5EF4-FFF2-40B4-BE49-F238E27FC236}">
                    <a16:creationId xmlns:a16="http://schemas.microsoft.com/office/drawing/2014/main" id="{D03BE489-6C32-FF18-D7DA-EBA5765F6D2C}"/>
                  </a:ext>
                </a:extLst>
              </p:cNvPr>
              <p:cNvSpPr/>
              <p:nvPr/>
            </p:nvSpPr>
            <p:spPr>
              <a:xfrm>
                <a:off x="5007239" y="1984151"/>
                <a:ext cx="3072697" cy="3787062"/>
              </a:xfrm>
              <a:prstGeom prst="snip1Rect">
                <a:avLst>
                  <a:gd name="adj" fmla="val 11053"/>
                </a:avLst>
              </a:prstGeom>
              <a:solidFill>
                <a:schemeClr val="bg1"/>
              </a:solidFill>
              <a:ln w="381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6FD54435-0D48-265F-76E8-EE53F9027C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5299541" y="2260322"/>
                <a:ext cx="2525324" cy="336612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DC4C45CD-666D-975A-8F24-DC69D2CE3DEE}"/>
                </a:ext>
              </a:extLst>
            </p:cNvPr>
            <p:cNvSpPr txBox="1"/>
            <p:nvPr/>
          </p:nvSpPr>
          <p:spPr>
            <a:xfrm>
              <a:off x="262853" y="5839204"/>
              <a:ext cx="307269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O" i="1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Conflictos sin resolver</a:t>
              </a:r>
            </a:p>
            <a:p>
              <a:r>
                <a:rPr lang="es-CO" sz="1800" i="1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Emociones intensas</a:t>
              </a:r>
            </a:p>
            <a:p>
              <a:r>
                <a:rPr lang="es-CO" i="1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D</a:t>
              </a:r>
              <a:r>
                <a:rPr lang="es-CO" sz="1800" i="1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ificultad para concentrarse</a:t>
              </a:r>
              <a:endParaRPr lang="es-CO" dirty="0"/>
            </a:p>
          </p:txBody>
        </p:sp>
      </p:grp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4D96444-CAC0-5581-AE9E-02618C2DC67B}"/>
              </a:ext>
            </a:extLst>
          </p:cNvPr>
          <p:cNvSpPr/>
          <p:nvPr/>
        </p:nvSpPr>
        <p:spPr>
          <a:xfrm>
            <a:off x="4224702" y="400629"/>
            <a:ext cx="4160114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9600" b="1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Chiller" panose="04020404031007020602" pitchFamily="82" charset="0"/>
              </a:rPr>
              <a:t>Pertinencia</a:t>
            </a:r>
            <a:endParaRPr lang="es-MX" sz="9600" b="1" cap="none" spc="0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hiller" panose="04020404031007020602" pitchFamily="82" charset="0"/>
            </a:endParaRPr>
          </a:p>
        </p:txBody>
      </p:sp>
      <p:graphicFrame>
        <p:nvGraphicFramePr>
          <p:cNvPr id="21" name="Diagrama 20">
            <a:extLst>
              <a:ext uri="{FF2B5EF4-FFF2-40B4-BE49-F238E27FC236}">
                <a16:creationId xmlns:a16="http://schemas.microsoft.com/office/drawing/2014/main" id="{D90041F3-5CBF-D2B5-6619-39911C1AE9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5606773"/>
              </p:ext>
            </p:extLst>
          </p:nvPr>
        </p:nvGraphicFramePr>
        <p:xfrm>
          <a:off x="4965075" y="2855701"/>
          <a:ext cx="3954835" cy="3067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6" name="CuadroTexto 25">
            <a:extLst>
              <a:ext uri="{FF2B5EF4-FFF2-40B4-BE49-F238E27FC236}">
                <a16:creationId xmlns:a16="http://schemas.microsoft.com/office/drawing/2014/main" id="{C3190E89-8940-E1CF-A7B4-02DC584F9C76}"/>
              </a:ext>
            </a:extLst>
          </p:cNvPr>
          <p:cNvSpPr txBox="1"/>
          <p:nvPr/>
        </p:nvSpPr>
        <p:spPr>
          <a:xfrm>
            <a:off x="5136255" y="4197919"/>
            <a:ext cx="6497122" cy="378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es-MX" i="1" dirty="0"/>
              <a:t>Principales causas</a:t>
            </a:r>
            <a:endParaRPr lang="es-CO" sz="1800" i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Flecha: a la derecha con bandas 26">
            <a:extLst>
              <a:ext uri="{FF2B5EF4-FFF2-40B4-BE49-F238E27FC236}">
                <a16:creationId xmlns:a16="http://schemas.microsoft.com/office/drawing/2014/main" id="{08AD7F1B-9705-B2C3-FDC7-1A303CFB5357}"/>
              </a:ext>
            </a:extLst>
          </p:cNvPr>
          <p:cNvSpPr/>
          <p:nvPr/>
        </p:nvSpPr>
        <p:spPr>
          <a:xfrm rot="10800000">
            <a:off x="9091090" y="4300372"/>
            <a:ext cx="394107" cy="173657"/>
          </a:xfrm>
          <a:prstGeom prst="striped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5571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1" grpId="0">
        <p:bldAsOne/>
      </p:bldGraphic>
      <p:bldP spid="26" grpId="0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1BCCC-040F-C2EB-6DE5-0D67C0C26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4049879-A6DB-6507-4C8C-57E0A9E0D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21A00619-ED27-DF51-15F3-97410D45E76D}"/>
              </a:ext>
            </a:extLst>
          </p:cNvPr>
          <p:cNvSpPr/>
          <p:nvPr/>
        </p:nvSpPr>
        <p:spPr>
          <a:xfrm>
            <a:off x="3777897" y="401115"/>
            <a:ext cx="4636206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MX" sz="9600" b="1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Chiller" panose="04020404031007020602" pitchFamily="82" charset="0"/>
              </a:rPr>
              <a:t>Consistencia</a:t>
            </a:r>
            <a:endParaRPr lang="es-MX" sz="9600" b="1" cap="none" spc="0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hiller" panose="04020404031007020602" pitchFamily="8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B34F3C3-5553-5AA1-F46F-C30BF3D5A1BD}"/>
              </a:ext>
            </a:extLst>
          </p:cNvPr>
          <p:cNvSpPr txBox="1"/>
          <p:nvPr/>
        </p:nvSpPr>
        <p:spPr>
          <a:xfrm>
            <a:off x="2776457" y="5147300"/>
            <a:ext cx="71512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C</a:t>
            </a:r>
            <a:r>
              <a:rPr lang="es-MX" sz="1800" dirty="0"/>
              <a:t>reación de un espacio natural significativo “el Árbol de la Calma”</a:t>
            </a:r>
            <a:endParaRPr lang="es-MX" dirty="0"/>
          </a:p>
          <a:p>
            <a:pPr algn="ctr"/>
            <a:r>
              <a:rPr lang="es-MX" dirty="0"/>
              <a:t>I</a:t>
            </a:r>
            <a:r>
              <a:rPr lang="es-MX" sz="1800" dirty="0"/>
              <a:t>mplementación de prácticas sistemáticas de atención plena, mediación y participación comunitaria.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660B7ED-C529-D5B6-791E-89307752BF29}"/>
              </a:ext>
            </a:extLst>
          </p:cNvPr>
          <p:cNvSpPr txBox="1"/>
          <p:nvPr/>
        </p:nvSpPr>
        <p:spPr>
          <a:xfrm>
            <a:off x="5779673" y="2502015"/>
            <a:ext cx="4536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dirty="0"/>
              <a:t>Dialoga con</a:t>
            </a:r>
            <a:endParaRPr lang="es-CO" sz="14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B32E373-08FF-2900-6281-1E36F9A625D1}"/>
              </a:ext>
            </a:extLst>
          </p:cNvPr>
          <p:cNvSpPr txBox="1"/>
          <p:nvPr/>
        </p:nvSpPr>
        <p:spPr>
          <a:xfrm>
            <a:off x="3994906" y="3584098"/>
            <a:ext cx="47143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Surge de la reflexión docente y se prioriza la regulación emocional sobre la corrección.</a:t>
            </a:r>
            <a:endParaRPr lang="es-CO" dirty="0"/>
          </a:p>
        </p:txBody>
      </p:sp>
      <p:sp>
        <p:nvSpPr>
          <p:cNvPr id="19" name="Flecha: a la izquierda y derecha 18">
            <a:extLst>
              <a:ext uri="{FF2B5EF4-FFF2-40B4-BE49-F238E27FC236}">
                <a16:creationId xmlns:a16="http://schemas.microsoft.com/office/drawing/2014/main" id="{7ADEB59F-B820-7E9A-9C08-E2EBE66A79CF}"/>
              </a:ext>
            </a:extLst>
          </p:cNvPr>
          <p:cNvSpPr/>
          <p:nvPr/>
        </p:nvSpPr>
        <p:spPr>
          <a:xfrm>
            <a:off x="5515270" y="2168845"/>
            <a:ext cx="1683954" cy="403376"/>
          </a:xfrm>
          <a:prstGeom prst="leftRightArrow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0" name="Abrir llave 19">
            <a:extLst>
              <a:ext uri="{FF2B5EF4-FFF2-40B4-BE49-F238E27FC236}">
                <a16:creationId xmlns:a16="http://schemas.microsoft.com/office/drawing/2014/main" id="{84280E1D-E13F-2588-FA41-DDCCEAD557D8}"/>
              </a:ext>
            </a:extLst>
          </p:cNvPr>
          <p:cNvSpPr/>
          <p:nvPr/>
        </p:nvSpPr>
        <p:spPr>
          <a:xfrm rot="16200000">
            <a:off x="6005297" y="1651797"/>
            <a:ext cx="693587" cy="3220700"/>
          </a:xfrm>
          <a:prstGeom prst="leftBrace">
            <a:avLst>
              <a:gd name="adj1" fmla="val 17425"/>
              <a:gd name="adj2" fmla="val 50490"/>
            </a:avLst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447ABB88-EBCA-A832-94B5-3D0E7FF484DE}"/>
              </a:ext>
            </a:extLst>
          </p:cNvPr>
          <p:cNvCxnSpPr>
            <a:cxnSpLocks/>
          </p:cNvCxnSpPr>
          <p:nvPr/>
        </p:nvCxnSpPr>
        <p:spPr>
          <a:xfrm>
            <a:off x="6352090" y="4263096"/>
            <a:ext cx="0" cy="826217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70466991-779F-CB4E-0454-C29287532F51}"/>
              </a:ext>
            </a:extLst>
          </p:cNvPr>
          <p:cNvSpPr txBox="1"/>
          <p:nvPr/>
        </p:nvSpPr>
        <p:spPr>
          <a:xfrm>
            <a:off x="7297966" y="2000834"/>
            <a:ext cx="4290315" cy="92333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MX" b="1" dirty="0"/>
              <a:t>Fundamentación</a:t>
            </a:r>
            <a:endParaRPr lang="es-CO" b="1" dirty="0"/>
          </a:p>
          <a:p>
            <a:r>
              <a:rPr lang="es-MX" dirty="0"/>
              <a:t>E</a:t>
            </a:r>
            <a:r>
              <a:rPr lang="es-MX" sz="1800" dirty="0"/>
              <a:t>nfoques de educación socioemocional, mindfulness y psicología ambiental</a:t>
            </a:r>
            <a:endParaRPr lang="es-CO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B788050-5C96-6916-97BE-1B41E0BD0FBC}"/>
              </a:ext>
            </a:extLst>
          </p:cNvPr>
          <p:cNvSpPr txBox="1"/>
          <p:nvPr/>
        </p:nvSpPr>
        <p:spPr>
          <a:xfrm>
            <a:off x="3149021" y="2023555"/>
            <a:ext cx="2270868" cy="92333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s-MX" b="1" dirty="0"/>
              <a:t>Necesidades </a:t>
            </a:r>
            <a:r>
              <a:rPr lang="es-MX" dirty="0"/>
              <a:t>identificadas en el contexto escolar</a:t>
            </a:r>
            <a:endParaRPr lang="es-CO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55898A28-E546-48D2-43B6-E1B75C1C4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73" t="18086" r="40260" b="22840"/>
          <a:stretch>
            <a:fillRect/>
          </a:stretch>
        </p:blipFill>
        <p:spPr>
          <a:xfrm>
            <a:off x="760579" y="2000834"/>
            <a:ext cx="1835986" cy="4223666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C3481C7F-4FBB-AFCF-735F-AA00312E8BB4}"/>
              </a:ext>
            </a:extLst>
          </p:cNvPr>
          <p:cNvSpPr txBox="1"/>
          <p:nvPr/>
        </p:nvSpPr>
        <p:spPr>
          <a:xfrm>
            <a:off x="9927720" y="3977749"/>
            <a:ext cx="182023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sz="1400" b="1" i="1" dirty="0"/>
              <a:t>Los resultados evidencian la coherencia entre lo propuesto y lo alcanzado</a:t>
            </a:r>
            <a:endParaRPr lang="es-CO" sz="1400" b="1" i="1" dirty="0"/>
          </a:p>
        </p:txBody>
      </p:sp>
    </p:spTree>
    <p:extLst>
      <p:ext uri="{BB962C8B-B14F-4D97-AF65-F5344CB8AC3E}">
        <p14:creationId xmlns:p14="http://schemas.microsoft.com/office/powerpoint/2010/main" val="1391822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  <p:bldP spid="14" grpId="0"/>
      <p:bldP spid="19" grpId="0" animBg="1"/>
      <p:bldP spid="24" grpId="0" animBg="1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C9F25190-BB8D-7E14-B63C-D9FE82D21B6B}"/>
              </a:ext>
            </a:extLst>
          </p:cNvPr>
          <p:cNvSpPr/>
          <p:nvPr/>
        </p:nvSpPr>
        <p:spPr>
          <a:xfrm>
            <a:off x="3977693" y="316624"/>
            <a:ext cx="3732112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lvl="1" algn="ctr"/>
            <a:r>
              <a:rPr lang="es-MX" sz="9600" b="1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Chiller" panose="04020404031007020602" pitchFamily="82" charset="0"/>
              </a:rPr>
              <a:t>Madurez</a:t>
            </a:r>
            <a:endParaRPr lang="es-MX" sz="9600" b="1" cap="none" spc="0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hiller" panose="04020404031007020602" pitchFamily="8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714DA21-ED97-1C3E-7CF6-69B73828D8BF}"/>
              </a:ext>
            </a:extLst>
          </p:cNvPr>
          <p:cNvSpPr txBox="1"/>
          <p:nvPr/>
        </p:nvSpPr>
        <p:spPr>
          <a:xfrm>
            <a:off x="1263867" y="1726467"/>
            <a:ext cx="95381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2000" i="1" dirty="0"/>
              <a:t>La propuesta ha transitado por diferentes momentos que posibilitan su sostenibilidad y consolidación como estrategia pedagógica significativa.</a:t>
            </a:r>
            <a:endParaRPr lang="es-CO" sz="2000" i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C4D7623-5E0F-7EC8-39C9-B1FA04BC8C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41" t="70211" b="-1"/>
          <a:stretch>
            <a:fillRect/>
          </a:stretch>
        </p:blipFill>
        <p:spPr>
          <a:xfrm>
            <a:off x="5391808" y="2668933"/>
            <a:ext cx="5374726" cy="2302784"/>
          </a:xfrm>
          <a:prstGeom prst="rect">
            <a:avLst/>
          </a:prstGeom>
        </p:spPr>
      </p:pic>
      <p:sp>
        <p:nvSpPr>
          <p:cNvPr id="16" name="Rectangle 3">
            <a:extLst>
              <a:ext uri="{FF2B5EF4-FFF2-40B4-BE49-F238E27FC236}">
                <a16:creationId xmlns:a16="http://schemas.microsoft.com/office/drawing/2014/main" id="{A12CAF37-95B9-BFEF-5954-129DD5AB9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67" y="4971717"/>
            <a:ext cx="676340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Importancia de procesos continuos, no acciones aisladas.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cambio de año permite ajustar y fortalecer la experiencia.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Requiere constancia, seguimiento y adaptación a cada grupo.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Necesidad de mejorar la sistematización de la evaluación. 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E5C7F41-E3F0-AA06-67BE-2800B78C34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62" b="14538"/>
          <a:stretch>
            <a:fillRect/>
          </a:stretch>
        </p:blipFill>
        <p:spPr>
          <a:xfrm>
            <a:off x="1425465" y="2668933"/>
            <a:ext cx="3804745" cy="230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48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2C4C6-9A4B-5859-FD44-2E0D8D760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0640BB1-D870-F6CB-3D9E-37B20D426B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91721C2-440E-B535-FF86-D5F5AE1AB7A9}"/>
              </a:ext>
            </a:extLst>
          </p:cNvPr>
          <p:cNvSpPr/>
          <p:nvPr/>
        </p:nvSpPr>
        <p:spPr>
          <a:xfrm>
            <a:off x="2645600" y="316624"/>
            <a:ext cx="6396303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lvl="1" algn="ctr"/>
            <a:r>
              <a:rPr lang="es-MX" sz="9600" b="1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Chiller" panose="04020404031007020602" pitchFamily="82" charset="0"/>
              </a:rPr>
              <a:t>Empoderamiento</a:t>
            </a:r>
            <a:endParaRPr lang="es-MX" sz="9600" b="1" cap="none" spc="0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hiller" panose="04020404031007020602" pitchFamily="8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7374C64-8A3C-BDBB-2DAB-4311505251E8}"/>
              </a:ext>
            </a:extLst>
          </p:cNvPr>
          <p:cNvSpPr txBox="1"/>
          <p:nvPr/>
        </p:nvSpPr>
        <p:spPr>
          <a:xfrm>
            <a:off x="1356492" y="4971717"/>
            <a:ext cx="27707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MX" i="1" dirty="0"/>
              <a:t>Participación activa de la comunidad educativa</a:t>
            </a:r>
            <a:endParaRPr lang="es-CO" i="1" dirty="0"/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91175AF7-F31F-7C96-34B2-9634DB19D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928656"/>
              </p:ext>
            </p:extLst>
          </p:nvPr>
        </p:nvGraphicFramePr>
        <p:xfrm>
          <a:off x="4386755" y="1548308"/>
          <a:ext cx="7300748" cy="5449680"/>
        </p:xfrm>
        <a:graphic>
          <a:graphicData uri="http://schemas.openxmlformats.org/drawingml/2006/table">
            <a:tbl>
              <a:tblPr/>
              <a:tblGrid>
                <a:gridCol w="1525314">
                  <a:extLst>
                    <a:ext uri="{9D8B030D-6E8A-4147-A177-3AD203B41FA5}">
                      <a16:colId xmlns:a16="http://schemas.microsoft.com/office/drawing/2014/main" val="4018138914"/>
                    </a:ext>
                  </a:extLst>
                </a:gridCol>
                <a:gridCol w="5775434">
                  <a:extLst>
                    <a:ext uri="{9D8B030D-6E8A-4147-A177-3AD203B41FA5}">
                      <a16:colId xmlns:a16="http://schemas.microsoft.com/office/drawing/2014/main" val="851062939"/>
                    </a:ext>
                  </a:extLst>
                </a:gridCol>
              </a:tblGrid>
              <a:tr h="29038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 b="1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CO" sz="1800" b="1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367712"/>
                  </a:ext>
                </a:extLst>
              </a:tr>
              <a:tr h="954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Estudiantes</a:t>
                      </a:r>
                      <a:endParaRPr lang="es-CO" sz="18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Protagonistas del proceso; participan en la adecuación del espacio, prácticas de mindfulness y uso del Árbol de la Calma para la regulación emocional y resolución de conflictos.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7852928"/>
                  </a:ext>
                </a:extLst>
              </a:tr>
              <a:tr h="733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Familias</a:t>
                      </a:r>
                      <a:endParaRPr lang="es-CO" sz="18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Apoyan en la construcción del espacio (materiales, plantas, mobiliario) y participan en sesiones, fortaleciendo el vínculo escuela–hogar.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723946"/>
                  </a:ext>
                </a:extLst>
              </a:tr>
              <a:tr h="614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Docente líder</a:t>
                      </a:r>
                      <a:endParaRPr lang="es-CO" sz="18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Orienta el proceso pedagógico, promueve estrategias innovadoras y guía el desarrollo socioemocional.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1266368"/>
                  </a:ext>
                </a:extLst>
              </a:tr>
              <a:tr h="511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Directivos</a:t>
                      </a:r>
                      <a:endParaRPr lang="es-CO" sz="18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Apoyan el fortalecimiento e institucionalización de la experiencia.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393308"/>
                  </a:ext>
                </a:extLst>
              </a:tr>
              <a:tr h="511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800" b="1"/>
                        <a:t>Comunidad externa</a:t>
                      </a:r>
                      <a:endParaRPr lang="es-CO" sz="180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Posibles aliados para aportar al mejoramiento del espacio y su sostenibilidad.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481886"/>
                  </a:ext>
                </a:extLst>
              </a:tr>
            </a:tbl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3EB4F9E1-E7CA-68B7-A217-2A0FF113B1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33853" b="57832"/>
          <a:stretch>
            <a:fillRect/>
          </a:stretch>
        </p:blipFill>
        <p:spPr>
          <a:xfrm>
            <a:off x="733119" y="2477300"/>
            <a:ext cx="3362631" cy="249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3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2E44D08-9C11-3F09-8F09-D211ADA201E5}"/>
              </a:ext>
            </a:extLst>
          </p:cNvPr>
          <p:cNvSpPr/>
          <p:nvPr/>
        </p:nvSpPr>
        <p:spPr>
          <a:xfrm>
            <a:off x="2572249" y="300858"/>
            <a:ext cx="4273926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lvl="1" algn="ctr"/>
            <a:r>
              <a:rPr lang="es-MX" sz="9600" b="1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Chiller" panose="04020404031007020602" pitchFamily="82" charset="0"/>
              </a:rPr>
              <a:t>Evaluación</a:t>
            </a:r>
            <a:endParaRPr lang="es-MX" sz="9600" b="1" cap="none" spc="0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hiller" panose="04020404031007020602" pitchFamily="82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C79937-3B03-E5B7-31F1-8EC2E3051C46}"/>
              </a:ext>
            </a:extLst>
          </p:cNvPr>
          <p:cNvSpPr/>
          <p:nvPr/>
        </p:nvSpPr>
        <p:spPr>
          <a:xfrm>
            <a:off x="5074561" y="884375"/>
            <a:ext cx="5548314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lvl="1" algn="ctr"/>
            <a:r>
              <a:rPr lang="es-MX" sz="9600" b="1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Chiller" panose="04020404031007020602" pitchFamily="82" charset="0"/>
              </a:rPr>
              <a:t>y seguimiento</a:t>
            </a:r>
            <a:endParaRPr lang="es-MX" sz="9600" b="1" cap="none" spc="0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hiller" panose="04020404031007020602" pitchFamily="8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38C7C1-F4A0-ECCD-DBA8-C7F8B130B4F2}"/>
              </a:ext>
            </a:extLst>
          </p:cNvPr>
          <p:cNvSpPr txBox="1"/>
          <p:nvPr/>
        </p:nvSpPr>
        <p:spPr>
          <a:xfrm>
            <a:off x="1048750" y="2594268"/>
            <a:ext cx="33474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dirty="0">
                <a:solidFill>
                  <a:schemeClr val="accent1">
                    <a:lumMod val="50000"/>
                  </a:schemeClr>
                </a:solidFill>
              </a:rPr>
              <a:t>Observación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7A15DA6-3D8E-94D2-696A-CA6720C35030}"/>
              </a:ext>
            </a:extLst>
          </p:cNvPr>
          <p:cNvSpPr txBox="1"/>
          <p:nvPr/>
        </p:nvSpPr>
        <p:spPr>
          <a:xfrm>
            <a:off x="5993533" y="2754893"/>
            <a:ext cx="462934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dirty="0"/>
              <a:t>R</a:t>
            </a:r>
            <a:r>
              <a:rPr lang="es-MX" sz="1800" dirty="0"/>
              <a:t>egistros del observador.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dirty="0"/>
              <a:t>E</a:t>
            </a:r>
            <a:r>
              <a:rPr lang="es-MX" sz="1800" dirty="0"/>
              <a:t>videncias fotográficas.</a:t>
            </a:r>
            <a:endParaRPr lang="es-MX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sz="1800" dirty="0"/>
              <a:t>Actas de desarrollo de actividades.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dirty="0"/>
              <a:t>E</a:t>
            </a:r>
            <a:r>
              <a:rPr lang="es-MX" sz="1800" dirty="0"/>
              <a:t>spacios de diálogo con estudiantes y familias.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dirty="0"/>
              <a:t>Percepciones y autoinformes de los estudiantes, evidenciados en sus expresiones, comportamientos y en la forma en que enfrentan situaciones de conflicto.</a:t>
            </a:r>
          </a:p>
          <a:p>
            <a:endParaRPr lang="es-CO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1F5ED095-AFAF-6BA7-2DF3-E318BE5017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70047" y="2796145"/>
            <a:ext cx="3177480" cy="317748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78226AF4-0A08-A795-50CA-68F1C827D316}"/>
              </a:ext>
            </a:extLst>
          </p:cNvPr>
          <p:cNvSpPr txBox="1"/>
          <p:nvPr/>
        </p:nvSpPr>
        <p:spPr>
          <a:xfrm>
            <a:off x="4179908" y="2594268"/>
            <a:ext cx="33474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dirty="0">
                <a:solidFill>
                  <a:schemeClr val="accent1">
                    <a:lumMod val="50000"/>
                  </a:schemeClr>
                </a:solidFill>
              </a:rPr>
              <a:t>Registro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54E2B49-3C4C-41F1-E7F3-ADB1CCF29416}"/>
              </a:ext>
            </a:extLst>
          </p:cNvPr>
          <p:cNvSpPr txBox="1"/>
          <p:nvPr/>
        </p:nvSpPr>
        <p:spPr>
          <a:xfrm>
            <a:off x="1529976" y="4245598"/>
            <a:ext cx="15152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dirty="0">
                <a:solidFill>
                  <a:schemeClr val="accent1">
                    <a:lumMod val="50000"/>
                  </a:schemeClr>
                </a:solidFill>
              </a:rPr>
              <a:t>Análisis reflexivo</a:t>
            </a:r>
          </a:p>
        </p:txBody>
      </p:sp>
    </p:spTree>
    <p:extLst>
      <p:ext uri="{BB962C8B-B14F-4D97-AF65-F5344CB8AC3E}">
        <p14:creationId xmlns:p14="http://schemas.microsoft.com/office/powerpoint/2010/main" val="3085548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  <p:bldP spid="21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E6AFE-CBBB-27E0-FFA3-ADC7200E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E14326C-ABE5-3F74-DEA3-7313B550B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15340BC7-15EB-B7C3-FE1D-FFFA3DC0B434}"/>
              </a:ext>
            </a:extLst>
          </p:cNvPr>
          <p:cNvSpPr/>
          <p:nvPr/>
        </p:nvSpPr>
        <p:spPr>
          <a:xfrm>
            <a:off x="2572249" y="300858"/>
            <a:ext cx="4273926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lvl="1" algn="ctr"/>
            <a:r>
              <a:rPr lang="es-MX" sz="9600" b="1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Chiller" panose="04020404031007020602" pitchFamily="82" charset="0"/>
              </a:rPr>
              <a:t>Evaluación</a:t>
            </a:r>
            <a:endParaRPr lang="es-MX" sz="9600" b="1" cap="none" spc="0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hiller" panose="04020404031007020602" pitchFamily="82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87FD620-6493-028D-CED6-CA65E7D76B81}"/>
              </a:ext>
            </a:extLst>
          </p:cNvPr>
          <p:cNvSpPr/>
          <p:nvPr/>
        </p:nvSpPr>
        <p:spPr>
          <a:xfrm>
            <a:off x="5074561" y="884375"/>
            <a:ext cx="5548314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lvl="1" algn="ctr"/>
            <a:r>
              <a:rPr lang="es-MX" sz="9600" b="1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latin typeface="Chiller" panose="04020404031007020602" pitchFamily="82" charset="0"/>
              </a:rPr>
              <a:t>y seguimiento</a:t>
            </a:r>
            <a:endParaRPr lang="es-MX" sz="9600" b="1" cap="none" spc="0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Chiller" panose="04020404031007020602" pitchFamily="8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7E1DA-0295-42F2-7DD7-E1D2773157CB}"/>
              </a:ext>
            </a:extLst>
          </p:cNvPr>
          <p:cNvSpPr txBox="1"/>
          <p:nvPr/>
        </p:nvSpPr>
        <p:spPr>
          <a:xfrm>
            <a:off x="1048750" y="2594268"/>
            <a:ext cx="33474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dirty="0">
                <a:solidFill>
                  <a:schemeClr val="accent1">
                    <a:lumMod val="50000"/>
                  </a:schemeClr>
                </a:solidFill>
              </a:rPr>
              <a:t>Observación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6A6353E2-1A9B-74FE-09B7-71F7B919BAD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70047" y="2796145"/>
            <a:ext cx="3177480" cy="3177480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F61E94BE-FD9F-1A04-382B-8304579EE8F7}"/>
              </a:ext>
            </a:extLst>
          </p:cNvPr>
          <p:cNvSpPr txBox="1"/>
          <p:nvPr/>
        </p:nvSpPr>
        <p:spPr>
          <a:xfrm>
            <a:off x="4179908" y="2594268"/>
            <a:ext cx="33474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dirty="0">
                <a:solidFill>
                  <a:schemeClr val="accent1">
                    <a:lumMod val="50000"/>
                  </a:schemeClr>
                </a:solidFill>
              </a:rPr>
              <a:t>Registro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1C38C3D-7FFB-5278-766E-77EB8EEDE7CC}"/>
              </a:ext>
            </a:extLst>
          </p:cNvPr>
          <p:cNvSpPr txBox="1"/>
          <p:nvPr/>
        </p:nvSpPr>
        <p:spPr>
          <a:xfrm>
            <a:off x="1529976" y="4245598"/>
            <a:ext cx="15152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dirty="0">
                <a:solidFill>
                  <a:schemeClr val="accent1">
                    <a:lumMod val="50000"/>
                  </a:schemeClr>
                </a:solidFill>
              </a:rPr>
              <a:t>Análisis reflexivo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281F793-7E1F-12AD-43E0-7E49BEF06282}"/>
              </a:ext>
            </a:extLst>
          </p:cNvPr>
          <p:cNvSpPr txBox="1"/>
          <p:nvPr/>
        </p:nvSpPr>
        <p:spPr>
          <a:xfrm>
            <a:off x="5926161" y="2594268"/>
            <a:ext cx="521708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dirty="0"/>
              <a:t>El seguimiento se ha realizado de manera continua durante las fases de adecuación, implementación y apropiación.</a:t>
            </a:r>
          </a:p>
          <a:p>
            <a:endParaRPr lang="es-MX" dirty="0"/>
          </a:p>
          <a:p>
            <a:r>
              <a:rPr lang="es-MX" dirty="0"/>
              <a:t>Aprendizajes que orientan el fortalecimiento de la experiencia: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dirty="0"/>
              <a:t>Necesidad de mantener la constancia en las prácticas de mindfulness.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dirty="0"/>
              <a:t>Profundizar en estrategias de sistematización de resultados.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dirty="0"/>
              <a:t>Continuar promoviendo la participación de las familias. </a:t>
            </a:r>
          </a:p>
        </p:txBody>
      </p:sp>
    </p:spTree>
    <p:extLst>
      <p:ext uri="{BB962C8B-B14F-4D97-AF65-F5344CB8AC3E}">
        <p14:creationId xmlns:p14="http://schemas.microsoft.com/office/powerpoint/2010/main" val="114926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91A5E-27F5-DE2A-C220-37EAFCF37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57B7B8D-7495-2580-5666-D17EA035D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69E4239D-2008-0280-F4AD-F8643AAEB597}"/>
              </a:ext>
            </a:extLst>
          </p:cNvPr>
          <p:cNvSpPr/>
          <p:nvPr/>
        </p:nvSpPr>
        <p:spPr>
          <a:xfrm>
            <a:off x="3531285" y="379686"/>
            <a:ext cx="4405373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lvl="1" algn="ctr"/>
            <a:r>
              <a:rPr lang="es-MX" sz="9600" b="1" cap="none" spc="0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hiller" panose="04020404031007020602" pitchFamily="82" charset="0"/>
              </a:rPr>
              <a:t>Resultados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4B0DCC9-2B6D-DA54-B367-0DFF8831808F}"/>
              </a:ext>
            </a:extLst>
          </p:cNvPr>
          <p:cNvSpPr txBox="1"/>
          <p:nvPr/>
        </p:nvSpPr>
        <p:spPr>
          <a:xfrm>
            <a:off x="1620469" y="2314869"/>
            <a:ext cx="373190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dirty="0"/>
          </a:p>
          <a:p>
            <a:r>
              <a:rPr lang="es-MX" sz="1800" dirty="0"/>
              <a:t>Principales resultados: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dirty="0"/>
              <a:t>D</a:t>
            </a:r>
            <a:r>
              <a:rPr lang="es-MX" sz="1800" dirty="0"/>
              <a:t>isminución de reacciones impulsivas</a:t>
            </a:r>
            <a:endParaRPr lang="es-MX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dirty="0"/>
              <a:t>M</a:t>
            </a:r>
            <a:r>
              <a:rPr lang="es-MX" sz="1800" dirty="0"/>
              <a:t>ayor disposición al diálogo</a:t>
            </a:r>
            <a:endParaRPr lang="es-MX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dirty="0"/>
              <a:t>F</a:t>
            </a:r>
            <a:r>
              <a:rPr lang="es-MX" sz="1800" dirty="0"/>
              <a:t>ortalecimiento de la concentración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MX" dirty="0"/>
              <a:t>R</a:t>
            </a:r>
            <a:r>
              <a:rPr lang="es-MX" sz="1800" dirty="0"/>
              <a:t>econocimiento del Árbol de la Calma como un espacio significativo para el bienestar emocional.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5D3C9F8-601B-1D1B-A3F9-D436F6EE05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2374" y="1935184"/>
            <a:ext cx="5558097" cy="41690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088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046D3-24EA-2A61-5400-AA6E93937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3868F81-8B10-58CE-D89F-A4E3DC542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4E27E13-9228-97F1-EFD4-786C6D0E7361}"/>
              </a:ext>
            </a:extLst>
          </p:cNvPr>
          <p:cNvSpPr/>
          <p:nvPr/>
        </p:nvSpPr>
        <p:spPr>
          <a:xfrm>
            <a:off x="3374388" y="379686"/>
            <a:ext cx="4405373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lvl="1" algn="ctr"/>
            <a:r>
              <a:rPr lang="es-MX" sz="9600" b="1" cap="none" spc="0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hiller" panose="04020404031007020602" pitchFamily="82" charset="0"/>
              </a:rPr>
              <a:t>Resultados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0CFC4CBE-B439-CD01-34C9-19EB1CA0D99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FEFEF"/>
              </a:clrFrom>
              <a:clrTo>
                <a:srgbClr val="EFEFEF">
                  <a:alpha val="0"/>
                </a:srgbClr>
              </a:clrTo>
            </a:clrChange>
          </a:blip>
          <a:srcRect t="7826" r="70427"/>
          <a:stretch>
            <a:fillRect/>
          </a:stretch>
        </p:blipFill>
        <p:spPr>
          <a:xfrm>
            <a:off x="1583343" y="1164516"/>
            <a:ext cx="1262103" cy="1361028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517408B-2701-C727-80EA-DEA337488405}"/>
              </a:ext>
            </a:extLst>
          </p:cNvPr>
          <p:cNvSpPr txBox="1"/>
          <p:nvPr/>
        </p:nvSpPr>
        <p:spPr>
          <a:xfrm>
            <a:off x="518818" y="2329032"/>
            <a:ext cx="3306818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/>
              <a:t>Mayor disposición de los estudiantes para pausar ante situaciones de conflicto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/>
              <a:t>Disminución de reacciones impulsivas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/>
              <a:t>Fortalecimiento de la concentración en las actividades académicas.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/>
              <a:t>Apropiación inicial del Árbol de la Calma como un espacio de regulación emocional y diálogo.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87B2F0D-3058-19BD-5D93-9602A4919A9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FEFEF"/>
              </a:clrFrom>
              <a:clrTo>
                <a:srgbClr val="EFEFEF">
                  <a:alpha val="0"/>
                </a:srgbClr>
              </a:clrTo>
            </a:clrChange>
          </a:blip>
          <a:srcRect l="35213" t="4014" r="35213" b="3811"/>
          <a:stretch>
            <a:fillRect/>
          </a:stretch>
        </p:blipFill>
        <p:spPr>
          <a:xfrm>
            <a:off x="5114628" y="1738000"/>
            <a:ext cx="1262103" cy="1361028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3A8771E4-76CC-D2D1-7505-E9F9DEAE79E6}"/>
              </a:ext>
            </a:extLst>
          </p:cNvPr>
          <p:cNvSpPr txBox="1"/>
          <p:nvPr/>
        </p:nvSpPr>
        <p:spPr>
          <a:xfrm>
            <a:off x="3966146" y="2979296"/>
            <a:ext cx="3559066" cy="34163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/>
              <a:t>Consolidación de hábitos relacionados con la autorregulación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/>
              <a:t>Uso consciente de estrategias como la respiración y el diálogo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/>
              <a:t>Fortalecimiento del clima de aula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/>
              <a:t>Mayor vinculación de las familias (reconocen la importancia del bienestar emocional y replican algunas prácticas)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9D1582CD-1B9A-8181-021F-72F3AD851E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FEFEF"/>
              </a:clrFrom>
              <a:clrTo>
                <a:srgbClr val="EFEFEF">
                  <a:alpha val="0"/>
                </a:srgbClr>
              </a:clrTo>
            </a:clrChange>
          </a:blip>
          <a:srcRect l="69946" t="3073" r="480" b="4752"/>
          <a:stretch>
            <a:fillRect/>
          </a:stretch>
        </p:blipFill>
        <p:spPr>
          <a:xfrm>
            <a:off x="8817613" y="1165651"/>
            <a:ext cx="1262103" cy="1361028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66D75197-2F83-97BE-124D-D0978C74D8F8}"/>
              </a:ext>
            </a:extLst>
          </p:cNvPr>
          <p:cNvSpPr txBox="1"/>
          <p:nvPr/>
        </p:nvSpPr>
        <p:spPr>
          <a:xfrm>
            <a:off x="7669130" y="2418514"/>
            <a:ext cx="3559067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MX" sz="1600" dirty="0"/>
              <a:t>Se proyecta como una estrategia sostenible y replicable en otras sedes, con potencial de institucionalización, contribuyendo al fortalecimiento de la convivencia escolar y al desarrollo integral de los estudiantes como ciudadanos conscientes, empáticos y capaces de gestionar sus emociones.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1117402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F4306-0670-9DF2-1E53-BAE4FA931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4E0E846-6103-8A28-610B-B46916429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4EA5EBB0-5374-AF9A-78BE-9D4F5D430059}"/>
              </a:ext>
            </a:extLst>
          </p:cNvPr>
          <p:cNvSpPr/>
          <p:nvPr/>
        </p:nvSpPr>
        <p:spPr>
          <a:xfrm>
            <a:off x="2903908" y="379686"/>
            <a:ext cx="5346336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lvl="1" algn="ctr"/>
            <a:r>
              <a:rPr lang="es-MX" sz="9600" b="1" cap="none" spc="0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hiller" panose="04020404031007020602" pitchFamily="82" charset="0"/>
              </a:rPr>
              <a:t>Transferencia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200624-E961-7622-3D8A-BB24E15FA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2786" y="2321004"/>
            <a:ext cx="73152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s-CO" altLang="es-CO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Organización clara en: propuesta, desarrollo, metodología y resultados.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de soportes: actas, fotos, guías y prácticas de mindfulness.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Metodología flexible y adaptable a diferentes contextos.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Estrategia replicable con bajo costo y alto impacto.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Socialización en encuentros, redes docentes y convocatorias.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Acompañamiento a otros docentes interesados.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Propuesta transferible, sostenible y con impacto en convivencia y desarrollo socioemocional.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E457890-29FC-EC18-84C8-6094728BC892}"/>
              </a:ext>
            </a:extLst>
          </p:cNvPr>
          <p:cNvSpPr txBox="1"/>
          <p:nvPr/>
        </p:nvSpPr>
        <p:spPr>
          <a:xfrm>
            <a:off x="2554014" y="1682701"/>
            <a:ext cx="6093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CO" altLang="es-C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Transferencia orientada a compartir y adaptar la experiencia en otras instituciones.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198FAC2-0E9D-4267-1DDC-C22FEADE398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97164" y="3704105"/>
            <a:ext cx="2917361" cy="220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00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F144-AE61-8838-7E6A-0D6053AF7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667520-D851-9F3A-0598-5E6BC5352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B677E81C-5D09-3B01-4D61-02E640508F5A}"/>
              </a:ext>
            </a:extLst>
          </p:cNvPr>
          <p:cNvSpPr/>
          <p:nvPr/>
        </p:nvSpPr>
        <p:spPr>
          <a:xfrm>
            <a:off x="2903908" y="379686"/>
            <a:ext cx="5346336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lvl="1" algn="ctr"/>
            <a:r>
              <a:rPr lang="es-MX" sz="9600" b="1" cap="none" spc="0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hiller" panose="04020404031007020602" pitchFamily="82" charset="0"/>
              </a:rPr>
              <a:t>Transferencia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BAA599-4291-E937-3C95-347D997D3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4961" y="1798565"/>
            <a:ext cx="413056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Espacios de retroalimentación, socialización y validación permanente.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Integración en la cultura escolar (no como práctica aislada).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Participación de estudiantes, familias y docente.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Socialización de avances para fortalecer y mejorar la experiencia.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Metodología flexible, de bajo costo y alto impacto.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Apropiación del espacio como símbolo de calma y convivencia.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3CEDCA6-4DDA-80C6-2BB7-BC343CD0D4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705" r="15274"/>
          <a:stretch>
            <a:fillRect/>
          </a:stretch>
        </p:blipFill>
        <p:spPr>
          <a:xfrm>
            <a:off x="2259400" y="1987729"/>
            <a:ext cx="3624215" cy="3781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9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46E41-B165-0EEB-7B16-ADDD46C8C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C7103E8-DB5E-7A63-9039-88490CB73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34D21CAC-8844-5349-A924-079BEF9817B2}"/>
              </a:ext>
            </a:extLst>
          </p:cNvPr>
          <p:cNvSpPr/>
          <p:nvPr/>
        </p:nvSpPr>
        <p:spPr>
          <a:xfrm>
            <a:off x="3378402" y="379686"/>
            <a:ext cx="4397358" cy="156966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lvl="1" algn="ctr"/>
            <a:r>
              <a:rPr lang="es-MX" sz="9600" b="1" cap="none" spc="0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hiller" panose="04020404031007020602" pitchFamily="82" charset="0"/>
              </a:rPr>
              <a:t>Innovación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088603D-C93A-61CB-1061-1F2326B7C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048" y="1746776"/>
            <a:ext cx="726790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s-CO" altLang="es-C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Bienestar emocional como eje central de la práctica pedagógica.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Integración de educación socioemocional, mindfulness y psicología ambiental.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Cambio de enfoque: de corregir conductas a desarrollar autorregulación y conciencia emocional.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Creación de un entorno pedagógico innovador (Árbol de la Calma y naturaleza).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de experiencias vivenciales que conectan emoción, atención y aprendizaje.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Participación activa de estudiantes, familias y docente (corresponsabilidad).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Potencial como proyecto de investigación y generación de nuevo conocimiento.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s-CO" altLang="es-C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Propuesta transferible a otros contextos educativos. </a:t>
            </a:r>
          </a:p>
        </p:txBody>
      </p:sp>
    </p:spTree>
    <p:extLst>
      <p:ext uri="{BB962C8B-B14F-4D97-AF65-F5344CB8AC3E}">
        <p14:creationId xmlns:p14="http://schemas.microsoft.com/office/powerpoint/2010/main" val="65032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9A62C-DCC2-F4BA-129D-7BB0C3E3A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5C59273-8E15-3946-8A67-482A955E1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FC91697-6D79-609F-95F6-038D98E3D440}"/>
              </a:ext>
            </a:extLst>
          </p:cNvPr>
          <p:cNvSpPr txBox="1"/>
          <p:nvPr/>
        </p:nvSpPr>
        <p:spPr>
          <a:xfrm>
            <a:off x="1344118" y="914199"/>
            <a:ext cx="10043409" cy="1469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CO" sz="2400" b="1" kern="100" dirty="0">
                <a:solidFill>
                  <a:schemeClr val="accent2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calma no es ausencia de conflicto</a:t>
            </a:r>
            <a:r>
              <a:rPr lang="es-CO" sz="2400" b="1" kern="1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sino la</a:t>
            </a:r>
            <a:r>
              <a:rPr lang="es-CO" sz="2400" b="1" kern="100" dirty="0">
                <a:solidFill>
                  <a:schemeClr val="accent2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capacidad de tramitarlo.</a:t>
            </a:r>
            <a:endParaRPr lang="es-CO" sz="2400" b="1" kern="1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 algn="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CO" sz="2400" b="1" kern="100" dirty="0">
                <a:solidFill>
                  <a:schemeClr val="accent2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Cuando la comunidad construye, la comunidad protege.</a:t>
            </a:r>
            <a:endParaRPr lang="es-CO" sz="2400" b="1" kern="100" dirty="0">
              <a:solidFill>
                <a:schemeClr val="accent2">
                  <a:lumMod val="75000"/>
                </a:schemeClr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 algn="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s-CO" sz="2400" b="1" kern="100" dirty="0">
                <a:solidFill>
                  <a:schemeClr val="accent2">
                    <a:lumMod val="75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 aprendizaje emocional requiere un ‘lugar’ y un ‘ritual’.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F64DC15C-61CA-0665-E043-262C92A8802B}"/>
              </a:ext>
            </a:extLst>
          </p:cNvPr>
          <p:cNvGrpSpPr/>
          <p:nvPr/>
        </p:nvGrpSpPr>
        <p:grpSpPr>
          <a:xfrm>
            <a:off x="1126222" y="2383704"/>
            <a:ext cx="8977147" cy="3807234"/>
            <a:chOff x="1126222" y="2383704"/>
            <a:chExt cx="8977147" cy="3807234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7FE98857-9533-96F7-38D2-AF3BE6CA012E}"/>
                </a:ext>
              </a:extLst>
            </p:cNvPr>
            <p:cNvSpPr txBox="1"/>
            <p:nvPr/>
          </p:nvSpPr>
          <p:spPr>
            <a:xfrm>
              <a:off x="1126222" y="2383704"/>
              <a:ext cx="8977147" cy="30501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lnSpc>
                  <a:spcPct val="107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endParaRPr lang="es-CO" sz="24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  <a:p>
              <a:pPr lvl="0">
                <a:lnSpc>
                  <a:spcPct val="107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es-CO" sz="2400" b="1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L</a:t>
              </a:r>
              <a:r>
                <a:rPr lang="es-CO" sz="24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a calma se aprende como se aprenden las tablas de multiplicar: con práctica.</a:t>
              </a:r>
            </a:p>
            <a:p>
              <a:pPr lvl="0">
                <a:lnSpc>
                  <a:spcPct val="107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es-CO" sz="2400" b="1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Un árbol y un sendero no sustituyen la clase, pero sí la potencian… la responsabilidad de la escuela es formar personas íntegras, y eso incluye enseñar a regular el alma</a:t>
              </a:r>
              <a:r>
                <a:rPr lang="es-CO" sz="2400" b="1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y a buscar esas</a:t>
              </a:r>
              <a:endParaRPr lang="es-CO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B1C66CF6-AE8F-029A-5DE9-8D894DDD2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6889"/>
            <a:stretch>
              <a:fillRect/>
            </a:stretch>
          </p:blipFill>
          <p:spPr>
            <a:xfrm>
              <a:off x="2957595" y="4782398"/>
              <a:ext cx="2677232" cy="1408540"/>
            </a:xfrm>
            <a:prstGeom prst="rect">
              <a:avLst/>
            </a:prstGeom>
          </p:spPr>
        </p:pic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7E34EE6B-6B06-EB56-AC48-DA78B0C2F08A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n 1">
              <a:extLst>
                <a:ext uri="{FF2B5EF4-FFF2-40B4-BE49-F238E27FC236}">
                  <a16:creationId xmlns:a16="http://schemas.microsoft.com/office/drawing/2014/main" id="{81EA5C5A-5B39-D299-1443-5EDE46458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FD016DDC-7CB7-7C64-C328-498577585BF7}"/>
                </a:ext>
              </a:extLst>
            </p:cNvPr>
            <p:cNvSpPr/>
            <p:nvPr/>
          </p:nvSpPr>
          <p:spPr>
            <a:xfrm>
              <a:off x="2813690" y="3851374"/>
              <a:ext cx="6564619" cy="186204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s-MX" sz="11500" b="1" dirty="0">
                  <a:ln w="22225">
                    <a:solidFill>
                      <a:sysClr val="windowText" lastClr="000000"/>
                    </a:solidFill>
                    <a:prstDash val="solid"/>
                  </a:ln>
                  <a:solidFill>
                    <a:schemeClr val="accent4">
                      <a:lumMod val="75000"/>
                    </a:schemeClr>
                  </a:solidFill>
                  <a:latin typeface="Chiller" panose="04020404031007020602" pitchFamily="82" charset="0"/>
                </a:rPr>
                <a:t>Muchas gracias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5516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1114</Words>
  <Application>Microsoft Office PowerPoint</Application>
  <PresentationFormat>Panorámica</PresentationFormat>
  <Paragraphs>132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Chiller</vt:lpstr>
      <vt:lpstr>Times New Roman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de la Experiencia Significativa</dc:title>
  <dc:creator>Sebastian Santamaria</dc:creator>
  <cp:lastModifiedBy>CALIDAD-MEJORAMIENTO</cp:lastModifiedBy>
  <cp:revision>9</cp:revision>
  <dcterms:created xsi:type="dcterms:W3CDTF">2025-07-23T15:35:07Z</dcterms:created>
  <dcterms:modified xsi:type="dcterms:W3CDTF">2026-06-10T19:15:01Z</dcterms:modified>
</cp:coreProperties>
</file>