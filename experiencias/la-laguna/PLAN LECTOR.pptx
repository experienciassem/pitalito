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4314" autoAdjust="0"/>
  </p:normalViewPr>
  <p:slideViewPr>
    <p:cSldViewPr snapToGrid="0">
      <p:cViewPr varScale="1">
        <p:scale>
          <a:sx n="97" d="100"/>
          <a:sy n="97" d="100"/>
        </p:scale>
        <p:origin x="11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11B3A-05B2-4390-ABE7-CD4617558F4B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389C7-8383-4062-B15A-0EBCF3429C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03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389C7-8383-4062-B15A-0EBCF3429C2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9565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389C7-8383-4062-B15A-0EBCF3429C23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2967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858644"/>
            <a:ext cx="9144000" cy="1215483"/>
          </a:xfrm>
        </p:spPr>
        <p:txBody>
          <a:bodyPr>
            <a:normAutofit fontScale="90000"/>
          </a:bodyPr>
          <a:lstStyle/>
          <a:p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Promoción y Animación a la Lectura </a:t>
            </a:r>
            <a:r>
              <a:rPr lang="es-CO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CO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02781" y="4925693"/>
            <a:ext cx="9144000" cy="978877"/>
          </a:xfrm>
        </p:spPr>
        <p:txBody>
          <a:bodyPr/>
          <a:lstStyle/>
          <a:p>
            <a:r>
              <a:rPr lang="es-ES" dirty="0"/>
              <a:t>Líder: Mónica Toro Plazas</a:t>
            </a:r>
          </a:p>
          <a:p>
            <a:r>
              <a:rPr lang="es-ES" dirty="0"/>
              <a:t>Institución Educativa Municipal La Laguna</a:t>
            </a:r>
          </a:p>
          <a:p>
            <a:endParaRPr lang="es-CO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16B69DB1-B09D-44B2-EFBD-6662ABAF8157}"/>
              </a:ext>
            </a:extLst>
          </p:cNvPr>
          <p:cNvSpPr/>
          <p:nvPr/>
        </p:nvSpPr>
        <p:spPr>
          <a:xfrm>
            <a:off x="1882056" y="1766142"/>
            <a:ext cx="4024485" cy="3017731"/>
          </a:xfrm>
          <a:custGeom>
            <a:avLst/>
            <a:gdLst/>
            <a:ahLst/>
            <a:cxnLst/>
            <a:rect l="l" t="t" r="r" b="b"/>
            <a:pathLst>
              <a:path w="13660437" h="7547398">
                <a:moveTo>
                  <a:pt x="0" y="0"/>
                </a:moveTo>
                <a:lnTo>
                  <a:pt x="13660438" y="0"/>
                </a:lnTo>
                <a:lnTo>
                  <a:pt x="13660438" y="7547398"/>
                </a:lnTo>
                <a:lnTo>
                  <a:pt x="0" y="7547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915" b="-26830"/>
            </a:stretch>
          </a:blipFill>
          <a:effectLst>
            <a:glow rad="63500">
              <a:schemeClr val="accent6">
                <a:satMod val="175000"/>
                <a:alpha val="40000"/>
              </a:schemeClr>
            </a:glow>
            <a:softEdge rad="127000"/>
          </a:effectLst>
        </p:spPr>
        <p:txBody>
          <a:bodyPr/>
          <a:lstStyle/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674EB1-2F7A-AD6F-9576-CC8CFDAABE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2"/>
          <a:stretch/>
        </p:blipFill>
        <p:spPr>
          <a:xfrm>
            <a:off x="6512313" y="1766142"/>
            <a:ext cx="3557238" cy="3017731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06552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221722"/>
              </p:ext>
            </p:extLst>
          </p:nvPr>
        </p:nvGraphicFramePr>
        <p:xfrm>
          <a:off x="2103120" y="314963"/>
          <a:ext cx="9728324" cy="6275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5202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7973122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68108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O" sz="1400" b="1" u="none" strike="noStrike" dirty="0">
                          <a:effectLst/>
                        </a:rPr>
                        <a:t>Fundamentación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u="none" strike="noStrike" dirty="0">
                        <a:effectLst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u="none" strike="noStrike" dirty="0">
                          <a:effectLst/>
                        </a:rPr>
                        <a:t>La experiencia significativa está articulada al PEI y procura: 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Fortalecer la formación integral de los estudiantes mediante el desarrollo de las competencias comunicativas, lectoras, escritoras y literarias, en coherencia con el horizonte institucional.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Generar ambientes de aprendizaje que favorezcan la sana convivencia, el diálogo, el respeto por la diferencia y la construcción colectiva de conocimiento.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126198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experiencia significativa del Plan Lector se articula de manera coherente con la misión y la visión de la Institución Educativa Municipal La Laguna al promover procesos formativos inclusivos que fortalecen el ser, el conocer y el hacer mediante el desarrollo de las competencias lectoras y escritoras, favoreciendo ambientes de sana convivencia y el compromiso con el cuidado del medio ambiente.</a:t>
                      </a:r>
                    </a:p>
                    <a:p>
                      <a:pPr algn="just" fontAlgn="ctr"/>
                      <a:endParaRPr lang="es-E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174095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s-E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just"/>
                      <a:r>
                        <a:rPr lang="es-E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reorientación de las acciones del Plan Lector, en coherencia con el Plan de Mejoramiento Institucional, se centra en integrar la lectura y la escritura como ejes transversales en todas las áreas, el fortalecimiento de las competencias básicas, el diseño de ambientes de aprendizaje motivadores, la participación de la comunidad educativa, el seguimiento a los procesos de comprensión lectora y producción textual y la cualificación de las prácticas docentes mediante el trabajo colaborativo.</a:t>
                      </a:r>
                    </a:p>
                    <a:p>
                      <a:pPr algn="just"/>
                      <a:endParaRPr lang="es-E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  <a:tr h="159137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implementación del Plan Lector como experiencia significativa se fundamenta en una concepción pedagógica centrada en el estudiante como sujeto activo de su aprendizaje, en coherencia con los postulados del </a:t>
                      </a:r>
                      <a:r>
                        <a:rPr lang="es-CO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enfoque constructivista</a:t>
                      </a:r>
                      <a:r>
                        <a:rPr lang="es-CO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(Piaget, Vygotsky, Bruner), que reconoce la lectura como una herramienta clave para el desarrollo del pensamiento crítico, la comprensión del mundo y la construcción del conocimiento.</a:t>
                      </a:r>
                      <a:endParaRPr lang="es-E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062487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95829"/>
              </p:ext>
            </p:extLst>
          </p:nvPr>
        </p:nvGraphicFramePr>
        <p:xfrm>
          <a:off x="1084382" y="1159727"/>
          <a:ext cx="10251832" cy="5352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4295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4753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352876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      Pertinencia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experiencia significativa del Plan Lector surge como respuesta a diversas situaciones evidenciadas en el contexto institucional y local, entre ellas los bajos niveles de comprensión lectora y producción textual, el escaso hábito de lectura en los estudiantes, las limitadas prácticas de lectura en el entorno familiar y el acceso reducido a materiales bibliográficos y a espacios de circulación de la palabra. </a:t>
                      </a: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2246E91F-E209-ECCF-BB37-05D17ACD7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18" t="32440" r="29484" b="23162"/>
          <a:stretch/>
        </p:blipFill>
        <p:spPr>
          <a:xfrm>
            <a:off x="5317833" y="3429000"/>
            <a:ext cx="4383728" cy="30448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999549"/>
              </p:ext>
            </p:extLst>
          </p:nvPr>
        </p:nvGraphicFramePr>
        <p:xfrm>
          <a:off x="838200" y="836341"/>
          <a:ext cx="10287000" cy="5795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2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39372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566065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   Consistencia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2000" dirty="0"/>
                        <a:t>La experiencia del Plan Lector se fundamenta en la reflexión constante sobre la práctica pedagógica y el análisis del contexto institucional, lo que ha permitido replantear metodologías tradicionales e integrar la lectura y la escritura como ejes transversales mediante estrategias activas e inclusivas. A través del aprendizaje colaborativo, proyectos de aula y uso de las TIC, se busca fortalecer las competencias comunicativas, el pensamiento crítico, los hábitos lectores y el desempeño académico, en coherencia con el PEI y el mejoramiento continuo de la calidad educativa.</a:t>
                      </a: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0D12FE4-B6F6-2D86-29F5-08A1529D3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4" y="3992137"/>
            <a:ext cx="4047893" cy="2207941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63068"/>
              </p:ext>
            </p:extLst>
          </p:nvPr>
        </p:nvGraphicFramePr>
        <p:xfrm>
          <a:off x="838200" y="1825624"/>
          <a:ext cx="10333892" cy="4463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2409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46366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      Madurez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desarrollo de la experiencia significativa del Plan Lector durante dos años ha permitido comprender que los procesos de formación de lectores y escritores requieren continuidad, seguimiento y ajustes permanentes. </a:t>
                      </a:r>
                    </a:p>
                    <a:p>
                      <a:pPr algn="just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06717F5B-721A-BE34-8786-349DAB2F198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602" y="3587516"/>
            <a:ext cx="2530461" cy="2534503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410386"/>
              </p:ext>
            </p:extLst>
          </p:nvPr>
        </p:nvGraphicFramePr>
        <p:xfrm>
          <a:off x="838198" y="1126273"/>
          <a:ext cx="10451124" cy="56418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081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03030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641894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      Empoderamiento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experiencia del Plan Lector vincula de manera corresponsable a docentes, directivos, familias, estudiantes y </a:t>
                      </a:r>
                      <a:r>
                        <a:rPr lang="es-ES" dirty="0"/>
                        <a:t>sector productivo,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quienes, desde sus roles, fortalecen la implementación, sostenibilidad y proyección del proyecto. Esta participación conjunta favorece la evaluación continua, el ajuste de estrategias y el mejoramiento permanente, garantizando pertinencia, impacto educativo y transformación del contexto.  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59740840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1A51437-AF00-3E4A-88AF-DCFE2FEE22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37" t="40137" r="31108" b="20004"/>
          <a:stretch/>
        </p:blipFill>
        <p:spPr>
          <a:xfrm>
            <a:off x="5322814" y="3780263"/>
            <a:ext cx="4880350" cy="2620537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23682"/>
              </p:ext>
            </p:extLst>
          </p:nvPr>
        </p:nvGraphicFramePr>
        <p:xfrm>
          <a:off x="838200" y="880946"/>
          <a:ext cx="10181492" cy="52473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24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06901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4820420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  Evaluación y seguimiento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el seguimiento y la evaluación se emplean instrumentos cualitativos y cuantitativos que permiten valorar el proceso y no solo el resultado. Entre ellos se destacan: rúbricas de evaluación de lectura y escritura,  producciones textuales, registros de participación, autoevaluaciones y coevaluaciones, así como el análisis de resultados de evaluaciones internas y externas. Estos instrumentos facilitan identificar fortalezas, dificultades y niveles de desempeño en las competencias comunicativas.</a:t>
                      </a:r>
                    </a:p>
                    <a:p>
                      <a:pPr algn="just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 registro sistemático de la experiencia se realiza mediante actas, evidencias fotográficas, muestras de trabajos de los estudiantes e informes periódicos, lo que permite documentar el proceso y garantizar su continuidad.</a:t>
                      </a: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243005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34823"/>
              </p:ext>
            </p:extLst>
          </p:nvPr>
        </p:nvGraphicFramePr>
        <p:xfrm>
          <a:off x="733547" y="747132"/>
          <a:ext cx="11175955" cy="5832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201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78394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710070">
                <a:tc rowSpan="2"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r>
                        <a:rPr lang="es-CO" dirty="0"/>
                        <a:t>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Resultados a corto plazo</a:t>
                      </a:r>
                    </a:p>
                    <a:p>
                      <a:pPr marL="0" lvl="0" algn="just" defTabSz="914400" rtl="0" eaLnBrk="1" fontAlgn="ctr" latinLnBrk="0" hangingPunct="1"/>
                      <a:r>
                        <a:rPr lang="es-E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Incremento en la motivación y el gusto por la lectura y la escritura.</a:t>
                      </a:r>
                    </a:p>
                    <a:p>
                      <a:pPr marL="0" lvl="0" algn="just" defTabSz="914400" rtl="0" eaLnBrk="1" fontAlgn="ctr" latinLnBrk="0" hangingPunct="1"/>
                      <a:r>
                        <a:rPr lang="es-E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Participación activa de los estudiantes en las actividades del Plan Lector.</a:t>
                      </a:r>
                    </a:p>
                    <a:p>
                      <a:pPr marL="0" lvl="0" algn="just" defTabSz="914400" rtl="0" eaLnBrk="1" fontAlgn="ctr" latinLnBrk="0" hangingPunct="1"/>
                      <a:r>
                        <a:rPr lang="es-E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Implementación de estrategias pedagógicas unificadas en las diferentes áreas.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Producción de textos breves con mayor coherencia, creatividad y sentido comunicativo. </a:t>
                      </a:r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Aplicación de instrumentos de seguimiento que permitan identificar avances y dificultades.</a:t>
                      </a:r>
                      <a:endParaRPr lang="es-E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285750" algn="just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E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Mediano plazo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Fortalecimiento progresivo de las competencias interpretativa, argumentativa y propositiva. Mejora en los niveles de comprensión lectora evidenciada en evaluaciones internas y externas. Consolidación de los hábitos de lectura en el aula y en el hogar.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Mayor articulación curricular del Plan Lector con todas las áreas del conocimiento.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Vinculación efectiva de las familias y otros actores de la comunidad educativa.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Producción y circulación de textos significativos como revistas, murales, blogs o encuentros literarios.</a:t>
                      </a:r>
                      <a:endParaRPr lang="es-E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21220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914400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s-CO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Largo plazo</a:t>
                      </a:r>
                      <a:r>
                        <a:rPr lang="es-CO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Formación de lectores críticos, autónomos y reflexivos capaces de transformar su contexto. Sostenibilidad del Plan Lector como eje dinamizador del currículo y del PEI.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Mejoramiento continuo de la calidad educativa y de los resultados institucionales.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Fortalecimiento de la cultura de la lectura y la escritura como práctica institucional.</a:t>
                      </a:r>
                    </a:p>
                    <a:p>
                      <a:pPr lvl="0" algn="just"/>
                      <a:r>
                        <a:rPr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Estudiantes con mayores habilidades comunicativas para su proyecto de vida, la inclusión social y el cuidado del entorno.</a:t>
                      </a: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03384"/>
              </p:ext>
            </p:extLst>
          </p:nvPr>
        </p:nvGraphicFramePr>
        <p:xfrm>
          <a:off x="1318846" y="947854"/>
          <a:ext cx="10367632" cy="5542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705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47492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542156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    Transferencia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2000" dirty="0"/>
                        <a:t>La transferencia del Plan Lector a una revista ambiental escolar convierte las habilidades de lectura y escritura en un producto real y significativo que permite comprender y transformar la realidad ambiental del contexto. Al sistematizar y socializar esta experiencia como modelo replicable —a través de una revista digital— se facilita su implementación en otros establecimientos, demostrando su impacto académico, institucional y comunitario.</a:t>
                      </a:r>
                    </a:p>
                    <a:p>
                      <a:pPr algn="just" fontAlgn="ctr"/>
                      <a:endParaRPr lang="es-ES" sz="2000" dirty="0"/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878609262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82FC2CD-C5ED-C1CF-FB12-4DA489456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4" r="6164" b="12207"/>
          <a:stretch>
            <a:fillRect/>
          </a:stretch>
        </p:blipFill>
        <p:spPr>
          <a:xfrm>
            <a:off x="3236856" y="3847171"/>
            <a:ext cx="8360412" cy="254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473327"/>
              </p:ext>
            </p:extLst>
          </p:nvPr>
        </p:nvGraphicFramePr>
        <p:xfrm>
          <a:off x="1204333" y="959005"/>
          <a:ext cx="10593658" cy="5609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289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280760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609063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      Sostenibilidad</a:t>
                      </a:r>
                    </a:p>
                    <a:p>
                      <a:pPr algn="l" fontAlgn="ctr"/>
                      <a:endParaRPr lang="es-CO" sz="2000" u="none" strike="noStrike" dirty="0">
                        <a:effectLst/>
                      </a:endParaRPr>
                    </a:p>
                    <a:p>
                      <a:pPr algn="l" fontAlgn="ctr"/>
                      <a:endParaRPr lang="es-CO" sz="2000" u="none" strike="noStrike" dirty="0">
                        <a:effectLst/>
                      </a:endParaRPr>
                    </a:p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sostenibilidad institucional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la experiencia del Plan Lector se fortalece al ampliar la participación de toda la comunidad educativa mediante la creación de espacios permanentes de retroalimentación, socialización y validación de los procesos y resultados. En este sentido, se promueven encuentros pedagógicos, muestras literarias, jornadas institucionales y publicaciones periódicas. Donde docentes, directivos, estudiantes, familias y aliados externos analizan avances, formulan propuestas de mejoramiento y reconocen los logros alcanzados.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</a:tbl>
          </a:graphicData>
        </a:graphic>
      </p:graphicFrame>
      <p:sp>
        <p:nvSpPr>
          <p:cNvPr id="3" name="Freeform 2">
            <a:extLst>
              <a:ext uri="{FF2B5EF4-FFF2-40B4-BE49-F238E27FC236}">
                <a16:creationId xmlns:a16="http://schemas.microsoft.com/office/drawing/2014/main" id="{CEB1485C-0D17-114B-EEF1-2060D34F5E8E}"/>
              </a:ext>
            </a:extLst>
          </p:cNvPr>
          <p:cNvSpPr/>
          <p:nvPr/>
        </p:nvSpPr>
        <p:spPr>
          <a:xfrm>
            <a:off x="1204333" y="3682689"/>
            <a:ext cx="3178096" cy="2213518"/>
          </a:xfrm>
          <a:custGeom>
            <a:avLst/>
            <a:gdLst/>
            <a:ahLst/>
            <a:cxnLst/>
            <a:rect l="l" t="t" r="r" b="b"/>
            <a:pathLst>
              <a:path w="10554149" h="5291320">
                <a:moveTo>
                  <a:pt x="0" y="0"/>
                </a:moveTo>
                <a:lnTo>
                  <a:pt x="10554150" y="0"/>
                </a:lnTo>
                <a:lnTo>
                  <a:pt x="10554150" y="5291320"/>
                </a:lnTo>
                <a:lnTo>
                  <a:pt x="0" y="5291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596"/>
            </a:stretch>
          </a:blipFill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548253"/>
              </p:ext>
            </p:extLst>
          </p:nvPr>
        </p:nvGraphicFramePr>
        <p:xfrm>
          <a:off x="1084385" y="1582615"/>
          <a:ext cx="10369062" cy="48752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158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76747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811847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        Innovación</a:t>
                      </a:r>
                    </a:p>
                    <a:p>
                      <a:pPr algn="l" fontAlgn="ctr"/>
                      <a:endParaRPr lang="es-CO" sz="2000" u="none" strike="noStrike" dirty="0">
                        <a:effectLst/>
                      </a:endParaRPr>
                    </a:p>
                    <a:p>
                      <a:pPr algn="l" fontAlgn="ctr"/>
                      <a:endParaRPr lang="es-CO" sz="2000" u="none" strike="noStrike" dirty="0">
                        <a:effectLst/>
                      </a:endParaRPr>
                    </a:p>
                    <a:p>
                      <a:pPr algn="l" fontAlgn="ctr"/>
                      <a:endParaRPr lang="es-CO" sz="2000" u="none" strike="noStrike" dirty="0">
                        <a:effectLst/>
                      </a:endParaRPr>
                    </a:p>
                    <a:p>
                      <a:pPr algn="l" fontAlgn="ctr"/>
                      <a:endParaRPr lang="es-CO" sz="2000" u="none" strike="noStrike" dirty="0">
                        <a:effectLst/>
                      </a:endParaRPr>
                    </a:p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Identifica y reorganiza: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990812606"/>
                  </a:ext>
                </a:extLst>
              </a:tr>
              <a:tr h="163697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400" dirty="0"/>
                        <a:t>La innovación del Plan Lector radica en su articulación con la revista ambiental digital como producto real e interdisciplinario que transforma la lectura y la escritura en herramientas para investigar y comunicar problemáticas del entorno. Mediante el trabajo colaborativo y el uso pedagógico de las TIC, la propuesta integra transversalidad curricular, educación ambiental y evaluación formativa, fortaleciendo el pensamiento crítico, el liderazgo estudiantil y el mejoramiento continuo.</a:t>
                      </a:r>
                      <a:endParaRPr lang="es-ES" sz="1400" u="none" strike="noStrike" dirty="0">
                        <a:effectLst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4166287931"/>
                  </a:ext>
                </a:extLst>
              </a:tr>
              <a:tr h="217979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400" dirty="0"/>
                        <a:t>El proyecto trasciende como propuesta de investigación–acción al formular preguntas problematizadoras, realizar diagnósticos basados en evidencias y desarrollar ciclos de planeación, implementación y reflexión continua. La sistematización rigurosa, el análisis de resultados académicos y producciones estudiantiles, la participación activa de docentes y estudiantes como sujetos investigadores y la divulgación de hallazgos permiten generar conocimiento pedagógico contextualizado. Así, la experiencia no solo transforma la práctica educativa, sino que aporta nuevos saberes, fortalece la cultura investigativa institucional y posibilita su replicabilidad en otros contextos.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724067045"/>
                  </a:ext>
                </a:extLst>
              </a:tr>
            </a:tbl>
          </a:graphicData>
        </a:graphic>
      </p:graphicFrame>
      <p:sp>
        <p:nvSpPr>
          <p:cNvPr id="3" name="Freeform 5">
            <a:extLst>
              <a:ext uri="{FF2B5EF4-FFF2-40B4-BE49-F238E27FC236}">
                <a16:creationId xmlns:a16="http://schemas.microsoft.com/office/drawing/2014/main" id="{B37E752F-89DF-44D9-A6A7-45B79D29B49C}"/>
              </a:ext>
            </a:extLst>
          </p:cNvPr>
          <p:cNvSpPr/>
          <p:nvPr/>
        </p:nvSpPr>
        <p:spPr>
          <a:xfrm>
            <a:off x="1165544" y="3674327"/>
            <a:ext cx="2425150" cy="1510990"/>
          </a:xfrm>
          <a:custGeom>
            <a:avLst/>
            <a:gdLst/>
            <a:ahLst/>
            <a:cxnLst/>
            <a:rect l="l" t="t" r="r" b="b"/>
            <a:pathLst>
              <a:path w="15075811" h="6442296">
                <a:moveTo>
                  <a:pt x="0" y="0"/>
                </a:moveTo>
                <a:lnTo>
                  <a:pt x="15075811" y="0"/>
                </a:lnTo>
                <a:lnTo>
                  <a:pt x="15075811" y="6442296"/>
                </a:lnTo>
                <a:lnTo>
                  <a:pt x="0" y="6442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328" b="-37181"/>
            </a:stretch>
          </a:blipFill>
          <a:effectLst>
            <a:glow rad="63500">
              <a:schemeClr val="accent6">
                <a:satMod val="175000"/>
                <a:alpha val="40000"/>
              </a:schemeClr>
            </a:glow>
            <a:softEdge rad="63500"/>
          </a:effectLst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1216</Words>
  <Application>Microsoft Office PowerPoint</Application>
  <PresentationFormat>Panorámica</PresentationFormat>
  <Paragraphs>104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Symbol</vt:lpstr>
      <vt:lpstr>Times New Roman</vt:lpstr>
      <vt:lpstr>Tema de Office</vt:lpstr>
      <vt:lpstr>Promoción y Animación a la Lectura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16</cp:revision>
  <dcterms:created xsi:type="dcterms:W3CDTF">2025-07-23T15:35:07Z</dcterms:created>
  <dcterms:modified xsi:type="dcterms:W3CDTF">2026-06-10T19:18:35Z</dcterms:modified>
</cp:coreProperties>
</file>