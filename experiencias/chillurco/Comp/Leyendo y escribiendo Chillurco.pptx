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73" r:id="rId3"/>
    <p:sldId id="274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1" r:id="rId16"/>
    <p:sldId id="270" r:id="rId17"/>
    <p:sldId id="269" r:id="rId18"/>
    <p:sldId id="268" r:id="rId19"/>
    <p:sldId id="276" r:id="rId20"/>
    <p:sldId id="272" r:id="rId21"/>
    <p:sldId id="279" r:id="rId2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48" autoAdjust="0"/>
    <p:restoredTop sz="94718"/>
  </p:normalViewPr>
  <p:slideViewPr>
    <p:cSldViewPr snapToGrid="0">
      <p:cViewPr varScale="1">
        <p:scale>
          <a:sx n="109" d="100"/>
          <a:sy n="109" d="100"/>
        </p:scale>
        <p:origin x="4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8B3AB4-6410-5B4F-81B1-27C059D1E85F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E9E4F-BEBC-4543-A8D5-7A6E96CAC5D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7454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E9E4F-BEBC-4543-A8D5-7A6E96CAC5D1}" type="slidenum">
              <a:rPr lang="es-CO" smtClean="0"/>
              <a:t>13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57162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AB461-EC83-50E1-40A9-7DEB59E43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5D69D1D-DF4B-833F-5E45-7D77414DDC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5A94D02-BF79-A69D-3651-6617CEFA6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453CE5-7FC5-E144-E1DB-9FD698366B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E9E4F-BEBC-4543-A8D5-7A6E96CAC5D1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4518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C2D8D-675D-7D67-0585-8B86B3275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AA08A7B-6DB6-1D2A-5F8F-0728A32C5C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1D6CF88-C951-F677-87E4-7B0365BE24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80CC17F-CDAE-7FF0-9450-A26D340952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E9E4F-BEBC-4543-A8D5-7A6E96CAC5D1}" type="slidenum">
              <a:rPr lang="es-CO" smtClean="0"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0990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487CA-64D7-A20A-87BA-5E318CAED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7AE7B02-1FBF-B710-1BFB-508111104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57FC744-4B03-95EB-4739-657FFD586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A415865-9749-8B6D-E70D-57A6A3E057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E9E4F-BEBC-4543-A8D5-7A6E96CAC5D1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37632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6C4ED-6753-2093-601D-98FB69500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52749A5-9E36-CCE9-714A-65A255EBDA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AD3D34A-2BDA-EB4A-AC52-2AD91373F5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ADBCEB3-D6F5-4857-1B54-732CF2DDA2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E9E4F-BEBC-4543-A8D5-7A6E96CAC5D1}" type="slidenum">
              <a:rPr lang="es-CO" smtClean="0"/>
              <a:t>17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3584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E7614-B734-1845-6D92-2E5DF2721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0869241-7A0B-1CFD-BA11-98CF96C5E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4F99126-EFE9-6FB2-E363-39D9C5656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3D8536B-9DDB-1A6F-744E-DB9D94157C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E9E4F-BEBC-4543-A8D5-7A6E96CAC5D1}" type="slidenum">
              <a:rPr lang="es-CO" smtClean="0"/>
              <a:t>18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672826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0C6FB-A5D3-3643-989F-8DC7775A2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60384F5-ED38-D69F-FDA2-ABDF2F95CC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0C25CEB-885D-9CA4-693E-4A28CCFF7A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F05DB1-64A4-592A-4707-21B34C609E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E9E4F-BEBC-4543-A8D5-7A6E96CAC5D1}" type="slidenum">
              <a:rPr lang="es-CO" smtClean="0"/>
              <a:t>19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2404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6B983-5656-4878-6D53-3C188543E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544B90E-F01C-1B76-CFA2-85388F00DB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E38A8CE-AE27-AD09-6A70-0A71393DA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02A94C-5073-B816-1D68-CAEF58DC67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E9E4F-BEBC-4543-A8D5-7A6E96CAC5D1}" type="slidenum">
              <a:rPr lang="es-CO" smtClean="0"/>
              <a:t>20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1127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B25AD-C545-9FBD-26D9-22FAE5ECF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1547F9C-791F-FD70-8D2D-99FE21B31E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1A9645D-59F2-2FED-A5C2-3BD197619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D63187-5140-3D2A-D3BA-06612C58A4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E9E4F-BEBC-4543-A8D5-7A6E96CAC5D1}" type="slidenum">
              <a:rPr lang="es-CO" smtClean="0"/>
              <a:t>21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7710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LE0IdmNpx3GeyysKLwXrQnuNfzp1DXI3/view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35892"/>
            <a:ext cx="9144000" cy="1806583"/>
          </a:xfrm>
        </p:spPr>
        <p:txBody>
          <a:bodyPr anchor="ctr">
            <a:normAutofit/>
          </a:bodyPr>
          <a:lstStyle/>
          <a:p>
            <a:r>
              <a:rPr lang="es-ES" b="1" dirty="0">
                <a:latin typeface="Century Gothic" panose="020B0502020202020204" pitchFamily="34" charset="0"/>
              </a:rPr>
              <a:t>Leyendo y escribiendo</a:t>
            </a:r>
            <a:br>
              <a:rPr lang="es-ES" b="1" dirty="0">
                <a:latin typeface="Century Gothic" panose="020B0502020202020204" pitchFamily="34" charset="0"/>
              </a:rPr>
            </a:br>
            <a:r>
              <a:rPr lang="es-ES" b="1" dirty="0">
                <a:latin typeface="Century Gothic" panose="020B0502020202020204" pitchFamily="34" charset="0"/>
              </a:rPr>
              <a:t>Vamos aprendiendo</a:t>
            </a:r>
            <a:endParaRPr lang="es-CO" b="1" dirty="0">
              <a:latin typeface="Century Gothic" panose="020B050202020202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09403" y="3360722"/>
            <a:ext cx="10363448" cy="2466037"/>
          </a:xfrm>
        </p:spPr>
        <p:txBody>
          <a:bodyPr>
            <a:noAutofit/>
          </a:bodyPr>
          <a:lstStyle/>
          <a:p>
            <a:pPr algn="l"/>
            <a:r>
              <a:rPr lang="es-ES" b="1" dirty="0">
                <a:latin typeface="Century Gothic" panose="020B0502020202020204" pitchFamily="34" charset="0"/>
              </a:rPr>
              <a:t>Lidera: </a:t>
            </a:r>
            <a:r>
              <a:rPr lang="es-ES" dirty="0">
                <a:latin typeface="Century Gothic" panose="020B0502020202020204" pitchFamily="34" charset="0"/>
              </a:rPr>
              <a:t>Efraín Sánchez Alarcón</a:t>
            </a:r>
          </a:p>
          <a:p>
            <a:pPr algn="l"/>
            <a:r>
              <a:rPr lang="es-ES" dirty="0">
                <a:latin typeface="Century Gothic" panose="020B0502020202020204" pitchFamily="34" charset="0"/>
              </a:rPr>
              <a:t>Docente Multigrado de la sede La Meseta</a:t>
            </a:r>
          </a:p>
          <a:p>
            <a:pPr algn="l"/>
            <a:endParaRPr lang="es-ES" sz="1000" dirty="0">
              <a:latin typeface="Century Gothic" panose="020B0502020202020204" pitchFamily="34" charset="0"/>
            </a:endParaRPr>
          </a:p>
          <a:p>
            <a:pPr algn="r"/>
            <a:endParaRPr lang="es-ES" dirty="0" smtClean="0">
              <a:latin typeface="Century Gothic" panose="020B0502020202020204" pitchFamily="34" charset="0"/>
            </a:endParaRPr>
          </a:p>
          <a:p>
            <a:pPr algn="r"/>
            <a:endParaRPr lang="es-ES" dirty="0">
              <a:latin typeface="Century Gothic" panose="020B0502020202020204" pitchFamily="34" charset="0"/>
            </a:endParaRPr>
          </a:p>
          <a:p>
            <a:pPr algn="r"/>
            <a:r>
              <a:rPr lang="es-ES" dirty="0" smtClean="0">
                <a:latin typeface="Century Gothic" panose="020B0502020202020204" pitchFamily="34" charset="0"/>
              </a:rPr>
              <a:t>Institución </a:t>
            </a:r>
            <a:r>
              <a:rPr lang="es-ES" dirty="0">
                <a:latin typeface="Century Gothic" panose="020B0502020202020204" pitchFamily="34" charset="0"/>
              </a:rPr>
              <a:t>Educativa Municipal Chillurco</a:t>
            </a:r>
          </a:p>
        </p:txBody>
      </p:sp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21777-BE18-B779-0643-E3FA149D9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657C677-CEA5-911A-E550-7B78AB22B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88"/>
            <a:ext cx="12192000" cy="6858000"/>
          </a:xfrm>
          <a:prstGeom prst="rect">
            <a:avLst/>
          </a:prstGeom>
        </p:spPr>
      </p:pic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1E798560-5D3B-BEF9-4D0D-446129F95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611826"/>
              </p:ext>
            </p:extLst>
          </p:nvPr>
        </p:nvGraphicFramePr>
        <p:xfrm>
          <a:off x="651580" y="1051064"/>
          <a:ext cx="10888839" cy="50205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492">
                  <a:extLst>
                    <a:ext uri="{9D8B030D-6E8A-4147-A177-3AD203B41FA5}">
                      <a16:colId xmlns:a16="http://schemas.microsoft.com/office/drawing/2014/main" val="2215923136"/>
                    </a:ext>
                  </a:extLst>
                </a:gridCol>
                <a:gridCol w="10276347">
                  <a:extLst>
                    <a:ext uri="{9D8B030D-6E8A-4147-A177-3AD203B41FA5}">
                      <a16:colId xmlns:a16="http://schemas.microsoft.com/office/drawing/2014/main" val="1923169113"/>
                    </a:ext>
                  </a:extLst>
                </a:gridCol>
              </a:tblGrid>
              <a:tr h="80949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8425" indent="0" algn="just" fontAlgn="ctr">
                        <a:tabLst/>
                      </a:pPr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¿Quiénes somos?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961306"/>
                  </a:ext>
                </a:extLst>
              </a:tr>
              <a:tr h="397495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39700" indent="0">
                        <a:buAutoNum type="arabicPeriod"/>
                        <a:tabLst/>
                      </a:pPr>
                      <a:r>
                        <a:rPr lang="es-CO" sz="1600" b="1" dirty="0">
                          <a:latin typeface="Century Gothic" panose="020B0502020202020204" pitchFamily="34" charset="0"/>
                        </a:rPr>
                        <a:t> Caracterización Geográfica</a:t>
                      </a:r>
                    </a:p>
                    <a:p>
                      <a:pPr marL="139700" indent="0">
                        <a:buAutoNum type="arabicPeriod"/>
                        <a:tabLst/>
                      </a:pPr>
                      <a:endParaRPr lang="es-CO" sz="1200" dirty="0">
                        <a:latin typeface="Century Gothic" panose="020B0502020202020204" pitchFamily="34" charset="0"/>
                      </a:endParaRPr>
                    </a:p>
                    <a:p>
                      <a:pPr marL="139700" indent="0">
                        <a:tabLst>
                          <a:tab pos="8528050" algn="l"/>
                          <a:tab pos="10217150" algn="l"/>
                        </a:tabLst>
                      </a:pPr>
                      <a:r>
                        <a:rPr lang="es-CO" sz="1600" b="1" dirty="0">
                          <a:latin typeface="Century Gothic" panose="020B0502020202020204" pitchFamily="34" charset="0"/>
                        </a:rPr>
                        <a:t>Ubicación:</a:t>
                      </a:r>
                      <a:r>
                        <a:rPr lang="es-CO" sz="1600" dirty="0">
                          <a:latin typeface="Century Gothic" panose="020B0502020202020204" pitchFamily="34" charset="0"/>
                        </a:rPr>
                        <a:t> Institución de </a:t>
                      </a:r>
                      <a:r>
                        <a:rPr lang="es-CO" sz="1600" b="1" dirty="0">
                          <a:latin typeface="Century Gothic" panose="020B0502020202020204" pitchFamily="34" charset="0"/>
                        </a:rPr>
                        <a:t>carácter rural</a:t>
                      </a:r>
                      <a:r>
                        <a:rPr lang="es-CO" sz="1600" dirty="0">
                          <a:latin typeface="Century Gothic" panose="020B0502020202020204" pitchFamily="34" charset="0"/>
                        </a:rPr>
                        <a:t>, situada 15 km al </a:t>
                      </a:r>
                    </a:p>
                    <a:p>
                      <a:pPr marL="139700" indent="0">
                        <a:tabLst>
                          <a:tab pos="8528050" algn="l"/>
                          <a:tab pos="10217150" algn="l"/>
                        </a:tabLst>
                      </a:pPr>
                      <a:r>
                        <a:rPr lang="es-CO" sz="1600" dirty="0">
                          <a:latin typeface="Century Gothic" panose="020B0502020202020204" pitchFamily="34" charset="0"/>
                        </a:rPr>
                        <a:t>occidente del casco urbano de Pitalito, al sur del Corregimiento </a:t>
                      </a:r>
                    </a:p>
                    <a:p>
                      <a:pPr marL="139700" indent="0">
                        <a:tabLst>
                          <a:tab pos="8528050" algn="l"/>
                          <a:tab pos="10217150" algn="l"/>
                        </a:tabLst>
                      </a:pPr>
                      <a:r>
                        <a:rPr lang="es-CO" sz="1600" dirty="0">
                          <a:latin typeface="Century Gothic" panose="020B0502020202020204" pitchFamily="34" charset="0"/>
                        </a:rPr>
                        <a:t>de Chillurco.</a:t>
                      </a:r>
                    </a:p>
                    <a:p>
                      <a:pPr marL="139700" indent="0">
                        <a:tabLst>
                          <a:tab pos="8528050" algn="l"/>
                          <a:tab pos="10217150" algn="l"/>
                        </a:tabLst>
                      </a:pPr>
                      <a:r>
                        <a:rPr lang="es-CO" sz="1600" b="1" dirty="0">
                          <a:latin typeface="Century Gothic" panose="020B0502020202020204" pitchFamily="34" charset="0"/>
                        </a:rPr>
                        <a:t>Composición:</a:t>
                      </a:r>
                      <a:r>
                        <a:rPr lang="es-CO" sz="1600" dirty="0">
                          <a:latin typeface="Century Gothic" panose="020B0502020202020204" pitchFamily="34" charset="0"/>
                        </a:rPr>
                        <a:t> Es una entidad </a:t>
                      </a:r>
                      <a:r>
                        <a:rPr lang="es-CO" sz="1600" b="0" dirty="0">
                          <a:latin typeface="Century Gothic" panose="020B0502020202020204" pitchFamily="34" charset="0"/>
                        </a:rPr>
                        <a:t>multisede</a:t>
                      </a:r>
                      <a:r>
                        <a:rPr lang="es-CO" sz="1600" dirty="0">
                          <a:latin typeface="Century Gothic" panose="020B0502020202020204" pitchFamily="34" charset="0"/>
                        </a:rPr>
                        <a:t> compuesta por </a:t>
                      </a:r>
                    </a:p>
                    <a:p>
                      <a:pPr marL="139700" indent="0">
                        <a:tabLst>
                          <a:tab pos="8528050" algn="l"/>
                          <a:tab pos="10217150" algn="l"/>
                        </a:tabLst>
                      </a:pPr>
                      <a:r>
                        <a:rPr lang="es-CO" sz="1600" b="0" dirty="0">
                          <a:latin typeface="Century Gothic" panose="020B0502020202020204" pitchFamily="34" charset="0"/>
                        </a:rPr>
                        <a:t>siete (7) sedes “</a:t>
                      </a:r>
                      <a:r>
                        <a:rPr lang="es-CO" sz="1600" dirty="0">
                          <a:latin typeface="Century Gothic" panose="020B0502020202020204" pitchFamily="34" charset="0"/>
                        </a:rPr>
                        <a:t>Chillurco (Principal), Las Granjas, El Pedregal, </a:t>
                      </a:r>
                    </a:p>
                    <a:p>
                      <a:pPr marL="139700" indent="0">
                        <a:tabLst>
                          <a:tab pos="8528050" algn="l"/>
                          <a:tab pos="10217150" algn="l"/>
                        </a:tabLst>
                      </a:pPr>
                      <a:r>
                        <a:rPr lang="es-CO" sz="1600" dirty="0">
                          <a:latin typeface="Century Gothic" panose="020B0502020202020204" pitchFamily="34" charset="0"/>
                        </a:rPr>
                        <a:t>La Pradera, La Meseta, Barsaloza y Risaralda”.</a:t>
                      </a:r>
                    </a:p>
                    <a:p>
                      <a:pPr marL="139700" indent="0">
                        <a:tabLst/>
                      </a:pPr>
                      <a:endParaRPr lang="es-CO" sz="1200" dirty="0">
                        <a:latin typeface="Century Gothic" panose="020B0502020202020204" pitchFamily="34" charset="0"/>
                      </a:endParaRPr>
                    </a:p>
                    <a:p>
                      <a:pPr marL="139700" indent="0">
                        <a:tabLst/>
                      </a:pPr>
                      <a:r>
                        <a:rPr lang="es-CO" sz="1600" b="1" dirty="0">
                          <a:latin typeface="Century Gothic" panose="020B0502020202020204" pitchFamily="34" charset="0"/>
                        </a:rPr>
                        <a:t>2. Cobertura y Estructura</a:t>
                      </a:r>
                    </a:p>
                    <a:p>
                      <a:pPr marL="139700" indent="0">
                        <a:tabLst/>
                      </a:pPr>
                      <a:endParaRPr lang="es-CO" sz="1200" dirty="0">
                        <a:latin typeface="Century Gothic" panose="020B0502020202020204" pitchFamily="34" charset="0"/>
                      </a:endParaRPr>
                    </a:p>
                    <a:p>
                      <a:pPr marL="139700" indent="0">
                        <a:tabLst/>
                      </a:pPr>
                      <a:r>
                        <a:rPr lang="es-CO" sz="1600" b="1" dirty="0">
                          <a:latin typeface="Century Gothic" panose="020B0502020202020204" pitchFamily="34" charset="0"/>
                        </a:rPr>
                        <a:t>Población:</a:t>
                      </a:r>
                      <a:r>
                        <a:rPr lang="es-CO" sz="1600" dirty="0">
                          <a:latin typeface="Century Gothic" panose="020B0502020202020204" pitchFamily="34" charset="0"/>
                        </a:rPr>
                        <a:t> Atiende a una población que oscila entre 315 y 340</a:t>
                      </a:r>
                    </a:p>
                    <a:p>
                      <a:pPr marL="139700" indent="0">
                        <a:tabLst/>
                      </a:pPr>
                      <a:r>
                        <a:rPr lang="es-CO" sz="1600" b="0" dirty="0">
                          <a:latin typeface="Century Gothic" panose="020B0502020202020204" pitchFamily="34" charset="0"/>
                        </a:rPr>
                        <a:t>estudiantes.</a:t>
                      </a:r>
                    </a:p>
                    <a:p>
                      <a:pPr marL="139700" indent="0">
                        <a:tabLst/>
                      </a:pPr>
                      <a:r>
                        <a:rPr lang="es-CO" sz="1600" b="1" dirty="0">
                          <a:latin typeface="Century Gothic" panose="020B0502020202020204" pitchFamily="34" charset="0"/>
                        </a:rPr>
                        <a:t>Niveles:</a:t>
                      </a:r>
                      <a:r>
                        <a:rPr lang="es-CO" sz="1600" dirty="0">
                          <a:latin typeface="Century Gothic" panose="020B0502020202020204" pitchFamily="34" charset="0"/>
                        </a:rPr>
                        <a:t> Ofrece educación desde los niveles de </a:t>
                      </a:r>
                      <a:r>
                        <a:rPr lang="es-CO" sz="1600" b="0" dirty="0">
                          <a:latin typeface="Century Gothic" panose="020B0502020202020204" pitchFamily="34" charset="0"/>
                        </a:rPr>
                        <a:t>preescolar hasta </a:t>
                      </a:r>
                    </a:p>
                    <a:p>
                      <a:pPr marL="139700" indent="0">
                        <a:tabLst/>
                      </a:pPr>
                      <a:r>
                        <a:rPr lang="es-CO" sz="1600" b="0" dirty="0">
                          <a:latin typeface="Century Gothic" panose="020B0502020202020204" pitchFamily="34" charset="0"/>
                        </a:rPr>
                        <a:t>educación media.</a:t>
                      </a:r>
                    </a:p>
                    <a:p>
                      <a:pPr marL="139700" indent="0">
                        <a:tabLst/>
                      </a:pPr>
                      <a:r>
                        <a:rPr lang="es-CO" sz="1600" b="1" dirty="0">
                          <a:latin typeface="Century Gothic" panose="020B0502020202020204" pitchFamily="34" charset="0"/>
                        </a:rPr>
                        <a:t>Organización:</a:t>
                      </a:r>
                      <a:r>
                        <a:rPr lang="es-CO" sz="1600" dirty="0">
                          <a:latin typeface="Century Gothic" panose="020B0502020202020204" pitchFamily="34" charset="0"/>
                        </a:rPr>
                        <a:t> Su operación se basa en los </a:t>
                      </a:r>
                      <a:r>
                        <a:rPr lang="es-CO" sz="1600" b="0" dirty="0">
                          <a:latin typeface="Century Gothic" panose="020B0502020202020204" pitchFamily="34" charset="0"/>
                        </a:rPr>
                        <a:t>cuatro componentes </a:t>
                      </a:r>
                    </a:p>
                    <a:p>
                      <a:pPr marL="139700" indent="0">
                        <a:tabLst/>
                      </a:pPr>
                      <a:r>
                        <a:rPr lang="es-CO" sz="1600" b="0" dirty="0">
                          <a:latin typeface="Century Gothic" panose="020B0502020202020204" pitchFamily="34" charset="0"/>
                        </a:rPr>
                        <a:t>de gestión “Directivo, Académico, Administrativo </a:t>
                      </a:r>
                      <a:r>
                        <a:rPr lang="es-CO" sz="1600" dirty="0">
                          <a:latin typeface="Century Gothic" panose="020B0502020202020204" pitchFamily="34" charset="0"/>
                        </a:rPr>
                        <a:t>y Comunitario”.</a:t>
                      </a:r>
                    </a:p>
                    <a:p>
                      <a:pPr marL="139700" indent="0">
                        <a:tabLst/>
                      </a:pPr>
                      <a:endParaRPr lang="es-CO" sz="1600" dirty="0">
                        <a:latin typeface="Century Gothic" panose="020B0502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044358"/>
                  </a:ext>
                </a:extLst>
              </a:tr>
            </a:tbl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18454810-3DFB-34A7-D14F-F8A5D02E81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12530" y="2168594"/>
            <a:ext cx="2881250" cy="317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341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5874F-0511-36F4-F1D8-7BE2161AA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DA347A9-9CA5-70C9-DFDA-2F6941931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88"/>
            <a:ext cx="12192000" cy="6858000"/>
          </a:xfrm>
          <a:prstGeom prst="rect">
            <a:avLst/>
          </a:prstGeom>
        </p:spPr>
      </p:pic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15EA17B6-8F3A-3B37-CB34-B69915B047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738974"/>
              </p:ext>
            </p:extLst>
          </p:nvPr>
        </p:nvGraphicFramePr>
        <p:xfrm>
          <a:off x="829705" y="1051066"/>
          <a:ext cx="10511225" cy="50766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1251">
                  <a:extLst>
                    <a:ext uri="{9D8B030D-6E8A-4147-A177-3AD203B41FA5}">
                      <a16:colId xmlns:a16="http://schemas.microsoft.com/office/drawing/2014/main" val="2215923136"/>
                    </a:ext>
                  </a:extLst>
                </a:gridCol>
                <a:gridCol w="9919974">
                  <a:extLst>
                    <a:ext uri="{9D8B030D-6E8A-4147-A177-3AD203B41FA5}">
                      <a16:colId xmlns:a16="http://schemas.microsoft.com/office/drawing/2014/main" val="1923169113"/>
                    </a:ext>
                  </a:extLst>
                </a:gridCol>
              </a:tblGrid>
              <a:tr h="110455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J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9700" indent="0" algn="just" fontAlgn="ctr">
                        <a:tabLst/>
                      </a:pPr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Objetivo General: </a:t>
                      </a:r>
                    </a:p>
                    <a:p>
                      <a:pPr marL="139700" indent="0" algn="just" fontAlgn="ctr">
                        <a:tabLst/>
                      </a:pPr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139700" indent="0" algn="just">
                        <a:tabLst/>
                      </a:pPr>
                      <a:r>
                        <a:rPr lang="es-MX" sz="1600" kern="1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Times New Roman" panose="02020603050405020304" pitchFamily="18" charset="0"/>
                        </a:rPr>
                        <a:t>Fomentar hábitos lectores a través del gusto por la literatura infantil y juvenil.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961306"/>
                  </a:ext>
                </a:extLst>
              </a:tr>
              <a:tr h="397204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39700" indent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  <a:tabLst/>
                      </a:pPr>
                      <a:r>
                        <a:rPr lang="es-CO" sz="1600" b="1" dirty="0">
                          <a:latin typeface="Century Gothic" panose="020B0502020202020204" pitchFamily="34" charset="0"/>
                        </a:rPr>
                        <a:t>Objetivos específicos: </a:t>
                      </a:r>
                      <a:endParaRPr lang="es-CO" sz="1600" b="1" kern="1200" dirty="0">
                        <a:solidFill>
                          <a:schemeClr val="dk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  <a:p>
                      <a:pPr marL="13970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s-CO" sz="1600" b="0" kern="1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1. Formar integralmente a los estudiantes a través de la lectura </a:t>
                      </a:r>
                    </a:p>
                    <a:p>
                      <a:pPr marL="13970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s-CO" sz="1600" b="0" kern="1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como medio para el conocimiento científico, el aprovechamiento </a:t>
                      </a:r>
                    </a:p>
                    <a:p>
                      <a:pPr marL="13970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s-CO" sz="1600" b="0" kern="1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del entorno local y la innovación pedagógica.</a:t>
                      </a:r>
                    </a:p>
                    <a:p>
                      <a:pPr marL="13970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  <a:tabLst/>
                      </a:pPr>
                      <a:endParaRPr lang="es-CO" sz="800" b="0" kern="1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3970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s-CO" sz="1600" b="0" kern="1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2. Fomentar la conexión con la naturaleza y la promoción de la vida </a:t>
                      </a:r>
                    </a:p>
                    <a:p>
                      <a:pPr marL="13970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s-CO" sz="1600" b="0" kern="1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mediante la selección de textos literarios, científicos y ambientales </a:t>
                      </a:r>
                    </a:p>
                    <a:p>
                      <a:pPr marL="13970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s-CO" sz="1600" b="0" kern="1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que acercan a los estudiantes al respeto y cuidado del medio ambiente. </a:t>
                      </a:r>
                    </a:p>
                    <a:p>
                      <a:pPr marL="13970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  <a:tabLst/>
                      </a:pPr>
                      <a:endParaRPr lang="es-CO" sz="800" b="0" kern="1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3970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s-CO" sz="1600" b="0" kern="1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3. Contribuir a la formación de ciudadanos que aprenden a leer </a:t>
                      </a:r>
                    </a:p>
                    <a:p>
                      <a:pPr marL="13970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s-CO" sz="1600" b="0" kern="1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el mundo y escribir su realidad, desarrollando competencias </a:t>
                      </a:r>
                    </a:p>
                    <a:p>
                      <a:pPr marL="13970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s-CO" sz="1600" b="0" kern="1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comunicativas que fortalecen la vida en comunidad.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044358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18A1D2B2-7AEB-39D1-F47F-EC7FF8315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1949" y="2158584"/>
            <a:ext cx="2886774" cy="3969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9571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800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715595"/>
              </p:ext>
            </p:extLst>
          </p:nvPr>
        </p:nvGraphicFramePr>
        <p:xfrm>
          <a:off x="355424" y="1241908"/>
          <a:ext cx="11481152" cy="47837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5809">
                  <a:extLst>
                    <a:ext uri="{9D8B030D-6E8A-4147-A177-3AD203B41FA5}">
                      <a16:colId xmlns:a16="http://schemas.microsoft.com/office/drawing/2014/main" val="2215923136"/>
                    </a:ext>
                  </a:extLst>
                </a:gridCol>
                <a:gridCol w="10835343">
                  <a:extLst>
                    <a:ext uri="{9D8B030D-6E8A-4147-A177-3AD203B41FA5}">
                      <a16:colId xmlns:a16="http://schemas.microsoft.com/office/drawing/2014/main" val="1923169113"/>
                    </a:ext>
                  </a:extLst>
                </a:gridCol>
              </a:tblGrid>
              <a:tr h="146962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Century Gothic" panose="020B0502020202020204" pitchFamily="34" charset="0"/>
                        </a:rPr>
                        <a:t>F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Century Gothic" panose="020B0502020202020204" pitchFamily="34" charset="0"/>
                        </a:rPr>
                        <a:t>U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Century Gothic" panose="020B0502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Century Gothic" panose="020B0502020202020204" pitchFamily="34" charset="0"/>
                        </a:rPr>
                        <a:t>D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Century Gothic" panose="020B0502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Century Gothic" panose="020B0502020202020204" pitchFamily="34" charset="0"/>
                        </a:rPr>
                        <a:t>M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Century Gothic" panose="020B0502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Century Gothic" panose="020B0502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Century Gothic" panose="020B0502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Century Gothic" panose="020B0502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Century Gothic" panose="020B0502020202020204" pitchFamily="34" charset="0"/>
                        </a:rPr>
                        <a:t>C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Century Gothic" panose="020B0502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Century Gothic" panose="020B0502020202020204" pitchFamily="34" charset="0"/>
                        </a:rPr>
                        <a:t>Ó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Century Gothic" panose="020B0502020202020204" pitchFamily="34" charset="0"/>
                        </a:rPr>
                        <a:t>N</a:t>
                      </a:r>
                      <a:endParaRPr lang="es-ES_tradnl" sz="1600" b="1" i="0" u="none" strike="noStrike" noProof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9700" indent="0" algn="just" fontAlgn="ctr">
                        <a:tabLst/>
                      </a:pPr>
                      <a:endParaRPr lang="es-ES_tradnl" sz="1600" b="1" u="none" strike="noStrike" noProof="0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139700" indent="0" algn="just" fontAlgn="ctr">
                        <a:tabLst/>
                      </a:pPr>
                      <a:r>
                        <a:rPr lang="es-ES_tradnl" sz="1600" b="1" u="none" strike="noStrike" noProof="0" dirty="0">
                          <a:effectLst/>
                          <a:latin typeface="Century Gothic" panose="020B0502020202020204" pitchFamily="34" charset="0"/>
                        </a:rPr>
                        <a:t>La experiencia está articulada al PEI.</a:t>
                      </a:r>
                    </a:p>
                    <a:p>
                      <a:pPr marL="139700" indent="0" algn="just" fontAlgn="ctr">
                        <a:tabLst/>
                      </a:pPr>
                      <a:r>
                        <a:rPr lang="es-ES_tradnl" sz="800" b="1" u="none" strike="noStrike" noProof="0" dirty="0"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</a:p>
                    <a:p>
                      <a:pPr marL="1397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u="none" strike="noStrike" noProof="0" dirty="0">
                          <a:effectLst/>
                          <a:latin typeface="Century Gothic" panose="020B0502020202020204" pitchFamily="34" charset="0"/>
                        </a:rPr>
                        <a:t>Este proyecto inició en el año 2015, </a:t>
                      </a:r>
                      <a:r>
                        <a:rPr lang="es-CO" sz="1600" kern="1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se ha implementado como una estrategia sostenida que motiva y crea hábitos lectores en la educación básica primaria.</a:t>
                      </a:r>
                    </a:p>
                    <a:p>
                      <a:pPr marL="139700" indent="0" algn="just" fontAlgn="ctr">
                        <a:tabLst/>
                      </a:pPr>
                      <a:endParaRPr lang="es-ES_tradnl" sz="1600" noProof="0" dirty="0">
                        <a:latin typeface="Century Gothic" panose="020B0502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961306"/>
                  </a:ext>
                </a:extLst>
              </a:tr>
              <a:tr h="3314125">
                <a:tc vMerge="1">
                  <a:txBody>
                    <a:bodyPr/>
                    <a:lstStyle/>
                    <a:p>
                      <a:pPr algn="ctr" fontAlgn="ctr"/>
                      <a:endParaRPr lang="es-ES_tradnl" sz="1600" b="1" i="0" u="none" strike="noStrike" noProof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7325" indent="0" algn="just">
                        <a:tabLst/>
                      </a:pPr>
                      <a:r>
                        <a:rPr lang="es-ES_tradnl" sz="1600" b="1" u="none" strike="noStrike" noProof="0" dirty="0">
                          <a:effectLst/>
                          <a:latin typeface="Century Gothic" panose="020B0502020202020204" pitchFamily="34" charset="0"/>
                        </a:rPr>
                        <a:t>Ampliar puntos de articulación con misión, visión, valores y principios:</a:t>
                      </a:r>
                      <a:r>
                        <a:rPr lang="es-ES_tradnl" sz="1600" b="1" noProof="0" dirty="0">
                          <a:latin typeface="Century Gothic" panose="020B0502020202020204" pitchFamily="34" charset="0"/>
                        </a:rPr>
                        <a:t> </a:t>
                      </a:r>
                    </a:p>
                    <a:p>
                      <a:pPr marL="187325" indent="0" algn="just">
                        <a:tabLst/>
                      </a:pPr>
                      <a:endParaRPr lang="es-ES_tradnl" sz="800" b="1" noProof="0" dirty="0">
                        <a:latin typeface="Century Gothic" panose="020B0502020202020204" pitchFamily="34" charset="0"/>
                      </a:endParaRPr>
                    </a:p>
                    <a:p>
                      <a:pPr marL="187325" indent="0" algn="just">
                        <a:tabLst/>
                      </a:pPr>
                      <a:r>
                        <a:rPr lang="es-CO" sz="1600" b="0" kern="1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Ha demostrado ser eficaz al mejorar las competencias comunicativas, </a:t>
                      </a:r>
                    </a:p>
                    <a:p>
                      <a:pPr marL="187325" indent="0" algn="just">
                        <a:tabLst/>
                      </a:pPr>
                      <a:r>
                        <a:rPr lang="es-CO" sz="1600" b="0" kern="1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escritoras y lectoras de los estudiantes, generando un impacto positivo </a:t>
                      </a:r>
                    </a:p>
                    <a:p>
                      <a:pPr marL="187325" indent="0" algn="just">
                        <a:tabLst/>
                      </a:pPr>
                      <a:r>
                        <a:rPr lang="es-CO" sz="1600" b="0" kern="1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en su rendimiento académico.</a:t>
                      </a:r>
                    </a:p>
                    <a:p>
                      <a:pPr marL="187325" indent="0" algn="just">
                        <a:tabLst/>
                      </a:pPr>
                      <a:endParaRPr lang="es-CO" sz="800" b="0" kern="1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87325" indent="0" algn="just">
                        <a:tabLst/>
                      </a:pPr>
                      <a:r>
                        <a:rPr lang="es-CO" sz="1600" b="0" kern="1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Se reconoce como un ejemplo de cómo las prácticas pedagógicas </a:t>
                      </a:r>
                    </a:p>
                    <a:p>
                      <a:pPr marL="187325" indent="0" algn="just">
                        <a:tabLst/>
                      </a:pPr>
                      <a:r>
                        <a:rPr lang="es-CO" sz="1600" b="0" kern="1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innovadoras pueden transformar los procesos de enseñanza-aprendizaje, </a:t>
                      </a:r>
                    </a:p>
                    <a:p>
                      <a:pPr marL="187325" indent="0" algn="just">
                        <a:tabLst/>
                      </a:pPr>
                      <a:r>
                        <a:rPr lang="es-CO" sz="1600" b="0" kern="1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convirtiéndose en parte de la identidad institucional.</a:t>
                      </a:r>
                    </a:p>
                    <a:p>
                      <a:pPr marL="187325" indent="0" algn="just">
                        <a:tabLst/>
                      </a:pPr>
                      <a:endParaRPr lang="es-CO" sz="800" b="0" kern="1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87325" indent="0" algn="just">
                        <a:tabLst/>
                      </a:pPr>
                      <a:r>
                        <a:rPr lang="es-CO" sz="1600" b="0" kern="1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Aporta a la construcción de aprendizajes significativos, ya que los </a:t>
                      </a:r>
                    </a:p>
                    <a:p>
                      <a:pPr marL="187325" indent="0" algn="just">
                        <a:tabLst/>
                      </a:pPr>
                      <a:r>
                        <a:rPr lang="es-CO" sz="1600" b="0" kern="1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estudiantes no solo leen, sino que también producen textos, </a:t>
                      </a:r>
                    </a:p>
                    <a:p>
                      <a:pPr marL="187325" indent="0" algn="just">
                        <a:tabLst/>
                      </a:pPr>
                      <a:r>
                        <a:rPr lang="es-CO" sz="1600" b="0" kern="1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comparten sus experiencias y aplican lo aprendido en su vida escolar y cotidiana.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044358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1DAED2D1-F909-5F1A-971A-F260AC77DA5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29"/>
          <a:stretch>
            <a:fillRect/>
          </a:stretch>
        </p:blipFill>
        <p:spPr bwMode="auto">
          <a:xfrm flipH="1">
            <a:off x="9295489" y="2908092"/>
            <a:ext cx="1854453" cy="31175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207396"/>
              </p:ext>
            </p:extLst>
          </p:nvPr>
        </p:nvGraphicFramePr>
        <p:xfrm>
          <a:off x="944622" y="1700429"/>
          <a:ext cx="7554609" cy="34571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9187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6935422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3457142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P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R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C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A</a:t>
                      </a:r>
                      <a:endParaRPr lang="es-CO" sz="16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Responde a situaciones contextuales o problemáticas locales, que son explicitadas y documentadas con sus causas:</a:t>
                      </a:r>
                    </a:p>
                    <a:p>
                      <a:pPr marL="98425" indent="0" algn="l" fontAlgn="ctr">
                        <a:tabLst/>
                      </a:pPr>
                      <a:endParaRPr lang="es-ES" sz="1600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El Plan Lector responde a la problemática identificada en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la institución: los niños no tenían hábito lector ni suficiente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comprensión, lo cual afectaba su rendimiento académico.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600" cap="none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Esta situación, propia del contexto local y del aula multigrado,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fue documentada y analizada, y el plan se diseñó como una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estrategia pedagógica para motivar la lectura, mejorar la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comprensión y fortalecer la producción escrita</a:t>
                      </a:r>
                      <a:r>
                        <a:rPr lang="es-MX" sz="1600" cap="none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s-CO" sz="1600" cap="none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  <p:pic>
        <p:nvPicPr>
          <p:cNvPr id="2050" name="Picture 2" descr="Imagen del Story Pin">
            <a:extLst>
              <a:ext uri="{FF2B5EF4-FFF2-40B4-BE49-F238E27FC236}">
                <a16:creationId xmlns:a16="http://schemas.microsoft.com/office/drawing/2014/main" id="{8ECE8226-E3FE-9891-FA65-2F76E66BD7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1962" y="1951991"/>
            <a:ext cx="2954017" cy="2954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5817C34C-2D3C-6CB8-A06F-E76A386BE4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72954"/>
              </p:ext>
            </p:extLst>
          </p:nvPr>
        </p:nvGraphicFramePr>
        <p:xfrm>
          <a:off x="944623" y="1353968"/>
          <a:ext cx="10302754" cy="41680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4429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9458325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4168057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C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S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S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C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A</a:t>
                      </a:r>
                      <a:endParaRPr lang="es-CO" sz="16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8425" indent="0" algn="l" fontAlgn="ctr">
                        <a:tabLst/>
                      </a:pPr>
                      <a:endParaRPr lang="es-ES" sz="1600" b="1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Articula la fundamentación, el contexto, la metodología y los resultados esperados, a partir de la autorreflexión y la autocrítica.</a:t>
                      </a:r>
                    </a:p>
                    <a:p>
                      <a:pPr marL="98425" indent="0" algn="l" fontAlgn="ctr">
                        <a:tabLst/>
                      </a:pPr>
                      <a:endParaRPr lang="es-ES" sz="1600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El plan articula su fundamentación teórica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(la lectura como base del aprendizaje), el contexto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institucional (aulas multigrado y diversidad de estudiantes),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la metodología (lecturas guiadas, escritura creativa, círculos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de lectura y trabajo colaborativo) y los resultados esperados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(mejora en hábitos lectores, comprensión y rendimiento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académico). además, se ajusta permanentemente mediante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la autorreflexión y la autocrítica de docentes y directivos en el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plan de mejoramiento.</a:t>
                      </a:r>
                    </a:p>
                    <a:p>
                      <a:pPr marL="98425" indent="0" algn="l" fontAlgn="ctr">
                        <a:tabLst/>
                      </a:pPr>
                      <a:endParaRPr lang="es-ES" sz="1600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  <p:pic>
        <p:nvPicPr>
          <p:cNvPr id="3074" name="Picture 2">
            <a:extLst>
              <a:ext uri="{FF2B5EF4-FFF2-40B4-BE49-F238E27FC236}">
                <a16:creationId xmlns:a16="http://schemas.microsoft.com/office/drawing/2014/main" id="{BB130879-AACB-70F5-32A2-6F6133D8C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236" y="2125782"/>
            <a:ext cx="3214141" cy="3214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3814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628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026715"/>
              </p:ext>
            </p:extLst>
          </p:nvPr>
        </p:nvGraphicFramePr>
        <p:xfrm>
          <a:off x="602456" y="1350818"/>
          <a:ext cx="10987087" cy="4156364"/>
        </p:xfrm>
        <a:graphic>
          <a:graphicData uri="http://schemas.openxmlformats.org/drawingml/2006/table">
            <a:tbl>
              <a:tblPr>
                <a:solidFill>
                  <a:srgbClr val="FFFFFF">
                    <a:alpha val="50196"/>
                  </a:srgbClr>
                </a:solidFill>
                <a:tableStyleId>{5C22544A-7EE6-4342-B048-85BDC9FD1C3A}</a:tableStyleId>
              </a:tblPr>
              <a:tblGrid>
                <a:gridCol w="757238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10229849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4156364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M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D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U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R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Z</a:t>
                      </a:r>
                      <a:endParaRPr lang="es-CO" sz="16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8425" indent="0" algn="just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Reflexiona sobre el tiempo de desarrollo, buscando fortalecerse durante los </a:t>
                      </a:r>
                    </a:p>
                    <a:p>
                      <a:pPr marL="98425" indent="0" algn="just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cambios de año lectivo mediante el análisis crítico de resultados </a:t>
                      </a:r>
                    </a:p>
                    <a:p>
                      <a:pPr marL="98425" indent="0" algn="just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y el tiempo invertido y fortalecimiento institucional.</a:t>
                      </a:r>
                    </a:p>
                    <a:p>
                      <a:pPr marL="98425" indent="0" algn="just" fontAlgn="ctr">
                        <a:tabLst/>
                      </a:pPr>
                      <a:endParaRPr lang="es-ES" sz="1600" b="1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98425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El plan lector se viene desarrollando desde 2015, </a:t>
                      </a:r>
                    </a:p>
                    <a:p>
                      <a:pPr marL="98425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consolidándose como una buena </a:t>
                      </a: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práctica pedagógica </a:t>
                      </a:r>
                    </a:p>
                    <a:p>
                      <a:pPr marL="98425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Institucional.</a:t>
                      </a:r>
                    </a:p>
                    <a:p>
                      <a:pPr marL="98425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600" cap="none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8425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Con cada año lectivo se han demostrado avances </a:t>
                      </a:r>
                    </a:p>
                    <a:p>
                      <a:pPr marL="98425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y aprendizajes, que se fortalecen gracias al análisis crítico de </a:t>
                      </a:r>
                    </a:p>
                    <a:p>
                      <a:pPr marL="98425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los resultados y al tiempo invertido en su implementación.</a:t>
                      </a:r>
                    </a:p>
                    <a:p>
                      <a:pPr marL="98425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98425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Esta trayectoria evidencia su sostenibilidad y su capacidad de </a:t>
                      </a:r>
                    </a:p>
                    <a:p>
                      <a:pPr marL="98425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mejora continua, la participación de la biblioteca municipal y </a:t>
                      </a:r>
                    </a:p>
                    <a:p>
                      <a:pPr marL="98425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el programa PTA/FI 3.0.</a:t>
                      </a: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D2BF91B4-ACD6-1B27-487F-C5E12F83BF9C}"/>
              </a:ext>
            </a:extLst>
          </p:cNvPr>
          <p:cNvSpPr txBox="1"/>
          <p:nvPr/>
        </p:nvSpPr>
        <p:spPr>
          <a:xfrm>
            <a:off x="-1262729" y="-1231107"/>
            <a:ext cx="1417077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>
                <a:latin typeface="Century Gothic" panose="020B0502020202020204" pitchFamily="34" charset="0"/>
              </a:rPr>
              <a:t>1. </a:t>
            </a:r>
            <a:r>
              <a:rPr lang="es-ES" b="1" dirty="0">
                <a:latin typeface="Century Gothic" panose="020B0502020202020204" pitchFamily="34" charset="0"/>
              </a:rPr>
              <a:t>Pasa tu tiempo, Periódico Escolar Anuario</a:t>
            </a:r>
            <a:r>
              <a:rPr lang="es-ES" dirty="0">
                <a:latin typeface="Century Gothic" panose="020B0502020202020204" pitchFamily="34" charset="0"/>
              </a:rPr>
              <a:t>. Esta buena práctica inició en el año 2014, fue aprobada por el Consejo Directivo en el año 2016 y </a:t>
            </a:r>
            <a:r>
              <a:rPr lang="es-ES" sz="1400" i="1" dirty="0">
                <a:latin typeface="Century Gothic" panose="020B0502020202020204" pitchFamily="34" charset="0"/>
              </a:rPr>
              <a:t>Opciones didácticas y pedagógicas; pág. 67 de 120</a:t>
            </a:r>
          </a:p>
          <a:p>
            <a:pPr algn="r"/>
            <a:r>
              <a:rPr lang="es-ES" sz="1400" i="1" dirty="0">
                <a:latin typeface="Century Gothic" panose="020B0502020202020204" pitchFamily="34" charset="0"/>
                <a:hlinkClick r:id="rId3"/>
              </a:rPr>
              <a:t>https://drive.google.com/file/d/1LE0IdmNpx3GeyysKLwXrQnuNfzp1DXI3/view</a:t>
            </a:r>
            <a:endParaRPr lang="es-ES" sz="1400" i="1" dirty="0">
              <a:latin typeface="Century Gothic" panose="020B0502020202020204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EF8F292-FE9D-3FF8-503E-6F2AA3893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4846" y="2158130"/>
            <a:ext cx="3349052" cy="3349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8848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E0D3C10-C7BC-6D4C-DE5F-EB191F23F5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973999"/>
              </p:ext>
            </p:extLst>
          </p:nvPr>
        </p:nvGraphicFramePr>
        <p:xfrm>
          <a:off x="944623" y="1212045"/>
          <a:ext cx="10302754" cy="46781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4429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9458325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4678115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M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M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9700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Involucra a maestros, directivos, padres, estudiantes y el sector productivo según sus roles y necesidades de participación, promoviendo el mejoramiento de la experiencia.</a:t>
                      </a:r>
                    </a:p>
                    <a:p>
                      <a:pPr marL="139700" indent="0" algn="l" fontAlgn="ctr">
                        <a:tabLst/>
                      </a:pPr>
                      <a:endParaRPr lang="es-ES" sz="1600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139700" indent="0" algn="just">
                        <a:tabLst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El plan lector involucra activamente a toda la comunidad educativa.</a:t>
                      </a:r>
                    </a:p>
                    <a:p>
                      <a:pPr algn="just"/>
                      <a:endParaRPr lang="es-MX" sz="1600" b="1" cap="none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17500" indent="0" algn="just">
                        <a:tabLst/>
                      </a:pPr>
                      <a:r>
                        <a:rPr lang="es-MX" sz="1600" b="1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Maestros:</a:t>
                      </a: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 orientan las actividades de lectura y escritura con estrategias </a:t>
                      </a:r>
                    </a:p>
                    <a:p>
                      <a:pPr marL="317500" indent="0" algn="just">
                        <a:tabLst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innovadoras desde sus sedes.</a:t>
                      </a:r>
                    </a:p>
                    <a:p>
                      <a:pPr marL="317500" indent="0" algn="just">
                        <a:tabLst/>
                      </a:pPr>
                      <a:r>
                        <a:rPr lang="es-MX" sz="1600" b="1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Directivos:</a:t>
                      </a: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 acompañan, hacen seguimiento y garantizan recursos para </a:t>
                      </a:r>
                    </a:p>
                    <a:p>
                      <a:pPr marL="317500" indent="0" algn="just">
                        <a:tabLst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su desarrollo.</a:t>
                      </a:r>
                    </a:p>
                    <a:p>
                      <a:pPr marL="317500" indent="0" algn="just">
                        <a:tabLst/>
                      </a:pPr>
                      <a:r>
                        <a:rPr lang="es-MX" sz="1600" b="1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Padres de familia:</a:t>
                      </a: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 apoyan desde el hogar fomentando hábitos </a:t>
                      </a:r>
                    </a:p>
                    <a:p>
                      <a:pPr marL="317500" indent="0" algn="just">
                        <a:tabLst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lectores.</a:t>
                      </a:r>
                    </a:p>
                    <a:p>
                      <a:pPr marL="317500" indent="0" algn="just">
                        <a:tabLst/>
                      </a:pPr>
                      <a:r>
                        <a:rPr lang="es-MX" sz="1600" b="1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Estudiantes:</a:t>
                      </a: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 son protagonistas del proceso, compartiendo lecturas </a:t>
                      </a:r>
                    </a:p>
                    <a:p>
                      <a:pPr marL="317500" indent="0" algn="just">
                        <a:tabLst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y producciones.</a:t>
                      </a:r>
                    </a:p>
                    <a:p>
                      <a:pPr marL="317500" indent="0" algn="just">
                        <a:tabLst/>
                      </a:pPr>
                      <a:r>
                        <a:rPr lang="es-MX" sz="1600" b="1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PTA/FI 3.0: </a:t>
                      </a:r>
                      <a:r>
                        <a:rPr lang="es-MX" sz="1600" b="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rograma de Tutorías para el Aprendizaje y </a:t>
                      </a:r>
                    </a:p>
                    <a:p>
                      <a:pPr marL="317500" indent="0" algn="just">
                        <a:tabLst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la Formación IntegralTodos.</a:t>
                      </a:r>
                    </a:p>
                    <a:p>
                      <a:pPr marL="317500" indent="0" algn="just">
                        <a:tabLst/>
                      </a:pPr>
                      <a:endParaRPr lang="es-MX" sz="1600" cap="none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39700" indent="0" algn="just">
                        <a:tabLst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Este trabajo conjunto promueve el mejoramiento de la experiencia y </a:t>
                      </a:r>
                    </a:p>
                    <a:p>
                      <a:pPr marL="139700" indent="0" algn="just">
                        <a:tabLst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fortalece el sentido de pertenencia institucional.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  <p:pic>
        <p:nvPicPr>
          <p:cNvPr id="5122" name="Picture 2">
            <a:extLst>
              <a:ext uri="{FF2B5EF4-FFF2-40B4-BE49-F238E27FC236}">
                <a16:creationId xmlns:a16="http://schemas.microsoft.com/office/drawing/2014/main" id="{2FCAECDD-E80E-DB29-11F8-3FCEB62A8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9638" y="3835730"/>
            <a:ext cx="1810225" cy="1810225"/>
          </a:xfrm>
          <a:prstGeom prst="rect">
            <a:avLst/>
          </a:prstGeom>
          <a:noFill/>
          <a:effectLst>
            <a:softEdge rad="381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3985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C26FB1E9-85B9-14E5-70EC-3FBD393522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397637"/>
              </p:ext>
            </p:extLst>
          </p:nvPr>
        </p:nvGraphicFramePr>
        <p:xfrm>
          <a:off x="944623" y="943878"/>
          <a:ext cx="10302754" cy="50887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4202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9218552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5088787">
                <a:tc>
                  <a:txBody>
                    <a:bodyPr/>
                    <a:lstStyle/>
                    <a:p>
                      <a:pPr algn="ctr" fontAlgn="ctr"/>
                      <a:endParaRPr lang="es-CO" sz="16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Dispone de metodología, instrumentos y mecanismos de </a:t>
                      </a:r>
                    </a:p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seguimiento, evaluación, registro y análisis pertinentes; </a:t>
                      </a:r>
                    </a:p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organiza aprendizajes para su fortalecimiento.</a:t>
                      </a:r>
                    </a:p>
                    <a:p>
                      <a:pPr marL="139700" indent="0" algn="l" fontAlgn="ctr">
                        <a:tabLst/>
                      </a:pPr>
                      <a:endParaRPr lang="es-ES" sz="80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139700" indent="0" algn="just">
                        <a:tabLst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El plan lector cuenta con una metodología clara </a:t>
                      </a:r>
                    </a:p>
                    <a:p>
                      <a:pPr marL="139700" indent="0" algn="just">
                        <a:tabLst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y con instrumentos que permiten sistematizar su desarrollo.</a:t>
                      </a:r>
                    </a:p>
                    <a:p>
                      <a:pPr marL="139700" indent="0" algn="just">
                        <a:tabLst/>
                      </a:pPr>
                      <a:endParaRPr lang="es-MX" sz="1600" b="1" cap="none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39700" indent="0" algn="just">
                        <a:tabLst/>
                      </a:pPr>
                      <a:r>
                        <a:rPr lang="es-MX" sz="1600" b="1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Instrumentos:</a:t>
                      </a: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 rúbricas, pruebas internas y externas.</a:t>
                      </a:r>
                      <a:endParaRPr lang="es-MX" sz="1600" b="0" cap="none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39700" indent="0" algn="just">
                        <a:tabLst/>
                      </a:pPr>
                      <a:r>
                        <a:rPr lang="es-MX" sz="1600" b="1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Mecanismos de registro:</a:t>
                      </a: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 alrededor de 40 libros leídos </a:t>
                      </a:r>
                    </a:p>
                    <a:p>
                      <a:pPr marL="139700" indent="0" algn="just">
                        <a:tabLst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y evaluaciones cualitativas.</a:t>
                      </a:r>
                    </a:p>
                    <a:p>
                      <a:pPr marL="139700" indent="0" algn="just">
                        <a:tabLst/>
                      </a:pPr>
                      <a:r>
                        <a:rPr lang="es-MX" sz="1600" b="1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Seguimiento:</a:t>
                      </a: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 informes por periodos.</a:t>
                      </a:r>
                    </a:p>
                    <a:p>
                      <a:pPr marL="139700" indent="0" algn="just">
                        <a:tabLst/>
                      </a:pPr>
                      <a:r>
                        <a:rPr lang="es-MX" sz="1600" b="1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Fortalecimiento:</a:t>
                      </a: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 cronograma anual, y actividades sugeridas.</a:t>
                      </a:r>
                    </a:p>
                    <a:p>
                      <a:pPr marL="139700" indent="0" algn="just">
                        <a:tabLst/>
                      </a:pPr>
                      <a:endParaRPr lang="es-MX" sz="1600" cap="none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39700" indent="0" algn="just">
                        <a:tabLst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De esta manera, el plan asegura su mejora continua y el </a:t>
                      </a:r>
                    </a:p>
                    <a:p>
                      <a:pPr marL="139700" indent="0" algn="just">
                        <a:tabLst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logro de los objetivos propuestos.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2091A6BB-3C7E-EE01-2E8F-8EE9846112B6}"/>
              </a:ext>
            </a:extLst>
          </p:cNvPr>
          <p:cNvSpPr/>
          <p:nvPr/>
        </p:nvSpPr>
        <p:spPr>
          <a:xfrm>
            <a:off x="1081020" y="1395256"/>
            <a:ext cx="857252" cy="41862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s-CO" sz="1600" b="1" dirty="0">
                <a:solidFill>
                  <a:schemeClr val="tx1"/>
                </a:solidFill>
                <a:latin typeface="Century Gothic" panose="020B0502020202020204" pitchFamily="34" charset="0"/>
              </a:rPr>
              <a:t>EVALUACIÓN     Y SEGUIMIENTO </a:t>
            </a:r>
          </a:p>
        </p:txBody>
      </p:sp>
      <p:pic>
        <p:nvPicPr>
          <p:cNvPr id="6146" name="Picture 2" descr="Imagen del Story Pin">
            <a:extLst>
              <a:ext uri="{FF2B5EF4-FFF2-40B4-BE49-F238E27FC236}">
                <a16:creationId xmlns:a16="http://schemas.microsoft.com/office/drawing/2014/main" id="{91E284B4-07B7-408B-EFD1-57B1DF982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6951" y="3132944"/>
            <a:ext cx="2781178" cy="2781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5548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526902"/>
              </p:ext>
            </p:extLst>
          </p:nvPr>
        </p:nvGraphicFramePr>
        <p:xfrm>
          <a:off x="817684" y="1609226"/>
          <a:ext cx="10556632" cy="3639548"/>
        </p:xfrm>
        <a:graphic>
          <a:graphicData uri="http://schemas.openxmlformats.org/drawingml/2006/table">
            <a:tbl>
              <a:tblPr>
                <a:solidFill>
                  <a:srgbClr val="FFFFFF">
                    <a:alpha val="50196"/>
                  </a:srgbClr>
                </a:solidFill>
                <a:tableStyleId>{5C22544A-7EE6-4342-B048-85BDC9FD1C3A}</a:tableStyleId>
              </a:tblPr>
              <a:tblGrid>
                <a:gridCol w="882528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9674104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7390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R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S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U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L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D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S</a:t>
                      </a:r>
                      <a:endParaRPr lang="es-CO" sz="16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8425" indent="0" algn="l" fontAlgn="ctr">
                        <a:tabLst/>
                      </a:pPr>
                      <a:endParaRPr lang="es-ES" sz="500" b="1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A partir del análisis y sistematización:</a:t>
                      </a:r>
                    </a:p>
                    <a:p>
                      <a:pPr marL="98425" indent="0" algn="l" fontAlgn="ctr">
                        <a:tabLst/>
                      </a:pP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312088"/>
                  </a:ext>
                </a:extLst>
              </a:tr>
              <a:tr h="290054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0" dirty="0">
                          <a:latin typeface="Century Gothic" panose="020B0502020202020204" pitchFamily="34" charset="0"/>
                        </a:rPr>
                        <a:t>El análisis y la sistematización obligan a replantear </a:t>
                      </a:r>
                    </a:p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0" dirty="0">
                          <a:latin typeface="Century Gothic" panose="020B0502020202020204" pitchFamily="34" charset="0"/>
                        </a:rPr>
                        <a:t>resultados a corto, mediano y largo plazo,</a:t>
                      </a:r>
                    </a:p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0" dirty="0">
                          <a:latin typeface="Century Gothic" panose="020B0502020202020204" pitchFamily="34" charset="0"/>
                        </a:rPr>
                        <a:t>impulsando la participación en convocatorias. </a:t>
                      </a:r>
                    </a:p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600" b="0" noProof="0" dirty="0">
                        <a:solidFill>
                          <a:srgbClr val="382A21"/>
                        </a:solidFill>
                        <a:latin typeface="Century Gothic" panose="020B0502020202020204" pitchFamily="34" charset="0"/>
                        <a:ea typeface="TT Norms Bold" panose="02000803030000020004"/>
                        <a:cs typeface="TT Norms Bold" panose="02000803030000020004"/>
                        <a:sym typeface="TT Norms Bold" panose="02000803030000020004"/>
                      </a:endParaRPr>
                    </a:p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noProof="0" dirty="0">
                          <a:solidFill>
                            <a:srgbClr val="382A21"/>
                          </a:solidFill>
                          <a:latin typeface="Century Gothic" panose="020B0502020202020204" pitchFamily="34" charset="0"/>
                          <a:ea typeface="TT Norms Bold" panose="02000803030000020004"/>
                          <a:cs typeface="TT Norms Bold" panose="02000803030000020004"/>
                          <a:sym typeface="TT Norms Bold" panose="02000803030000020004"/>
                        </a:rPr>
                        <a:t>Largo plazo</a:t>
                      </a:r>
                      <a:r>
                        <a:rPr lang="es-ES_tradnl" sz="1600" b="1" noProof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TT Norms Bold" panose="02000803030000020004"/>
                          <a:cs typeface="TT Norms Bold" panose="02000803030000020004"/>
                          <a:sym typeface="TT Norms Bold" panose="02000803030000020004"/>
                        </a:rPr>
                        <a:t>:          </a:t>
                      </a:r>
                      <a:r>
                        <a:rPr lang="es-MX" sz="1600" b="0" cap="none" noProof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TT Norms Bold" panose="02000803030000020004"/>
                          <a:cs typeface="Arial" panose="020B0604020202020204" pitchFamily="34" charset="0"/>
                          <a:sym typeface="TT Norms Bold" panose="02000803030000020004"/>
                        </a:rPr>
                        <a:t>S</a:t>
                      </a:r>
                      <a:r>
                        <a:rPr lang="es-MX" sz="1600" b="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 generan hábitos lectores y motivación </a:t>
                      </a:r>
                    </a:p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                                hacia la lectura en los estudiantes.</a:t>
                      </a:r>
                    </a:p>
                    <a:p>
                      <a:pPr marL="11113" indent="0" algn="l">
                        <a:lnSpc>
                          <a:spcPct val="100000"/>
                        </a:lnSpc>
                        <a:tabLst/>
                      </a:pPr>
                      <a:r>
                        <a:rPr lang="es-ES_tradnl" sz="1600" b="1" noProof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TT Norms Bold" panose="02000803030000020004"/>
                          <a:cs typeface="TT Norms Bold" panose="02000803030000020004"/>
                          <a:sym typeface="TT Norms Bold" panose="02000803030000020004"/>
                        </a:rPr>
                        <a:t>Mediano plazo:    </a:t>
                      </a:r>
                      <a:r>
                        <a:rPr lang="es-MX" sz="1600" b="0" cap="none" noProof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TT Norms Bold" panose="02000803030000020004"/>
                          <a:cs typeface="Arial" panose="020B0604020202020204" pitchFamily="34" charset="0"/>
                          <a:sym typeface="TT Norms Bold" panose="02000803030000020004"/>
                        </a:rPr>
                        <a:t>S</a:t>
                      </a: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e fortalece la comprensión lectora, la </a:t>
                      </a:r>
                    </a:p>
                    <a:p>
                      <a:pPr marL="11113" indent="0" algn="l">
                        <a:lnSpc>
                          <a:spcPct val="100000"/>
                        </a:lnSpc>
                        <a:tabLst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                                producción escrita y se mejora el rendimiento </a:t>
                      </a:r>
                    </a:p>
                    <a:p>
                      <a:pPr marL="11113" indent="0" algn="l">
                        <a:lnSpc>
                          <a:spcPct val="100000"/>
                        </a:lnSpc>
                        <a:tabLst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                                académico</a:t>
                      </a:r>
                      <a:endParaRPr lang="es-ES_tradnl" sz="1600" b="1" noProof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TT Norms Bold" panose="02000803030000020004"/>
                        <a:cs typeface="TT Norms Bold" panose="02000803030000020004"/>
                        <a:sym typeface="TT Norms Bold" panose="02000803030000020004"/>
                      </a:endParaRPr>
                    </a:p>
                    <a:p>
                      <a:pPr marL="11113" indent="0" algn="l">
                        <a:lnSpc>
                          <a:spcPct val="100000"/>
                        </a:lnSpc>
                        <a:tabLst/>
                      </a:pPr>
                      <a:r>
                        <a:rPr lang="es-ES_tradnl" sz="1600" b="1" noProof="0" dirty="0">
                          <a:solidFill>
                            <a:srgbClr val="382A21"/>
                          </a:solidFill>
                          <a:latin typeface="Century Gothic" panose="020B0502020202020204" pitchFamily="34" charset="0"/>
                          <a:ea typeface="TT Norms Bold" panose="02000803030000020004"/>
                          <a:cs typeface="TT Norms Bold" panose="02000803030000020004"/>
                          <a:sym typeface="TT Norms Bold" panose="02000803030000020004"/>
                        </a:rPr>
                        <a:t>Corto plazo:          </a:t>
                      </a:r>
                      <a:r>
                        <a:rPr lang="es-MX" sz="1600" b="0" cap="none" noProof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TT Norms Bold" panose="02000803030000020004"/>
                          <a:cs typeface="Arial" panose="020B0604020202020204" pitchFamily="34" charset="0"/>
                          <a:sym typeface="TT Norms Bold" panose="02000803030000020004"/>
                        </a:rPr>
                        <a:t>S</a:t>
                      </a: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e forman estudiantes críticos, reflexivos y </a:t>
                      </a:r>
                    </a:p>
                    <a:p>
                      <a:pPr marL="11113" indent="0" algn="l">
                        <a:lnSpc>
                          <a:spcPct val="100000"/>
                        </a:lnSpc>
                        <a:tabLst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                                autónomos, capaces de aportar a la sociedad.</a:t>
                      </a:r>
                      <a:endParaRPr lang="es-ES_tradnl" sz="800" b="0" noProof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TT Norms Bold" panose="02000803030000020004"/>
                        <a:cs typeface="TT Norms Bold" panose="02000803030000020004"/>
                        <a:sym typeface="TT Norms Bold" panose="02000803030000020004"/>
                      </a:endParaRPr>
                    </a:p>
                  </a:txBody>
                  <a:tcPr marL="114761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773483"/>
                  </a:ext>
                </a:extLst>
              </a:tr>
            </a:tbl>
          </a:graphicData>
        </a:graphic>
      </p:graphicFrame>
      <p:pic>
        <p:nvPicPr>
          <p:cNvPr id="7170" name="Picture 2" descr="Full view">
            <a:extLst>
              <a:ext uri="{FF2B5EF4-FFF2-40B4-BE49-F238E27FC236}">
                <a16:creationId xmlns:a16="http://schemas.microsoft.com/office/drawing/2014/main" id="{37A81AA5-55A4-5E7C-7184-2FCF77A49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4303" y="2637691"/>
            <a:ext cx="2520462" cy="252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4727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930566B5-0130-7C61-6B0C-83605E5308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001910"/>
              </p:ext>
            </p:extLst>
          </p:nvPr>
        </p:nvGraphicFramePr>
        <p:xfrm>
          <a:off x="958907" y="992503"/>
          <a:ext cx="10302754" cy="49806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4429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9458325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4980626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Reorganiza instrumentos y mecanismos para </a:t>
                      </a:r>
                    </a:p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dar a conocer la experiencia a otros establecimientos: </a:t>
                      </a:r>
                    </a:p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propuesta, desarrollo, metodología y resultados.</a:t>
                      </a:r>
                    </a:p>
                    <a:p>
                      <a:pPr marL="98425" indent="0" algn="l" fontAlgn="ctr">
                        <a:tabLst/>
                      </a:pPr>
                      <a:endParaRPr lang="es-ES" sz="1600" b="1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El plan lector reorganiza sus instrumentos y mecanismos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para compartir la experiencia con otros establecimientos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educativos. A través de la socialización anual de las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experiencias significativas convocadas por la Secretaria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de Educación y su evaluación constante por ella. </a:t>
                      </a:r>
                      <a:endParaRPr lang="es-CO" sz="1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  <p:pic>
        <p:nvPicPr>
          <p:cNvPr id="8194" name="Picture 2">
            <a:extLst>
              <a:ext uri="{FF2B5EF4-FFF2-40B4-BE49-F238E27FC236}">
                <a16:creationId xmlns:a16="http://schemas.microsoft.com/office/drawing/2014/main" id="{AD0F8731-F334-9A35-F749-D3504AB55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1354" y="2151296"/>
            <a:ext cx="2842846" cy="2842846"/>
          </a:xfrm>
          <a:prstGeom prst="rect">
            <a:avLst/>
          </a:prstGeom>
          <a:noFill/>
          <a:effectLst>
            <a:softEdge rad="381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8669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654966EF-9054-7954-0E6E-9F45A8C56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784852"/>
              </p:ext>
            </p:extLst>
          </p:nvPr>
        </p:nvGraphicFramePr>
        <p:xfrm>
          <a:off x="944622" y="938687"/>
          <a:ext cx="10302754" cy="49806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4429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9458325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4980626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S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L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Amplía la participación de la comunidad </a:t>
                      </a:r>
                    </a:p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educativa mediante espacios de retroalimentación, </a:t>
                      </a:r>
                    </a:p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socialización y validación como mecanismo de </a:t>
                      </a:r>
                    </a:p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sostenibilidad institucional. </a:t>
                      </a:r>
                    </a:p>
                    <a:p>
                      <a:pPr marL="98425" indent="0" algn="l" fontAlgn="ctr">
                        <a:tabLst/>
                      </a:pPr>
                      <a:endParaRPr lang="es-ES" sz="1600" b="1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1365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La sostenibilidad del plan lector se garantiza </a:t>
                      </a:r>
                    </a:p>
                    <a:p>
                      <a:pPr marL="1365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mediante la participación activa de toda la </a:t>
                      </a:r>
                    </a:p>
                    <a:p>
                      <a:pPr marL="1365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comunidad educativa: estudiantes, docentes, </a:t>
                      </a:r>
                    </a:p>
                    <a:p>
                      <a:pPr marL="1365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directivos, padres de familia y planes de mejoramiento, </a:t>
                      </a:r>
                    </a:p>
                    <a:p>
                      <a:pPr marL="1365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apoyo de la Secretaria de Educación Municipal y PTA/FI.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  <p:pic>
        <p:nvPicPr>
          <p:cNvPr id="9218" name="Picture 2">
            <a:extLst>
              <a:ext uri="{FF2B5EF4-FFF2-40B4-BE49-F238E27FC236}">
                <a16:creationId xmlns:a16="http://schemas.microsoft.com/office/drawing/2014/main" id="{A69EE9AC-49F1-B378-E5F0-E6D374ED6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257" y="1957754"/>
            <a:ext cx="2942492" cy="2942492"/>
          </a:xfrm>
          <a:prstGeom prst="rect">
            <a:avLst/>
          </a:prstGeom>
          <a:noFill/>
          <a:effectLst>
            <a:softEdge rad="381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0353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3C3FB3C-D294-3145-C879-BB79752F7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744860"/>
              </p:ext>
            </p:extLst>
          </p:nvPr>
        </p:nvGraphicFramePr>
        <p:xfrm>
          <a:off x="817684" y="1753849"/>
          <a:ext cx="6047811" cy="3350301"/>
        </p:xfrm>
        <a:graphic>
          <a:graphicData uri="http://schemas.openxmlformats.org/drawingml/2006/table">
            <a:tbl>
              <a:tblPr>
                <a:solidFill>
                  <a:srgbClr val="FFFFFF">
                    <a:alpha val="50196"/>
                  </a:srgbClr>
                </a:solidFill>
                <a:tableStyleId>{5C22544A-7EE6-4342-B048-85BDC9FD1C3A}</a:tableStyleId>
              </a:tblPr>
              <a:tblGrid>
                <a:gridCol w="505594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5542217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3350301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Ó</a:t>
                      </a:r>
                      <a:endParaRPr lang="es-CO" sz="16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</a:t>
                      </a: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El plan lector se proyecta como una experiencia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innovadora, pues no solo fortalece la lectura y la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escritura, sino que integra estrategias colaborativas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en aulas multigrado y promueve la creatividad en los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estudiantes.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600" cap="none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Gracias a ello, puede trascender como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un proyecto de investigación o acción pedagógica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que aporte nuevo conocimiento en el campo de la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cap="none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didáctica de la lectura.</a:t>
                      </a: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312088"/>
                  </a:ext>
                </a:extLst>
              </a:tr>
            </a:tbl>
          </a:graphicData>
        </a:graphic>
      </p:graphicFrame>
      <p:pic>
        <p:nvPicPr>
          <p:cNvPr id="10242" name="Picture 2">
            <a:extLst>
              <a:ext uri="{FF2B5EF4-FFF2-40B4-BE49-F238E27FC236}">
                <a16:creationId xmlns:a16="http://schemas.microsoft.com/office/drawing/2014/main" id="{0D4D06D4-DA4F-EDA0-C6B1-6239D0259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179" y="1199109"/>
            <a:ext cx="3345868" cy="4459781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1668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11E73-8F80-2964-3D3F-8067EF798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E55FA4A-3993-90DD-F4F2-21EC39A7FD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1D83D5A0-2694-5E88-7464-09B2EF122D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580754"/>
              </p:ext>
            </p:extLst>
          </p:nvPr>
        </p:nvGraphicFramePr>
        <p:xfrm>
          <a:off x="471487" y="1114426"/>
          <a:ext cx="11172825" cy="4772024"/>
        </p:xfrm>
        <a:graphic>
          <a:graphicData uri="http://schemas.openxmlformats.org/drawingml/2006/table">
            <a:tbl>
              <a:tblPr>
                <a:solidFill>
                  <a:srgbClr val="FFFFFF">
                    <a:alpha val="50196"/>
                  </a:srgbClr>
                </a:solidFill>
                <a:tableStyleId>{5C22544A-7EE6-4342-B048-85BDC9FD1C3A}</a:tableStyleId>
              </a:tblPr>
              <a:tblGrid>
                <a:gridCol w="934042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10238783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85674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</a:t>
                      </a: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8425" indent="0" algn="l" fontAlgn="ctr">
                        <a:tabLst/>
                      </a:pPr>
                      <a:endParaRPr lang="es-ES" sz="500" b="1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Se presentan algunas evidencias fotográficas</a:t>
                      </a:r>
                    </a:p>
                    <a:p>
                      <a:pPr marL="98425" indent="0" algn="l" fontAlgn="ctr">
                        <a:tabLst/>
                      </a:pP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312088"/>
                  </a:ext>
                </a:extLst>
              </a:tr>
              <a:tr h="391528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endParaRPr lang="es-ES" sz="1600" b="0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14761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713013"/>
                  </a:ext>
                </a:extLst>
              </a:tr>
            </a:tbl>
          </a:graphicData>
        </a:graphic>
      </p:graphicFrame>
      <p:pic>
        <p:nvPicPr>
          <p:cNvPr id="3" name="Imagen 2" descr="Varios pósters pegados en una pared&#10;&#10;El contenido generado por IA puede ser incorrecto.">
            <a:extLst>
              <a:ext uri="{FF2B5EF4-FFF2-40B4-BE49-F238E27FC236}">
                <a16:creationId xmlns:a16="http://schemas.microsoft.com/office/drawing/2014/main" id="{7E533D53-DE02-97D4-A457-F68C1CD0D31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519" y="2135878"/>
            <a:ext cx="2488704" cy="3362349"/>
          </a:xfrm>
          <a:prstGeom prst="rect">
            <a:avLst/>
          </a:prstGeom>
        </p:spPr>
      </p:pic>
      <p:pic>
        <p:nvPicPr>
          <p:cNvPr id="8" name="Imagen 7" descr="Personas sentadas alrededor de una mesa&#10;&#10;El contenido generado por IA puede ser incorrecto.">
            <a:extLst>
              <a:ext uri="{FF2B5EF4-FFF2-40B4-BE49-F238E27FC236}">
                <a16:creationId xmlns:a16="http://schemas.microsoft.com/office/drawing/2014/main" id="{E10CFC14-9364-DB5D-1592-862251E0F227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6568" y="2529445"/>
            <a:ext cx="3549399" cy="2662049"/>
          </a:xfrm>
          <a:prstGeom prst="rect">
            <a:avLst/>
          </a:prstGeom>
        </p:spPr>
      </p:pic>
      <p:pic>
        <p:nvPicPr>
          <p:cNvPr id="10" name="Imagen 9" descr="Imagen que contiene refrigerador, cuarto, gato, estante&#10;&#10;El contenido generado por IA puede ser incorrecto.">
            <a:extLst>
              <a:ext uri="{FF2B5EF4-FFF2-40B4-BE49-F238E27FC236}">
                <a16:creationId xmlns:a16="http://schemas.microsoft.com/office/drawing/2014/main" id="{523D9EE0-3AD4-93EB-0BB2-1131E99D96C2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376" y="2529445"/>
            <a:ext cx="3549399" cy="266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290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1FEF9-A934-4B9F-404F-B33A7CF51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C60FC0A-E6BF-565C-29C3-868B4B42FD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2CF40B6-81A2-28C5-1090-D44E60356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583667"/>
              </p:ext>
            </p:extLst>
          </p:nvPr>
        </p:nvGraphicFramePr>
        <p:xfrm>
          <a:off x="471487" y="1114426"/>
          <a:ext cx="11172825" cy="4772024"/>
        </p:xfrm>
        <a:graphic>
          <a:graphicData uri="http://schemas.openxmlformats.org/drawingml/2006/table">
            <a:tbl>
              <a:tblPr>
                <a:solidFill>
                  <a:srgbClr val="FFFFFF">
                    <a:alpha val="50196"/>
                  </a:srgbClr>
                </a:solidFill>
                <a:tableStyleId>{5C22544A-7EE6-4342-B048-85BDC9FD1C3A}</a:tableStyleId>
              </a:tblPr>
              <a:tblGrid>
                <a:gridCol w="934042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10238783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85674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</a:t>
                      </a: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8425" indent="0" algn="l" fontAlgn="ctr">
                        <a:tabLst/>
                      </a:pPr>
                      <a:endParaRPr lang="es-ES" sz="500" b="1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Se presentan algunas </a:t>
                      </a:r>
                    </a:p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Evidencias fotográficas</a:t>
                      </a:r>
                    </a:p>
                    <a:p>
                      <a:pPr marL="98425" indent="0" algn="l" fontAlgn="ctr">
                        <a:tabLst/>
                      </a:pP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312088"/>
                  </a:ext>
                </a:extLst>
              </a:tr>
              <a:tr h="391528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endParaRPr lang="es-ES" sz="1600" b="0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14761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713013"/>
                  </a:ext>
                </a:extLst>
              </a:tr>
            </a:tbl>
          </a:graphicData>
        </a:graphic>
      </p:graphicFrame>
      <p:pic>
        <p:nvPicPr>
          <p:cNvPr id="8" name="Imagen 7" descr="Un grupo de personas en una tienda&#10;&#10;El contenido generado por IA puede ser incorrecto.">
            <a:extLst>
              <a:ext uri="{FF2B5EF4-FFF2-40B4-BE49-F238E27FC236}">
                <a16:creationId xmlns:a16="http://schemas.microsoft.com/office/drawing/2014/main" id="{93014C0D-BDB2-608A-BCCB-80E3A8C9C7E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5466" y="2617995"/>
            <a:ext cx="3147088" cy="2360316"/>
          </a:xfrm>
          <a:prstGeom prst="rect">
            <a:avLst/>
          </a:prstGeom>
        </p:spPr>
      </p:pic>
      <p:pic>
        <p:nvPicPr>
          <p:cNvPr id="9" name="Imagen 8" descr="Un grupo de personas de pie&#10;&#10;El contenido generado por IA puede ser incorrecto.">
            <a:extLst>
              <a:ext uri="{FF2B5EF4-FFF2-40B4-BE49-F238E27FC236}">
                <a16:creationId xmlns:a16="http://schemas.microsoft.com/office/drawing/2014/main" id="{685D0F50-0A6C-C5EA-F8BE-B4E83CCAA158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55"/>
          <a:stretch>
            <a:fillRect/>
          </a:stretch>
        </p:blipFill>
        <p:spPr>
          <a:xfrm>
            <a:off x="8264903" y="3308714"/>
            <a:ext cx="3069648" cy="2360316"/>
          </a:xfrm>
          <a:prstGeom prst="rect">
            <a:avLst/>
          </a:prstGeom>
        </p:spPr>
      </p:pic>
      <p:pic>
        <p:nvPicPr>
          <p:cNvPr id="6" name="Imagen 5" descr="Un grupo de personas en un salón&#10;&#10;El contenido generado por IA puede ser incorrecto.">
            <a:extLst>
              <a:ext uri="{FF2B5EF4-FFF2-40B4-BE49-F238E27FC236}">
                <a16:creationId xmlns:a16="http://schemas.microsoft.com/office/drawing/2014/main" id="{CDD3B270-33EC-B97F-CD54-BCD7FE01352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029" y="2128556"/>
            <a:ext cx="3147088" cy="2360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313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B90C1-8AF3-77AC-F443-8DDF02F63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83553D6-1698-9535-D6D1-FA0879E59F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46BD70FA-64A7-2CAD-28EB-57F2625856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23723"/>
              </p:ext>
            </p:extLst>
          </p:nvPr>
        </p:nvGraphicFramePr>
        <p:xfrm>
          <a:off x="471487" y="1114426"/>
          <a:ext cx="11172825" cy="4772024"/>
        </p:xfrm>
        <a:graphic>
          <a:graphicData uri="http://schemas.openxmlformats.org/drawingml/2006/table">
            <a:tbl>
              <a:tblPr>
                <a:solidFill>
                  <a:srgbClr val="FFFFFF">
                    <a:alpha val="50196"/>
                  </a:srgbClr>
                </a:solidFill>
                <a:tableStyleId>{5C22544A-7EE6-4342-B048-85BDC9FD1C3A}</a:tableStyleId>
              </a:tblPr>
              <a:tblGrid>
                <a:gridCol w="934042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10238783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85674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</a:t>
                      </a: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Se presentan algunas </a:t>
                      </a:r>
                    </a:p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evidencias fotográficas</a:t>
                      </a: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312088"/>
                  </a:ext>
                </a:extLst>
              </a:tr>
              <a:tr h="391528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endParaRPr lang="es-ES" sz="1600" b="0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14761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713013"/>
                  </a:ext>
                </a:extLst>
              </a:tr>
            </a:tbl>
          </a:graphicData>
        </a:graphic>
      </p:graphicFrame>
      <p:pic>
        <p:nvPicPr>
          <p:cNvPr id="8" name="Imagen 7" descr="Un grupo de personas junto a un niño&#10;&#10;El contenido generado por IA puede ser incorrecto.">
            <a:extLst>
              <a:ext uri="{FF2B5EF4-FFF2-40B4-BE49-F238E27FC236}">
                <a16:creationId xmlns:a16="http://schemas.microsoft.com/office/drawing/2014/main" id="{BC89B2A7-95E6-3CA9-B3A2-34FDF640FD22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099" y="2266707"/>
            <a:ext cx="2289703" cy="3187523"/>
          </a:xfrm>
          <a:prstGeom prst="rect">
            <a:avLst/>
          </a:prstGeom>
        </p:spPr>
      </p:pic>
      <p:pic>
        <p:nvPicPr>
          <p:cNvPr id="9" name="Imagen 8" descr="Un grupo de personas sentadas en el suelo&#10;&#10;El contenido generado por IA puede ser incorrecto.">
            <a:extLst>
              <a:ext uri="{FF2B5EF4-FFF2-40B4-BE49-F238E27FC236}">
                <a16:creationId xmlns:a16="http://schemas.microsoft.com/office/drawing/2014/main" id="{CCD1C9FF-4102-253C-CDCC-5F77B9FB6A35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80"/>
          <a:stretch>
            <a:fillRect/>
          </a:stretch>
        </p:blipFill>
        <p:spPr>
          <a:xfrm>
            <a:off x="1491775" y="2529444"/>
            <a:ext cx="3549399" cy="266205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68192A5-7894-F1E6-4F5C-8F5B1132B13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48"/>
          <a:stretch>
            <a:fillRect/>
          </a:stretch>
        </p:blipFill>
        <p:spPr>
          <a:xfrm>
            <a:off x="7900728" y="2529444"/>
            <a:ext cx="3549399" cy="26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224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D1C17-BCFD-BCD4-4ACF-A8D2E475B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F81BD40-15BB-34E3-E1D4-EDB71BFDAB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882BA0E-2FEE-6AF5-022D-3BAD4A6802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3111966"/>
              </p:ext>
            </p:extLst>
          </p:nvPr>
        </p:nvGraphicFramePr>
        <p:xfrm>
          <a:off x="471487" y="1114426"/>
          <a:ext cx="11172825" cy="4772024"/>
        </p:xfrm>
        <a:graphic>
          <a:graphicData uri="http://schemas.openxmlformats.org/drawingml/2006/table">
            <a:tbl>
              <a:tblPr>
                <a:solidFill>
                  <a:srgbClr val="FFFFFF">
                    <a:alpha val="50196"/>
                  </a:srgbClr>
                </a:solidFill>
                <a:tableStyleId>{5C22544A-7EE6-4342-B048-85BDC9FD1C3A}</a:tableStyleId>
              </a:tblPr>
              <a:tblGrid>
                <a:gridCol w="934042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10238783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85674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</a:t>
                      </a: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8425" indent="0" algn="l" fontAlgn="ctr">
                        <a:tabLst/>
                      </a:pPr>
                      <a:endParaRPr lang="es-ES" sz="500" b="1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Se presentan algunas </a:t>
                      </a:r>
                    </a:p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Evidencias fotográficas</a:t>
                      </a: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312088"/>
                  </a:ext>
                </a:extLst>
              </a:tr>
              <a:tr h="391528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endParaRPr lang="es-ES" sz="1600" b="0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14761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713013"/>
                  </a:ext>
                </a:extLst>
              </a:tr>
            </a:tbl>
          </a:graphicData>
        </a:graphic>
      </p:graphicFrame>
      <p:pic>
        <p:nvPicPr>
          <p:cNvPr id="6" name="Imagen 5" descr="Imagen que contiene foto, escena, galería, cuarto&#10;&#10;El contenido generado por IA puede ser incorrecto.">
            <a:extLst>
              <a:ext uri="{FF2B5EF4-FFF2-40B4-BE49-F238E27FC236}">
                <a16:creationId xmlns:a16="http://schemas.microsoft.com/office/drawing/2014/main" id="{29F44748-7528-A4B4-5FED-BAE210C9B8D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98" b="9562"/>
          <a:stretch>
            <a:fillRect/>
          </a:stretch>
        </p:blipFill>
        <p:spPr>
          <a:xfrm>
            <a:off x="1635634" y="2223180"/>
            <a:ext cx="2937539" cy="2554515"/>
          </a:xfrm>
          <a:prstGeom prst="rect">
            <a:avLst/>
          </a:prstGeom>
        </p:spPr>
      </p:pic>
      <p:pic>
        <p:nvPicPr>
          <p:cNvPr id="7" name="Imagen 6" descr="Un grupo de personas sentadas en un sillón&#10;&#10;El contenido generado por IA puede ser incorrecto.">
            <a:extLst>
              <a:ext uri="{FF2B5EF4-FFF2-40B4-BE49-F238E27FC236}">
                <a16:creationId xmlns:a16="http://schemas.microsoft.com/office/drawing/2014/main" id="{C549BEDF-A43F-DB07-0034-307113649373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42"/>
          <a:stretch>
            <a:fillRect/>
          </a:stretch>
        </p:blipFill>
        <p:spPr>
          <a:xfrm>
            <a:off x="4886835" y="3001326"/>
            <a:ext cx="3079358" cy="2677841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35678144-50D1-1F10-11C1-698B0E16590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5573" y="2111204"/>
            <a:ext cx="3079358" cy="266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174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A4D26-3AB1-1B82-DE2B-81878DFCE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1A80772-19B9-B889-E4B0-735F5AC7BE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168A701-E562-44D7-03CE-6CF34F593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49490"/>
              </p:ext>
            </p:extLst>
          </p:nvPr>
        </p:nvGraphicFramePr>
        <p:xfrm>
          <a:off x="471487" y="1114426"/>
          <a:ext cx="11172825" cy="4772024"/>
        </p:xfrm>
        <a:graphic>
          <a:graphicData uri="http://schemas.openxmlformats.org/drawingml/2006/table">
            <a:tbl>
              <a:tblPr>
                <a:solidFill>
                  <a:srgbClr val="FFFFFF">
                    <a:alpha val="50196"/>
                  </a:srgbClr>
                </a:solidFill>
                <a:tableStyleId>{5C22544A-7EE6-4342-B048-85BDC9FD1C3A}</a:tableStyleId>
              </a:tblPr>
              <a:tblGrid>
                <a:gridCol w="934042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10238783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85674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</a:t>
                      </a: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8425" indent="0" algn="l" fontAlgn="ctr">
                        <a:tabLst/>
                      </a:pPr>
                      <a:endParaRPr lang="es-ES" sz="500" b="1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Se presentan algunas </a:t>
                      </a:r>
                    </a:p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Evidencias fotográficas</a:t>
                      </a: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312088"/>
                  </a:ext>
                </a:extLst>
              </a:tr>
              <a:tr h="391528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endParaRPr lang="es-ES" sz="1600" b="0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14761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713013"/>
                  </a:ext>
                </a:extLst>
              </a:tr>
            </a:tbl>
          </a:graphicData>
        </a:graphic>
      </p:graphicFrame>
      <p:pic>
        <p:nvPicPr>
          <p:cNvPr id="3" name="Imagen 2" descr="Un grupo de personas de pie&#10;&#10;El contenido generado por IA puede ser incorrecto.">
            <a:extLst>
              <a:ext uri="{FF2B5EF4-FFF2-40B4-BE49-F238E27FC236}">
                <a16:creationId xmlns:a16="http://schemas.microsoft.com/office/drawing/2014/main" id="{14C07365-6BE8-6825-B1FF-9AF51884511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347" y="2175672"/>
            <a:ext cx="3175751" cy="2381814"/>
          </a:xfrm>
          <a:prstGeom prst="rect">
            <a:avLst/>
          </a:prstGeom>
        </p:spPr>
      </p:pic>
      <p:pic>
        <p:nvPicPr>
          <p:cNvPr id="7" name="Imagen 6" descr="Imagen que contiene interior, persona, hombre, tabla&#10;&#10;El contenido generado por IA puede ser incorrecto.">
            <a:extLst>
              <a:ext uri="{FF2B5EF4-FFF2-40B4-BE49-F238E27FC236}">
                <a16:creationId xmlns:a16="http://schemas.microsoft.com/office/drawing/2014/main" id="{33DD001B-10F5-4C69-626B-3EE99B406503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735" y="2625617"/>
            <a:ext cx="3175752" cy="2381814"/>
          </a:xfrm>
          <a:prstGeom prst="rect">
            <a:avLst/>
          </a:prstGeom>
        </p:spPr>
      </p:pic>
      <p:pic>
        <p:nvPicPr>
          <p:cNvPr id="8" name="Imagen 7" descr="Una mujer con un vestido de colores&#10;&#10;El contenido generado por IA puede ser incorrecto.">
            <a:extLst>
              <a:ext uri="{FF2B5EF4-FFF2-40B4-BE49-F238E27FC236}">
                <a16:creationId xmlns:a16="http://schemas.microsoft.com/office/drawing/2014/main" id="{998E3452-C403-0F8B-C667-61EB2CFE89A2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125" y="3216617"/>
            <a:ext cx="3175752" cy="2381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564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007AF-6BF5-4E1E-7C0A-1FCED14B6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9D0F11C-DE80-B9F0-8D82-36C162881C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8551B5BA-AC64-918F-BC51-5689EA4CA50F}"/>
              </a:ext>
            </a:extLst>
          </p:cNvPr>
          <p:cNvGraphicFramePr>
            <a:graphicFrameLocks noGrp="1"/>
          </p:cNvGraphicFramePr>
          <p:nvPr/>
        </p:nvGraphicFramePr>
        <p:xfrm>
          <a:off x="471487" y="1114426"/>
          <a:ext cx="11172825" cy="4772024"/>
        </p:xfrm>
        <a:graphic>
          <a:graphicData uri="http://schemas.openxmlformats.org/drawingml/2006/table">
            <a:tbl>
              <a:tblPr>
                <a:solidFill>
                  <a:srgbClr val="FFFFFF">
                    <a:alpha val="50196"/>
                  </a:srgbClr>
                </a:solidFill>
                <a:tableStyleId>{5C22544A-7EE6-4342-B048-85BDC9FD1C3A}</a:tableStyleId>
              </a:tblPr>
              <a:tblGrid>
                <a:gridCol w="934042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10238783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85674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</a:t>
                      </a: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Se presentan algunas </a:t>
                      </a:r>
                    </a:p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Evidencias fotográficas</a:t>
                      </a: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312088"/>
                  </a:ext>
                </a:extLst>
              </a:tr>
              <a:tr h="391528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endParaRPr lang="es-ES" sz="1600" b="0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14761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713013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C827D3A4-B48A-9EDE-8A58-C06EC22578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0561" y="2103047"/>
            <a:ext cx="3614738" cy="227438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687EDEA-E665-8A2A-1E0A-6D97BFBBAB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2628" y="3368884"/>
            <a:ext cx="3695447" cy="237469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028F303-A811-2C99-3C7F-E0B23E57F0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4745" y="1994883"/>
            <a:ext cx="3861148" cy="249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9730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D46CD-C8BF-B21C-434C-F1D382A18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878B3B1-AB7E-72CF-15DC-308F04A46C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C3B0657-331F-FE3B-E0C3-289AA3A38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645678"/>
              </p:ext>
            </p:extLst>
          </p:nvPr>
        </p:nvGraphicFramePr>
        <p:xfrm>
          <a:off x="471487" y="1114426"/>
          <a:ext cx="11172825" cy="4772024"/>
        </p:xfrm>
        <a:graphic>
          <a:graphicData uri="http://schemas.openxmlformats.org/drawingml/2006/table">
            <a:tbl>
              <a:tblPr>
                <a:solidFill>
                  <a:srgbClr val="FFFFFF">
                    <a:alpha val="50196"/>
                  </a:srgbClr>
                </a:solidFill>
                <a:tableStyleId>{5C22544A-7EE6-4342-B048-85BDC9FD1C3A}</a:tableStyleId>
              </a:tblPr>
              <a:tblGrid>
                <a:gridCol w="934042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10238783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85674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</a:t>
                      </a: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Se presentan algunas </a:t>
                      </a:r>
                    </a:p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Evidencias fotográficas</a:t>
                      </a: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312088"/>
                  </a:ext>
                </a:extLst>
              </a:tr>
              <a:tr h="391528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endParaRPr lang="es-ES" sz="1600" b="0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14761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713013"/>
                  </a:ext>
                </a:extLst>
              </a:tr>
            </a:tbl>
          </a:graphicData>
        </a:graphic>
      </p:graphicFrame>
      <p:pic>
        <p:nvPicPr>
          <p:cNvPr id="3" name="Imagen 2" descr="Un grupo de fotos de un niño&#10;&#10;El contenido generado por IA puede ser incorrecto.">
            <a:extLst>
              <a:ext uri="{FF2B5EF4-FFF2-40B4-BE49-F238E27FC236}">
                <a16:creationId xmlns:a16="http://schemas.microsoft.com/office/drawing/2014/main" id="{596F208A-CEE8-52D8-260A-49267EDA5A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8747" y="2471187"/>
            <a:ext cx="4147882" cy="2797260"/>
          </a:xfrm>
          <a:prstGeom prst="rect">
            <a:avLst/>
          </a:prstGeom>
        </p:spPr>
      </p:pic>
      <p:pic>
        <p:nvPicPr>
          <p:cNvPr id="7" name="Imagen 6" descr="Un grupo de niños posando para una foto&#10;&#10;El contenido generado por IA puede ser incorrecto.">
            <a:extLst>
              <a:ext uri="{FF2B5EF4-FFF2-40B4-BE49-F238E27FC236}">
                <a16:creationId xmlns:a16="http://schemas.microsoft.com/office/drawing/2014/main" id="{BA59063F-41F3-806F-2DFF-6F3D29B06E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1529" y="2471188"/>
            <a:ext cx="4147882" cy="279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82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7C580-BDE2-725D-6090-43C5693AA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5E57C35-8579-5A86-861D-BE14AF5AE6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39F19F27-2663-0834-F5C4-A9FF5373F942}"/>
              </a:ext>
            </a:extLst>
          </p:cNvPr>
          <p:cNvGraphicFramePr>
            <a:graphicFrameLocks noGrp="1"/>
          </p:cNvGraphicFramePr>
          <p:nvPr/>
        </p:nvGraphicFramePr>
        <p:xfrm>
          <a:off x="471487" y="1114426"/>
          <a:ext cx="11172825" cy="4772024"/>
        </p:xfrm>
        <a:graphic>
          <a:graphicData uri="http://schemas.openxmlformats.org/drawingml/2006/table">
            <a:tbl>
              <a:tblPr>
                <a:solidFill>
                  <a:srgbClr val="FFFFFF">
                    <a:alpha val="50196"/>
                  </a:srgbClr>
                </a:solidFill>
                <a:tableStyleId>{5C22544A-7EE6-4342-B048-85BDC9FD1C3A}</a:tableStyleId>
              </a:tblPr>
              <a:tblGrid>
                <a:gridCol w="934042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10238783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85674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</a:t>
                      </a: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Se presentan algunas </a:t>
                      </a:r>
                    </a:p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Evidencias fotográficas</a:t>
                      </a: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312088"/>
                  </a:ext>
                </a:extLst>
              </a:tr>
              <a:tr h="391528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endParaRPr lang="es-ES" sz="1600" b="0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14761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713013"/>
                  </a:ext>
                </a:extLst>
              </a:tr>
            </a:tbl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AD6AAB99-6D04-755F-EF14-0EC40B1EA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3" y="2376026"/>
            <a:ext cx="3436842" cy="313940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0CE8B57-B635-8475-3ABD-99D0C60902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9210"/>
          <a:stretch>
            <a:fillRect/>
          </a:stretch>
        </p:blipFill>
        <p:spPr>
          <a:xfrm>
            <a:off x="8058473" y="2376025"/>
            <a:ext cx="3436842" cy="313940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0F5F152-80E9-6484-9B69-AD3DF65E62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7366" y="2376025"/>
            <a:ext cx="2517777" cy="312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468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2988</TotalTime>
  <Words>1433</Words>
  <Application>Microsoft Office PowerPoint</Application>
  <PresentationFormat>Panorámica</PresentationFormat>
  <Paragraphs>369</Paragraphs>
  <Slides>21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Century Gothic</vt:lpstr>
      <vt:lpstr>Times New Roman</vt:lpstr>
      <vt:lpstr>TT Norms Bold</vt:lpstr>
      <vt:lpstr>Tema de Office</vt:lpstr>
      <vt:lpstr>Leyendo y escribiendo Vamos aprendiendo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Nombre de la Experiencia Significativa</dc:title>
  <dc:creator>Sebastian Santamaria</dc:creator>
  <cp:lastModifiedBy>CALIDAD-MEJORAMIENTO</cp:lastModifiedBy>
  <cp:revision>72</cp:revision>
  <dcterms:created xsi:type="dcterms:W3CDTF">2025-07-23T15:35:07Z</dcterms:created>
  <dcterms:modified xsi:type="dcterms:W3CDTF">2026-06-10T17:01:31Z</dcterms:modified>
</cp:coreProperties>
</file>