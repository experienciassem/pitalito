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Play"/>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hwh1JE9Tqbwa3BCoMl8D++u+qn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lay-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type="tx">
  <p:cSld name="TITLE_AND_BODY">
    <p:spTree>
      <p:nvGrpSpPr>
        <p:cNvPr id="23" name="Shape 23"/>
        <p:cNvGrpSpPr/>
        <p:nvPr/>
      </p:nvGrpSpPr>
      <p:grpSpPr>
        <a:xfrm>
          <a:off x="0" y="0"/>
          <a:ext cx="0" cy="0"/>
          <a:chOff x="0" y="0"/>
          <a:chExt cx="0" cy="0"/>
        </a:xfrm>
      </p:grpSpPr>
      <p:sp>
        <p:nvSpPr>
          <p:cNvPr id="24" name="Google Shape;2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9" name="Shape 29"/>
        <p:cNvGrpSpPr/>
        <p:nvPr/>
      </p:nvGrpSpPr>
      <p:grpSpPr>
        <a:xfrm>
          <a:off x="0" y="0"/>
          <a:ext cx="0" cy="0"/>
          <a:chOff x="0" y="0"/>
          <a:chExt cx="0" cy="0"/>
        </a:xfrm>
      </p:grpSpPr>
      <p:sp>
        <p:nvSpPr>
          <p:cNvPr id="30" name="Google Shape;30;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2" name="Google Shape;3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5" name="Shape 35"/>
        <p:cNvGrpSpPr/>
        <p:nvPr/>
      </p:nvGrpSpPr>
      <p:grpSpPr>
        <a:xfrm>
          <a:off x="0" y="0"/>
          <a:ext cx="0" cy="0"/>
          <a:chOff x="0" y="0"/>
          <a:chExt cx="0" cy="0"/>
        </a:xfrm>
      </p:grpSpPr>
      <p:sp>
        <p:nvSpPr>
          <p:cNvPr id="36" name="Google Shape;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2" name="Shape 42"/>
        <p:cNvGrpSpPr/>
        <p:nvPr/>
      </p:nvGrpSpPr>
      <p:grpSpPr>
        <a:xfrm>
          <a:off x="0" y="0"/>
          <a:ext cx="0" cy="0"/>
          <a:chOff x="0" y="0"/>
          <a:chExt cx="0" cy="0"/>
        </a:xfrm>
      </p:grpSpPr>
      <p:sp>
        <p:nvSpPr>
          <p:cNvPr id="43" name="Google Shape;43;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1" name="Shape 51"/>
        <p:cNvGrpSpPr/>
        <p:nvPr/>
      </p:nvGrpSpPr>
      <p:grpSpPr>
        <a:xfrm>
          <a:off x="0" y="0"/>
          <a:ext cx="0" cy="0"/>
          <a:chOff x="0" y="0"/>
          <a:chExt cx="0" cy="0"/>
        </a:xfrm>
      </p:grpSpPr>
      <p:sp>
        <p:nvSpPr>
          <p:cNvPr id="52" name="Google Shape;52;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6" name="Shape 56"/>
        <p:cNvGrpSpPr/>
        <p:nvPr/>
      </p:nvGrpSpPr>
      <p:grpSpPr>
        <a:xfrm>
          <a:off x="0" y="0"/>
          <a:ext cx="0" cy="0"/>
          <a:chOff x="0" y="0"/>
          <a:chExt cx="0" cy="0"/>
        </a:xfrm>
      </p:grpSpPr>
      <p:sp>
        <p:nvSpPr>
          <p:cNvPr id="57" name="Google Shape;5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0" name="Shape 60"/>
        <p:cNvGrpSpPr/>
        <p:nvPr/>
      </p:nvGrpSpPr>
      <p:grpSpPr>
        <a:xfrm>
          <a:off x="0" y="0"/>
          <a:ext cx="0" cy="0"/>
          <a:chOff x="0" y="0"/>
          <a:chExt cx="0" cy="0"/>
        </a:xfrm>
      </p:grpSpPr>
      <p:sp>
        <p:nvSpPr>
          <p:cNvPr id="61" name="Google Shape;61;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7" name="Shape 67"/>
        <p:cNvGrpSpPr/>
        <p:nvPr/>
      </p:nvGrpSpPr>
      <p:grpSpPr>
        <a:xfrm>
          <a:off x="0" y="0"/>
          <a:ext cx="0" cy="0"/>
          <a:chOff x="0" y="0"/>
          <a:chExt cx="0" cy="0"/>
        </a:xfrm>
      </p:grpSpPr>
      <p:sp>
        <p:nvSpPr>
          <p:cNvPr id="68" name="Google Shape;68;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0"/>
          <p:cNvSpPr/>
          <p:nvPr>
            <p:ph idx="2" type="pic"/>
          </p:nvPr>
        </p:nvSpPr>
        <p:spPr>
          <a:xfrm>
            <a:off x="5183188" y="987425"/>
            <a:ext cx="6172200" cy="4873625"/>
          </a:xfrm>
          <a:prstGeom prst="rect">
            <a:avLst/>
          </a:prstGeom>
          <a:noFill/>
          <a:ln>
            <a:noFill/>
          </a:ln>
        </p:spPr>
      </p:sp>
      <p:sp>
        <p:nvSpPr>
          <p:cNvPr id="70" name="Google Shape;70;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4" name="Shape 74"/>
        <p:cNvGrpSpPr/>
        <p:nvPr/>
      </p:nvGrpSpPr>
      <p:grpSpPr>
        <a:xfrm>
          <a:off x="0" y="0"/>
          <a:ext cx="0" cy="0"/>
          <a:chOff x="0" y="0"/>
          <a:chExt cx="0" cy="0"/>
        </a:xfrm>
      </p:grpSpPr>
      <p:sp>
        <p:nvSpPr>
          <p:cNvPr id="75" name="Google Shape;75;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0" name="Shape 80"/>
        <p:cNvGrpSpPr/>
        <p:nvPr/>
      </p:nvGrpSpPr>
      <p:grpSpPr>
        <a:xfrm>
          <a:off x="0" y="0"/>
          <a:ext cx="0" cy="0"/>
          <a:chOff x="0" y="0"/>
          <a:chExt cx="0" cy="0"/>
        </a:xfrm>
      </p:grpSpPr>
      <p:sp>
        <p:nvSpPr>
          <p:cNvPr id="81" name="Google Shape;81;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
          <p:cNvSpPr/>
          <p:nvPr/>
        </p:nvSpPr>
        <p:spPr>
          <a:xfrm>
            <a:off x="0" y="-1"/>
            <a:ext cx="12191695" cy="6852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1" name="Google Shape;91;p1"/>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2" name="Google Shape;92;p1"/>
          <p:cNvSpPr txBox="1"/>
          <p:nvPr>
            <p:ph type="ctrTitle"/>
          </p:nvPr>
        </p:nvSpPr>
        <p:spPr>
          <a:xfrm>
            <a:off x="6590662" y="4267832"/>
            <a:ext cx="4805996" cy="12971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4000"/>
              <a:buFont typeface="Play"/>
              <a:buNone/>
            </a:pPr>
            <a:r>
              <a:rPr lang="en-US" sz="4000">
                <a:solidFill>
                  <a:schemeClr val="dk2"/>
                </a:solidFill>
              </a:rPr>
              <a:t>Proyecto Desplastificando</a:t>
            </a:r>
            <a:endParaRPr/>
          </a:p>
        </p:txBody>
      </p:sp>
      <p:sp>
        <p:nvSpPr>
          <p:cNvPr id="93" name="Google Shape;93;p1"/>
          <p:cNvSpPr txBox="1"/>
          <p:nvPr>
            <p:ph idx="1" type="subTitle"/>
          </p:nvPr>
        </p:nvSpPr>
        <p:spPr>
          <a:xfrm>
            <a:off x="6590966" y="3428999"/>
            <a:ext cx="4805691" cy="83883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2000"/>
              <a:buNone/>
            </a:pPr>
            <a:r>
              <a:rPr lang="en-US" sz="2000">
                <a:solidFill>
                  <a:schemeClr val="dk2"/>
                </a:solidFill>
              </a:rPr>
              <a:t>Articulación con las distintas áreas del conocimiento</a:t>
            </a:r>
            <a:endParaRPr sz="2000">
              <a:solidFill>
                <a:schemeClr val="dk2"/>
              </a:solidFill>
            </a:endParaRPr>
          </a:p>
        </p:txBody>
      </p:sp>
      <p:pic>
        <p:nvPicPr>
          <p:cNvPr descr="Marca de verificación" id="94" name="Google Shape;94;p1"/>
          <p:cNvPicPr preferRelativeResize="0"/>
          <p:nvPr/>
        </p:nvPicPr>
        <p:blipFill rotWithShape="1">
          <a:blip r:embed="rId3">
            <a:alphaModFix/>
          </a:blip>
          <a:srcRect b="0" l="0" r="0" t="0"/>
          <a:stretch/>
        </p:blipFill>
        <p:spPr>
          <a:xfrm>
            <a:off x="340470" y="1815320"/>
            <a:ext cx="4141760" cy="4141760"/>
          </a:xfrm>
          <a:custGeom>
            <a:rect b="b" l="l" r="r" t="t"/>
            <a:pathLst>
              <a:path extrusionOk="0" h="4377846" w="4141760">
                <a:moveTo>
                  <a:pt x="0" y="0"/>
                </a:moveTo>
                <a:lnTo>
                  <a:pt x="4141760" y="0"/>
                </a:lnTo>
                <a:lnTo>
                  <a:pt x="4141760" y="4377846"/>
                </a:lnTo>
                <a:lnTo>
                  <a:pt x="0" y="4377846"/>
                </a:lnTo>
                <a:close/>
              </a:path>
            </a:pathLst>
          </a:custGeom>
          <a:noFill/>
          <a:ln>
            <a:noFill/>
          </a:ln>
        </p:spPr>
      </p:pic>
      <p:grpSp>
        <p:nvGrpSpPr>
          <p:cNvPr id="95" name="Google Shape;95;p1"/>
          <p:cNvGrpSpPr/>
          <p:nvPr/>
        </p:nvGrpSpPr>
        <p:grpSpPr>
          <a:xfrm>
            <a:off x="-4253" y="-5977"/>
            <a:ext cx="6238675" cy="6863979"/>
            <a:chOff x="305" y="-5977"/>
            <a:chExt cx="6238675" cy="6863979"/>
          </a:xfrm>
        </p:grpSpPr>
        <p:sp>
          <p:nvSpPr>
            <p:cNvPr id="96" name="Google Shape;96;p1"/>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7" name="Google Shape;97;p1"/>
            <p:cNvSpPr/>
            <p:nvPr/>
          </p:nvSpPr>
          <p:spPr>
            <a:xfrm flipH="1">
              <a:off x="305" y="1"/>
              <a:ext cx="6165116"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8" name="Google Shape;98;p1"/>
            <p:cNvSpPr/>
            <p:nvPr/>
          </p:nvSpPr>
          <p:spPr>
            <a:xfrm flipH="1">
              <a:off x="305" y="-5977"/>
              <a:ext cx="6238675"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92"/>
                                        </p:tgtEl>
                                        <p:attrNameLst>
                                          <p:attrName>style.visibility</p:attrName>
                                        </p:attrNameLst>
                                      </p:cBhvr>
                                      <p:to>
                                        <p:strVal val="visible"/>
                                      </p:to>
                                    </p:set>
                                    <p:animEffect filter="fade" transition="in">
                                      <p:cBhvr>
                                        <p:cTn dur="700"/>
                                        <p:tgtEl>
                                          <p:spTgt spid="92"/>
                                        </p:tgtEl>
                                      </p:cBhvr>
                                    </p:animEffect>
                                  </p:childTnLst>
                                </p:cTn>
                              </p:par>
                              <p:par>
                                <p:cTn fill="hold" nodeType="withEffect" presetClass="entr" presetID="10" presetSubtype="0">
                                  <p:stCondLst>
                                    <p:cond delay="1500"/>
                                  </p:stCondLst>
                                  <p:childTnLst>
                                    <p:set>
                                      <p:cBhvr>
                                        <p:cTn dur="1" fill="hold">
                                          <p:stCondLst>
                                            <p:cond delay="0"/>
                                          </p:stCondLst>
                                        </p:cTn>
                                        <p:tgtEl>
                                          <p:spTgt spid="93">
                                            <p:txEl>
                                              <p:pRg end="0" st="0"/>
                                            </p:txEl>
                                          </p:spTgt>
                                        </p:tgtEl>
                                        <p:attrNameLst>
                                          <p:attrName>style.visibility</p:attrName>
                                        </p:attrNameLst>
                                      </p:cBhvr>
                                      <p:to>
                                        <p:strVal val="visible"/>
                                      </p:to>
                                    </p:set>
                                    <p:animEffect filter="fade" transition="in">
                                      <p:cBhvr>
                                        <p:cTn dur="700"/>
                                        <p:tgtEl>
                                          <p:spTgt spid="93">
                                            <p:txEl>
                                              <p:pRg end="0" st="0"/>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94"/>
                                        </p:tgtEl>
                                        <p:attrNameLst>
                                          <p:attrName>style.visibility</p:attrName>
                                        </p:attrNameLst>
                                      </p:cBhvr>
                                      <p:to>
                                        <p:strVal val="visible"/>
                                      </p:to>
                                    </p:set>
                                    <p:animEffect filter="fade" transition="in">
                                      <p:cBhvr>
                                        <p:cTn dur="700"/>
                                        <p:tgtEl>
                                          <p:spTgt spid="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2"/>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4" name="Google Shape;104;p2"/>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5" name="Google Shape;105;p2"/>
          <p:cNvSpPr txBox="1"/>
          <p:nvPr>
            <p:ph type="title"/>
          </p:nvPr>
        </p:nvSpPr>
        <p:spPr>
          <a:xfrm>
            <a:off x="761803" y="350196"/>
            <a:ext cx="464690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OBJETIVO GENERAL</a:t>
            </a:r>
            <a:endParaRPr/>
          </a:p>
        </p:txBody>
      </p:sp>
      <p:sp>
        <p:nvSpPr>
          <p:cNvPr id="106" name="Google Shape;106;p2"/>
          <p:cNvSpPr txBox="1"/>
          <p:nvPr>
            <p:ph idx="1" type="body"/>
          </p:nvPr>
        </p:nvSpPr>
        <p:spPr>
          <a:xfrm>
            <a:off x="620288" y="1872343"/>
            <a:ext cx="6967055" cy="361314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200"/>
              <a:buChar char="•"/>
            </a:pPr>
            <a:r>
              <a:rPr lang="en-US" sz="3200">
                <a:latin typeface="Calibri"/>
                <a:ea typeface="Calibri"/>
                <a:cs typeface="Calibri"/>
                <a:sym typeface="Calibri"/>
              </a:rPr>
              <a:t>Contribuir a la reducción de la contaminación generada por el uso del plástico en la Comuna 4 del municipio de Pitalito, Huila, con el fin de promover prácticas ambientalmente responsables y mejorar la calidad de vida de sus habitantes.</a:t>
            </a:r>
            <a:endParaRPr sz="3200">
              <a:latin typeface="Calibri"/>
              <a:ea typeface="Calibri"/>
              <a:cs typeface="Calibri"/>
              <a:sym typeface="Calibri"/>
            </a:endParaRPr>
          </a:p>
          <a:p>
            <a:pPr indent="-25400" lvl="0" marL="228600" rtl="0" algn="just">
              <a:lnSpc>
                <a:spcPct val="90000"/>
              </a:lnSpc>
              <a:spcBef>
                <a:spcPts val="1000"/>
              </a:spcBef>
              <a:spcAft>
                <a:spcPts val="0"/>
              </a:spcAft>
              <a:buClr>
                <a:schemeClr val="dk1"/>
              </a:buClr>
              <a:buSzPts val="3200"/>
              <a:buNone/>
            </a:pPr>
            <a:r>
              <a:t/>
            </a:r>
            <a:endParaRPr sz="3200"/>
          </a:p>
        </p:txBody>
      </p:sp>
      <p:pic>
        <p:nvPicPr>
          <p:cNvPr descr="Acción de arrojar una botella de plástico vacío a la papelera" id="107" name="Google Shape;107;p2"/>
          <p:cNvPicPr preferRelativeResize="0"/>
          <p:nvPr/>
        </p:nvPicPr>
        <p:blipFill rotWithShape="1">
          <a:blip r:embed="rId3">
            <a:alphaModFix/>
          </a:blip>
          <a:srcRect b="-2" l="15395" r="25204" t="0"/>
          <a:stretch/>
        </p:blipFill>
        <p:spPr>
          <a:xfrm>
            <a:off x="8273143" y="1"/>
            <a:ext cx="3925682"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3"/>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3" name="Google Shape;113;p3"/>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4" name="Google Shape;114;p3"/>
          <p:cNvSpPr txBox="1"/>
          <p:nvPr>
            <p:ph type="title"/>
          </p:nvPr>
        </p:nvSpPr>
        <p:spPr>
          <a:xfrm>
            <a:off x="1654432" y="91484"/>
            <a:ext cx="612885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OBJETIVO ESPECIFICOS</a:t>
            </a:r>
            <a:endParaRPr/>
          </a:p>
        </p:txBody>
      </p:sp>
      <p:sp>
        <p:nvSpPr>
          <p:cNvPr id="115" name="Google Shape;115;p3"/>
          <p:cNvSpPr txBox="1"/>
          <p:nvPr>
            <p:ph idx="1" type="body"/>
          </p:nvPr>
        </p:nvSpPr>
        <p:spPr>
          <a:xfrm>
            <a:off x="184523" y="1730829"/>
            <a:ext cx="8643257" cy="4776975"/>
          </a:xfrm>
          <a:prstGeom prst="rect">
            <a:avLst/>
          </a:prstGeom>
          <a:noFill/>
          <a:ln>
            <a:noFill/>
          </a:ln>
        </p:spPr>
        <p:txBody>
          <a:bodyPr anchorCtr="0" anchor="ctr" bIns="45700" lIns="91425" spcFirstLastPara="1" rIns="91425" wrap="square" tIns="45700">
            <a:noAutofit/>
          </a:bodyPr>
          <a:lstStyle/>
          <a:p>
            <a:pPr indent="-63500" lvl="0" marL="63500" marR="56514" rtl="0" algn="just">
              <a:lnSpc>
                <a:spcPct val="115000"/>
              </a:lnSpc>
              <a:spcBef>
                <a:spcPts val="0"/>
              </a:spcBef>
              <a:spcAft>
                <a:spcPts val="0"/>
              </a:spcAft>
              <a:buClr>
                <a:schemeClr val="dk1"/>
              </a:buClr>
              <a:buSzPts val="2800"/>
              <a:buNone/>
            </a:pPr>
            <a:r>
              <a:rPr lang="en-US">
                <a:latin typeface="Calibri"/>
                <a:ea typeface="Calibri"/>
                <a:cs typeface="Calibri"/>
                <a:sym typeface="Calibri"/>
              </a:rPr>
              <a:t>Identificar y analizar las fuentes y tipos de contaminación plástica presentes en la Comuna 4, mediante estudios de mapeo y evaluación de los patrones de consumo.</a:t>
            </a:r>
            <a:endParaRPr>
              <a:latin typeface="Calibri"/>
              <a:ea typeface="Calibri"/>
              <a:cs typeface="Calibri"/>
              <a:sym typeface="Calibri"/>
            </a:endParaRPr>
          </a:p>
          <a:p>
            <a:pPr indent="-63500" lvl="0" marL="63500" marR="56514" rtl="0" algn="just">
              <a:lnSpc>
                <a:spcPct val="115000"/>
              </a:lnSpc>
              <a:spcBef>
                <a:spcPts val="2000"/>
              </a:spcBef>
              <a:spcAft>
                <a:spcPts val="0"/>
              </a:spcAft>
              <a:buClr>
                <a:schemeClr val="dk1"/>
              </a:buClr>
              <a:buSzPts val="2800"/>
              <a:buNone/>
            </a:pPr>
            <a:r>
              <a:rPr lang="en-US">
                <a:latin typeface="Calibri"/>
                <a:ea typeface="Calibri"/>
                <a:cs typeface="Calibri"/>
                <a:sym typeface="Calibri"/>
              </a:rPr>
              <a:t>Diseñar y aplicar secuencias didácticas promoviendo prácticas responsables en el uso y disposición del plástico.</a:t>
            </a:r>
            <a:endParaRPr>
              <a:latin typeface="Calibri"/>
              <a:ea typeface="Calibri"/>
              <a:cs typeface="Calibri"/>
              <a:sym typeface="Calibri"/>
            </a:endParaRPr>
          </a:p>
        </p:txBody>
      </p:sp>
      <p:pic>
        <p:nvPicPr>
          <p:cNvPr descr="Acción de arrojar una botella de plástico vacío a la papelera" id="116" name="Google Shape;116;p3"/>
          <p:cNvPicPr preferRelativeResize="0"/>
          <p:nvPr/>
        </p:nvPicPr>
        <p:blipFill rotWithShape="1">
          <a:blip r:embed="rId3">
            <a:alphaModFix/>
          </a:blip>
          <a:srcRect b="-2" l="15395" r="25204" t="0"/>
          <a:stretch/>
        </p:blipFill>
        <p:spPr>
          <a:xfrm>
            <a:off x="9133113" y="1"/>
            <a:ext cx="3065711"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4"/>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2" name="Google Shape;122;p4"/>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3" name="Google Shape;123;p4"/>
          <p:cNvSpPr txBox="1"/>
          <p:nvPr>
            <p:ph type="title"/>
          </p:nvPr>
        </p:nvSpPr>
        <p:spPr>
          <a:xfrm>
            <a:off x="1654432" y="91484"/>
            <a:ext cx="612885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OBJETIVO ESPECIFICOS</a:t>
            </a:r>
            <a:endParaRPr/>
          </a:p>
        </p:txBody>
      </p:sp>
      <p:sp>
        <p:nvSpPr>
          <p:cNvPr id="124" name="Google Shape;124;p4"/>
          <p:cNvSpPr txBox="1"/>
          <p:nvPr>
            <p:ph idx="1" type="body"/>
          </p:nvPr>
        </p:nvSpPr>
        <p:spPr>
          <a:xfrm>
            <a:off x="184523" y="1415143"/>
            <a:ext cx="8643257" cy="4776975"/>
          </a:xfrm>
          <a:prstGeom prst="rect">
            <a:avLst/>
          </a:prstGeom>
          <a:noFill/>
          <a:ln>
            <a:noFill/>
          </a:ln>
        </p:spPr>
        <p:txBody>
          <a:bodyPr anchorCtr="0" anchor="ctr" bIns="45700" lIns="91425" spcFirstLastPara="1" rIns="91425" wrap="square" tIns="45700">
            <a:noAutofit/>
          </a:bodyPr>
          <a:lstStyle/>
          <a:p>
            <a:pPr indent="-228600" lvl="0" marL="228600" marR="56514" rtl="0" algn="just">
              <a:lnSpc>
                <a:spcPct val="115000"/>
              </a:lnSpc>
              <a:spcBef>
                <a:spcPts val="0"/>
              </a:spcBef>
              <a:spcAft>
                <a:spcPts val="0"/>
              </a:spcAft>
              <a:buClr>
                <a:schemeClr val="dk1"/>
              </a:buClr>
              <a:buSzPts val="2800"/>
              <a:buNone/>
            </a:pPr>
            <a:r>
              <a:rPr lang="en-US">
                <a:latin typeface="Calibri"/>
                <a:ea typeface="Calibri"/>
                <a:cs typeface="Calibri"/>
                <a:sym typeface="Calibri"/>
              </a:rPr>
              <a:t>Establecer alianzas con instituciones educativas, empresas locales, y organizaciones comunitarias para desarrollar actividades conjuntas que impulsen la concientización y la adopción de prácticas sostenibles.</a:t>
            </a:r>
            <a:endParaRPr>
              <a:latin typeface="Calibri"/>
              <a:ea typeface="Calibri"/>
              <a:cs typeface="Calibri"/>
              <a:sym typeface="Calibri"/>
            </a:endParaRPr>
          </a:p>
          <a:p>
            <a:pPr indent="-228600" lvl="0" marL="228600" marR="56514" rtl="0" algn="just">
              <a:lnSpc>
                <a:spcPct val="115000"/>
              </a:lnSpc>
              <a:spcBef>
                <a:spcPts val="2000"/>
              </a:spcBef>
              <a:spcAft>
                <a:spcPts val="0"/>
              </a:spcAft>
              <a:buClr>
                <a:schemeClr val="dk1"/>
              </a:buClr>
              <a:buSzPts val="2800"/>
              <a:buNone/>
            </a:pPr>
            <a:r>
              <a:rPr lang="en-US">
                <a:latin typeface="Calibri"/>
                <a:ea typeface="Calibri"/>
                <a:cs typeface="Calibri"/>
                <a:sym typeface="Calibri"/>
              </a:rPr>
              <a:t>Fomentar la participación de la comunidad en programas de reciclaje y gestión de residuos, estableciendo puntos de recolección selectiva y promoviendo el reciclaje en los hogares y negocios locales.</a:t>
            </a:r>
            <a:endParaRPr>
              <a:latin typeface="Calibri"/>
              <a:ea typeface="Calibri"/>
              <a:cs typeface="Calibri"/>
              <a:sym typeface="Calibri"/>
            </a:endParaRPr>
          </a:p>
        </p:txBody>
      </p:sp>
      <p:pic>
        <p:nvPicPr>
          <p:cNvPr descr="Acción de arrojar una botella de plástico vacío a la papelera" id="125" name="Google Shape;125;p4"/>
          <p:cNvPicPr preferRelativeResize="0"/>
          <p:nvPr/>
        </p:nvPicPr>
        <p:blipFill rotWithShape="1">
          <a:blip r:embed="rId3">
            <a:alphaModFix/>
          </a:blip>
          <a:srcRect b="-2" l="15395" r="25204" t="0"/>
          <a:stretch/>
        </p:blipFill>
        <p:spPr>
          <a:xfrm>
            <a:off x="9133113" y="1"/>
            <a:ext cx="3065711"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5"/>
          <p:cNvPicPr preferRelativeResize="0"/>
          <p:nvPr/>
        </p:nvPicPr>
        <p:blipFill rotWithShape="1">
          <a:blip r:embed="rId3">
            <a:alphaModFix/>
          </a:blip>
          <a:srcRect b="0" l="0" r="0" t="0"/>
          <a:stretch/>
        </p:blipFill>
        <p:spPr>
          <a:xfrm>
            <a:off x="587829" y="464429"/>
            <a:ext cx="10969099" cy="590371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6"/>
          <p:cNvPicPr preferRelativeResize="0"/>
          <p:nvPr/>
        </p:nvPicPr>
        <p:blipFill rotWithShape="1">
          <a:blip r:embed="rId3">
            <a:alphaModFix/>
          </a:blip>
          <a:srcRect b="-9653" l="-379" r="379" t="9653"/>
          <a:stretch/>
        </p:blipFill>
        <p:spPr>
          <a:xfrm>
            <a:off x="206829" y="783772"/>
            <a:ext cx="11484428" cy="4397828"/>
          </a:xfrm>
          <a:prstGeom prst="rect">
            <a:avLst/>
          </a:prstGeom>
          <a:noFill/>
          <a:ln cap="sq" cmpd="thickThin" w="228600">
            <a:solidFill>
              <a:srgbClr val="000000"/>
            </a:solidFill>
            <a:prstDash val="solid"/>
            <a:miter lim="800000"/>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Sostenibilidad ambiental</a:t>
            </a:r>
            <a:endParaRPr/>
          </a:p>
        </p:txBody>
      </p:sp>
      <p:sp>
        <p:nvSpPr>
          <p:cNvPr id="141" name="Google Shape;14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Es la capacidad de los seres humanos para interactuar con el entorno de manera equilibrada, asegurando que los recursos naturales se utilicen de forma responsable, sin comprometer su disponibilidad para las generaciones futuras.</a:t>
            </a:r>
            <a:endParaRPr/>
          </a:p>
          <a:p>
            <a:pPr indent="-228600" lvl="0" marL="228600" rtl="0" algn="l">
              <a:lnSpc>
                <a:spcPct val="90000"/>
              </a:lnSpc>
              <a:spcBef>
                <a:spcPts val="1000"/>
              </a:spcBef>
              <a:spcAft>
                <a:spcPts val="0"/>
              </a:spcAft>
              <a:buClr>
                <a:schemeClr val="dk1"/>
              </a:buClr>
              <a:buSzPts val="2800"/>
              <a:buChar char="•"/>
            </a:pPr>
            <a:r>
              <a:rPr lang="en-US"/>
              <a:t>Implica </a:t>
            </a:r>
            <a:r>
              <a:rPr b="1" lang="en-US"/>
              <a:t>proteger los ecosistemas</a:t>
            </a:r>
            <a:r>
              <a:rPr lang="en-US"/>
              <a:t>, </a:t>
            </a:r>
            <a:r>
              <a:rPr b="1" lang="en-US"/>
              <a:t>reducir la contaminación</a:t>
            </a:r>
            <a:r>
              <a:rPr lang="en-US"/>
              <a:t>, </a:t>
            </a:r>
            <a:r>
              <a:rPr b="1" lang="en-US"/>
              <a:t>fomentar el reciclaje</a:t>
            </a:r>
            <a:r>
              <a:rPr lang="en-US"/>
              <a:t>, </a:t>
            </a:r>
            <a:r>
              <a:rPr b="1" lang="en-US"/>
              <a:t>ahorrar energía y agua</a:t>
            </a:r>
            <a:r>
              <a:rPr lang="en-US"/>
              <a:t>, y </a:t>
            </a:r>
            <a:r>
              <a:rPr b="1" lang="en-US"/>
              <a:t>promover un estilo de vida consciente y respetuoso con la naturaleza</a:t>
            </a:r>
            <a:r>
              <a:rPr lang="en-US"/>
              <a:t>. La sostenibilidad ambiental busca armonizar el desarrollo social y económico con el cuidado del planeta, garantizando así un futuro viable para todos los seres vivos.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42" name="Google Shape;142;p7"/>
          <p:cNvPicPr preferRelativeResize="0"/>
          <p:nvPr/>
        </p:nvPicPr>
        <p:blipFill rotWithShape="1">
          <a:blip r:embed="rId3">
            <a:alphaModFix/>
          </a:blip>
          <a:srcRect b="0" l="0" r="0" t="0"/>
          <a:stretch/>
        </p:blipFill>
        <p:spPr>
          <a:xfrm>
            <a:off x="8305800" y="43657"/>
            <a:ext cx="3048000" cy="1714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8"/>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8" name="Google Shape;148;p8"/>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9" name="Google Shape;149;p8"/>
          <p:cNvSpPr txBox="1"/>
          <p:nvPr>
            <p:ph type="title"/>
          </p:nvPr>
        </p:nvSpPr>
        <p:spPr>
          <a:xfrm>
            <a:off x="761803" y="350196"/>
            <a:ext cx="464690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Ciencias Naturales</a:t>
            </a:r>
            <a:endParaRPr/>
          </a:p>
        </p:txBody>
      </p:sp>
      <p:sp>
        <p:nvSpPr>
          <p:cNvPr id="150" name="Google Shape;150;p8"/>
          <p:cNvSpPr txBox="1"/>
          <p:nvPr>
            <p:ph idx="1" type="body"/>
          </p:nvPr>
        </p:nvSpPr>
        <p:spPr>
          <a:xfrm>
            <a:off x="631174" y="1974716"/>
            <a:ext cx="4646905" cy="361314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Experimentos con materiales reciclados</a:t>
            </a:r>
            <a:endParaRPr sz="3200"/>
          </a:p>
          <a:p>
            <a:pPr indent="-228600" lvl="0" marL="228600" rtl="0" algn="l">
              <a:lnSpc>
                <a:spcPct val="90000"/>
              </a:lnSpc>
              <a:spcBef>
                <a:spcPts val="1000"/>
              </a:spcBef>
              <a:spcAft>
                <a:spcPts val="0"/>
              </a:spcAft>
              <a:buClr>
                <a:schemeClr val="dk1"/>
              </a:buClr>
              <a:buSzPts val="3200"/>
              <a:buChar char="•"/>
            </a:pPr>
            <a:r>
              <a:rPr lang="en-US" sz="3200"/>
              <a:t>Impacto del plástico en el ambiente</a:t>
            </a:r>
            <a:endParaRPr sz="3200"/>
          </a:p>
          <a:p>
            <a:pPr indent="-228600" lvl="0" marL="228600" rtl="0" algn="l">
              <a:lnSpc>
                <a:spcPct val="90000"/>
              </a:lnSpc>
              <a:spcBef>
                <a:spcPts val="1000"/>
              </a:spcBef>
              <a:spcAft>
                <a:spcPts val="0"/>
              </a:spcAft>
              <a:buClr>
                <a:schemeClr val="dk1"/>
              </a:buClr>
              <a:buSzPts val="3200"/>
              <a:buChar char="•"/>
            </a:pPr>
            <a:r>
              <a:rPr lang="en-US" sz="3200"/>
              <a:t> Clasificación de residuos</a:t>
            </a:r>
            <a:endParaRPr sz="3200"/>
          </a:p>
        </p:txBody>
      </p:sp>
      <p:pic>
        <p:nvPicPr>
          <p:cNvPr descr="Primer plano de un estante de tubos de ensayo con solución en un laboratorio" id="151" name="Google Shape;151;p8"/>
          <p:cNvPicPr preferRelativeResize="0"/>
          <p:nvPr/>
        </p:nvPicPr>
        <p:blipFill rotWithShape="1">
          <a:blip r:embed="rId3">
            <a:alphaModFix/>
          </a:blip>
          <a:srcRect b="-2" l="35033" r="5566" t="0"/>
          <a:stretch/>
        </p:blipFill>
        <p:spPr>
          <a:xfrm>
            <a:off x="6096000" y="1"/>
            <a:ext cx="6102825"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p9"/>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7" name="Google Shape;157;p9"/>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8" name="Google Shape;158;p9"/>
          <p:cNvSpPr txBox="1"/>
          <p:nvPr>
            <p:ph type="title"/>
          </p:nvPr>
        </p:nvSpPr>
        <p:spPr>
          <a:xfrm>
            <a:off x="761803" y="350196"/>
            <a:ext cx="464690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Matemáticas</a:t>
            </a:r>
            <a:endParaRPr/>
          </a:p>
        </p:txBody>
      </p:sp>
      <p:sp>
        <p:nvSpPr>
          <p:cNvPr id="159" name="Google Shape;159;p9"/>
          <p:cNvSpPr txBox="1"/>
          <p:nvPr>
            <p:ph idx="1" type="body"/>
          </p:nvPr>
        </p:nvSpPr>
        <p:spPr>
          <a:xfrm>
            <a:off x="598516" y="2285999"/>
            <a:ext cx="4646905" cy="361314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Recolección y análisis de datos</a:t>
            </a:r>
            <a:endParaRPr sz="3200"/>
          </a:p>
          <a:p>
            <a:pPr indent="-228600" lvl="0" marL="228600" rtl="0" algn="l">
              <a:lnSpc>
                <a:spcPct val="90000"/>
              </a:lnSpc>
              <a:spcBef>
                <a:spcPts val="1000"/>
              </a:spcBef>
              <a:spcAft>
                <a:spcPts val="0"/>
              </a:spcAft>
              <a:buClr>
                <a:schemeClr val="dk1"/>
              </a:buClr>
              <a:buSzPts val="3200"/>
              <a:buChar char="•"/>
            </a:pPr>
            <a:r>
              <a:rPr lang="en-US" sz="3200"/>
              <a:t>Tablas y gráficas de residuos</a:t>
            </a:r>
            <a:endParaRPr sz="3200"/>
          </a:p>
          <a:p>
            <a:pPr indent="-228600" lvl="0" marL="228600" rtl="0" algn="l">
              <a:lnSpc>
                <a:spcPct val="90000"/>
              </a:lnSpc>
              <a:spcBef>
                <a:spcPts val="1000"/>
              </a:spcBef>
              <a:spcAft>
                <a:spcPts val="0"/>
              </a:spcAft>
              <a:buClr>
                <a:schemeClr val="dk1"/>
              </a:buClr>
              <a:buSzPts val="3200"/>
              <a:buChar char="•"/>
            </a:pPr>
            <a:r>
              <a:rPr lang="en-US" sz="3200"/>
              <a:t> Porcentajes de reducción del plástico</a:t>
            </a:r>
            <a:endParaRPr sz="3200"/>
          </a:p>
        </p:txBody>
      </p:sp>
      <p:pic>
        <p:nvPicPr>
          <p:cNvPr descr="Calculadora, lápiz, brújula, dinero y un papel con gráficos impresos en él" id="160" name="Google Shape;160;p9"/>
          <p:cNvPicPr preferRelativeResize="0"/>
          <p:nvPr/>
        </p:nvPicPr>
        <p:blipFill rotWithShape="1">
          <a:blip r:embed="rId3">
            <a:alphaModFix/>
          </a:blip>
          <a:srcRect b="-2" l="25303" r="21080" t="0"/>
          <a:stretch/>
        </p:blipFill>
        <p:spPr>
          <a:xfrm>
            <a:off x="6096000" y="1"/>
            <a:ext cx="6102825" cy="685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p10"/>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6" name="Google Shape;166;p10"/>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7" name="Google Shape;167;p10"/>
          <p:cNvSpPr txBox="1"/>
          <p:nvPr>
            <p:ph type="title"/>
          </p:nvPr>
        </p:nvSpPr>
        <p:spPr>
          <a:xfrm>
            <a:off x="761803" y="350196"/>
            <a:ext cx="464690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Lengua Castellana</a:t>
            </a:r>
            <a:endParaRPr/>
          </a:p>
        </p:txBody>
      </p:sp>
      <p:sp>
        <p:nvSpPr>
          <p:cNvPr id="168" name="Google Shape;168;p10"/>
          <p:cNvSpPr txBox="1"/>
          <p:nvPr>
            <p:ph idx="1" type="body"/>
          </p:nvPr>
        </p:nvSpPr>
        <p:spPr>
          <a:xfrm>
            <a:off x="724547" y="2285999"/>
            <a:ext cx="4646905" cy="361314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Escritura de cuentos y poemas ecológicos y del Cuidado del ambiente</a:t>
            </a:r>
            <a:endParaRPr sz="3200"/>
          </a:p>
          <a:p>
            <a:pPr indent="-228600" lvl="0" marL="228600" rtl="0" algn="l">
              <a:lnSpc>
                <a:spcPct val="90000"/>
              </a:lnSpc>
              <a:spcBef>
                <a:spcPts val="1000"/>
              </a:spcBef>
              <a:spcAft>
                <a:spcPts val="0"/>
              </a:spcAft>
              <a:buClr>
                <a:schemeClr val="dk1"/>
              </a:buClr>
              <a:buSzPts val="3200"/>
              <a:buChar char="•"/>
            </a:pPr>
            <a:r>
              <a:rPr lang="en-US" sz="3200"/>
              <a:t>Textos argumentativos sobre el reciclaje</a:t>
            </a:r>
            <a:endParaRPr sz="3200"/>
          </a:p>
          <a:p>
            <a:pPr indent="-228600" lvl="0" marL="228600" rtl="0" algn="l">
              <a:lnSpc>
                <a:spcPct val="90000"/>
              </a:lnSpc>
              <a:spcBef>
                <a:spcPts val="1000"/>
              </a:spcBef>
              <a:spcAft>
                <a:spcPts val="0"/>
              </a:spcAft>
              <a:buClr>
                <a:schemeClr val="dk1"/>
              </a:buClr>
              <a:buSzPts val="3200"/>
              <a:buChar char="•"/>
            </a:pPr>
            <a:r>
              <a:rPr lang="en-US" sz="3200"/>
              <a:t>Campañas escritas</a:t>
            </a:r>
            <a:endParaRPr sz="3200"/>
          </a:p>
          <a:p>
            <a:pPr indent="-25400" lvl="0" marL="228600" rtl="0" algn="l">
              <a:lnSpc>
                <a:spcPct val="90000"/>
              </a:lnSpc>
              <a:spcBef>
                <a:spcPts val="1000"/>
              </a:spcBef>
              <a:spcAft>
                <a:spcPts val="0"/>
              </a:spcAft>
              <a:buClr>
                <a:schemeClr val="dk1"/>
              </a:buClr>
              <a:buSzPts val="3200"/>
              <a:buNone/>
            </a:pPr>
            <a:r>
              <a:t/>
            </a:r>
            <a:endParaRPr sz="3200"/>
          </a:p>
        </p:txBody>
      </p:sp>
      <p:pic>
        <p:nvPicPr>
          <p:cNvPr descr="Bolígrafo situado en la parte superior de una línea de firma" id="169" name="Google Shape;169;p10"/>
          <p:cNvPicPr preferRelativeResize="0"/>
          <p:nvPr/>
        </p:nvPicPr>
        <p:blipFill rotWithShape="1">
          <a:blip r:embed="rId3">
            <a:alphaModFix/>
          </a:blip>
          <a:srcRect b="-2" l="40601" r="-2" t="0"/>
          <a:stretch/>
        </p:blipFill>
        <p:spPr>
          <a:xfrm>
            <a:off x="6096000" y="1"/>
            <a:ext cx="6102825"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11"/>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5" name="Google Shape;175;p11"/>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6" name="Google Shape;176;p11"/>
          <p:cNvSpPr txBox="1"/>
          <p:nvPr>
            <p:ph type="title"/>
          </p:nvPr>
        </p:nvSpPr>
        <p:spPr>
          <a:xfrm>
            <a:off x="761803" y="350196"/>
            <a:ext cx="464690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Educación Artística</a:t>
            </a:r>
            <a:endParaRPr/>
          </a:p>
        </p:txBody>
      </p:sp>
      <p:sp>
        <p:nvSpPr>
          <p:cNvPr id="177" name="Google Shape;177;p11"/>
          <p:cNvSpPr txBox="1"/>
          <p:nvPr>
            <p:ph idx="1" type="body"/>
          </p:nvPr>
        </p:nvSpPr>
        <p:spPr>
          <a:xfrm>
            <a:off x="761803" y="2177142"/>
            <a:ext cx="4646905" cy="361314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Obras de arte con materiales reciclados</a:t>
            </a:r>
            <a:endParaRPr sz="3200"/>
          </a:p>
          <a:p>
            <a:pPr indent="-228600" lvl="0" marL="228600" rtl="0" algn="l">
              <a:lnSpc>
                <a:spcPct val="90000"/>
              </a:lnSpc>
              <a:spcBef>
                <a:spcPts val="1000"/>
              </a:spcBef>
              <a:spcAft>
                <a:spcPts val="0"/>
              </a:spcAft>
              <a:buClr>
                <a:schemeClr val="dk1"/>
              </a:buClr>
              <a:buSzPts val="3200"/>
              <a:buChar char="•"/>
            </a:pPr>
            <a:r>
              <a:rPr lang="en-US" sz="3200"/>
              <a:t>Muestras culturales ecológicas</a:t>
            </a:r>
            <a:endParaRPr sz="3200"/>
          </a:p>
          <a:p>
            <a:pPr indent="-228600" lvl="0" marL="228600" rtl="0" algn="l">
              <a:lnSpc>
                <a:spcPct val="90000"/>
              </a:lnSpc>
              <a:spcBef>
                <a:spcPts val="1000"/>
              </a:spcBef>
              <a:spcAft>
                <a:spcPts val="0"/>
              </a:spcAft>
              <a:buClr>
                <a:schemeClr val="dk1"/>
              </a:buClr>
              <a:buSzPts val="3200"/>
              <a:buChar char="•"/>
            </a:pPr>
            <a:r>
              <a:rPr lang="en-US" sz="3200"/>
              <a:t> Diseño de murales ambientales</a:t>
            </a:r>
            <a:endParaRPr sz="3200"/>
          </a:p>
        </p:txBody>
      </p:sp>
      <p:pic>
        <p:nvPicPr>
          <p:cNvPr descr="Bajo la vista de baldosas de silicona multicolores" id="178" name="Google Shape;178;p11"/>
          <p:cNvPicPr preferRelativeResize="0"/>
          <p:nvPr/>
        </p:nvPicPr>
        <p:blipFill rotWithShape="1">
          <a:blip r:embed="rId3">
            <a:alphaModFix/>
          </a:blip>
          <a:srcRect b="-2" l="16879" r="23721" t="0"/>
          <a:stretch/>
        </p:blipFill>
        <p:spPr>
          <a:xfrm>
            <a:off x="6096000" y="1"/>
            <a:ext cx="6102825"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p12"/>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4" name="Google Shape;184;p12"/>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5" name="Google Shape;185;p12"/>
          <p:cNvSpPr txBox="1"/>
          <p:nvPr>
            <p:ph type="title"/>
          </p:nvPr>
        </p:nvSpPr>
        <p:spPr>
          <a:xfrm>
            <a:off x="761803" y="350196"/>
            <a:ext cx="464690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Ciencias Sociales</a:t>
            </a:r>
            <a:endParaRPr/>
          </a:p>
        </p:txBody>
      </p:sp>
      <p:sp>
        <p:nvSpPr>
          <p:cNvPr id="186" name="Google Shape;186;p12"/>
          <p:cNvSpPr txBox="1"/>
          <p:nvPr>
            <p:ph idx="1" type="body"/>
          </p:nvPr>
        </p:nvSpPr>
        <p:spPr>
          <a:xfrm>
            <a:off x="472782" y="1974716"/>
            <a:ext cx="5279571" cy="361314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Problemáticas sociales del consume del plastico</a:t>
            </a:r>
            <a:endParaRPr sz="3200"/>
          </a:p>
          <a:p>
            <a:pPr indent="-228600" lvl="0" marL="228600" rtl="0" algn="l">
              <a:lnSpc>
                <a:spcPct val="90000"/>
              </a:lnSpc>
              <a:spcBef>
                <a:spcPts val="1000"/>
              </a:spcBef>
              <a:spcAft>
                <a:spcPts val="0"/>
              </a:spcAft>
              <a:buClr>
                <a:schemeClr val="dk1"/>
              </a:buClr>
              <a:buSzPts val="3200"/>
              <a:buChar char="•"/>
            </a:pPr>
            <a:r>
              <a:rPr lang="en-US" sz="3200"/>
              <a:t>Participación ciudadana y medio ambiente</a:t>
            </a:r>
            <a:endParaRPr sz="3200"/>
          </a:p>
          <a:p>
            <a:pPr indent="-228600" lvl="0" marL="228600" rtl="0" algn="l">
              <a:lnSpc>
                <a:spcPct val="90000"/>
              </a:lnSpc>
              <a:spcBef>
                <a:spcPts val="1000"/>
              </a:spcBef>
              <a:spcAft>
                <a:spcPts val="0"/>
              </a:spcAft>
              <a:buClr>
                <a:schemeClr val="dk1"/>
              </a:buClr>
              <a:buSzPts val="3200"/>
              <a:buChar char="•"/>
            </a:pPr>
            <a:r>
              <a:rPr lang="en-US" sz="3200"/>
              <a:t>Historia del uso del plástico</a:t>
            </a:r>
            <a:endParaRPr sz="3200"/>
          </a:p>
        </p:txBody>
      </p:sp>
      <p:pic>
        <p:nvPicPr>
          <p:cNvPr descr="Tapones de botellas de plástico coloridos" id="187" name="Google Shape;187;p12"/>
          <p:cNvPicPr preferRelativeResize="0"/>
          <p:nvPr/>
        </p:nvPicPr>
        <p:blipFill rotWithShape="1">
          <a:blip r:embed="rId3">
            <a:alphaModFix/>
          </a:blip>
          <a:srcRect b="-2" l="12351" r="28249" t="0"/>
          <a:stretch/>
        </p:blipFill>
        <p:spPr>
          <a:xfrm>
            <a:off x="6096000" y="1"/>
            <a:ext cx="6102825"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sp>
        <p:nvSpPr>
          <p:cNvPr id="192" name="Google Shape;192;p13"/>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3" name="Google Shape;193;p13"/>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4" name="Google Shape;194;p13"/>
          <p:cNvSpPr txBox="1"/>
          <p:nvPr>
            <p:ph type="title"/>
          </p:nvPr>
        </p:nvSpPr>
        <p:spPr>
          <a:xfrm>
            <a:off x="761803" y="350196"/>
            <a:ext cx="464690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Tecnología</a:t>
            </a:r>
            <a:endParaRPr/>
          </a:p>
        </p:txBody>
      </p:sp>
      <p:sp>
        <p:nvSpPr>
          <p:cNvPr id="195" name="Google Shape;195;p13"/>
          <p:cNvSpPr txBox="1"/>
          <p:nvPr>
            <p:ph idx="1" type="body"/>
          </p:nvPr>
        </p:nvSpPr>
        <p:spPr>
          <a:xfrm>
            <a:off x="239287" y="2324912"/>
            <a:ext cx="4646905" cy="361314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Diseño de soluciones practicos</a:t>
            </a:r>
            <a:endParaRPr sz="3200"/>
          </a:p>
          <a:p>
            <a:pPr indent="-228600" lvl="0" marL="228600" rtl="0" algn="l">
              <a:lnSpc>
                <a:spcPct val="90000"/>
              </a:lnSpc>
              <a:spcBef>
                <a:spcPts val="1000"/>
              </a:spcBef>
              <a:spcAft>
                <a:spcPts val="0"/>
              </a:spcAft>
              <a:buClr>
                <a:schemeClr val="dk1"/>
              </a:buClr>
              <a:buSzPts val="3200"/>
              <a:buChar char="•"/>
            </a:pPr>
            <a:r>
              <a:rPr lang="en-US" sz="3200"/>
              <a:t>Proyectos con material reutilizable</a:t>
            </a:r>
            <a:endParaRPr sz="3200"/>
          </a:p>
          <a:p>
            <a:pPr indent="-228600" lvl="0" marL="228600" rtl="0" algn="l">
              <a:lnSpc>
                <a:spcPct val="90000"/>
              </a:lnSpc>
              <a:spcBef>
                <a:spcPts val="1000"/>
              </a:spcBef>
              <a:spcAft>
                <a:spcPts val="0"/>
              </a:spcAft>
              <a:buClr>
                <a:schemeClr val="dk1"/>
              </a:buClr>
              <a:buSzPts val="3200"/>
              <a:buChar char="•"/>
            </a:pPr>
            <a:r>
              <a:rPr lang="en-US" sz="3200"/>
              <a:t>Innovación para reducir residuos</a:t>
            </a:r>
            <a:endParaRPr sz="3200"/>
          </a:p>
        </p:txBody>
      </p:sp>
      <p:pic>
        <p:nvPicPr>
          <p:cNvPr descr="Un patrón en 3D de formas de anillos conectados por líneas" id="196" name="Google Shape;196;p13"/>
          <p:cNvPicPr preferRelativeResize="0"/>
          <p:nvPr/>
        </p:nvPicPr>
        <p:blipFill rotWithShape="1">
          <a:blip r:embed="rId3">
            <a:alphaModFix/>
          </a:blip>
          <a:srcRect b="0" l="8611" r="41333" t="0"/>
          <a:stretch/>
        </p:blipFill>
        <p:spPr>
          <a:xfrm>
            <a:off x="6096000" y="1"/>
            <a:ext cx="6102825"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1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2" name="Google Shape;202;p14"/>
          <p:cNvSpPr txBox="1"/>
          <p:nvPr>
            <p:ph type="title"/>
          </p:nvPr>
        </p:nvSpPr>
        <p:spPr>
          <a:xfrm>
            <a:off x="761800" y="762001"/>
            <a:ext cx="5334197" cy="17082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Educación Física</a:t>
            </a:r>
            <a:endParaRPr/>
          </a:p>
        </p:txBody>
      </p:sp>
      <p:sp>
        <p:nvSpPr>
          <p:cNvPr id="203" name="Google Shape;203;p14"/>
          <p:cNvSpPr txBox="1"/>
          <p:nvPr>
            <p:ph idx="1" type="body"/>
          </p:nvPr>
        </p:nvSpPr>
        <p:spPr>
          <a:xfrm>
            <a:off x="631068" y="2111016"/>
            <a:ext cx="5845829" cy="3769835"/>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Juegos cooperativos con materiales reciclables</a:t>
            </a:r>
            <a:endParaRPr sz="3200"/>
          </a:p>
          <a:p>
            <a:pPr indent="-228600" lvl="0" marL="228600" rtl="0" algn="l">
              <a:lnSpc>
                <a:spcPct val="90000"/>
              </a:lnSpc>
              <a:spcBef>
                <a:spcPts val="1000"/>
              </a:spcBef>
              <a:spcAft>
                <a:spcPts val="0"/>
              </a:spcAft>
              <a:buClr>
                <a:schemeClr val="dk1"/>
              </a:buClr>
              <a:buSzPts val="3200"/>
              <a:buChar char="•"/>
            </a:pPr>
            <a:r>
              <a:rPr lang="en-US" sz="3200"/>
              <a:t>Actividades físicas que promueven la conciencia Ambiental</a:t>
            </a:r>
            <a:endParaRPr/>
          </a:p>
          <a:p>
            <a:pPr indent="-228600" lvl="0" marL="228600" rtl="0" algn="l">
              <a:lnSpc>
                <a:spcPct val="90000"/>
              </a:lnSpc>
              <a:spcBef>
                <a:spcPts val="1000"/>
              </a:spcBef>
              <a:spcAft>
                <a:spcPts val="0"/>
              </a:spcAft>
              <a:buClr>
                <a:schemeClr val="dk1"/>
              </a:buClr>
              <a:buSzPts val="3200"/>
              <a:buChar char="•"/>
            </a:pPr>
            <a:r>
              <a:rPr lang="en-US" sz="3200"/>
              <a:t>Rutas ecológicas en el entorno escolar</a:t>
            </a:r>
            <a:endParaRPr/>
          </a:p>
        </p:txBody>
      </p:sp>
      <p:pic>
        <p:nvPicPr>
          <p:cNvPr id="204" name="Google Shape;204;p14"/>
          <p:cNvPicPr preferRelativeResize="0"/>
          <p:nvPr/>
        </p:nvPicPr>
        <p:blipFill rotWithShape="1">
          <a:blip r:embed="rId3">
            <a:alphaModFix/>
          </a:blip>
          <a:srcRect b="0" l="25146" r="23212" t="0"/>
          <a:stretch/>
        </p:blipFill>
        <p:spPr>
          <a:xfrm>
            <a:off x="6857797" y="-10886"/>
            <a:ext cx="5334204" cy="6868886"/>
          </a:xfrm>
          <a:prstGeom prst="rect">
            <a:avLst/>
          </a:prstGeom>
          <a:noFill/>
          <a:ln>
            <a:noFill/>
          </a:ln>
          <a:effectLst>
            <a:outerShdw blurRad="127000" sx="99000" rotWithShape="0" algn="r" dir="10800000" dist="50800" sy="99000">
              <a:srgbClr val="000000">
                <a:alpha val="4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id="209" name="Google Shape;209;p1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0" name="Google Shape;210;p15"/>
          <p:cNvSpPr txBox="1"/>
          <p:nvPr>
            <p:ph type="title"/>
          </p:nvPr>
        </p:nvSpPr>
        <p:spPr>
          <a:xfrm>
            <a:off x="761800" y="762001"/>
            <a:ext cx="5334197" cy="17082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Ética y Valores</a:t>
            </a:r>
            <a:endParaRPr/>
          </a:p>
        </p:txBody>
      </p:sp>
      <p:sp>
        <p:nvSpPr>
          <p:cNvPr id="211" name="Google Shape;211;p15"/>
          <p:cNvSpPr txBox="1"/>
          <p:nvPr>
            <p:ph idx="1" type="body"/>
          </p:nvPr>
        </p:nvSpPr>
        <p:spPr>
          <a:xfrm>
            <a:off x="609400" y="2100130"/>
            <a:ext cx="6117971" cy="3769835"/>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Reflexión sobre el consumo responsable</a:t>
            </a:r>
            <a:endParaRPr sz="3200"/>
          </a:p>
          <a:p>
            <a:pPr indent="-228600" lvl="0" marL="228600" rtl="0" algn="l">
              <a:lnSpc>
                <a:spcPct val="90000"/>
              </a:lnSpc>
              <a:spcBef>
                <a:spcPts val="1000"/>
              </a:spcBef>
              <a:spcAft>
                <a:spcPts val="0"/>
              </a:spcAft>
              <a:buClr>
                <a:schemeClr val="dk1"/>
              </a:buClr>
              <a:buSzPts val="3200"/>
              <a:buChar char="•"/>
            </a:pPr>
            <a:r>
              <a:rPr lang="en-US" sz="3200"/>
              <a:t> Promoción del cuidado del entorno</a:t>
            </a:r>
            <a:endParaRPr sz="3200"/>
          </a:p>
          <a:p>
            <a:pPr indent="-228600" lvl="0" marL="228600" rtl="0" algn="l">
              <a:lnSpc>
                <a:spcPct val="90000"/>
              </a:lnSpc>
              <a:spcBef>
                <a:spcPts val="1000"/>
              </a:spcBef>
              <a:spcAft>
                <a:spcPts val="0"/>
              </a:spcAft>
              <a:buClr>
                <a:schemeClr val="dk1"/>
              </a:buClr>
              <a:buSzPts val="3200"/>
              <a:buChar char="•"/>
            </a:pPr>
            <a:r>
              <a:rPr lang="en-US" sz="3200"/>
              <a:t> Responsabilidad y compromiso social</a:t>
            </a:r>
            <a:endParaRPr/>
          </a:p>
        </p:txBody>
      </p:sp>
      <p:pic>
        <p:nvPicPr>
          <p:cNvPr descr="Sobres coloridos" id="212" name="Google Shape;212;p15"/>
          <p:cNvPicPr preferRelativeResize="0"/>
          <p:nvPr/>
        </p:nvPicPr>
        <p:blipFill rotWithShape="1">
          <a:blip r:embed="rId3">
            <a:alphaModFix/>
          </a:blip>
          <a:srcRect b="-1" l="24916" r="23248" t="0"/>
          <a:stretch/>
        </p:blipFill>
        <p:spPr>
          <a:xfrm>
            <a:off x="6857797" y="-10886"/>
            <a:ext cx="5334204" cy="6868886"/>
          </a:xfrm>
          <a:prstGeom prst="rect">
            <a:avLst/>
          </a:prstGeom>
          <a:noFill/>
          <a:ln>
            <a:noFill/>
          </a:ln>
          <a:effectLst>
            <a:outerShdw blurRad="127000" sx="99000" rotWithShape="0" algn="r" dir="10800000" dist="50800" sy="99000">
              <a:srgbClr val="000000">
                <a:alpha val="4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6" name="Shape 216"/>
        <p:cNvGrpSpPr/>
        <p:nvPr/>
      </p:nvGrpSpPr>
      <p:grpSpPr>
        <a:xfrm>
          <a:off x="0" y="0"/>
          <a:ext cx="0" cy="0"/>
          <a:chOff x="0" y="0"/>
          <a:chExt cx="0" cy="0"/>
        </a:xfrm>
      </p:grpSpPr>
      <p:sp>
        <p:nvSpPr>
          <p:cNvPr id="217" name="Google Shape;217;p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8" name="Google Shape;218;p16"/>
          <p:cNvSpPr txBox="1"/>
          <p:nvPr>
            <p:ph type="title"/>
          </p:nvPr>
        </p:nvSpPr>
        <p:spPr>
          <a:xfrm>
            <a:off x="761800" y="762001"/>
            <a:ext cx="5334197" cy="17082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Religión</a:t>
            </a:r>
            <a:endParaRPr/>
          </a:p>
        </p:txBody>
      </p:sp>
      <p:sp>
        <p:nvSpPr>
          <p:cNvPr id="219" name="Google Shape;219;p16"/>
          <p:cNvSpPr txBox="1"/>
          <p:nvPr>
            <p:ph idx="1" type="body"/>
          </p:nvPr>
        </p:nvSpPr>
        <p:spPr>
          <a:xfrm>
            <a:off x="261057" y="1893301"/>
            <a:ext cx="6422772" cy="3769835"/>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Valoración de la creación como don Divino</a:t>
            </a:r>
            <a:endParaRPr/>
          </a:p>
          <a:p>
            <a:pPr indent="-228600" lvl="0" marL="228600" rtl="0" algn="l">
              <a:lnSpc>
                <a:spcPct val="90000"/>
              </a:lnSpc>
              <a:spcBef>
                <a:spcPts val="1000"/>
              </a:spcBef>
              <a:spcAft>
                <a:spcPts val="0"/>
              </a:spcAft>
              <a:buClr>
                <a:schemeClr val="dk1"/>
              </a:buClr>
              <a:buSzPts val="3200"/>
              <a:buChar char="•"/>
            </a:pPr>
            <a:r>
              <a:rPr lang="en-US" sz="3200"/>
              <a:t>Oración y acciones por el planeta</a:t>
            </a:r>
            <a:endParaRPr sz="3200"/>
          </a:p>
        </p:txBody>
      </p:sp>
      <p:pic>
        <p:nvPicPr>
          <p:cNvPr descr="Figuras de casas en diferentes posiciones y tamaños" id="220" name="Google Shape;220;p16"/>
          <p:cNvPicPr preferRelativeResize="0"/>
          <p:nvPr/>
        </p:nvPicPr>
        <p:blipFill rotWithShape="1">
          <a:blip r:embed="rId3">
            <a:alphaModFix/>
          </a:blip>
          <a:srcRect b="-1" l="19412" r="36905" t="0"/>
          <a:stretch/>
        </p:blipFill>
        <p:spPr>
          <a:xfrm>
            <a:off x="6857797" y="-10886"/>
            <a:ext cx="5334204" cy="6868886"/>
          </a:xfrm>
          <a:prstGeom prst="rect">
            <a:avLst/>
          </a:prstGeom>
          <a:noFill/>
          <a:ln>
            <a:noFill/>
          </a:ln>
          <a:effectLst>
            <a:outerShdw blurRad="127000" sx="99000" rotWithShape="0" algn="r" dir="10800000" dist="50800" sy="99000">
              <a:srgbClr val="000000">
                <a:alpha val="4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 name="Shape 224"/>
        <p:cNvGrpSpPr/>
        <p:nvPr/>
      </p:nvGrpSpPr>
      <p:grpSpPr>
        <a:xfrm>
          <a:off x="0" y="0"/>
          <a:ext cx="0" cy="0"/>
          <a:chOff x="0" y="0"/>
          <a:chExt cx="0" cy="0"/>
        </a:xfrm>
      </p:grpSpPr>
      <p:sp>
        <p:nvSpPr>
          <p:cNvPr id="225" name="Google Shape;225;p17"/>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6" name="Google Shape;226;p17"/>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7" name="Google Shape;227;p17"/>
          <p:cNvSpPr txBox="1"/>
          <p:nvPr>
            <p:ph type="title"/>
          </p:nvPr>
        </p:nvSpPr>
        <p:spPr>
          <a:xfrm>
            <a:off x="761803" y="350196"/>
            <a:ext cx="464690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Física</a:t>
            </a:r>
            <a:endParaRPr sz="4000"/>
          </a:p>
        </p:txBody>
      </p:sp>
      <p:sp>
        <p:nvSpPr>
          <p:cNvPr id="228" name="Google Shape;228;p17"/>
          <p:cNvSpPr txBox="1"/>
          <p:nvPr>
            <p:ph idx="1" type="body"/>
          </p:nvPr>
        </p:nvSpPr>
        <p:spPr>
          <a:xfrm>
            <a:off x="167784" y="2285999"/>
            <a:ext cx="5834941" cy="3613149"/>
          </a:xfrm>
          <a:prstGeom prst="rect">
            <a:avLst/>
          </a:prstGeom>
          <a:noFill/>
          <a:ln>
            <a:noFill/>
          </a:ln>
        </p:spPr>
        <p:txBody>
          <a:bodyPr anchorCtr="0" anchor="ctr"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200"/>
              <a:buChar char="•"/>
            </a:pPr>
            <a:r>
              <a:rPr lang="en-US" sz="3200"/>
              <a:t>Experimentos con materiales reciclados</a:t>
            </a:r>
            <a:endParaRPr sz="3200"/>
          </a:p>
          <a:p>
            <a:pPr indent="-228600" lvl="0" marL="228600" rtl="0" algn="l">
              <a:lnSpc>
                <a:spcPct val="90000"/>
              </a:lnSpc>
              <a:spcBef>
                <a:spcPts val="1000"/>
              </a:spcBef>
              <a:spcAft>
                <a:spcPts val="0"/>
              </a:spcAft>
              <a:buClr>
                <a:schemeClr val="dk1"/>
              </a:buClr>
              <a:buSzPts val="3200"/>
              <a:buChar char="•"/>
            </a:pPr>
            <a:r>
              <a:rPr lang="en-US" sz="3200"/>
              <a:t>Propiedades físicas del plástico</a:t>
            </a:r>
            <a:endParaRPr sz="3200"/>
          </a:p>
          <a:p>
            <a:pPr indent="-228600" lvl="0" marL="228600" rtl="0" algn="l">
              <a:lnSpc>
                <a:spcPct val="90000"/>
              </a:lnSpc>
              <a:spcBef>
                <a:spcPts val="1000"/>
              </a:spcBef>
              <a:spcAft>
                <a:spcPts val="0"/>
              </a:spcAft>
              <a:buClr>
                <a:schemeClr val="dk1"/>
              </a:buClr>
              <a:buSzPts val="3200"/>
              <a:buChar char="•"/>
            </a:pPr>
            <a:r>
              <a:rPr lang="en-US" sz="3200"/>
              <a:t> Reutilización en estructuras y mecanismos</a:t>
            </a:r>
            <a:endParaRPr sz="3200"/>
          </a:p>
        </p:txBody>
      </p:sp>
      <p:pic>
        <p:nvPicPr>
          <p:cNvPr descr="Una oveja pasando a través de tuberías" id="229" name="Google Shape;229;p17"/>
          <p:cNvPicPr preferRelativeResize="0"/>
          <p:nvPr/>
        </p:nvPicPr>
        <p:blipFill rotWithShape="1">
          <a:blip r:embed="rId3">
            <a:alphaModFix/>
          </a:blip>
          <a:srcRect b="1" l="27709" r="9999" t="0"/>
          <a:stretch/>
        </p:blipFill>
        <p:spPr>
          <a:xfrm>
            <a:off x="6096000" y="1"/>
            <a:ext cx="6102825"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3" name="Shape 233"/>
        <p:cNvGrpSpPr/>
        <p:nvPr/>
      </p:nvGrpSpPr>
      <p:grpSpPr>
        <a:xfrm>
          <a:off x="0" y="0"/>
          <a:ext cx="0" cy="0"/>
          <a:chOff x="0" y="0"/>
          <a:chExt cx="0" cy="0"/>
        </a:xfrm>
      </p:grpSpPr>
      <p:sp>
        <p:nvSpPr>
          <p:cNvPr id="234" name="Google Shape;234;p18"/>
          <p:cNvSpPr/>
          <p:nvPr/>
        </p:nvSpPr>
        <p:spPr>
          <a:xfrm>
            <a:off x="-1" y="0"/>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5" name="Google Shape;235;p18"/>
          <p:cNvSpPr/>
          <p:nvPr/>
        </p:nvSpPr>
        <p:spPr>
          <a:xfrm>
            <a:off x="1" y="0"/>
            <a:ext cx="8522446" cy="2285999"/>
          </a:xfrm>
          <a:prstGeom prst="rect">
            <a:avLst/>
          </a:prstGeom>
          <a:solidFill>
            <a:schemeClr val="lt1"/>
          </a:solidFill>
          <a:ln>
            <a:noFill/>
          </a:ln>
          <a:effectLst>
            <a:outerShdw blurRad="596900" sx="90000" rotWithShape="0" algn="t" dir="7140000" dist="304800" sy="90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6" name="Google Shape;236;p18"/>
          <p:cNvSpPr txBox="1"/>
          <p:nvPr>
            <p:ph type="title"/>
          </p:nvPr>
        </p:nvSpPr>
        <p:spPr>
          <a:xfrm>
            <a:off x="761803" y="350196"/>
            <a:ext cx="4646904" cy="1624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Química</a:t>
            </a:r>
            <a:endParaRPr/>
          </a:p>
        </p:txBody>
      </p:sp>
      <p:sp>
        <p:nvSpPr>
          <p:cNvPr id="237" name="Google Shape;237;p18"/>
          <p:cNvSpPr txBox="1"/>
          <p:nvPr>
            <p:ph idx="1" type="body"/>
          </p:nvPr>
        </p:nvSpPr>
        <p:spPr>
          <a:xfrm>
            <a:off x="195745" y="2492828"/>
            <a:ext cx="5900255" cy="361314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Composición química de los plásticos</a:t>
            </a:r>
            <a:endParaRPr sz="3200"/>
          </a:p>
          <a:p>
            <a:pPr indent="-228600" lvl="0" marL="228600" rtl="0" algn="l">
              <a:lnSpc>
                <a:spcPct val="90000"/>
              </a:lnSpc>
              <a:spcBef>
                <a:spcPts val="1000"/>
              </a:spcBef>
              <a:spcAft>
                <a:spcPts val="0"/>
              </a:spcAft>
              <a:buClr>
                <a:schemeClr val="dk1"/>
              </a:buClr>
              <a:buSzPts val="3200"/>
              <a:buChar char="•"/>
            </a:pPr>
            <a:r>
              <a:rPr lang="en-US" sz="3200"/>
              <a:t>Reacciones para descomponer residuos</a:t>
            </a:r>
            <a:endParaRPr sz="3200"/>
          </a:p>
          <a:p>
            <a:pPr indent="-228600" lvl="0" marL="228600" rtl="0" algn="l">
              <a:lnSpc>
                <a:spcPct val="90000"/>
              </a:lnSpc>
              <a:spcBef>
                <a:spcPts val="1000"/>
              </a:spcBef>
              <a:spcAft>
                <a:spcPts val="0"/>
              </a:spcAft>
              <a:buClr>
                <a:schemeClr val="dk1"/>
              </a:buClr>
              <a:buSzPts val="3200"/>
              <a:buChar char="•"/>
            </a:pPr>
            <a:r>
              <a:rPr lang="en-US" sz="3200"/>
              <a:t>Separación de materiales reciclables</a:t>
            </a:r>
            <a:endParaRPr sz="3200"/>
          </a:p>
        </p:txBody>
      </p:sp>
      <p:pic>
        <p:nvPicPr>
          <p:cNvPr id="238" name="Google Shape;238;p18"/>
          <p:cNvPicPr preferRelativeResize="0"/>
          <p:nvPr/>
        </p:nvPicPr>
        <p:blipFill rotWithShape="1">
          <a:blip r:embed="rId3">
            <a:alphaModFix/>
          </a:blip>
          <a:srcRect b="0" l="27416" r="16966" t="0"/>
          <a:stretch/>
        </p:blipFill>
        <p:spPr>
          <a:xfrm>
            <a:off x="6096000" y="1"/>
            <a:ext cx="6102825"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 name="Shape 242"/>
        <p:cNvGrpSpPr/>
        <p:nvPr/>
      </p:nvGrpSpPr>
      <p:grpSpPr>
        <a:xfrm>
          <a:off x="0" y="0"/>
          <a:ext cx="0" cy="0"/>
          <a:chOff x="0" y="0"/>
          <a:chExt cx="0" cy="0"/>
        </a:xfrm>
      </p:grpSpPr>
      <p:sp>
        <p:nvSpPr>
          <p:cNvPr id="243" name="Google Shape;243;p1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44" name="Google Shape;244;p19"/>
          <p:cNvSpPr txBox="1"/>
          <p:nvPr>
            <p:ph type="title"/>
          </p:nvPr>
        </p:nvSpPr>
        <p:spPr>
          <a:xfrm>
            <a:off x="761800" y="762001"/>
            <a:ext cx="5334197" cy="17082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Inglés</a:t>
            </a:r>
            <a:endParaRPr/>
          </a:p>
        </p:txBody>
      </p:sp>
      <p:sp>
        <p:nvSpPr>
          <p:cNvPr id="245" name="Google Shape;245;p19"/>
          <p:cNvSpPr txBox="1"/>
          <p:nvPr>
            <p:ph idx="1" type="body"/>
          </p:nvPr>
        </p:nvSpPr>
        <p:spPr>
          <a:xfrm>
            <a:off x="761800" y="2165444"/>
            <a:ext cx="5334197" cy="3769835"/>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Vocabulario ambiental en inglés</a:t>
            </a:r>
            <a:endParaRPr sz="3200"/>
          </a:p>
          <a:p>
            <a:pPr indent="-228600" lvl="0" marL="228600" rtl="0" algn="l">
              <a:lnSpc>
                <a:spcPct val="90000"/>
              </a:lnSpc>
              <a:spcBef>
                <a:spcPts val="1000"/>
              </a:spcBef>
              <a:spcAft>
                <a:spcPts val="0"/>
              </a:spcAft>
              <a:buClr>
                <a:schemeClr val="dk1"/>
              </a:buClr>
              <a:buSzPts val="3200"/>
              <a:buChar char="•"/>
            </a:pPr>
            <a:r>
              <a:rPr lang="en-US" sz="3200"/>
              <a:t>Presentaciones orales sobre reciclaje</a:t>
            </a:r>
            <a:endParaRPr sz="3200"/>
          </a:p>
          <a:p>
            <a:pPr indent="-228600" lvl="0" marL="228600" rtl="0" algn="l">
              <a:lnSpc>
                <a:spcPct val="90000"/>
              </a:lnSpc>
              <a:spcBef>
                <a:spcPts val="1000"/>
              </a:spcBef>
              <a:spcAft>
                <a:spcPts val="0"/>
              </a:spcAft>
              <a:buClr>
                <a:schemeClr val="dk1"/>
              </a:buClr>
              <a:buSzPts val="3200"/>
              <a:buChar char="•"/>
            </a:pPr>
            <a:r>
              <a:rPr lang="en-US" sz="3200"/>
              <a:t>Posters y campañas bilingües</a:t>
            </a:r>
            <a:endParaRPr sz="3200"/>
          </a:p>
        </p:txBody>
      </p:sp>
      <p:pic>
        <p:nvPicPr>
          <p:cNvPr descr="Notas adhesivas en una pared" id="246" name="Google Shape;246;p19"/>
          <p:cNvPicPr preferRelativeResize="0"/>
          <p:nvPr/>
        </p:nvPicPr>
        <p:blipFill rotWithShape="1">
          <a:blip r:embed="rId3">
            <a:alphaModFix/>
          </a:blip>
          <a:srcRect b="1" l="22786" r="23049" t="0"/>
          <a:stretch/>
        </p:blipFill>
        <p:spPr>
          <a:xfrm>
            <a:off x="6857797" y="-10886"/>
            <a:ext cx="5334204" cy="6868886"/>
          </a:xfrm>
          <a:prstGeom prst="rect">
            <a:avLst/>
          </a:prstGeom>
          <a:noFill/>
          <a:ln>
            <a:noFill/>
          </a:ln>
          <a:effectLst>
            <a:outerShdw blurRad="127000" sx="99000" rotWithShape="0" algn="r" dir="10800000" dist="50800" sy="99000">
              <a:srgbClr val="000000">
                <a:alpha val="4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2025-04-22T03:52:46Z</dcterms:created>
  <dc:creator>ADRIANA BOLAÑOS CALDERON</dc:creator>
</cp:coreProperties>
</file>