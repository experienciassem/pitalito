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800" b="1" dirty="0"/>
              <a:t>¿Como controlar las emociones?</a:t>
            </a: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144000" cy="978877"/>
          </a:xfrm>
        </p:spPr>
        <p:txBody>
          <a:bodyPr/>
          <a:lstStyle/>
          <a:p>
            <a:r>
              <a:rPr lang="es-ES" dirty="0"/>
              <a:t>Nubia Bonilla Ordoñez</a:t>
            </a:r>
          </a:p>
          <a:p>
            <a:r>
              <a:rPr lang="es-ES" dirty="0"/>
              <a:t>INSTITUCION EDUCATIVA MUNICIPAL MONTESSORI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1D90E4-EAF7-78FE-BF51-1F0B6C23E086}"/>
              </a:ext>
            </a:extLst>
          </p:cNvPr>
          <p:cNvSpPr txBox="1"/>
          <p:nvPr/>
        </p:nvSpPr>
        <p:spPr>
          <a:xfrm>
            <a:off x="634146" y="2012908"/>
            <a:ext cx="102609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FUNDAMENTACIÓN</a:t>
            </a:r>
          </a:p>
          <a:p>
            <a:endParaRPr lang="es-MX" b="1" dirty="0"/>
          </a:p>
          <a:p>
            <a:r>
              <a:rPr lang="es-MX" b="1" dirty="0"/>
              <a:t>Misión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Formar estudiantes integrales mediante una educación basada en valores, el respeto, la autonomía, el pensamiento crítico y el desarrollo de habilidades cognitivas, emocionales y sociales que les permitan convivir de manera armónica en la sociedad.</a:t>
            </a:r>
          </a:p>
          <a:p>
            <a:r>
              <a:rPr lang="es-MX" b="1" dirty="0"/>
              <a:t>Visión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Ser una institución reconocida por su calidad educativa, promoviendo el desarrollo integral de los estudiantes, fortaleciendo competencias académicas, humanas y emocionales para formar ciudadanos responsables, autónomos y comprometidos con su entorno.</a:t>
            </a:r>
          </a:p>
          <a:p>
            <a:r>
              <a:rPr lang="es-CO" dirty="0"/>
              <a:t>La importancia de la educación </a:t>
            </a:r>
            <a:r>
              <a:rPr lang="es-CO" dirty="0" err="1"/>
              <a:t>socioemocial</a:t>
            </a:r>
            <a:endParaRPr lang="es-CO" b="1" dirty="0"/>
          </a:p>
          <a:p>
            <a:r>
              <a:rPr lang="es-CO" dirty="0"/>
              <a:t> </a:t>
            </a:r>
            <a:endParaRPr lang="es-CO" b="1" dirty="0"/>
          </a:p>
          <a:p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EF05-D261-8919-C37E-044043AF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2F844D-9CB1-48B4-D3EC-5A2DD0167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4B03345-5E99-5FAB-D8F2-FA127A6259A9}"/>
              </a:ext>
            </a:extLst>
          </p:cNvPr>
          <p:cNvSpPr txBox="1"/>
          <p:nvPr/>
        </p:nvSpPr>
        <p:spPr>
          <a:xfrm>
            <a:off x="965540" y="1024865"/>
            <a:ext cx="102609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 educación emocional enseña a los niños a controlar y a gestionar sus emociones. Cuando trabajamos las emociones en clase se consigue que los alumnos estén más motivados y les ayuda positivamente en su desarrollo intelectual y así lograr que nuestra enseñanza sea un aprendizaje significativo y para la vida. En este sentido, se propone la educación de la afectividad y las emociones, comprendiéndola como un proceso educativo, continuo y permanente en contexto, que pretende potenciar la dimensión emocional, como elemento esencial del desarrollo de la personalidad integral y como paso importante y paulatino hacia el autoconocimiento y autocuidado, fortaleciendo así la posibilidad de identificar, aceptar y expresar las emociones. </a:t>
            </a:r>
            <a:endParaRPr lang="es-CO" b="1" dirty="0"/>
          </a:p>
          <a:p>
            <a:r>
              <a:rPr lang="es-CO" dirty="0"/>
              <a:t>Capacidades. </a:t>
            </a:r>
            <a:endParaRPr lang="es-CO" b="1" dirty="0"/>
          </a:p>
          <a:p>
            <a:endParaRPr lang="es-CO" dirty="0"/>
          </a:p>
          <a:p>
            <a:r>
              <a:rPr lang="es-CO" dirty="0"/>
              <a:t>Los niños y las niñas en muchas ocasiones presentan dificultades para reconocer y expresar sus emociones ante diferentes situaciones en el aula, en su familia y amigos.   Es muy importante en cada niño el desarrollo de la propia identidad, confianza y seguridad en sus capacidades, para actuar con iniciativa y autonomía, para aprender, para expresar pensamientos, sentimientos y emociones.</a:t>
            </a:r>
            <a:endParaRPr lang="es-CO" b="1" dirty="0"/>
          </a:p>
          <a:p>
            <a:r>
              <a:rPr lang="es-CO" dirty="0"/>
              <a:t>Desarrollar competencias para la verbalización de sentimientos, necesidades, emociones, problemas y resolución de conflictos a través del dialogo</a:t>
            </a:r>
            <a:endParaRPr lang="es-MX" dirty="0"/>
          </a:p>
          <a:p>
            <a:r>
              <a:rPr lang="es-CO" dirty="0"/>
              <a:t> </a:t>
            </a:r>
            <a:endParaRPr lang="es-CO" b="1" dirty="0"/>
          </a:p>
          <a:p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5445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29D3060-9E1D-BE44-B38C-442912EFDAFC}"/>
              </a:ext>
            </a:extLst>
          </p:cNvPr>
          <p:cNvSpPr txBox="1"/>
          <p:nvPr/>
        </p:nvSpPr>
        <p:spPr>
          <a:xfrm>
            <a:off x="852008" y="1720840"/>
            <a:ext cx="10487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PERTINENCIA</a:t>
            </a:r>
          </a:p>
          <a:p>
            <a:endParaRPr lang="es-MX" dirty="0"/>
          </a:p>
          <a:p>
            <a:r>
              <a:rPr lang="es-MX" dirty="0"/>
              <a:t>En el contexto escolar se evidenció que muchos niños y niñas presentan </a:t>
            </a:r>
            <a:r>
              <a:rPr lang="es-MX" b="1" dirty="0"/>
              <a:t>dificultades para reconocer, expresar y manejar sus emociones</a:t>
            </a:r>
            <a:r>
              <a:rPr lang="es-MX" dirty="0"/>
              <a:t> frente a diferentes situaciones de su vida cotidiana.</a:t>
            </a:r>
          </a:p>
          <a:p>
            <a:r>
              <a:rPr lang="es-MX" dirty="0"/>
              <a:t>Estas dificultades se reflejan 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Problemas de convivencia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Dificultad para expresar sentimientos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Baja regulación emocional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Conflictos entre compañeros</a:t>
            </a:r>
          </a:p>
          <a:p>
            <a:r>
              <a:rPr lang="es-MX" dirty="0"/>
              <a:t>Por ello surge la necesidad de desarrollar una experiencia pedagógica que </a:t>
            </a:r>
            <a:r>
              <a:rPr lang="es-MX" b="1" dirty="0"/>
              <a:t>fortalezca la educación emocional en los estudiantes</a:t>
            </a:r>
            <a:r>
              <a:rPr lang="es-MX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A25C22-A233-CBE9-56D3-972FF1D2EC74}"/>
              </a:ext>
            </a:extLst>
          </p:cNvPr>
          <p:cNvSpPr txBox="1"/>
          <p:nvPr/>
        </p:nvSpPr>
        <p:spPr>
          <a:xfrm>
            <a:off x="1303071" y="2000634"/>
            <a:ext cx="9585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CONSISTENCIA</a:t>
            </a:r>
          </a:p>
          <a:p>
            <a:endParaRPr lang="es-CO" b="1" dirty="0"/>
          </a:p>
          <a:p>
            <a:r>
              <a:rPr lang="es-MX" dirty="0"/>
              <a:t>Promover en los estudiantes el </a:t>
            </a:r>
            <a:r>
              <a:rPr lang="es-MX" b="1" dirty="0"/>
              <a:t>reconocimiento, expresión y control de sus emociones</a:t>
            </a:r>
            <a:r>
              <a:rPr lang="es-MX" dirty="0"/>
              <a:t>, fortaleciendo su desarrollo personal, social y académico.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Reconocer emociones como alegría, tristeza, miedo, enojo y seguridad.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Expresar sentimientos de manera adecuada.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Desarrollar habilidades de autorregulación emocional.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Fortalecer la convivencia y el respeto entre compañeros.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0F67D6D-3E93-0008-74F9-F5045A560270}"/>
              </a:ext>
            </a:extLst>
          </p:cNvPr>
          <p:cNvSpPr txBox="1"/>
          <p:nvPr/>
        </p:nvSpPr>
        <p:spPr>
          <a:xfrm>
            <a:off x="1241702" y="1997839"/>
            <a:ext cx="9892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MADUREZ</a:t>
            </a:r>
          </a:p>
          <a:p>
            <a:endParaRPr lang="es-CO" b="1" dirty="0"/>
          </a:p>
          <a:p>
            <a:r>
              <a:rPr lang="es-MX" dirty="0"/>
              <a:t>La educación emocional es un proceso educativo continuo que permite: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Reconocer y comprender las emociones.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Desarrollar habilidades sociales.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Fortalecer la autoestima.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Mejorar el aprendizaje significativo.</a:t>
            </a:r>
          </a:p>
          <a:p>
            <a:r>
              <a:rPr lang="es-MX" dirty="0"/>
              <a:t>Trabajar las emociones en el aula </a:t>
            </a:r>
            <a:r>
              <a:rPr lang="es-MX" b="1" dirty="0"/>
              <a:t>favorece el desarrollo integral del estudiante</a:t>
            </a:r>
            <a:r>
              <a:rPr lang="es-MX" dirty="0"/>
              <a:t>, permitiéndole construir su identidad, seguridad y confianza.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916E1A-EFCE-FDF3-354B-9D4F6B73E594}"/>
              </a:ext>
            </a:extLst>
          </p:cNvPr>
          <p:cNvSpPr txBox="1"/>
          <p:nvPr/>
        </p:nvSpPr>
        <p:spPr>
          <a:xfrm>
            <a:off x="1244770" y="1997839"/>
            <a:ext cx="9702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EMPODERAMIENTO</a:t>
            </a:r>
          </a:p>
          <a:p>
            <a:endParaRPr lang="es-CO" b="1" dirty="0"/>
          </a:p>
          <a:p>
            <a:r>
              <a:rPr lang="es-CO" dirty="0"/>
              <a:t>Se evidencia, en las distintas fases del desarrollo de la experiencia, reconocimiento, aceptación, apropiación y participación.</a:t>
            </a:r>
            <a:r>
              <a:rPr lang="es-MX" dirty="0"/>
              <a:t> La experiencia involucra:</a:t>
            </a:r>
          </a:p>
          <a:p>
            <a:r>
              <a:rPr lang="es-MX" dirty="0"/>
              <a:t>👩‍🏫 Docente</a:t>
            </a:r>
            <a:br>
              <a:rPr lang="es-MX" dirty="0"/>
            </a:br>
            <a:r>
              <a:rPr lang="es-MX" dirty="0"/>
              <a:t>👨‍👩‍👧 Padres de familia</a:t>
            </a:r>
            <a:br>
              <a:rPr lang="es-MX" dirty="0"/>
            </a:br>
            <a:r>
              <a:rPr lang="es-MX" dirty="0"/>
              <a:t>👧 Estudiantes</a:t>
            </a:r>
          </a:p>
          <a:p>
            <a:r>
              <a:rPr lang="es-MX" dirty="0"/>
              <a:t>Los padres apoyan las actividades desde casa y los estudiantes aplican las estrategias aprendidas en su vida diaria.</a:t>
            </a:r>
          </a:p>
          <a:p>
            <a:r>
              <a:rPr lang="es-MX" dirty="0"/>
              <a:t>Esto ha permitido </a:t>
            </a:r>
            <a:r>
              <a:rPr lang="es-MX" b="1" dirty="0"/>
              <a:t>fortalecer los vínculos entre escuela y familia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8FD2ED-1E22-F2CC-8ABC-0488E6D87FB0}"/>
              </a:ext>
            </a:extLst>
          </p:cNvPr>
          <p:cNvSpPr txBox="1"/>
          <p:nvPr/>
        </p:nvSpPr>
        <p:spPr>
          <a:xfrm>
            <a:off x="1186470" y="1429901"/>
            <a:ext cx="98190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EVALUACION Y SEGUIMIENTO</a:t>
            </a:r>
          </a:p>
          <a:p>
            <a:endParaRPr lang="es-CO" b="1" dirty="0"/>
          </a:p>
          <a:p>
            <a:r>
              <a:rPr lang="es-CO" dirty="0"/>
              <a:t>Existe una descripción de una metodología para el seguimiento y valoración de la experiencia con su respectivos instrumentos. </a:t>
            </a:r>
            <a:r>
              <a:rPr lang="es-MX" dirty="0"/>
              <a:t>Se utilizan diferentes estrategias de evaluación:</a:t>
            </a:r>
          </a:p>
          <a:p>
            <a:r>
              <a:rPr lang="es-MX" dirty="0"/>
              <a:t>✔ Evaluación formativa</a:t>
            </a:r>
            <a:br>
              <a:rPr lang="es-MX" dirty="0"/>
            </a:br>
            <a:r>
              <a:rPr lang="es-MX" dirty="0"/>
              <a:t>✔ Coevaluación</a:t>
            </a:r>
            <a:br>
              <a:rPr lang="es-MX" dirty="0"/>
            </a:br>
            <a:r>
              <a:rPr lang="es-MX" dirty="0"/>
              <a:t>✔ Heteroevaluación</a:t>
            </a:r>
          </a:p>
          <a:p>
            <a:r>
              <a:rPr lang="es-MX" dirty="0"/>
              <a:t>Se observa principalmente: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de los estudiantes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Expresión emocional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Resolución de conflictos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Trabajo en equipo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Aprendizaje Basado en Proyectos (ABP)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Aula invertida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Trabajo colaborativo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Investigación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3D9479A-C346-833F-E9D5-7BFF0C137AC8}"/>
              </a:ext>
            </a:extLst>
          </p:cNvPr>
          <p:cNvSpPr txBox="1"/>
          <p:nvPr/>
        </p:nvSpPr>
        <p:spPr>
          <a:xfrm>
            <a:off x="1122032" y="1847211"/>
            <a:ext cx="99479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RESULTADOS</a:t>
            </a:r>
          </a:p>
          <a:p>
            <a:endParaRPr lang="es-CO" b="1" dirty="0"/>
          </a:p>
          <a:p>
            <a:r>
              <a:rPr lang="es-MX" dirty="0"/>
              <a:t>Los principales logros han sido:</a:t>
            </a:r>
          </a:p>
          <a:p>
            <a:r>
              <a:rPr lang="es-MX" dirty="0"/>
              <a:t>⭐ Estudiantes emocionalmente más fortalecidos</a:t>
            </a:r>
            <a:br>
              <a:rPr lang="es-MX" dirty="0"/>
            </a:br>
            <a:r>
              <a:rPr lang="es-MX" dirty="0"/>
              <a:t>⭐ Mejor comunicación entre compañeros</a:t>
            </a:r>
            <a:br>
              <a:rPr lang="es-MX" dirty="0"/>
            </a:br>
            <a:r>
              <a:rPr lang="es-MX" dirty="0"/>
              <a:t>⭐ Mayor control de las emociones</a:t>
            </a:r>
            <a:br>
              <a:rPr lang="es-MX" dirty="0"/>
            </a:br>
            <a:r>
              <a:rPr lang="es-MX" dirty="0"/>
              <a:t>⭐ Aplicación de estrategias en el hogar</a:t>
            </a:r>
            <a:br>
              <a:rPr lang="es-MX" dirty="0"/>
            </a:br>
            <a:r>
              <a:rPr lang="es-MX" dirty="0"/>
              <a:t>⭐ Mejor convivencia escolar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58FCB2-F5C0-5798-9BD3-2FD82B867D40}"/>
              </a:ext>
            </a:extLst>
          </p:cNvPr>
          <p:cNvSpPr txBox="1"/>
          <p:nvPr/>
        </p:nvSpPr>
        <p:spPr>
          <a:xfrm>
            <a:off x="1092370" y="1368532"/>
            <a:ext cx="104020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TRANSFERENCIA</a:t>
            </a:r>
          </a:p>
          <a:p>
            <a:endParaRPr lang="es-CO" b="1" dirty="0"/>
          </a:p>
          <a:p>
            <a:r>
              <a:rPr lang="es-CO" dirty="0"/>
              <a:t>Existen procesos, metodologías o mecanismos que sirven de referencia para replicar la experiencia con buenos resultados dentro del establecimiento o en otros escenarios.</a:t>
            </a:r>
            <a:r>
              <a:rPr lang="es-MX" dirty="0"/>
              <a:t> La experiencia </a:t>
            </a:r>
            <a:r>
              <a:rPr lang="es-MX" b="1" dirty="0"/>
              <a:t>“Cómo controlar las emociones”</a:t>
            </a:r>
            <a:r>
              <a:rPr lang="es-MX" dirty="0"/>
              <a:t> puede ser replicada en diferentes grados de educación básica y en otras instituciones educativas, ya que utiliza estrategias pedagógicas sencillas y significativas.</a:t>
            </a:r>
          </a:p>
          <a:p>
            <a:r>
              <a:rPr lang="es-MX" dirty="0"/>
              <a:t>Esta experiencia puede transferirse mediante: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Socialización del proyecto con otros docentes de la institución.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Integración de actividades de educación emocional dentro del aula.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Implementación de estrategias como </a:t>
            </a:r>
            <a:r>
              <a:rPr lang="es-MX" b="1" dirty="0"/>
              <a:t>el diario de emociones, el frasco de la calma, el reloj de las emociones y la lectura de cuentos emocionales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activa de los padres de familia para fortalecer el manejo de emociones desde el hogar.</a:t>
            </a:r>
          </a:p>
          <a:p>
            <a:r>
              <a:rPr lang="es-MX" dirty="0"/>
              <a:t>Esta propuesta puede aplicarse en diferentes contextos educativos, contribuyendo al </a:t>
            </a:r>
            <a:r>
              <a:rPr lang="es-MX" b="1" dirty="0"/>
              <a:t>desarrollo socioemocional, la convivencia escolar y el bienestar de los estudiantes</a:t>
            </a:r>
            <a:r>
              <a:rPr lang="es-MX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88314CC-10D4-7995-0C70-8DAB6D0EF6F3}"/>
              </a:ext>
            </a:extLst>
          </p:cNvPr>
          <p:cNvSpPr txBox="1"/>
          <p:nvPr/>
        </p:nvSpPr>
        <p:spPr>
          <a:xfrm>
            <a:off x="1067823" y="1221246"/>
            <a:ext cx="100338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SOSTENIBILIDAD</a:t>
            </a:r>
          </a:p>
          <a:p>
            <a:endParaRPr lang="es-CO" b="1" dirty="0"/>
          </a:p>
          <a:p>
            <a:r>
              <a:rPr lang="es-MX" dirty="0"/>
              <a:t>Esta experiencia se mantiene en el tiempo mediante la integración de la educación emocional dentro de las actividades pedagógicas del aula.</a:t>
            </a:r>
          </a:p>
          <a:p>
            <a:r>
              <a:rPr lang="es-MX" dirty="0"/>
              <a:t>Para garantizar su continuidad se implementan las siguientes estrategias: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Integración del proyecto en las actividades pedagógicas del grado.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activa de estudiantes, docentes y padres de familia.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Uso permanente de herramientas como </a:t>
            </a:r>
            <a:r>
              <a:rPr lang="es-MX" b="1" dirty="0"/>
              <a:t>el diario de emociones, el frasco de la calma, el reloj de las emociones y la lectura de cuentos sobre emociones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Fortalecimiento del trabajo en equipo y la convivencia escolar.</a:t>
            </a:r>
          </a:p>
          <a:p>
            <a:r>
              <a:rPr lang="es-MX" dirty="0"/>
              <a:t>Estas acciones permiten que la experiencia continúe desarrollándose cada año, beneficiando a nuevos estudiantes y fortaleciendo el bienestar emocional dentro de la comunidad educativa.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0E2D459-4442-3991-C215-0906FF890F45}"/>
              </a:ext>
            </a:extLst>
          </p:cNvPr>
          <p:cNvSpPr txBox="1"/>
          <p:nvPr/>
        </p:nvSpPr>
        <p:spPr>
          <a:xfrm>
            <a:off x="1296934" y="2413337"/>
            <a:ext cx="9598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INNOVACION</a:t>
            </a:r>
          </a:p>
          <a:p>
            <a:endParaRPr lang="es-CO" b="1" dirty="0"/>
          </a:p>
          <a:p>
            <a:r>
              <a:rPr lang="es-CO" dirty="0"/>
              <a:t>Hay evidencia concreta del diseño e implementación novedosa de acciones, recursos tecnológicos o no tecnológicos, la incorporación de cambios significativos en el diseño y uso de los materiales, métodos, contenidos, entre otros, según el contexto y las características de los niños, niñas, adolescentes y jóvenes para propiciar aprendizajes significativos, el desarrollo integral y transformaciones en las practicas culturales y políticas institucionales.</a:t>
            </a:r>
          </a:p>
        </p:txBody>
      </p:sp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734</Words>
  <Application>Microsoft Office PowerPoint</Application>
  <PresentationFormat>Panorámica</PresentationFormat>
  <Paragraphs>85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¿Como controlar las emociones?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4</cp:revision>
  <dcterms:created xsi:type="dcterms:W3CDTF">2025-07-23T15:35:07Z</dcterms:created>
  <dcterms:modified xsi:type="dcterms:W3CDTF">2026-03-04T14:02:41Z</dcterms:modified>
</cp:coreProperties>
</file>