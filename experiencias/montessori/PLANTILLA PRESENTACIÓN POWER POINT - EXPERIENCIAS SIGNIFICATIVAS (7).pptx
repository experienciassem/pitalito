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56" d="100"/>
          <a:sy n="156" d="100"/>
        </p:scale>
        <p:origin x="50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3B46F3-BD87-1244-C518-539103D7FD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1DB866E-528A-E7A1-888D-047A34E554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E838C8-B107-769B-CA23-0886E2F73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3/03/2026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DF867A-4E8F-A03F-A929-7DA6ACDDB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D2D83F-DADF-BCE9-05D8-3A899D9B1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70897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CE0EBB-9626-1753-03B1-50B133A5A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BFEC1A-5FED-A861-DCEA-C205BB94B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4A9250-4773-1F58-BB28-B7EABC3DD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3/03/2026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0FA128-B7B8-B0EF-D31D-231A72A30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0F846C-CD29-FC4E-6C35-B35E945D2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0401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3948D9-1D84-100B-E086-763A0B5A1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1287FC-DE40-5FEE-99C0-5E106C5E6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EB6DCD-998D-79C6-A391-68F2326B2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3/03/2026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42B1B5-98B4-F2C6-D48C-D99160642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FF1E9B-C3BA-795B-EDC3-183AD7427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9741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EF2BB7-E88B-5479-E88F-1FF94E101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0D1765-B4DF-B8A8-267B-23D3D8FC0C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A175493-7780-2FBB-7845-55FB500A68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15E3D2A-5DA3-B8EE-6513-1EE2D2F16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3/03/2026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85006BB-22EF-6C17-9AC9-8BC0A6CFE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6ED5FB5-C590-9217-D3CB-C4EBF32E9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38476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384527-F461-E0E3-CBD4-91A3E821E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1B32A59-9727-6758-5DA4-C470274EC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265B3E9-34E1-6718-763E-F143E9540C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4176C83-F680-A73B-26CC-0CF5D7F590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F9EBE45-361A-12BD-E0BF-240F81DE58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7D40406-BB14-9140-A36E-57E06C84B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3/03/2026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8A04C30-EDA6-E8D8-17E5-6FFC3177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C15371C-606E-D71B-7E87-18750CB7B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86970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786D20-6E3E-3281-0F95-BBF3C95D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CFA1186-6ED9-F6E4-97BA-3A4F960A7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3/03/2026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00C95CA-1239-B99E-77D3-7A6FDE082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376426A-9ABC-5EF1-AEB1-C0CFC2215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5364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CA8B009-C69D-1D5D-2898-3FAB86356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3/03/2026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14A400F-EF69-18E2-03A6-884F1D73A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CBCE93-02A5-2D01-14B0-951F79F14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87554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CE0CD9-7BCB-2025-6D74-C27F3B345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0EA8B7-9869-5158-E183-19819CDE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41FCE9D-FC78-3797-E9CE-C3F4DD2CF3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142166-3168-72E8-7E91-C1FC8816A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3/03/2026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B384531-13AD-3876-2B69-E6BF5C86C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F634F09-C68B-DFE7-CDD2-5D12307D1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79997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F0B0B6-178A-2DE2-9D4C-1EA48B40C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FED4931-6DD5-8470-00B4-4AD729FB19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0390BD-29BD-3EF3-3F42-30FB741D80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1F85192-11DA-8CCF-60ED-9C2E23CB8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3/03/2026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0B09ACD-B38C-A414-7D9B-22F6970DF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864F253-73AE-4A50-5D78-FA299CF7D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08398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CD14DF-6133-7225-5208-6F1F8F738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9A2C64-4BCF-8878-42A2-2B7E30B62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B21BBE-E8B9-71AD-99D2-9280106CF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3/03/2026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04BB80-30DC-4522-9F3A-F376EF2E4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D9122F-2D63-7AAC-D358-2F25E455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3708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8AD4C63-322B-9289-95FE-95F8B78D34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3DCC26B-B15B-4664-3A32-C1A29ADA18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1FA146-87B7-F736-BB5A-46426D064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3/03/2026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9FD83E-D958-4ABA-64A4-1CD41203C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2301AD-C2B3-B9CB-1E65-9B2DA6E56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0970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2C9864D-1483-2AE5-0FEA-488555370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FD254BB-B860-F144-7BF3-315B8786E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F5BED5-0585-53C3-A724-BE9242651E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32DC3D-3364-4B98-B737-2FEA8DB4EEB9}" type="datetimeFigureOut">
              <a:rPr lang="es-CO" smtClean="0"/>
              <a:t>3/03/2026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016D93-5AFA-DE80-D034-217A49DEC6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8A8A3A-02BF-B19A-B382-EB9221EEB8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28135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D1E2251-D51D-E043-921A-7495EE8A48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ES" sz="4800" b="1" dirty="0"/>
              <a:t>¿Como controlar las emociones?</a:t>
            </a:r>
            <a:endParaRPr lang="es-CO" sz="4800" b="1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4278922"/>
            <a:ext cx="9144000" cy="978877"/>
          </a:xfrm>
        </p:spPr>
        <p:txBody>
          <a:bodyPr/>
          <a:lstStyle/>
          <a:p>
            <a:r>
              <a:rPr lang="es-ES" dirty="0"/>
              <a:t>Nubia Bonilla Ordoñez</a:t>
            </a:r>
          </a:p>
          <a:p>
            <a:r>
              <a:rPr lang="es-ES" dirty="0"/>
              <a:t>INSTITUCION EDUCATIVA MUNICIPAL MONTESSORI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697933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E88AC51-D933-785F-6FF3-0EAB785E7A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691D90E4-EAF7-78FE-BF51-1F0B6C23E086}"/>
              </a:ext>
            </a:extLst>
          </p:cNvPr>
          <p:cNvSpPr txBox="1"/>
          <p:nvPr/>
        </p:nvSpPr>
        <p:spPr>
          <a:xfrm>
            <a:off x="634146" y="2012908"/>
            <a:ext cx="1026091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FUNDAMENTACIÓN</a:t>
            </a:r>
          </a:p>
          <a:p>
            <a:endParaRPr lang="es-MX" b="1" dirty="0"/>
          </a:p>
          <a:p>
            <a:r>
              <a:rPr lang="es-MX" b="1" dirty="0"/>
              <a:t>Misión</a:t>
            </a:r>
            <a:br>
              <a:rPr lang="es-MX" dirty="0"/>
            </a:br>
            <a:r>
              <a:rPr lang="es-MX" dirty="0"/>
              <a:t>Formar estudiantes integrales mediante una educación basada en valores, el respeto, la autonomía, el pensamiento crítico y el desarrollo de habilidades cognitivas, emocionales y sociales que les permitan convivir de manera armónica en la sociedad.</a:t>
            </a:r>
          </a:p>
          <a:p>
            <a:r>
              <a:rPr lang="es-MX" b="1" dirty="0"/>
              <a:t>Visión</a:t>
            </a:r>
            <a:br>
              <a:rPr lang="es-MX" dirty="0"/>
            </a:br>
            <a:r>
              <a:rPr lang="es-MX" dirty="0"/>
              <a:t>Ser una institución reconocida por su calidad educativa, promoviendo el desarrollo integral de los estudiantes, fortaleciendo competencias académicas, humanas y emocionales para formar ciudadanos responsables, autónomos y comprometidos con su entorno.</a:t>
            </a:r>
          </a:p>
          <a:p>
            <a:r>
              <a:rPr lang="es-CO" dirty="0"/>
              <a:t>La importancia de la educación </a:t>
            </a:r>
            <a:r>
              <a:rPr lang="es-CO" dirty="0" err="1"/>
              <a:t>socioemocial</a:t>
            </a:r>
            <a:endParaRPr lang="es-CO" b="1" dirty="0"/>
          </a:p>
          <a:p>
            <a:r>
              <a:rPr lang="es-CO" dirty="0"/>
              <a:t> </a:t>
            </a:r>
            <a:endParaRPr lang="es-CO" b="1" dirty="0"/>
          </a:p>
          <a:p>
            <a:r>
              <a:rPr lang="es-CO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568321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9EF05-D261-8919-C37E-044043AF3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2F844D-9CB1-48B4-D3EC-5A2DD01675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84B03345-5E99-5FAB-D8F2-FA127A6259A9}"/>
              </a:ext>
            </a:extLst>
          </p:cNvPr>
          <p:cNvSpPr txBox="1"/>
          <p:nvPr/>
        </p:nvSpPr>
        <p:spPr>
          <a:xfrm>
            <a:off x="965540" y="1024865"/>
            <a:ext cx="1026091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La educación emocional enseña a los niños a controlar y a gestionar sus emociones. Cuando trabajamos las emociones en clase se consigue que los alumnos estén más motivados y les ayuda positivamente en su desarrollo intelectual y así lograr que nuestra enseñanza sea un aprendizaje significativo y para la vida. En este sentido, se propone la educación de la afectividad y las emociones, comprendiéndola como un proceso educativo, continuo y permanente en contexto, que pretende potenciar la dimensión emocional, como elemento esencial del desarrollo de la personalidad integral y como paso importante y paulatino hacia el autoconocimiento y autocuidado, fortaleciendo así la posibilidad de identificar, aceptar y expresar las emociones. </a:t>
            </a:r>
            <a:endParaRPr lang="es-CO" b="1" dirty="0"/>
          </a:p>
          <a:p>
            <a:r>
              <a:rPr lang="es-CO" dirty="0"/>
              <a:t>Capacidades. </a:t>
            </a:r>
            <a:endParaRPr lang="es-CO" b="1" dirty="0"/>
          </a:p>
          <a:p>
            <a:endParaRPr lang="es-CO" dirty="0"/>
          </a:p>
          <a:p>
            <a:r>
              <a:rPr lang="es-CO" dirty="0"/>
              <a:t>Los niños y las niñas en muchas ocasiones presentan dificultades para reconocer y expresar sus emociones ante diferentes situaciones en el aula, en su familia y amigos.   Es muy importante en cada niño el desarrollo de la propia identidad, confianza y seguridad en sus capacidades, para actuar con iniciativa y autonomía, para aprender, para expresar pensamientos, sentimientos y emociones.</a:t>
            </a:r>
            <a:endParaRPr lang="es-CO" b="1" dirty="0"/>
          </a:p>
          <a:p>
            <a:r>
              <a:rPr lang="es-CO" dirty="0"/>
              <a:t>Desarrollar competencias para la verbalización de sentimientos, necesidades, emociones, problemas y resolución de conflictos a través del dialogo</a:t>
            </a:r>
            <a:endParaRPr lang="es-MX" dirty="0"/>
          </a:p>
          <a:p>
            <a:r>
              <a:rPr lang="es-CO" dirty="0"/>
              <a:t> </a:t>
            </a:r>
            <a:endParaRPr lang="es-CO" b="1" dirty="0"/>
          </a:p>
          <a:p>
            <a:r>
              <a:rPr lang="es-CO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854458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F29D3060-9E1D-BE44-B38C-442912EFDAFC}"/>
              </a:ext>
            </a:extLst>
          </p:cNvPr>
          <p:cNvSpPr txBox="1"/>
          <p:nvPr/>
        </p:nvSpPr>
        <p:spPr>
          <a:xfrm>
            <a:off x="852008" y="1720840"/>
            <a:ext cx="1048798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PERTINENCIA</a:t>
            </a:r>
          </a:p>
          <a:p>
            <a:endParaRPr lang="es-MX" dirty="0"/>
          </a:p>
          <a:p>
            <a:r>
              <a:rPr lang="es-MX" dirty="0"/>
              <a:t>En el contexto escolar se evidenció que muchos niños y niñas presentan </a:t>
            </a:r>
            <a:r>
              <a:rPr lang="es-MX" b="1" dirty="0"/>
              <a:t>dificultades para reconocer, expresar y manejar sus emociones</a:t>
            </a:r>
            <a:r>
              <a:rPr lang="es-MX" dirty="0"/>
              <a:t> frente a diferentes situaciones de su vida cotidiana.</a:t>
            </a:r>
          </a:p>
          <a:p>
            <a:r>
              <a:rPr lang="es-MX" dirty="0"/>
              <a:t>Estas dificultades se reflejan en: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Problemas de convivencia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Dificultad para expresar sentimientos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Baja regulación emocional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Conflictos entre compañeros</a:t>
            </a:r>
          </a:p>
          <a:p>
            <a:r>
              <a:rPr lang="es-MX" dirty="0"/>
              <a:t>Por ello surge la necesidad de desarrollar una experiencia pedagógica que </a:t>
            </a:r>
            <a:r>
              <a:rPr lang="es-MX" b="1" dirty="0"/>
              <a:t>fortalezca la educación emocional en los estudiantes</a:t>
            </a:r>
            <a:r>
              <a:rPr lang="es-MX" dirty="0"/>
              <a:t>.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731378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59A25C22-A233-CBE9-56D3-972FF1D2EC74}"/>
              </a:ext>
            </a:extLst>
          </p:cNvPr>
          <p:cNvSpPr txBox="1"/>
          <p:nvPr/>
        </p:nvSpPr>
        <p:spPr>
          <a:xfrm>
            <a:off x="1303071" y="2000634"/>
            <a:ext cx="958585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CONSISTENCIA</a:t>
            </a:r>
          </a:p>
          <a:p>
            <a:endParaRPr lang="es-CO" b="1" dirty="0"/>
          </a:p>
          <a:p>
            <a:r>
              <a:rPr lang="es-MX" dirty="0"/>
              <a:t>Promover en los estudiantes el </a:t>
            </a:r>
            <a:r>
              <a:rPr lang="es-MX" b="1" dirty="0"/>
              <a:t>reconocimiento, expresión y control de sus emociones</a:t>
            </a:r>
            <a:r>
              <a:rPr lang="es-MX" dirty="0"/>
              <a:t>, fortaleciendo su desarrollo personal, social y académico.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Reconocer emociones como alegría, tristeza, miedo, enojo y seguridad.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Expresar sentimientos de manera adecuada.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Desarrollar habilidades de autorregulación emocional.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Fortalecer la convivencia y el respeto entre compañeros.</a:t>
            </a:r>
          </a:p>
          <a:p>
            <a:endParaRPr lang="es-CO" b="1" dirty="0"/>
          </a:p>
        </p:txBody>
      </p:sp>
    </p:spTree>
    <p:extLst>
      <p:ext uri="{BB962C8B-B14F-4D97-AF65-F5344CB8AC3E}">
        <p14:creationId xmlns:p14="http://schemas.microsoft.com/office/powerpoint/2010/main" val="1523814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C0F67D6D-3E93-0008-74F9-F5045A560270}"/>
              </a:ext>
            </a:extLst>
          </p:cNvPr>
          <p:cNvSpPr txBox="1"/>
          <p:nvPr/>
        </p:nvSpPr>
        <p:spPr>
          <a:xfrm>
            <a:off x="1241702" y="1997839"/>
            <a:ext cx="989270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MADUREZ</a:t>
            </a:r>
          </a:p>
          <a:p>
            <a:endParaRPr lang="es-CO" b="1" dirty="0"/>
          </a:p>
          <a:p>
            <a:r>
              <a:rPr lang="es-MX" dirty="0"/>
              <a:t>La educación emocional es un proceso educativo continuo que permite: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Reconocer y comprender las emociones.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Desarrollar habilidades sociales.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Fortalecer la autoestima.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Mejorar el aprendizaje significativo.</a:t>
            </a:r>
          </a:p>
          <a:p>
            <a:r>
              <a:rPr lang="es-MX" dirty="0"/>
              <a:t>Trabajar las emociones en el aula </a:t>
            </a:r>
            <a:r>
              <a:rPr lang="es-MX" b="1" dirty="0"/>
              <a:t>favorece el desarrollo integral del estudiante</a:t>
            </a:r>
            <a:r>
              <a:rPr lang="es-MX" dirty="0"/>
              <a:t>, permitiéndole construir su identidad, seguridad y confianza.</a:t>
            </a:r>
          </a:p>
          <a:p>
            <a:endParaRPr lang="es-CO" b="1" dirty="0"/>
          </a:p>
        </p:txBody>
      </p:sp>
    </p:spTree>
    <p:extLst>
      <p:ext uri="{BB962C8B-B14F-4D97-AF65-F5344CB8AC3E}">
        <p14:creationId xmlns:p14="http://schemas.microsoft.com/office/powerpoint/2010/main" val="3538848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22916E1A-EFCE-FDF3-354B-9D4F6B73E594}"/>
              </a:ext>
            </a:extLst>
          </p:cNvPr>
          <p:cNvSpPr txBox="1"/>
          <p:nvPr/>
        </p:nvSpPr>
        <p:spPr>
          <a:xfrm>
            <a:off x="1244770" y="1997839"/>
            <a:ext cx="970245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EMPODERAMIENTO</a:t>
            </a:r>
          </a:p>
          <a:p>
            <a:endParaRPr lang="es-CO" b="1" dirty="0"/>
          </a:p>
          <a:p>
            <a:r>
              <a:rPr lang="es-CO" dirty="0"/>
              <a:t>Se evidencia, en las distintas fases del desarrollo de la experiencia, reconocimiento, aceptación, apropiación y participación.</a:t>
            </a:r>
            <a:r>
              <a:rPr lang="es-MX" dirty="0"/>
              <a:t> La experiencia involucra:</a:t>
            </a:r>
          </a:p>
          <a:p>
            <a:r>
              <a:rPr lang="es-MX" dirty="0"/>
              <a:t>👩‍🏫 Docente</a:t>
            </a:r>
            <a:br>
              <a:rPr lang="es-MX" dirty="0"/>
            </a:br>
            <a:r>
              <a:rPr lang="es-MX" dirty="0"/>
              <a:t>👨‍👩‍👧 Padres de familia</a:t>
            </a:r>
            <a:br>
              <a:rPr lang="es-MX" dirty="0"/>
            </a:br>
            <a:r>
              <a:rPr lang="es-MX" dirty="0"/>
              <a:t>👧 Estudiantes</a:t>
            </a:r>
          </a:p>
          <a:p>
            <a:r>
              <a:rPr lang="es-MX" dirty="0"/>
              <a:t>Los padres apoyan las actividades desde casa y los estudiantes aplican las estrategias aprendidas en su vida diaria.</a:t>
            </a:r>
          </a:p>
          <a:p>
            <a:r>
              <a:rPr lang="es-MX" dirty="0"/>
              <a:t>Esto ha permitido </a:t>
            </a:r>
            <a:r>
              <a:rPr lang="es-MX" b="1" dirty="0"/>
              <a:t>fortalecer los vínculos entre escuela y familia</a:t>
            </a:r>
            <a:r>
              <a:rPr lang="es-MX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43985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218FD2ED-1E22-F2CC-8ABC-0488E6D87FB0}"/>
              </a:ext>
            </a:extLst>
          </p:cNvPr>
          <p:cNvSpPr txBox="1"/>
          <p:nvPr/>
        </p:nvSpPr>
        <p:spPr>
          <a:xfrm>
            <a:off x="1186470" y="1429901"/>
            <a:ext cx="981906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EVALUACION Y SEGUIMIENTO</a:t>
            </a:r>
          </a:p>
          <a:p>
            <a:endParaRPr lang="es-CO" b="1" dirty="0"/>
          </a:p>
          <a:p>
            <a:r>
              <a:rPr lang="es-CO" dirty="0"/>
              <a:t>Existe una descripción de una metodología para el seguimiento y valoración de la experiencia con su respectivos instrumentos. </a:t>
            </a:r>
            <a:r>
              <a:rPr lang="es-MX" dirty="0"/>
              <a:t>Se utilizan diferentes estrategias de evaluación:</a:t>
            </a:r>
          </a:p>
          <a:p>
            <a:r>
              <a:rPr lang="es-MX" dirty="0"/>
              <a:t>✔ Evaluación formativa</a:t>
            </a:r>
            <a:br>
              <a:rPr lang="es-MX" dirty="0"/>
            </a:br>
            <a:r>
              <a:rPr lang="es-MX" dirty="0"/>
              <a:t>✔ Coevaluación</a:t>
            </a:r>
            <a:br>
              <a:rPr lang="es-MX" dirty="0"/>
            </a:br>
            <a:r>
              <a:rPr lang="es-MX" dirty="0"/>
              <a:t>✔ Heteroevaluación</a:t>
            </a:r>
          </a:p>
          <a:p>
            <a:r>
              <a:rPr lang="es-MX" dirty="0"/>
              <a:t>Se observa principalmente: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Participación de los estudiantes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Expresión emocional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Resolución de conflictos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Trabajo en equipo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Aprendizaje Basado en Proyectos (ABP)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Aula invertida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Trabajo colaborativo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Investigación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085548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D3D9479A-C346-833F-E9D5-7BFF0C137AC8}"/>
              </a:ext>
            </a:extLst>
          </p:cNvPr>
          <p:cNvSpPr txBox="1"/>
          <p:nvPr/>
        </p:nvSpPr>
        <p:spPr>
          <a:xfrm>
            <a:off x="1122032" y="1847211"/>
            <a:ext cx="994793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RESULTADOS</a:t>
            </a:r>
          </a:p>
          <a:p>
            <a:endParaRPr lang="es-CO" b="1" dirty="0"/>
          </a:p>
          <a:p>
            <a:r>
              <a:rPr lang="es-MX" dirty="0"/>
              <a:t>Los principales logros han sido:</a:t>
            </a:r>
          </a:p>
          <a:p>
            <a:r>
              <a:rPr lang="es-MX" dirty="0"/>
              <a:t>⭐ Estudiantes emocionalmente más fortalecidos</a:t>
            </a:r>
            <a:br>
              <a:rPr lang="es-MX" dirty="0"/>
            </a:br>
            <a:r>
              <a:rPr lang="es-MX" dirty="0"/>
              <a:t>⭐ Mejor comunicación entre compañeros</a:t>
            </a:r>
            <a:br>
              <a:rPr lang="es-MX" dirty="0"/>
            </a:br>
            <a:r>
              <a:rPr lang="es-MX" dirty="0"/>
              <a:t>⭐ Mayor control de las emociones</a:t>
            </a:r>
            <a:br>
              <a:rPr lang="es-MX" dirty="0"/>
            </a:br>
            <a:r>
              <a:rPr lang="es-MX" dirty="0"/>
              <a:t>⭐ Aplicación de estrategias en el hogar</a:t>
            </a:r>
            <a:br>
              <a:rPr lang="es-MX" dirty="0"/>
            </a:br>
            <a:r>
              <a:rPr lang="es-MX" dirty="0"/>
              <a:t>⭐ Mejor convivencia escolar</a:t>
            </a:r>
          </a:p>
          <a:p>
            <a:endParaRPr lang="es-CO" b="1" dirty="0"/>
          </a:p>
        </p:txBody>
      </p:sp>
    </p:spTree>
    <p:extLst>
      <p:ext uri="{BB962C8B-B14F-4D97-AF65-F5344CB8AC3E}">
        <p14:creationId xmlns:p14="http://schemas.microsoft.com/office/powerpoint/2010/main" val="41347278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9A58FCB2-F5C0-5798-9BD3-2FD82B867D40}"/>
              </a:ext>
            </a:extLst>
          </p:cNvPr>
          <p:cNvSpPr txBox="1"/>
          <p:nvPr/>
        </p:nvSpPr>
        <p:spPr>
          <a:xfrm>
            <a:off x="1092370" y="1368532"/>
            <a:ext cx="1040206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TRANSFERENCIA</a:t>
            </a:r>
          </a:p>
          <a:p>
            <a:endParaRPr lang="es-CO" b="1" dirty="0"/>
          </a:p>
          <a:p>
            <a:r>
              <a:rPr lang="es-CO" dirty="0"/>
              <a:t>Existen procesos, metodologías o mecanismos que sirven de referencia para replicar la experiencia con buenos resultados dentro del establecimiento o en otros escenarios.</a:t>
            </a:r>
            <a:r>
              <a:rPr lang="es-MX" dirty="0"/>
              <a:t> La experiencia </a:t>
            </a:r>
            <a:r>
              <a:rPr lang="es-MX" b="1" dirty="0"/>
              <a:t>“Cómo controlar las emociones”</a:t>
            </a:r>
            <a:r>
              <a:rPr lang="es-MX" dirty="0"/>
              <a:t> puede ser replicada en diferentes grados de educación básica y en otras instituciones educativas, ya que utiliza estrategias pedagógicas sencillas y significativas.</a:t>
            </a:r>
          </a:p>
          <a:p>
            <a:r>
              <a:rPr lang="es-MX" dirty="0"/>
              <a:t>Esta experiencia puede transferirse mediante: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Socialización del proyecto con otros docentes de la institución.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Integración de actividades de educación emocional dentro del aula.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Implementación de estrategias como </a:t>
            </a:r>
            <a:r>
              <a:rPr lang="es-MX" b="1" dirty="0"/>
              <a:t>el diario de emociones, el frasco de la calma, el reloj de las emociones y la lectura de cuentos emocionales</a:t>
            </a:r>
            <a:r>
              <a:rPr lang="es-MX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Participación activa de los padres de familia para fortalecer el manejo de emociones desde el hogar.</a:t>
            </a:r>
          </a:p>
          <a:p>
            <a:r>
              <a:rPr lang="es-MX" dirty="0"/>
              <a:t>Esta propuesta puede aplicarse en diferentes contextos educativos, contribuyendo al </a:t>
            </a:r>
            <a:r>
              <a:rPr lang="es-MX" b="1" dirty="0"/>
              <a:t>desarrollo socioemocional, la convivencia escolar y el bienestar de los estudiantes</a:t>
            </a:r>
            <a:r>
              <a:rPr lang="es-MX" dirty="0"/>
              <a:t>.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3386694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788314CC-10D4-7995-0C70-8DAB6D0EF6F3}"/>
              </a:ext>
            </a:extLst>
          </p:cNvPr>
          <p:cNvSpPr txBox="1"/>
          <p:nvPr/>
        </p:nvSpPr>
        <p:spPr>
          <a:xfrm>
            <a:off x="1067823" y="1221246"/>
            <a:ext cx="1003385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SOSTENIBILIDAD</a:t>
            </a:r>
          </a:p>
          <a:p>
            <a:endParaRPr lang="es-CO" b="1" dirty="0"/>
          </a:p>
          <a:p>
            <a:r>
              <a:rPr lang="es-MX" dirty="0"/>
              <a:t>Esta experiencia se mantiene en el tiempo mediante la integración de la educación emocional dentro de las actividades pedagógicas del aula.</a:t>
            </a:r>
          </a:p>
          <a:p>
            <a:r>
              <a:rPr lang="es-MX" dirty="0"/>
              <a:t>Para garantizar su continuidad se implementan las siguientes estrategias: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Integración del proyecto en las actividades pedagógicas del grado.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Participación activa de estudiantes, docentes y padres de familia.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Uso permanente de herramientas como </a:t>
            </a:r>
            <a:r>
              <a:rPr lang="es-MX" b="1" dirty="0"/>
              <a:t>el diario de emociones, el frasco de la calma, el reloj de las emociones y la lectura de cuentos sobre emociones</a:t>
            </a:r>
            <a:r>
              <a:rPr lang="es-MX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Fortalecimiento del trabajo en equipo y la convivencia escolar.</a:t>
            </a:r>
          </a:p>
          <a:p>
            <a:r>
              <a:rPr lang="es-MX" dirty="0"/>
              <a:t>Estas acciones permiten que la experiencia continúe desarrollándose cada año, beneficiando a nuevos estudiantes y fortaleciendo el bienestar emocional dentro de la comunidad educativa.</a:t>
            </a:r>
          </a:p>
          <a:p>
            <a:endParaRPr lang="es-CO" b="1" dirty="0"/>
          </a:p>
        </p:txBody>
      </p:sp>
    </p:spTree>
    <p:extLst>
      <p:ext uri="{BB962C8B-B14F-4D97-AF65-F5344CB8AC3E}">
        <p14:creationId xmlns:p14="http://schemas.microsoft.com/office/powerpoint/2010/main" val="28303535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B0E2D459-4442-3991-C215-0906FF890F45}"/>
              </a:ext>
            </a:extLst>
          </p:cNvPr>
          <p:cNvSpPr txBox="1"/>
          <p:nvPr/>
        </p:nvSpPr>
        <p:spPr>
          <a:xfrm>
            <a:off x="1296934" y="2413337"/>
            <a:ext cx="959813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INNOVACION</a:t>
            </a:r>
          </a:p>
          <a:p>
            <a:endParaRPr lang="es-CO" b="1" dirty="0"/>
          </a:p>
          <a:p>
            <a:r>
              <a:rPr lang="es-CO" dirty="0"/>
              <a:t>Hay evidencia concreta del diseño e implementación novedosa de acciones, recursos tecnológicos o no tecnológicos, la incorporación de cambios significativos en el diseño y uso de los materiales, métodos, contenidos, entre otros, según el contexto y las características de los niños, niñas, adolescentes y jóvenes para propiciar aprendizajes significativos, el desarrollo integral y transformaciones en las practicas culturales y políticas institucionales.</a:t>
            </a:r>
          </a:p>
        </p:txBody>
      </p:sp>
    </p:spTree>
    <p:extLst>
      <p:ext uri="{BB962C8B-B14F-4D97-AF65-F5344CB8AC3E}">
        <p14:creationId xmlns:p14="http://schemas.microsoft.com/office/powerpoint/2010/main" val="276166802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1007</Words>
  <Application>Microsoft Office PowerPoint</Application>
  <PresentationFormat>Panorámica</PresentationFormat>
  <Paragraphs>85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Tema de Office</vt:lpstr>
      <vt:lpstr>¿Como controlar las emociones?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Nombre de la Experiencia Significativa</dc:title>
  <dc:creator>Sebastian Santamaria</dc:creator>
  <cp:lastModifiedBy>CARLOS ARDILA</cp:lastModifiedBy>
  <cp:revision>4</cp:revision>
  <dcterms:created xsi:type="dcterms:W3CDTF">2025-07-23T15:35:07Z</dcterms:created>
  <dcterms:modified xsi:type="dcterms:W3CDTF">2026-03-03T21:30:32Z</dcterms:modified>
</cp:coreProperties>
</file>