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9" r:id="rId11"/>
    <p:sldId id="270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31C6"/>
    <a:srgbClr val="21FF46"/>
    <a:srgbClr val="4EB258"/>
    <a:srgbClr val="E89038"/>
    <a:srgbClr val="B9B9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4660"/>
  </p:normalViewPr>
  <p:slideViewPr>
    <p:cSldViewPr snapToGrid="0">
      <p:cViewPr varScale="1">
        <p:scale>
          <a:sx n="77" d="100"/>
          <a:sy n="77" d="100"/>
        </p:scale>
        <p:origin x="59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g"/><Relationship Id="rId4" Type="http://schemas.openxmlformats.org/officeDocument/2006/relationships/image" Target="../media/image1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24.jpg"/><Relationship Id="rId7" Type="http://schemas.openxmlformats.org/officeDocument/2006/relationships/image" Target="../media/image28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25.jpg"/><Relationship Id="rId9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4" Type="http://schemas.openxmlformats.org/officeDocument/2006/relationships/image" Target="../media/image1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Fondo Sueño Educación Silueta Libro Color Bloque Aprender Geométrico para  Power Point y Diapositivas - Slidesdocs">
            <a:extLst>
              <a:ext uri="{FF2B5EF4-FFF2-40B4-BE49-F238E27FC236}">
                <a16:creationId xmlns:a16="http://schemas.microsoft.com/office/drawing/2014/main" id="{99721548-608D-458B-8A4A-094393B7C4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1028" name="Picture 4" descr="libro abierto dibujos animados 35402595 Vector en Vecteezy">
            <a:extLst>
              <a:ext uri="{FF2B5EF4-FFF2-40B4-BE49-F238E27FC236}">
                <a16:creationId xmlns:a16="http://schemas.microsoft.com/office/drawing/2014/main" id="{E1368381-C285-4271-ABA2-2BADFFCE74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04" b="20000"/>
          <a:stretch/>
        </p:blipFill>
        <p:spPr bwMode="auto">
          <a:xfrm>
            <a:off x="-191935" y="241852"/>
            <a:ext cx="12575869" cy="637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62B175B6-7D43-4A15-8F39-F9FC77D05C37}"/>
              </a:ext>
            </a:extLst>
          </p:cNvPr>
          <p:cNvSpPr txBox="1">
            <a:spLocks/>
          </p:cNvSpPr>
          <p:nvPr/>
        </p:nvSpPr>
        <p:spPr>
          <a:xfrm>
            <a:off x="2425147" y="3505200"/>
            <a:ext cx="5446644" cy="211835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4400" b="1" dirty="0"/>
              <a:t>ENTRE VOCES:</a:t>
            </a:r>
            <a:endParaRPr lang="es-CO" sz="4400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5C2E4F88-A180-43CD-AE0F-62BDC5033F1E}"/>
              </a:ext>
            </a:extLst>
          </p:cNvPr>
          <p:cNvSpPr txBox="1">
            <a:spLocks/>
          </p:cNvSpPr>
          <p:nvPr/>
        </p:nvSpPr>
        <p:spPr>
          <a:xfrm>
            <a:off x="3646953" y="1389822"/>
            <a:ext cx="5036298" cy="146304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4400" b="1" dirty="0"/>
              <a:t>I.E.M MONTESSORI </a:t>
            </a:r>
          </a:p>
          <a:p>
            <a:pPr algn="ctr"/>
            <a:r>
              <a:rPr lang="es-CO" sz="4400" b="1" dirty="0"/>
              <a:t>Sede Jardín </a:t>
            </a:r>
          </a:p>
          <a:p>
            <a:endParaRPr lang="es-CO" sz="4400" dirty="0"/>
          </a:p>
        </p:txBody>
      </p:sp>
      <p:pic>
        <p:nvPicPr>
          <p:cNvPr id="1030" name="Picture 6" descr="Archivo:Escudo IEM Montessori Pitalito.svg - Wikipedia, la enciclopedia  libre">
            <a:extLst>
              <a:ext uri="{FF2B5EF4-FFF2-40B4-BE49-F238E27FC236}">
                <a16:creationId xmlns:a16="http://schemas.microsoft.com/office/drawing/2014/main" id="{98E0535D-CE37-4357-9F6B-47E930D35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7" y="241852"/>
            <a:ext cx="1132855" cy="1433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1EAF385-32D4-4DD0-8AA5-30BBA0977D9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EDE6DC"/>
              </a:clrFrom>
              <a:clrTo>
                <a:srgbClr val="EDE6D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12316" y="3612602"/>
            <a:ext cx="3579684" cy="357968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CC6F9D5-947F-413D-A437-08522B33BB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78" y="4564380"/>
            <a:ext cx="2451628" cy="21183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96B323A-ADBD-4B17-A585-12875EEC115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8019" b="42802"/>
          <a:stretch/>
        </p:blipFill>
        <p:spPr>
          <a:xfrm>
            <a:off x="338137" y="3227070"/>
            <a:ext cx="2260247" cy="14630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433A3D63-FF18-47A7-B29C-7AD4163B1D9E}"/>
              </a:ext>
            </a:extLst>
          </p:cNvPr>
          <p:cNvSpPr/>
          <p:nvPr/>
        </p:nvSpPr>
        <p:spPr>
          <a:xfrm>
            <a:off x="6463277" y="3505200"/>
            <a:ext cx="35884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600" dirty="0"/>
              <a:t>Lectura y oralidad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C894016-953E-4AF0-BB28-669B83F28B4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2985"/>
          <a:stretch/>
        </p:blipFill>
        <p:spPr>
          <a:xfrm>
            <a:off x="8448783" y="1967746"/>
            <a:ext cx="3114860" cy="16136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6460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4C251-A4A9-4202-B567-D6CA877C6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fundamentación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F9388E4-B972-4F80-85E5-A76F0248FD3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DE6DC"/>
              </a:clrFrom>
              <a:clrTo>
                <a:srgbClr val="EDE6D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43164" y="4124610"/>
            <a:ext cx="3002071" cy="3002071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7EE054EF-6E32-4CE7-8E33-0334D919F30F}"/>
              </a:ext>
            </a:extLst>
          </p:cNvPr>
          <p:cNvSpPr/>
          <p:nvPr/>
        </p:nvSpPr>
        <p:spPr>
          <a:xfrm>
            <a:off x="387627" y="2084832"/>
            <a:ext cx="3733800" cy="26883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2800" b="1" dirty="0"/>
              <a:t>- PEI</a:t>
            </a:r>
          </a:p>
          <a:p>
            <a:r>
              <a:rPr lang="es-CO" sz="2800" b="1" dirty="0"/>
              <a:t>- Misión </a:t>
            </a:r>
          </a:p>
          <a:p>
            <a:r>
              <a:rPr lang="es-CO" sz="2800" b="1" dirty="0"/>
              <a:t>- Visión</a:t>
            </a:r>
          </a:p>
          <a:p>
            <a:r>
              <a:rPr lang="es-CO" sz="2800" b="1" dirty="0"/>
              <a:t>- Principios sociológicos</a:t>
            </a:r>
          </a:p>
          <a:p>
            <a:r>
              <a:rPr lang="es-CO" sz="2800" b="1" dirty="0"/>
              <a:t>- Competencias socio-emocionales </a:t>
            </a:r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9B8EB766-8595-41D9-B36F-56FC0F4B8649}"/>
              </a:ext>
            </a:extLst>
          </p:cNvPr>
          <p:cNvSpPr/>
          <p:nvPr/>
        </p:nvSpPr>
        <p:spPr>
          <a:xfrm>
            <a:off x="2266122" y="2729948"/>
            <a:ext cx="2252869" cy="18553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9A2A77F-80BF-4ABC-8291-D1C1A5B03CEC}"/>
              </a:ext>
            </a:extLst>
          </p:cNvPr>
          <p:cNvSpPr/>
          <p:nvPr/>
        </p:nvSpPr>
        <p:spPr>
          <a:xfrm>
            <a:off x="4518991" y="2499547"/>
            <a:ext cx="52924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dirty="0">
                <a:solidFill>
                  <a:schemeClr val="accent5"/>
                </a:solidFill>
              </a:rPr>
              <a:t>Propende la formación integral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7C143A5-F0EB-4B64-BFFE-13A8027B64B1}"/>
              </a:ext>
            </a:extLst>
          </p:cNvPr>
          <p:cNvSpPr/>
          <p:nvPr/>
        </p:nvSpPr>
        <p:spPr>
          <a:xfrm>
            <a:off x="4518991" y="2953010"/>
            <a:ext cx="720113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dirty="0">
                <a:solidFill>
                  <a:schemeClr val="accent3">
                    <a:lumMod val="50000"/>
                  </a:schemeClr>
                </a:solidFill>
              </a:rPr>
              <a:t>Formación en valores culturales y artísticos </a:t>
            </a: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B36A1CA-2CEC-4C37-9CAA-9FECA4484B5A}"/>
              </a:ext>
            </a:extLst>
          </p:cNvPr>
          <p:cNvSpPr/>
          <p:nvPr/>
        </p:nvSpPr>
        <p:spPr>
          <a:xfrm>
            <a:off x="2266122" y="3177087"/>
            <a:ext cx="2252869" cy="185530"/>
          </a:xfrm>
          <a:prstGeom prst="rightArrow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66BD6B2-BD14-4C34-8E25-0F1B8234FFFE}"/>
              </a:ext>
            </a:extLst>
          </p:cNvPr>
          <p:cNvSpPr/>
          <p:nvPr/>
        </p:nvSpPr>
        <p:spPr>
          <a:xfrm>
            <a:off x="5126845" y="3367725"/>
            <a:ext cx="29393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dirty="0">
                <a:solidFill>
                  <a:srgbClr val="E89038"/>
                </a:solidFill>
              </a:rPr>
              <a:t>Interacción social</a:t>
            </a:r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799EE85C-B79A-4165-809A-047B10397A6B}"/>
              </a:ext>
            </a:extLst>
          </p:cNvPr>
          <p:cNvSpPr/>
          <p:nvPr/>
        </p:nvSpPr>
        <p:spPr>
          <a:xfrm>
            <a:off x="4097491" y="3592736"/>
            <a:ext cx="1098108" cy="158974"/>
          </a:xfrm>
          <a:prstGeom prst="rightArrow">
            <a:avLst/>
          </a:prstGeom>
          <a:solidFill>
            <a:srgbClr val="E89038"/>
          </a:solidFill>
          <a:ln>
            <a:solidFill>
              <a:srgbClr val="E89038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E89038"/>
              </a:solidFill>
              <a:highlight>
                <a:srgbClr val="E89038"/>
              </a:highlight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E990436-88E9-44AF-8A1B-A3C021012EEB}"/>
              </a:ext>
            </a:extLst>
          </p:cNvPr>
          <p:cNvSpPr/>
          <p:nvPr/>
        </p:nvSpPr>
        <p:spPr>
          <a:xfrm>
            <a:off x="5126845" y="3837993"/>
            <a:ext cx="498614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dirty="0">
                <a:solidFill>
                  <a:srgbClr val="EF31C6"/>
                </a:solidFill>
              </a:rPr>
              <a:t>Habilidades para manejar las emociones y tomar decisiones responsables </a:t>
            </a: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68EC1FA9-C042-4D09-AEF0-32B0F5B45F26}"/>
              </a:ext>
            </a:extLst>
          </p:cNvPr>
          <p:cNvSpPr/>
          <p:nvPr/>
        </p:nvSpPr>
        <p:spPr>
          <a:xfrm>
            <a:off x="3848669" y="4058814"/>
            <a:ext cx="1278176" cy="158975"/>
          </a:xfrm>
          <a:prstGeom prst="rightArrow">
            <a:avLst/>
          </a:prstGeom>
          <a:solidFill>
            <a:srgbClr val="EF31C6"/>
          </a:solidFill>
          <a:ln>
            <a:solidFill>
              <a:srgbClr val="EF31C6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EF31C6"/>
              </a:solidFill>
              <a:highlight>
                <a:srgbClr val="E89038"/>
              </a:highlight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E64839A-8C62-6A59-90F3-8A94A957F52A}"/>
              </a:ext>
            </a:extLst>
          </p:cNvPr>
          <p:cNvSpPr txBox="1"/>
          <p:nvPr/>
        </p:nvSpPr>
        <p:spPr>
          <a:xfrm>
            <a:off x="387625" y="5704592"/>
            <a:ext cx="26927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Referente conceptual </a:t>
            </a:r>
            <a:endParaRPr lang="es-CO" sz="2000" b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02A4598-5DFC-F5D6-A155-867EBF7FAE47}"/>
              </a:ext>
            </a:extLst>
          </p:cNvPr>
          <p:cNvSpPr txBox="1"/>
          <p:nvPr/>
        </p:nvSpPr>
        <p:spPr>
          <a:xfrm>
            <a:off x="2973205" y="5954212"/>
            <a:ext cx="61251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s-CO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ablar es también una forma de aprender y pensar</a:t>
            </a:r>
            <a:r>
              <a:rPr lang="es-CO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s-CO" sz="20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6179507-BAAE-2D19-D9A6-FA02A6390C9E}"/>
              </a:ext>
            </a:extLst>
          </p:cNvPr>
          <p:cNvSpPr txBox="1"/>
          <p:nvPr/>
        </p:nvSpPr>
        <p:spPr>
          <a:xfrm>
            <a:off x="1005801" y="6104702"/>
            <a:ext cx="14564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 Vygotsky</a:t>
            </a:r>
            <a:endParaRPr lang="es-CO" i="1" dirty="0"/>
          </a:p>
        </p:txBody>
      </p:sp>
      <p:sp>
        <p:nvSpPr>
          <p:cNvPr id="19" name="Abrir llave 18">
            <a:extLst>
              <a:ext uri="{FF2B5EF4-FFF2-40B4-BE49-F238E27FC236}">
                <a16:creationId xmlns:a16="http://schemas.microsoft.com/office/drawing/2014/main" id="{3E0D4DC4-6C64-E04B-EDEA-586701FE4937}"/>
              </a:ext>
            </a:extLst>
          </p:cNvPr>
          <p:cNvSpPr/>
          <p:nvPr/>
        </p:nvSpPr>
        <p:spPr>
          <a:xfrm>
            <a:off x="2594233" y="5937996"/>
            <a:ext cx="630990" cy="400110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72197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B3C076-7347-481F-9E4F-BEFF3CB15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Pertinencia</a:t>
            </a:r>
            <a:r>
              <a:rPr lang="es-CO" dirty="0"/>
              <a:t>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8B9B368-BAB4-4EAF-BC21-21222F1639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729"/>
          <a:stretch/>
        </p:blipFill>
        <p:spPr>
          <a:xfrm>
            <a:off x="7177487" y="3924777"/>
            <a:ext cx="4103425" cy="24088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C90B643-EB48-44DC-9632-31AFEA527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060" y="3924777"/>
            <a:ext cx="3264087" cy="24480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9F3270C1-655E-44D8-B831-6F76A9B6CB05}"/>
              </a:ext>
            </a:extLst>
          </p:cNvPr>
          <p:cNvSpPr/>
          <p:nvPr/>
        </p:nvSpPr>
        <p:spPr>
          <a:xfrm>
            <a:off x="212033" y="2032339"/>
            <a:ext cx="5420140" cy="149961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CO" sz="2400" dirty="0"/>
              <a:t>La experiencia surge de la necesidad de implementar estrategias para el mejoramiento de los procesos comunicativos de los estudiantes</a:t>
            </a:r>
            <a:r>
              <a:rPr lang="es-CO" sz="2000" dirty="0"/>
              <a:t>.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D5D691A-051A-4C41-AEC9-121A3747232C}"/>
              </a:ext>
            </a:extLst>
          </p:cNvPr>
          <p:cNvSpPr/>
          <p:nvPr/>
        </p:nvSpPr>
        <p:spPr>
          <a:xfrm>
            <a:off x="6519129" y="2158692"/>
            <a:ext cx="5420140" cy="124691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CO" sz="2400" dirty="0"/>
              <a:t>La lectura como área fundamental en los estudiantes carecía en la sede de oportunidades para potenciarse.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4DCF553-1062-4E86-9D06-C761EA3D315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EDE6DC"/>
              </a:clrFrom>
              <a:clrTo>
                <a:srgbClr val="EDE6D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83128" y="4190871"/>
            <a:ext cx="3002071" cy="300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21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CECEBE-2CD7-43A7-9216-D8570BED5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CONSISTENCIA</a:t>
            </a:r>
            <a:r>
              <a:rPr lang="es-CO" dirty="0"/>
              <a:t> </a:t>
            </a:r>
            <a:r>
              <a:rPr lang="es-CO" i="1" dirty="0"/>
              <a:t>(PEI)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D84ED51A-8740-4741-8788-6C4DA0E84B94}"/>
              </a:ext>
            </a:extLst>
          </p:cNvPr>
          <p:cNvSpPr/>
          <p:nvPr/>
        </p:nvSpPr>
        <p:spPr>
          <a:xfrm>
            <a:off x="130637" y="2084832"/>
            <a:ext cx="3672738" cy="10592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b="1" dirty="0"/>
              <a:t>METODOLOGÍA</a:t>
            </a:r>
          </a:p>
          <a:p>
            <a:pPr algn="ctr"/>
            <a:r>
              <a:rPr lang="es-CO" sz="2800" dirty="0"/>
              <a:t>(ABP)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86728D1-41C0-477A-B63D-A4D4C151A35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DE6DC"/>
              </a:clrFrom>
              <a:clrTo>
                <a:srgbClr val="EDE6D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66836" y="1753554"/>
            <a:ext cx="3002071" cy="3002071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FBCBC091-C2A4-4845-BFAD-E90E9B52AA81}"/>
              </a:ext>
            </a:extLst>
          </p:cNvPr>
          <p:cNvSpPr/>
          <p:nvPr/>
        </p:nvSpPr>
        <p:spPr>
          <a:xfrm>
            <a:off x="4696866" y="1428515"/>
            <a:ext cx="5353878" cy="2593427"/>
          </a:xfrm>
          <a:prstGeom prst="ellipse">
            <a:avLst/>
          </a:prstGeom>
          <a:solidFill>
            <a:srgbClr val="E89038"/>
          </a:solidFill>
          <a:ln>
            <a:solidFill>
              <a:srgbClr val="E890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b="1" dirty="0"/>
              <a:t>RESULTADOS</a:t>
            </a:r>
          </a:p>
          <a:p>
            <a:pPr algn="ctr"/>
            <a:r>
              <a:rPr lang="es-CO" sz="2800" dirty="0"/>
              <a:t>(Manifestación de emociones, comprensión lectora, oralidad, escucha activa y familias vinculadas 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9BC53D7F-B0D0-4A17-8066-09F453AF9CC2}"/>
              </a:ext>
            </a:extLst>
          </p:cNvPr>
          <p:cNvSpPr/>
          <p:nvPr/>
        </p:nvSpPr>
        <p:spPr>
          <a:xfrm>
            <a:off x="130637" y="3484798"/>
            <a:ext cx="3920160" cy="2317863"/>
          </a:xfrm>
          <a:prstGeom prst="ellipse">
            <a:avLst/>
          </a:prstGeom>
          <a:solidFill>
            <a:srgbClr val="4EB258"/>
          </a:solidFill>
          <a:ln>
            <a:solidFill>
              <a:srgbClr val="4EB2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b="1" dirty="0"/>
              <a:t>EXTRATEGÍAS</a:t>
            </a:r>
          </a:p>
          <a:p>
            <a:pPr algn="ctr"/>
            <a:r>
              <a:rPr lang="es-CO" sz="2800" dirty="0"/>
              <a:t>(Tertulias literarias, danzas, teatro, música y arte)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BD76641-9960-4FCE-8B9F-4DA36FCDB3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368"/>
          <a:stretch/>
        </p:blipFill>
        <p:spPr>
          <a:xfrm>
            <a:off x="4212735" y="4177869"/>
            <a:ext cx="2571750" cy="25934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C2D90B2-4E1D-40AD-9355-BE7C2DA0A17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0400"/>
          <a:stretch/>
        </p:blipFill>
        <p:spPr>
          <a:xfrm>
            <a:off x="7682320" y="4424347"/>
            <a:ext cx="4246522" cy="21004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720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FF67B-4B62-4E88-9AA8-019DDC86B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Madurez </a:t>
            </a:r>
            <a:r>
              <a:rPr lang="es-CO" dirty="0"/>
              <a:t>(2019-2025)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EEAE727-09C6-45F2-8B0C-AF20E36A309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DE6DC"/>
              </a:clrFrom>
              <a:clrTo>
                <a:srgbClr val="EDE6D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73194" y="4190871"/>
            <a:ext cx="3002071" cy="3002071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B7CC18F1-AD73-4205-9571-C691653988D2}"/>
              </a:ext>
            </a:extLst>
          </p:cNvPr>
          <p:cNvSpPr/>
          <p:nvPr/>
        </p:nvSpPr>
        <p:spPr>
          <a:xfrm>
            <a:off x="725086" y="2168356"/>
            <a:ext cx="1069828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dirty="0"/>
              <a:t>Escritores</a:t>
            </a:r>
            <a:r>
              <a:rPr lang="es-CO" sz="3200" dirty="0"/>
              <a:t> </a:t>
            </a:r>
            <a:r>
              <a:rPr lang="es-CO" sz="3200" i="1" dirty="0"/>
              <a:t>(Gerardo Meneses Claros, Celso </a:t>
            </a:r>
            <a:r>
              <a:rPr lang="es-CO" sz="3200" i="1" dirty="0" err="1"/>
              <a:t>Roman</a:t>
            </a:r>
            <a:r>
              <a:rPr lang="es-CO" sz="3200" i="1" dirty="0"/>
              <a:t>, </a:t>
            </a:r>
            <a:r>
              <a:rPr lang="es-CO" sz="3200" i="1" dirty="0" err="1"/>
              <a:t>Jose</a:t>
            </a:r>
            <a:r>
              <a:rPr lang="es-CO" sz="3200" i="1" dirty="0"/>
              <a:t> Israel Muñoz Valderrama y Julia Mercedes Castillo)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C65697A-A3EA-4317-AEE5-5A689DBE94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451"/>
          <a:stretch/>
        </p:blipFill>
        <p:spPr>
          <a:xfrm>
            <a:off x="515412" y="3733160"/>
            <a:ext cx="3867716" cy="25396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2F32DBB-308A-4A09-990A-536217979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053" y="3612427"/>
            <a:ext cx="1877421" cy="24954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DD1ECE1-3179-4008-94CF-09209D410F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9220" y="4190871"/>
            <a:ext cx="1871573" cy="24954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38750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92F15-3846-4914-9962-974025AAD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empoderamiento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B75CD58-32AB-401C-88BF-C34BDB8243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895" b="16181"/>
          <a:stretch/>
        </p:blipFill>
        <p:spPr>
          <a:xfrm>
            <a:off x="7673006" y="4277129"/>
            <a:ext cx="4094923" cy="22396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AC870CA-4687-43E2-A3CE-43CA4BAE1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7" y="3750365"/>
            <a:ext cx="3935896" cy="29519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0BF9BC3-F6E2-4729-BD26-DA6CA80E88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5047" y="1204306"/>
            <a:ext cx="3670840" cy="27531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D7228EE-DC78-409B-A824-FECC5B518478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EDE6DC"/>
              </a:clrFrom>
              <a:clrTo>
                <a:srgbClr val="EDE6D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73194" y="4190871"/>
            <a:ext cx="3002071" cy="3002071"/>
          </a:xfrm>
          <a:prstGeom prst="rect">
            <a:avLst/>
          </a:prstGeom>
        </p:spPr>
      </p:pic>
      <p:sp>
        <p:nvSpPr>
          <p:cNvPr id="4" name="Diagrama de flujo: proceso alternativo 3">
            <a:extLst>
              <a:ext uri="{FF2B5EF4-FFF2-40B4-BE49-F238E27FC236}">
                <a16:creationId xmlns:a16="http://schemas.microsoft.com/office/drawing/2014/main" id="{8DA7D975-9466-E363-3A1F-717B292EB381}"/>
              </a:ext>
            </a:extLst>
          </p:cNvPr>
          <p:cNvSpPr/>
          <p:nvPr/>
        </p:nvSpPr>
        <p:spPr>
          <a:xfrm>
            <a:off x="1724175" y="2213604"/>
            <a:ext cx="2582779" cy="616165"/>
          </a:xfrm>
          <a:prstGeom prst="flowChartAlternate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800" b="1" dirty="0"/>
              <a:t>Involucrados </a:t>
            </a:r>
          </a:p>
        </p:txBody>
      </p:sp>
    </p:spTree>
    <p:extLst>
      <p:ext uri="{BB962C8B-B14F-4D97-AF65-F5344CB8AC3E}">
        <p14:creationId xmlns:p14="http://schemas.microsoft.com/office/powerpoint/2010/main" val="3800267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274498-EBCD-47AD-873C-E801C4286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Evaluación y seguimiento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1422CC5-F062-4243-A9B2-0CCF9EECDB3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DE6DC"/>
              </a:clrFrom>
              <a:clrTo>
                <a:srgbClr val="EDE6D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73194" y="4190871"/>
            <a:ext cx="3002071" cy="3002071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99BB52FC-54DA-4094-A074-EF8D53A5D8AB}"/>
              </a:ext>
            </a:extLst>
          </p:cNvPr>
          <p:cNvSpPr/>
          <p:nvPr/>
        </p:nvSpPr>
        <p:spPr>
          <a:xfrm>
            <a:off x="725086" y="2168356"/>
            <a:ext cx="928030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dirty="0"/>
              <a:t>- </a:t>
            </a:r>
            <a:r>
              <a:rPr lang="es-CO" sz="3200" b="1" dirty="0"/>
              <a:t>Metodología</a:t>
            </a:r>
            <a:r>
              <a:rPr lang="es-CO" sz="3200" dirty="0"/>
              <a:t> </a:t>
            </a:r>
            <a:r>
              <a:rPr lang="es-CO" sz="3200" i="1" dirty="0"/>
              <a:t>(ABP)</a:t>
            </a:r>
          </a:p>
          <a:p>
            <a:r>
              <a:rPr lang="es-CO" sz="3200" dirty="0"/>
              <a:t>-</a:t>
            </a:r>
            <a:r>
              <a:rPr lang="es-CO" sz="3200" b="1" dirty="0"/>
              <a:t> Estrategias</a:t>
            </a:r>
            <a:r>
              <a:rPr lang="es-CO" sz="3200" b="1" i="1" dirty="0"/>
              <a:t> </a:t>
            </a:r>
            <a:r>
              <a:rPr lang="es-CO" sz="3200" i="1" dirty="0"/>
              <a:t>(Tertulias literarias, danzas, teatro, música y arte) </a:t>
            </a:r>
          </a:p>
          <a:p>
            <a:r>
              <a:rPr lang="es-CO" sz="3200" dirty="0"/>
              <a:t>- </a:t>
            </a:r>
            <a:r>
              <a:rPr lang="es-CO" sz="3200" b="1" dirty="0"/>
              <a:t>Instrumentos</a:t>
            </a:r>
            <a:r>
              <a:rPr lang="es-CO" sz="3200" dirty="0"/>
              <a:t> </a:t>
            </a:r>
            <a:r>
              <a:rPr lang="es-CO" sz="3200" i="1" dirty="0"/>
              <a:t>(lista de cotejos, rúbricas)</a:t>
            </a:r>
          </a:p>
          <a:p>
            <a:r>
              <a:rPr lang="es-CO" sz="3200" i="1" dirty="0"/>
              <a:t>- </a:t>
            </a:r>
            <a:r>
              <a:rPr lang="es-CO" sz="3200" b="1" i="1" dirty="0"/>
              <a:t>Registro y a</a:t>
            </a:r>
            <a:r>
              <a:rPr lang="es-CO" sz="3200" b="1" dirty="0"/>
              <a:t>nálisis </a:t>
            </a:r>
            <a:r>
              <a:rPr lang="es-CO" sz="3200" i="1" dirty="0"/>
              <a:t>(actas e informes)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56AB9A5-849C-40BD-AEC0-C20E040FD45C}"/>
              </a:ext>
            </a:extLst>
          </p:cNvPr>
          <p:cNvSpPr/>
          <p:nvPr/>
        </p:nvSpPr>
        <p:spPr>
          <a:xfrm>
            <a:off x="1404731" y="4678018"/>
            <a:ext cx="2027582" cy="1722783"/>
          </a:xfrm>
          <a:prstGeom prst="ellipse">
            <a:avLst/>
          </a:prstGeom>
          <a:solidFill>
            <a:srgbClr val="EF31C6"/>
          </a:solidFill>
          <a:ln>
            <a:solidFill>
              <a:srgbClr val="EF31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b="1" dirty="0"/>
              <a:t>Tertulia el poder del amor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CB2E780-E81A-4C19-B5E9-81CFE5593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9069" y="327555"/>
            <a:ext cx="1975975" cy="35145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E0716AF-1E53-4DEA-9117-0BB19523D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3225" y="3445628"/>
            <a:ext cx="2327995" cy="30943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65A129E-015E-4773-AD97-2317E92D41F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4347"/>
          <a:stretch/>
        </p:blipFill>
        <p:spPr>
          <a:xfrm>
            <a:off x="9619566" y="4033508"/>
            <a:ext cx="2335406" cy="26671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990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30444-BB96-4906-AB80-1E18DC394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resultados</a:t>
            </a:r>
          </a:p>
        </p:txBody>
      </p:sp>
      <p:sp>
        <p:nvSpPr>
          <p:cNvPr id="3" name="Globo: línea doblada doble 2">
            <a:extLst>
              <a:ext uri="{FF2B5EF4-FFF2-40B4-BE49-F238E27FC236}">
                <a16:creationId xmlns:a16="http://schemas.microsoft.com/office/drawing/2014/main" id="{66B8A764-FBFA-4E86-9251-731B721875E0}"/>
              </a:ext>
            </a:extLst>
          </p:cNvPr>
          <p:cNvSpPr/>
          <p:nvPr/>
        </p:nvSpPr>
        <p:spPr>
          <a:xfrm>
            <a:off x="755374" y="2279374"/>
            <a:ext cx="2213113" cy="689113"/>
          </a:xfrm>
          <a:prstGeom prst="borderCallout3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b="1" dirty="0"/>
              <a:t>CORTO</a:t>
            </a:r>
          </a:p>
        </p:txBody>
      </p:sp>
      <p:sp>
        <p:nvSpPr>
          <p:cNvPr id="4" name="Globo: línea doblada doble 3">
            <a:extLst>
              <a:ext uri="{FF2B5EF4-FFF2-40B4-BE49-F238E27FC236}">
                <a16:creationId xmlns:a16="http://schemas.microsoft.com/office/drawing/2014/main" id="{2C3710FF-3B3A-425B-AD5F-898C781A6D73}"/>
              </a:ext>
            </a:extLst>
          </p:cNvPr>
          <p:cNvSpPr/>
          <p:nvPr/>
        </p:nvSpPr>
        <p:spPr>
          <a:xfrm>
            <a:off x="755371" y="3661973"/>
            <a:ext cx="2213113" cy="689113"/>
          </a:xfrm>
          <a:prstGeom prst="borderCallout3">
            <a:avLst/>
          </a:prstGeom>
          <a:solidFill>
            <a:srgbClr val="EF31C6"/>
          </a:solidFill>
          <a:ln>
            <a:solidFill>
              <a:srgbClr val="EF31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b="1" dirty="0"/>
              <a:t>MEDIANO</a:t>
            </a:r>
          </a:p>
        </p:txBody>
      </p:sp>
      <p:sp>
        <p:nvSpPr>
          <p:cNvPr id="5" name="Globo: línea doblada doble 4">
            <a:extLst>
              <a:ext uri="{FF2B5EF4-FFF2-40B4-BE49-F238E27FC236}">
                <a16:creationId xmlns:a16="http://schemas.microsoft.com/office/drawing/2014/main" id="{7B20323F-C65E-436C-A283-ACAD4C9070E0}"/>
              </a:ext>
            </a:extLst>
          </p:cNvPr>
          <p:cNvSpPr/>
          <p:nvPr/>
        </p:nvSpPr>
        <p:spPr>
          <a:xfrm>
            <a:off x="755370" y="5054448"/>
            <a:ext cx="2213113" cy="689113"/>
          </a:xfrm>
          <a:prstGeom prst="borderCallout3">
            <a:avLst/>
          </a:prstGeom>
          <a:solidFill>
            <a:srgbClr val="21FF46"/>
          </a:solidFill>
          <a:ln>
            <a:solidFill>
              <a:srgbClr val="4EB2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b="1" dirty="0"/>
              <a:t>LARGO</a:t>
            </a:r>
          </a:p>
        </p:txBody>
      </p:sp>
      <p:sp>
        <p:nvSpPr>
          <p:cNvPr id="6" name="Abrir llave 5">
            <a:extLst>
              <a:ext uri="{FF2B5EF4-FFF2-40B4-BE49-F238E27FC236}">
                <a16:creationId xmlns:a16="http://schemas.microsoft.com/office/drawing/2014/main" id="{5016DE94-1C4B-4CF6-8289-2B2CBC8883F6}"/>
              </a:ext>
            </a:extLst>
          </p:cNvPr>
          <p:cNvSpPr/>
          <p:nvPr/>
        </p:nvSpPr>
        <p:spPr>
          <a:xfrm>
            <a:off x="3140765" y="2121922"/>
            <a:ext cx="689114" cy="1077059"/>
          </a:xfrm>
          <a:prstGeom prst="lef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74DE712-1495-456F-AFA3-6FA65F3196DB}"/>
              </a:ext>
            </a:extLst>
          </p:cNvPr>
          <p:cNvSpPr/>
          <p:nvPr/>
        </p:nvSpPr>
        <p:spPr>
          <a:xfrm>
            <a:off x="3601246" y="2182226"/>
            <a:ext cx="503419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200" dirty="0"/>
              <a:t>- Mejorar la expresión oral</a:t>
            </a:r>
          </a:p>
          <a:p>
            <a:r>
              <a:rPr lang="es-CO" sz="2200" dirty="0"/>
              <a:t>- Incremento de participación estudiantil</a:t>
            </a:r>
          </a:p>
          <a:p>
            <a:r>
              <a:rPr lang="es-CO" sz="2200" dirty="0"/>
              <a:t>- Fortalecimiento de la convivencia escolar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EF737B4-2286-440D-95CC-584C4AEC0481}"/>
              </a:ext>
            </a:extLst>
          </p:cNvPr>
          <p:cNvSpPr/>
          <p:nvPr/>
        </p:nvSpPr>
        <p:spPr>
          <a:xfrm>
            <a:off x="3601246" y="4857650"/>
            <a:ext cx="475232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200" dirty="0"/>
              <a:t>- Fortalecer un pensamiento crítico </a:t>
            </a:r>
          </a:p>
          <a:p>
            <a:r>
              <a:rPr lang="es-CO" sz="2200" dirty="0"/>
              <a:t>- Consolidación institucional del proyecto</a:t>
            </a:r>
          </a:p>
          <a:p>
            <a:r>
              <a:rPr lang="es-CO" sz="2200" dirty="0"/>
              <a:t>- Sostenibilidad e innovación  </a:t>
            </a:r>
          </a:p>
        </p:txBody>
      </p:sp>
      <p:sp>
        <p:nvSpPr>
          <p:cNvPr id="9" name="Abrir llave 8">
            <a:extLst>
              <a:ext uri="{FF2B5EF4-FFF2-40B4-BE49-F238E27FC236}">
                <a16:creationId xmlns:a16="http://schemas.microsoft.com/office/drawing/2014/main" id="{308273AC-978C-4859-A45B-C94D1BA2F8DE}"/>
              </a:ext>
            </a:extLst>
          </p:cNvPr>
          <p:cNvSpPr/>
          <p:nvPr/>
        </p:nvSpPr>
        <p:spPr>
          <a:xfrm>
            <a:off x="3213652" y="4860474"/>
            <a:ext cx="543340" cy="1077059"/>
          </a:xfrm>
          <a:prstGeom prst="leftBrace">
            <a:avLst/>
          </a:prstGeom>
          <a:ln>
            <a:solidFill>
              <a:srgbClr val="21FF46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0C7CB81-69A9-418D-9570-65638AF9CA0E}"/>
              </a:ext>
            </a:extLst>
          </p:cNvPr>
          <p:cNvSpPr/>
          <p:nvPr/>
        </p:nvSpPr>
        <p:spPr>
          <a:xfrm>
            <a:off x="3601246" y="3683070"/>
            <a:ext cx="686797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dirty="0"/>
              <a:t>- Mayor apropiación por parte de los docentes de la sede </a:t>
            </a:r>
          </a:p>
          <a:p>
            <a:r>
              <a:rPr lang="es-CO" sz="2200" dirty="0"/>
              <a:t>- Vinculación de las familias 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E39DEEE-28C1-49F6-A74F-15DFE75DE6C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DE6DC"/>
              </a:clrFrom>
              <a:clrTo>
                <a:srgbClr val="EDE6D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43164" y="4006529"/>
            <a:ext cx="3002071" cy="3002071"/>
          </a:xfrm>
          <a:prstGeom prst="rect">
            <a:avLst/>
          </a:prstGeom>
        </p:spPr>
      </p:pic>
      <p:sp>
        <p:nvSpPr>
          <p:cNvPr id="12" name="Abrir llave 11">
            <a:extLst>
              <a:ext uri="{FF2B5EF4-FFF2-40B4-BE49-F238E27FC236}">
                <a16:creationId xmlns:a16="http://schemas.microsoft.com/office/drawing/2014/main" id="{E65B0DBD-8FAA-4BDB-8087-D56D5597B51B}"/>
              </a:ext>
            </a:extLst>
          </p:cNvPr>
          <p:cNvSpPr/>
          <p:nvPr/>
        </p:nvSpPr>
        <p:spPr>
          <a:xfrm>
            <a:off x="3140764" y="3491198"/>
            <a:ext cx="689114" cy="1077059"/>
          </a:xfrm>
          <a:prstGeom prst="leftBrace">
            <a:avLst/>
          </a:prstGeom>
          <a:ln>
            <a:solidFill>
              <a:srgbClr val="EF31C6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EF31C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6411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/>
      <p:bldP spid="8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64BC03-5A7D-4690-BDC4-F49A12E52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TRANSFERENCIA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CF91FD6-10AF-4EC5-A502-1FC8581131F6}"/>
              </a:ext>
            </a:extLst>
          </p:cNvPr>
          <p:cNvSpPr/>
          <p:nvPr/>
        </p:nvSpPr>
        <p:spPr>
          <a:xfrm>
            <a:off x="1024128" y="2084832"/>
            <a:ext cx="273504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Tx/>
              <a:buChar char="-"/>
            </a:pPr>
            <a:r>
              <a:rPr lang="es-CO" sz="2400" dirty="0"/>
              <a:t>Medios Montessori</a:t>
            </a:r>
          </a:p>
          <a:p>
            <a:pPr marL="285750" indent="-285750">
              <a:buFontTx/>
              <a:buChar char="-"/>
            </a:pPr>
            <a:r>
              <a:rPr lang="es-CO" sz="2400" dirty="0"/>
              <a:t>Pagina web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C005E96-34B1-45F7-BA35-D1A447BEB44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DE6DC"/>
              </a:clrFrom>
              <a:clrTo>
                <a:srgbClr val="EDE6D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7101" y="4139050"/>
            <a:ext cx="3002071" cy="300207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EF149C2-E9C1-46A1-9C87-6506FCA2A2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79" b="4347"/>
          <a:stretch/>
        </p:blipFill>
        <p:spPr>
          <a:xfrm>
            <a:off x="8843839" y="1091183"/>
            <a:ext cx="2594560" cy="51816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49BAE93-927C-4210-8AD8-B10B90DAE40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896" b="6585"/>
          <a:stretch/>
        </p:blipFill>
        <p:spPr>
          <a:xfrm>
            <a:off x="5531882" y="770612"/>
            <a:ext cx="3002071" cy="58227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5824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A3D89D-F897-B1DF-78CB-0795454F1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Estructura para la transferencia </a:t>
            </a:r>
            <a:endParaRPr lang="es-CO" b="1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9A67692-8A4B-B493-1DFC-1DBD9B88B847}"/>
              </a:ext>
            </a:extLst>
          </p:cNvPr>
          <p:cNvSpPr/>
          <p:nvPr/>
        </p:nvSpPr>
        <p:spPr>
          <a:xfrm>
            <a:off x="457200" y="2084832"/>
            <a:ext cx="56388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3200" b="1" dirty="0"/>
              <a:t>Propuesta</a:t>
            </a:r>
          </a:p>
          <a:p>
            <a:pPr algn="just"/>
            <a:r>
              <a:rPr lang="es-CO" sz="2400" b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Contribuir al mejoramiento de las habilidades de lenguaje como leer, hablar y escuchar</a:t>
            </a:r>
            <a:r>
              <a:rPr lang="es-CO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s-CO" sz="2400" b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 través estrategias de lectura y oralidad por medio de libros de literatura infantil aportando a la educación de calidad en los estudiantes de la sede Jardín de la I.E.M Montessori de Pitalito.</a:t>
            </a:r>
            <a:endParaRPr lang="es-CO" sz="32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5CE8949-CF9A-FDA6-637F-742FC6D8F209}"/>
              </a:ext>
            </a:extLst>
          </p:cNvPr>
          <p:cNvSpPr/>
          <p:nvPr/>
        </p:nvSpPr>
        <p:spPr>
          <a:xfrm>
            <a:off x="7412228" y="2084832"/>
            <a:ext cx="38989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3200" b="1" dirty="0"/>
              <a:t>Desarrollo</a:t>
            </a:r>
          </a:p>
          <a:p>
            <a:pPr algn="just"/>
            <a:r>
              <a:rPr lang="es-CO" sz="2000" b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La experiencia surge de la necesidad de implementar estrategias para el mejoramiento de los procesos comunicativos.</a:t>
            </a:r>
            <a:r>
              <a:rPr lang="es-MX" sz="3600" b="1" dirty="0"/>
              <a:t> </a:t>
            </a:r>
            <a:endParaRPr lang="es-CO" sz="3600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06F9E46-E61C-1E30-1A20-FDA43CBAB05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DE6DC"/>
              </a:clrFrom>
              <a:clrTo>
                <a:srgbClr val="EDE6D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40958" y="4192059"/>
            <a:ext cx="3002071" cy="300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62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7903F5D-E2BA-0202-6830-5275C5E78163}"/>
              </a:ext>
            </a:extLst>
          </p:cNvPr>
          <p:cNvSpPr txBox="1"/>
          <p:nvPr/>
        </p:nvSpPr>
        <p:spPr>
          <a:xfrm>
            <a:off x="1178859" y="1017511"/>
            <a:ext cx="6096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METODOLOGÍA (ABP)</a:t>
            </a:r>
          </a:p>
          <a:p>
            <a:r>
              <a:rPr lang="es-CO" sz="2400" dirty="0">
                <a:latin typeface="Arial" panose="020B0604020202020204" pitchFamily="34" charset="0"/>
                <a:ea typeface="Arial" panose="020B0604020202020204" pitchFamily="34" charset="0"/>
              </a:rPr>
              <a:t>Estrategia: tertulias literarias</a:t>
            </a:r>
          </a:p>
          <a:p>
            <a:endParaRPr lang="es-CO" sz="24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s-CO" sz="24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s-CO" sz="2800" b="1" dirty="0">
                <a:latin typeface="Arial" panose="020B0604020202020204" pitchFamily="34" charset="0"/>
                <a:ea typeface="Arial" panose="020B0604020202020204" pitchFamily="34" charset="0"/>
              </a:rPr>
              <a:t>RESULTADOS</a:t>
            </a:r>
            <a:r>
              <a:rPr lang="es-CO" sz="2800" dirty="0"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</a:p>
          <a:p>
            <a:endParaRPr lang="es-CO" sz="24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s-CO" sz="24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s-CO" sz="24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s-CO" sz="2400" dirty="0"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s-CO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2F4BB13-FBF1-6BBC-4CE6-C44081FA7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133" y="3054833"/>
            <a:ext cx="2980767" cy="22355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F8CA910-2827-F8CD-A90D-5355EF212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210" y="3212836"/>
            <a:ext cx="2559424" cy="19195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3E4AA703-4843-D808-11F4-3BAD19BAB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940" y="3054833"/>
            <a:ext cx="2984111" cy="22380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C7D11D0-6AB4-538C-C082-E11A8BA80D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1617" y="381559"/>
            <a:ext cx="3000929" cy="22506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4897423F-7EC2-F8C0-E0A1-C021A7BA60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381560"/>
            <a:ext cx="3000929" cy="22506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C754E5AF-F62C-CCD9-6ED1-22F897B317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091" y="3054833"/>
            <a:ext cx="2980767" cy="22355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81D14D7E-522C-B221-5DB4-F8087ACDBA9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37296"/>
          <a:stretch/>
        </p:blipFill>
        <p:spPr>
          <a:xfrm>
            <a:off x="3891804" y="5265196"/>
            <a:ext cx="3189192" cy="14998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45126267-93E0-FC51-092A-DA3969756363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EDE6DC"/>
              </a:clrFrom>
              <a:clrTo>
                <a:srgbClr val="EDE6D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83605" y="4634706"/>
            <a:ext cx="2559424" cy="255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115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AFAB98-0C27-4B2D-B6BD-5C131167C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SOSTENIBILIDAD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F7FE210-0A2F-4EB6-B469-C3296B95F23A}"/>
              </a:ext>
            </a:extLst>
          </p:cNvPr>
          <p:cNvSpPr/>
          <p:nvPr/>
        </p:nvSpPr>
        <p:spPr>
          <a:xfrm>
            <a:off x="1024128" y="2084832"/>
            <a:ext cx="66824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800" dirty="0"/>
              <a:t>Espacios de retroalimentación y socialización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D2B8BA2-6391-4A4C-92C9-DD0202FBCD2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DE6DC"/>
              </a:clrFrom>
              <a:clrTo>
                <a:srgbClr val="EDE6D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40958" y="4192059"/>
            <a:ext cx="3002071" cy="300207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960BF90-6689-4B36-B1CF-B254C8EE5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70" y="2933236"/>
            <a:ext cx="4452730" cy="33395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3563A4C-7F8C-4A49-98AF-83CF3B573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8228" y="2933236"/>
            <a:ext cx="4452730" cy="33395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7313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5B9DE-997E-4420-AD2B-905B72144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INNOVACIÓN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D465F9-D002-4B3C-ADD5-F773275B33B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DE6DC"/>
              </a:clrFrom>
              <a:clrTo>
                <a:srgbClr val="EDE6D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78885" y="4130761"/>
            <a:ext cx="3002071" cy="3002071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1CAEB48-FCC6-4D32-B470-BF8311DA7066}"/>
              </a:ext>
            </a:extLst>
          </p:cNvPr>
          <p:cNvSpPr/>
          <p:nvPr/>
        </p:nvSpPr>
        <p:spPr>
          <a:xfrm>
            <a:off x="1024128" y="1897812"/>
            <a:ext cx="42691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800" dirty="0"/>
              <a:t>Música, danza, teatro y arte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62F39B5-82A4-4EE5-B2A3-E1696AE03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570" y="3042247"/>
            <a:ext cx="3321169" cy="22188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2F5727F-E239-4A88-93EF-25BC97E52A0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4753"/>
          <a:stretch/>
        </p:blipFill>
        <p:spPr>
          <a:xfrm>
            <a:off x="7050156" y="270209"/>
            <a:ext cx="4594603" cy="24570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4FE4642-D7B3-45B4-803E-5356354914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3974" y="3204376"/>
            <a:ext cx="2215455" cy="34289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9AD7FED-D646-4BA8-965A-45B3C7CEAF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161" y="2727240"/>
            <a:ext cx="3600672" cy="27005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5792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33548183-FC40-5BB3-B0BB-CA088C1C21DA}"/>
              </a:ext>
            </a:extLst>
          </p:cNvPr>
          <p:cNvSpPr/>
          <p:nvPr/>
        </p:nvSpPr>
        <p:spPr>
          <a:xfrm>
            <a:off x="893064" y="602910"/>
            <a:ext cx="1040587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sz="2800" dirty="0"/>
              <a:t>El equipo Entre Voces: lectura y oralidad agradece el apoyo de la rectora MARIA GINNA VARGAS ESCARRAGA, coordinador, maestros del PTA, estudiantes, padres de familia y a medios Montessori </a:t>
            </a:r>
            <a:endParaRPr lang="es-CO" sz="28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61B2D6A-38EA-266C-51BB-83DB238134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673" b="41743"/>
          <a:stretch/>
        </p:blipFill>
        <p:spPr>
          <a:xfrm>
            <a:off x="1596031" y="2089052"/>
            <a:ext cx="3949999" cy="26798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FF94B53-8DD2-316D-76FE-CEF746B8A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640" y="2621660"/>
            <a:ext cx="4232354" cy="31742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6725C51-3DF2-5FEB-3464-F728C9A7B42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2985"/>
          <a:stretch/>
        </p:blipFill>
        <p:spPr>
          <a:xfrm>
            <a:off x="1596031" y="4601526"/>
            <a:ext cx="3949998" cy="20462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64745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395</TotalTime>
  <Words>386</Words>
  <Application>Microsoft Office PowerPoint</Application>
  <PresentationFormat>Panorámica</PresentationFormat>
  <Paragraphs>71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Arial</vt:lpstr>
      <vt:lpstr>Calibri</vt:lpstr>
      <vt:lpstr>Times New Roman</vt:lpstr>
      <vt:lpstr>Tw Cen MT</vt:lpstr>
      <vt:lpstr>Tw Cen MT Condensed</vt:lpstr>
      <vt:lpstr>Wingdings 3</vt:lpstr>
      <vt:lpstr>Integral</vt:lpstr>
      <vt:lpstr>Presentación de PowerPoint</vt:lpstr>
      <vt:lpstr>fundamentación</vt:lpstr>
      <vt:lpstr>Pertinencia </vt:lpstr>
      <vt:lpstr>CONSISTENCIA (PEI) </vt:lpstr>
      <vt:lpstr>Madurez (2019-2025)</vt:lpstr>
      <vt:lpstr>empoderamiento</vt:lpstr>
      <vt:lpstr>Evaluación y seguimiento </vt:lpstr>
      <vt:lpstr>resultados</vt:lpstr>
      <vt:lpstr>TRANSFERENCIA</vt:lpstr>
      <vt:lpstr>Estructura para la transferencia </vt:lpstr>
      <vt:lpstr>Presentación de PowerPoint</vt:lpstr>
      <vt:lpstr>SOSTENIBILIDAD</vt:lpstr>
      <vt:lpstr>INNOVACIÓN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CALIDAD-MEJORAMIENTO</cp:lastModifiedBy>
  <cp:revision>60</cp:revision>
  <dcterms:created xsi:type="dcterms:W3CDTF">2025-09-07T18:43:18Z</dcterms:created>
  <dcterms:modified xsi:type="dcterms:W3CDTF">2025-12-01T22:01:48Z</dcterms:modified>
</cp:coreProperties>
</file>