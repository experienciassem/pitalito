
<file path=[Content_Types].xml><?xml version="1.0" encoding="utf-8"?>
<Types xmlns="http://schemas.openxmlformats.org/package/2006/content-types">
  <Default Extension="png" ContentType="image/png"/>
  <Default Extension="webp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png!sw800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8.webp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1.png!sw800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12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1.png!sw800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/>
          <p:cNvGrpSpPr/>
          <p:nvPr/>
        </p:nvGrpSpPr>
        <p:grpSpPr>
          <a:xfrm>
            <a:off x="-1" y="-114300"/>
            <a:ext cx="12192001" cy="7296150"/>
            <a:chOff x="-1" y="-114300"/>
            <a:chExt cx="12192001" cy="7296150"/>
          </a:xfrm>
        </p:grpSpPr>
        <p:pic>
          <p:nvPicPr>
            <p:cNvPr id="1028" name="Picture 4" descr="ANSL » Lanzan Desafío Maker: “Un espacio para la creación” para todas las  escuelas de la provincia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" y="0"/>
              <a:ext cx="10487025" cy="685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5D1E2251-D51D-E043-921A-7495EE8A48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094"/>
            <a:stretch/>
          </p:blipFill>
          <p:spPr>
            <a:xfrm>
              <a:off x="8658225" y="-114300"/>
              <a:ext cx="3533775" cy="7296150"/>
            </a:xfrm>
            <a:prstGeom prst="rect">
              <a:avLst/>
            </a:prstGeom>
            <a:effectLst>
              <a:softEdge rad="317500"/>
            </a:effectLst>
          </p:spPr>
        </p:pic>
      </p:grpSp>
      <p:sp>
        <p:nvSpPr>
          <p:cNvPr id="6" name="Rectángulo 5"/>
          <p:cNvSpPr/>
          <p:nvPr/>
        </p:nvSpPr>
        <p:spPr>
          <a:xfrm>
            <a:off x="2066925" y="4526572"/>
            <a:ext cx="5867400" cy="9026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66083" y="4584559"/>
            <a:ext cx="9144000" cy="978877"/>
          </a:xfrm>
        </p:spPr>
        <p:txBody>
          <a:bodyPr>
            <a:normAutofit fontScale="77500" lnSpcReduction="20000"/>
          </a:bodyPr>
          <a:lstStyle/>
          <a:p>
            <a:r>
              <a:rPr b="1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Experiencia</a:t>
            </a:r>
            <a:r>
              <a:rPr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b="1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Significativa</a:t>
            </a:r>
            <a:r>
              <a:rPr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</a:p>
          <a:p>
            <a:r>
              <a:rPr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Jairo Andrés </a:t>
            </a:r>
            <a:r>
              <a:rPr b="1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Cundar</a:t>
            </a:r>
            <a:r>
              <a:rPr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b="1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Checa</a:t>
            </a:r>
            <a:endParaRPr b="1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r>
              <a:rPr b="1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Institución</a:t>
            </a:r>
            <a:r>
              <a:rPr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b="1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Educativa</a:t>
            </a:r>
            <a:r>
              <a:rPr b="1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Municipal Domingo Savio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8730"/>
          <a:stretch/>
        </p:blipFill>
        <p:spPr>
          <a:xfrm>
            <a:off x="7010232" y="198806"/>
            <a:ext cx="1848186" cy="180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219219"/>
              </p:ext>
            </p:extLst>
          </p:nvPr>
        </p:nvGraphicFramePr>
        <p:xfrm>
          <a:off x="2020368" y="1480457"/>
          <a:ext cx="9588729" cy="3897086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2502129">
                  <a:extLst>
                    <a:ext uri="{9D8B030D-6E8A-4147-A177-3AD203B41FA5}">
                      <a16:colId xmlns:a16="http://schemas.microsoft.com/office/drawing/2014/main" val="2215923136"/>
                    </a:ext>
                  </a:extLst>
                </a:gridCol>
                <a:gridCol w="7086600">
                  <a:extLst>
                    <a:ext uri="{9D8B030D-6E8A-4147-A177-3AD203B41FA5}">
                      <a16:colId xmlns:a16="http://schemas.microsoft.com/office/drawing/2014/main" val="1923169113"/>
                    </a:ext>
                  </a:extLst>
                </a:gridCol>
              </a:tblGrid>
              <a:tr h="133004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s-CO" sz="20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Fundamentación</a:t>
                      </a:r>
                      <a:endParaRPr lang="es-CO" sz="16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MX" b="1" dirty="0">
                          <a:latin typeface="Arial Rounded MT Bold" panose="020F0704030504030204" pitchFamily="34" charset="0"/>
                        </a:rPr>
                        <a:t>Articulación al PEI: </a:t>
                      </a:r>
                      <a:r>
                        <a:rPr lang="es-MX" dirty="0">
                          <a:latin typeface="Arial Rounded MT Bold" panose="020F0704030504030204" pitchFamily="34" charset="0"/>
                        </a:rPr>
                        <a:t>La experiencia se fundamenta en un enfoque sociocrítico para promover la reflexión y construcción colectiva del conocimiento</a:t>
                      </a:r>
                      <a:r>
                        <a:rPr lang="es-MX" dirty="0" smtClean="0">
                          <a:latin typeface="Arial Rounded MT Bold" panose="020F0704030504030204" pitchFamily="34" charset="0"/>
                        </a:rPr>
                        <a:t>.</a:t>
                      </a:r>
                      <a:endParaRPr lang="es-MX" dirty="0">
                        <a:latin typeface="Arial Rounded MT Bold" panose="020F070403050403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3714961306"/>
                  </a:ext>
                </a:extLst>
              </a:tr>
              <a:tr h="130936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b="1" dirty="0" smtClean="0">
                          <a:latin typeface="Arial Rounded MT Bold" panose="020F0704030504030204" pitchFamily="34" charset="0"/>
                        </a:rPr>
                        <a:t>Base Pedagógica: </a:t>
                      </a:r>
                      <a:r>
                        <a:rPr lang="es-MX" dirty="0" smtClean="0">
                          <a:latin typeface="Arial Rounded MT Bold" panose="020F0704030504030204" pitchFamily="34" charset="0"/>
                        </a:rPr>
                        <a:t>Integra el constructivismo, la cultura </a:t>
                      </a:r>
                      <a:r>
                        <a:rPr lang="es-MX" dirty="0" err="1" smtClean="0">
                          <a:latin typeface="Arial Rounded MT Bold" panose="020F0704030504030204" pitchFamily="34" charset="0"/>
                        </a:rPr>
                        <a:t>maker</a:t>
                      </a:r>
                      <a:r>
                        <a:rPr lang="es-MX" dirty="0" smtClean="0">
                          <a:latin typeface="Arial Rounded MT Bold" panose="020F0704030504030204" pitchFamily="34" charset="0"/>
                        </a:rPr>
                        <a:t>, el aprendizaje basado en proyectos (ABP) y el desarrollo del pensamiento crítico.</a:t>
                      </a: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3488044358"/>
                  </a:ext>
                </a:extLst>
              </a:tr>
              <a:tr h="1257679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b="1" dirty="0" smtClean="0">
                          <a:latin typeface="Arial Rounded MT Bold" panose="020F0704030504030204" pitchFamily="34" charset="0"/>
                        </a:rPr>
                        <a:t>Propósito: </a:t>
                      </a:r>
                      <a:r>
                        <a:rPr lang="es-MX" dirty="0" smtClean="0">
                          <a:latin typeface="Arial Rounded MT Bold" panose="020F0704030504030204" pitchFamily="34" charset="0"/>
                        </a:rPr>
                        <a:t>Fortalecer la lógica matemática y el pensamiento computacional mediante actividades lúdicas e incorporación digital.</a:t>
                      </a:r>
                    </a:p>
                    <a:p>
                      <a:pPr algn="just">
                        <a:buNone/>
                      </a:pPr>
                      <a:endParaRPr lang="es-MX" dirty="0">
                        <a:latin typeface="Arial Rounded MT Bold" panose="020F070403050403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2166883621"/>
                  </a:ext>
                </a:extLst>
              </a:tr>
            </a:tbl>
          </a:graphicData>
        </a:graphic>
      </p:graphicFrame>
      <p:pic>
        <p:nvPicPr>
          <p:cNvPr id="2052" name="Picture 4" descr="ANSL » Lanzan Desafío Maker: “Un espacio para la creación” para todas las  escuelas de la provinci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432" b="68545" l="20000" r="80794">
                        <a14:foregroundMark x1="22063" y1="63850" x2="25397" y2="45540"/>
                        <a14:foregroundMark x1="34603" y1="63850" x2="40317" y2="64319"/>
                        <a14:foregroundMark x1="43651" y1="63380" x2="54762" y2="63380"/>
                        <a14:foregroundMark x1="60317" y1="63615" x2="76984" y2="62676"/>
                        <a14:foregroundMark x1="77778" y1="62207" x2="75714" y2="55399"/>
                        <a14:foregroundMark x1="76349" y1="54930" x2="77778" y2="52347"/>
                        <a14:foregroundMark x1="34603" y1="32629" x2="36032" y2="42723"/>
                        <a14:foregroundMark x1="36032" y1="43662" x2="39365" y2="38967"/>
                        <a14:foregroundMark x1="41587" y1="37559" x2="41587" y2="37559"/>
                        <a14:foregroundMark x1="47460" y1="38498" x2="47460" y2="38498"/>
                        <a14:foregroundMark x1="47460" y1="38498" x2="47302" y2="33568"/>
                        <a14:foregroundMark x1="44762" y1="42958" x2="47619" y2="43662"/>
                        <a14:foregroundMark x1="50952" y1="42254" x2="51746" y2="36385"/>
                        <a14:foregroundMark x1="55238" y1="42723" x2="54286" y2="34038"/>
                        <a14:foregroundMark x1="54762" y1="34507" x2="57460" y2="33803"/>
                        <a14:foregroundMark x1="55397" y1="38263" x2="57143" y2="38263"/>
                        <a14:foregroundMark x1="59365" y1="35446" x2="59524" y2="42958"/>
                        <a14:foregroundMark x1="49841" y1="34038" x2="53810" y2="18545"/>
                        <a14:foregroundMark x1="49683" y1="34038" x2="47143" y2="19953"/>
                        <a14:foregroundMark x1="48571" y1="32864" x2="45397" y2="22066"/>
                        <a14:foregroundMark x1="45873" y1="21127" x2="52857" y2="16667"/>
                        <a14:foregroundMark x1="52857" y1="16901" x2="58095" y2="22770"/>
                        <a14:foregroundMark x1="58254" y1="23239" x2="56032" y2="30986"/>
                        <a14:foregroundMark x1="55873" y1="31455" x2="51270" y2="34507"/>
                        <a14:foregroundMark x1="56349" y1="32629" x2="66349" y2="33568"/>
                        <a14:foregroundMark x1="66349" y1="33568" x2="78889" y2="50469"/>
                        <a14:foregroundMark x1="78730" y1="50939" x2="79048" y2="64789"/>
                        <a14:foregroundMark x1="79048" y1="64789" x2="73968" y2="65962"/>
                        <a14:foregroundMark x1="73651" y1="65962" x2="30159" y2="65962"/>
                        <a14:foregroundMark x1="30159" y1="65493" x2="20000" y2="65493"/>
                        <a14:foregroundMark x1="20635" y1="65493" x2="24603" y2="42254"/>
                        <a14:foregroundMark x1="24603" y1="42723" x2="33492" y2="43662"/>
                        <a14:foregroundMark x1="33810" y1="43897" x2="32222" y2="29812"/>
                        <a14:foregroundMark x1="32381" y1="29812" x2="46190" y2="32629"/>
                        <a14:foregroundMark x1="42222" y1="35915" x2="48413" y2="54930"/>
                        <a14:foregroundMark x1="35873" y1="50704" x2="41746" y2="39906"/>
                        <a14:foregroundMark x1="60159" y1="36150" x2="65714" y2="41549"/>
                        <a14:foregroundMark x1="36508" y1="35681" x2="38413" y2="39671"/>
                        <a14:foregroundMark x1="47302" y1="44131" x2="60794" y2="44131"/>
                        <a14:backgroundMark x1="32222" y1="71362" x2="72222" y2="70892"/>
                        <a14:backgroundMark x1="31270" y1="70188" x2="54127" y2="699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005" t="14990" r="21286" b="34018"/>
          <a:stretch/>
        </p:blipFill>
        <p:spPr bwMode="auto">
          <a:xfrm rot="19795234">
            <a:off x="152489" y="682147"/>
            <a:ext cx="3242616" cy="1937393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3000" b="82750" l="3000" r="972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858" t="13650" r="2222" b="16984"/>
          <a:stretch/>
        </p:blipFill>
        <p:spPr>
          <a:xfrm rot="574843">
            <a:off x="239708" y="3437879"/>
            <a:ext cx="4452258" cy="3253574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8730"/>
          <a:stretch/>
        </p:blipFill>
        <p:spPr>
          <a:xfrm>
            <a:off x="10925315" y="205053"/>
            <a:ext cx="1120696" cy="109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165222"/>
              </p:ext>
            </p:extLst>
          </p:nvPr>
        </p:nvGraphicFramePr>
        <p:xfrm>
          <a:off x="1532059" y="1537676"/>
          <a:ext cx="9421691" cy="3548674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933900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7487791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144552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O" sz="20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Pertinencia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b="1" i="0" dirty="0">
                          <a:latin typeface="Arial Rounded MT Bold" panose="020F0704030504030204" pitchFamily="34" charset="0"/>
                        </a:rPr>
                        <a:t>Problemática Local: </a:t>
                      </a:r>
                      <a:r>
                        <a:rPr lang="es-MX" dirty="0">
                          <a:latin typeface="Arial Rounded MT Bold" panose="020F0704030504030204" pitchFamily="34" charset="0"/>
                        </a:rPr>
                        <a:t>Responde a la baja motivación, dificultades en el razonamiento lógico y el uso limitado de tecnología en el contexto rural</a:t>
                      </a:r>
                      <a:r>
                        <a:rPr lang="es-MX" dirty="0" smtClean="0">
                          <a:latin typeface="Arial Rounded MT Bold" panose="020F0704030504030204" pitchFamily="34" charset="0"/>
                        </a:rPr>
                        <a:t>.</a:t>
                      </a:r>
                      <a:endParaRPr lang="es-MX" dirty="0">
                        <a:latin typeface="Arial Rounded MT Bold" panose="020F070403050403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  <a:tr h="2103154">
                <a:tc vMerge="1">
                  <a:txBody>
                    <a:bodyPr/>
                    <a:lstStyle/>
                    <a:p>
                      <a:pPr algn="l" fontAlgn="ctr"/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b="1" dirty="0" smtClean="0">
                          <a:latin typeface="Arial Rounded MT Bold" panose="020F0704030504030204" pitchFamily="34" charset="0"/>
                        </a:rPr>
                        <a:t>Justificación: </a:t>
                      </a:r>
                      <a:r>
                        <a:rPr lang="es-MX" dirty="0" smtClean="0">
                          <a:latin typeface="Arial Rounded MT Bold" panose="020F0704030504030204" pitchFamily="34" charset="0"/>
                        </a:rPr>
                        <a:t>Busca transformar la enseñanza tradicional de las matemáticas para hacerla dinámica, significativa y contextualizada mediante el juego y material concreto.</a:t>
                      </a: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1152690524"/>
                  </a:ext>
                </a:extLst>
              </a:tr>
            </a:tbl>
          </a:graphicData>
        </a:graphic>
      </p:graphicFrame>
      <p:pic>
        <p:nvPicPr>
          <p:cNvPr id="4" name="Picture 4" descr="ANSL » Lanzan Desafío Maker: “Un espacio para la creación” para todas las  escuelas de la provinci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432" b="68545" l="20000" r="80794">
                        <a14:foregroundMark x1="22063" y1="63850" x2="25397" y2="45540"/>
                        <a14:foregroundMark x1="34603" y1="63850" x2="40317" y2="64319"/>
                        <a14:foregroundMark x1="43651" y1="63380" x2="54762" y2="63380"/>
                        <a14:foregroundMark x1="60317" y1="63615" x2="76984" y2="62676"/>
                        <a14:foregroundMark x1="77778" y1="62207" x2="75714" y2="55399"/>
                        <a14:foregroundMark x1="76349" y1="54930" x2="77778" y2="52347"/>
                        <a14:foregroundMark x1="34603" y1="32629" x2="36032" y2="42723"/>
                        <a14:foregroundMark x1="36032" y1="43662" x2="39365" y2="38967"/>
                        <a14:foregroundMark x1="41587" y1="37559" x2="41587" y2="37559"/>
                        <a14:foregroundMark x1="47460" y1="38498" x2="47460" y2="38498"/>
                        <a14:foregroundMark x1="47460" y1="38498" x2="47302" y2="33568"/>
                        <a14:foregroundMark x1="44762" y1="42958" x2="47619" y2="43662"/>
                        <a14:foregroundMark x1="50952" y1="42254" x2="51746" y2="36385"/>
                        <a14:foregroundMark x1="55238" y1="42723" x2="54286" y2="34038"/>
                        <a14:foregroundMark x1="54762" y1="34507" x2="57460" y2="33803"/>
                        <a14:foregroundMark x1="55397" y1="38263" x2="57143" y2="38263"/>
                        <a14:foregroundMark x1="59365" y1="35446" x2="59524" y2="42958"/>
                        <a14:foregroundMark x1="49841" y1="34038" x2="53810" y2="18545"/>
                        <a14:foregroundMark x1="49683" y1="34038" x2="47143" y2="19953"/>
                        <a14:foregroundMark x1="48571" y1="32864" x2="45397" y2="22066"/>
                        <a14:foregroundMark x1="45873" y1="21127" x2="52857" y2="16667"/>
                        <a14:foregroundMark x1="52857" y1="16901" x2="58095" y2="22770"/>
                        <a14:foregroundMark x1="58254" y1="23239" x2="56032" y2="30986"/>
                        <a14:foregroundMark x1="55873" y1="31455" x2="51270" y2="34507"/>
                        <a14:foregroundMark x1="56349" y1="32629" x2="66349" y2="33568"/>
                        <a14:foregroundMark x1="66349" y1="33568" x2="78889" y2="50469"/>
                        <a14:foregroundMark x1="78730" y1="50939" x2="79048" y2="64789"/>
                        <a14:foregroundMark x1="79048" y1="64789" x2="73968" y2="65962"/>
                        <a14:foregroundMark x1="73651" y1="65962" x2="30159" y2="65962"/>
                        <a14:foregroundMark x1="30159" y1="65493" x2="20000" y2="65493"/>
                        <a14:foregroundMark x1="20635" y1="65493" x2="24603" y2="42254"/>
                        <a14:foregroundMark x1="24603" y1="42723" x2="33492" y2="43662"/>
                        <a14:foregroundMark x1="33810" y1="43897" x2="32222" y2="29812"/>
                        <a14:foregroundMark x1="32381" y1="29812" x2="46190" y2="32629"/>
                        <a14:foregroundMark x1="42222" y1="35915" x2="48413" y2="54930"/>
                        <a14:foregroundMark x1="35873" y1="50704" x2="41746" y2="39906"/>
                        <a14:foregroundMark x1="60159" y1="36150" x2="65714" y2="41549"/>
                        <a14:foregroundMark x1="36508" y1="35681" x2="38413" y2="39671"/>
                        <a14:foregroundMark x1="47302" y1="44131" x2="60794" y2="44131"/>
                        <a14:backgroundMark x1="32222" y1="71362" x2="72222" y2="70892"/>
                        <a14:backgroundMark x1="31270" y1="70188" x2="54127" y2="699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005" t="14990" r="21286" b="34018"/>
          <a:stretch/>
        </p:blipFill>
        <p:spPr bwMode="auto">
          <a:xfrm rot="19795234">
            <a:off x="152489" y="682147"/>
            <a:ext cx="3242616" cy="1937393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8400" b="80200" l="19111" r="80222">
                        <a14:foregroundMark x1="38556" y1="36600" x2="38556" y2="36600"/>
                        <a14:foregroundMark x1="54556" y1="24600" x2="54556" y2="24600"/>
                        <a14:foregroundMark x1="55778" y1="44400" x2="55778" y2="44400"/>
                        <a14:foregroundMark x1="60556" y1="50400" x2="60556" y2="504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539" t="16225" r="17401" b="12522"/>
          <a:stretch/>
        </p:blipFill>
        <p:spPr>
          <a:xfrm>
            <a:off x="8100331" y="4071258"/>
            <a:ext cx="3887870" cy="2365516"/>
          </a:xfrm>
          <a:prstGeom prst="rect">
            <a:avLst/>
          </a:prstGeom>
          <a:effectLst/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8730"/>
          <a:stretch/>
        </p:blipFill>
        <p:spPr>
          <a:xfrm>
            <a:off x="10953750" y="221773"/>
            <a:ext cx="1120696" cy="109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114657"/>
              </p:ext>
            </p:extLst>
          </p:nvPr>
        </p:nvGraphicFramePr>
        <p:xfrm>
          <a:off x="1483179" y="1540457"/>
          <a:ext cx="9525000" cy="3777086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7429500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147385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O" sz="20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Consistencia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2000" b="1" dirty="0">
                          <a:latin typeface="Arial Rounded MT Bold" panose="020F0704030504030204" pitchFamily="34" charset="0"/>
                        </a:rPr>
                        <a:t>Metodología: </a:t>
                      </a:r>
                      <a:r>
                        <a:rPr lang="es-MX" sz="2000" dirty="0">
                          <a:latin typeface="Arial Rounded MT Bold" panose="020F0704030504030204" pitchFamily="34" charset="0"/>
                        </a:rPr>
                        <a:t>Articula el diagnóstico inicial, el diseño de actividades digitales, la ejecución en el aula y la medición de impacto</a:t>
                      </a:r>
                      <a:r>
                        <a:rPr lang="es-MX" sz="2000" dirty="0" smtClean="0">
                          <a:latin typeface="Arial Rounded MT Bold" panose="020F0704030504030204" pitchFamily="34" charset="0"/>
                        </a:rPr>
                        <a:t>.</a:t>
                      </a:r>
                      <a:endParaRPr lang="es-MX" sz="2000" dirty="0">
                        <a:latin typeface="Arial Rounded MT Bold" panose="020F070403050403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  <a:tr h="2303230">
                <a:tc vMerge="1">
                  <a:txBody>
                    <a:bodyPr/>
                    <a:lstStyle/>
                    <a:p>
                      <a:pPr algn="l" fontAlgn="ctr"/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2000" b="1" dirty="0" smtClean="0">
                          <a:latin typeface="Arial Rounded MT Bold" panose="020F0704030504030204" pitchFamily="34" charset="0"/>
                        </a:rPr>
                        <a:t>Componente de Inclusión: </a:t>
                      </a:r>
                      <a:r>
                        <a:rPr lang="es-MX" sz="2000" dirty="0" smtClean="0">
                          <a:latin typeface="Arial Rounded MT Bold" panose="020F0704030504030204" pitchFamily="34" charset="0"/>
                        </a:rPr>
                        <a:t>Atiende a la diversidad académica y los diferentes ritmos de aprendizaje mediante tutorías entre pares y flexibilización curricular.</a:t>
                      </a: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2758039156"/>
                  </a:ext>
                </a:extLst>
              </a:tr>
            </a:tbl>
          </a:graphicData>
        </a:graphic>
      </p:graphicFrame>
      <p:pic>
        <p:nvPicPr>
          <p:cNvPr id="4" name="Picture 4" descr="ANSL » Lanzan Desafío Maker: “Un espacio para la creación” para todas las  escuelas de la provinci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432" b="68545" l="20000" r="80794">
                        <a14:foregroundMark x1="22063" y1="63850" x2="25397" y2="45540"/>
                        <a14:foregroundMark x1="34603" y1="63850" x2="40317" y2="64319"/>
                        <a14:foregroundMark x1="43651" y1="63380" x2="54762" y2="63380"/>
                        <a14:foregroundMark x1="60317" y1="63615" x2="76984" y2="62676"/>
                        <a14:foregroundMark x1="77778" y1="62207" x2="75714" y2="55399"/>
                        <a14:foregroundMark x1="76349" y1="54930" x2="77778" y2="52347"/>
                        <a14:foregroundMark x1="34603" y1="32629" x2="36032" y2="42723"/>
                        <a14:foregroundMark x1="36032" y1="43662" x2="39365" y2="38967"/>
                        <a14:foregroundMark x1="41587" y1="37559" x2="41587" y2="37559"/>
                        <a14:foregroundMark x1="47460" y1="38498" x2="47460" y2="38498"/>
                        <a14:foregroundMark x1="47460" y1="38498" x2="47302" y2="33568"/>
                        <a14:foregroundMark x1="44762" y1="42958" x2="47619" y2="43662"/>
                        <a14:foregroundMark x1="50952" y1="42254" x2="51746" y2="36385"/>
                        <a14:foregroundMark x1="55238" y1="42723" x2="54286" y2="34038"/>
                        <a14:foregroundMark x1="54762" y1="34507" x2="57460" y2="33803"/>
                        <a14:foregroundMark x1="55397" y1="38263" x2="57143" y2="38263"/>
                        <a14:foregroundMark x1="59365" y1="35446" x2="59524" y2="42958"/>
                        <a14:foregroundMark x1="49841" y1="34038" x2="53810" y2="18545"/>
                        <a14:foregroundMark x1="49683" y1="34038" x2="47143" y2="19953"/>
                        <a14:foregroundMark x1="48571" y1="32864" x2="45397" y2="22066"/>
                        <a14:foregroundMark x1="45873" y1="21127" x2="52857" y2="16667"/>
                        <a14:foregroundMark x1="52857" y1="16901" x2="58095" y2="22770"/>
                        <a14:foregroundMark x1="58254" y1="23239" x2="56032" y2="30986"/>
                        <a14:foregroundMark x1="55873" y1="31455" x2="51270" y2="34507"/>
                        <a14:foregroundMark x1="56349" y1="32629" x2="66349" y2="33568"/>
                        <a14:foregroundMark x1="66349" y1="33568" x2="78889" y2="50469"/>
                        <a14:foregroundMark x1="78730" y1="50939" x2="79048" y2="64789"/>
                        <a14:foregroundMark x1="79048" y1="64789" x2="73968" y2="65962"/>
                        <a14:foregroundMark x1="73651" y1="65962" x2="30159" y2="65962"/>
                        <a14:foregroundMark x1="30159" y1="65493" x2="20000" y2="65493"/>
                        <a14:foregroundMark x1="20635" y1="65493" x2="24603" y2="42254"/>
                        <a14:foregroundMark x1="24603" y1="42723" x2="33492" y2="43662"/>
                        <a14:foregroundMark x1="33810" y1="43897" x2="32222" y2="29812"/>
                        <a14:foregroundMark x1="32381" y1="29812" x2="46190" y2="32629"/>
                        <a14:foregroundMark x1="42222" y1="35915" x2="48413" y2="54930"/>
                        <a14:foregroundMark x1="35873" y1="50704" x2="41746" y2="39906"/>
                        <a14:foregroundMark x1="60159" y1="36150" x2="65714" y2="41549"/>
                        <a14:foregroundMark x1="36508" y1="35681" x2="38413" y2="39671"/>
                        <a14:foregroundMark x1="47302" y1="44131" x2="60794" y2="44131"/>
                        <a14:backgroundMark x1="32222" y1="71362" x2="72222" y2="70892"/>
                        <a14:backgroundMark x1="31270" y1="70188" x2="54127" y2="699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005" t="14990" r="21286" b="34018"/>
          <a:stretch/>
        </p:blipFill>
        <p:spPr bwMode="auto">
          <a:xfrm rot="19795234">
            <a:off x="152489" y="682147"/>
            <a:ext cx="3242616" cy="1937393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0" y="3755572"/>
            <a:ext cx="3020020" cy="2917371"/>
          </a:xfrm>
          <a:prstGeom prst="rect">
            <a:avLst/>
          </a:prstGeom>
          <a:effectLst>
            <a:softEdge rad="317500"/>
          </a:effectLst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8730"/>
          <a:stretch/>
        </p:blipFill>
        <p:spPr>
          <a:xfrm>
            <a:off x="10925315" y="205053"/>
            <a:ext cx="1120696" cy="109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814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287664"/>
              </p:ext>
            </p:extLst>
          </p:nvPr>
        </p:nvGraphicFramePr>
        <p:xfrm>
          <a:off x="1733550" y="1463674"/>
          <a:ext cx="9400442" cy="3723863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2010191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7390251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158432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O" sz="20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Madurez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b="1" dirty="0">
                          <a:latin typeface="Arial Rounded MT Bold" panose="020F0704030504030204" pitchFamily="34" charset="0"/>
                        </a:rPr>
                        <a:t>Trayectoria</a:t>
                      </a:r>
                      <a:r>
                        <a:rPr lang="es-MX" dirty="0">
                          <a:latin typeface="Arial Rounded MT Bold" panose="020F0704030504030204" pitchFamily="34" charset="0"/>
                        </a:rPr>
                        <a:t>: El proyecto se consolida como una práctica pedagógica innovadora para el año 2026, con procesos de evaluación continua</a:t>
                      </a:r>
                      <a:r>
                        <a:rPr lang="es-MX" dirty="0" smtClean="0">
                          <a:latin typeface="Arial Rounded MT Bold" panose="020F0704030504030204" pitchFamily="34" charset="0"/>
                        </a:rPr>
                        <a:t>.</a:t>
                      </a:r>
                      <a:endParaRPr lang="es-MX" dirty="0">
                        <a:latin typeface="Arial Rounded MT Bold" panose="020F070403050403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782949291"/>
                  </a:ext>
                </a:extLst>
              </a:tr>
              <a:tr h="2139537">
                <a:tc vMerge="1">
                  <a:txBody>
                    <a:bodyPr/>
                    <a:lstStyle/>
                    <a:p>
                      <a:pPr algn="l" fontAlgn="ctr"/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b="1" dirty="0" smtClean="0">
                          <a:latin typeface="Arial Rounded MT Bold" panose="020F0704030504030204" pitchFamily="34" charset="0"/>
                        </a:rPr>
                        <a:t>Evolución</a:t>
                      </a:r>
                      <a:r>
                        <a:rPr lang="es-MX" dirty="0" smtClean="0">
                          <a:latin typeface="Arial Rounded MT Bold" panose="020F0704030504030204" pitchFamily="34" charset="0"/>
                        </a:rPr>
                        <a:t>: Ha pasado de identificar necesidades a implementar estrategias innovadoras y evaluar avances periódicos.</a:t>
                      </a: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4137301343"/>
                  </a:ext>
                </a:extLst>
              </a:tr>
            </a:tbl>
          </a:graphicData>
        </a:graphic>
      </p:graphicFrame>
      <p:pic>
        <p:nvPicPr>
          <p:cNvPr id="4" name="Picture 4" descr="ANSL » Lanzan Desafío Maker: “Un espacio para la creación” para todas las  escuelas de la provinci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432" b="68545" l="20000" r="80794">
                        <a14:foregroundMark x1="22063" y1="63850" x2="25397" y2="45540"/>
                        <a14:foregroundMark x1="34603" y1="63850" x2="40317" y2="64319"/>
                        <a14:foregroundMark x1="43651" y1="63380" x2="54762" y2="63380"/>
                        <a14:foregroundMark x1="60317" y1="63615" x2="76984" y2="62676"/>
                        <a14:foregroundMark x1="77778" y1="62207" x2="75714" y2="55399"/>
                        <a14:foregroundMark x1="76349" y1="54930" x2="77778" y2="52347"/>
                        <a14:foregroundMark x1="34603" y1="32629" x2="36032" y2="42723"/>
                        <a14:foregroundMark x1="36032" y1="43662" x2="39365" y2="38967"/>
                        <a14:foregroundMark x1="41587" y1="37559" x2="41587" y2="37559"/>
                        <a14:foregroundMark x1="47460" y1="38498" x2="47460" y2="38498"/>
                        <a14:foregroundMark x1="47460" y1="38498" x2="47302" y2="33568"/>
                        <a14:foregroundMark x1="44762" y1="42958" x2="47619" y2="43662"/>
                        <a14:foregroundMark x1="50952" y1="42254" x2="51746" y2="36385"/>
                        <a14:foregroundMark x1="55238" y1="42723" x2="54286" y2="34038"/>
                        <a14:foregroundMark x1="54762" y1="34507" x2="57460" y2="33803"/>
                        <a14:foregroundMark x1="55397" y1="38263" x2="57143" y2="38263"/>
                        <a14:foregroundMark x1="59365" y1="35446" x2="59524" y2="42958"/>
                        <a14:foregroundMark x1="49841" y1="34038" x2="53810" y2="18545"/>
                        <a14:foregroundMark x1="49683" y1="34038" x2="47143" y2="19953"/>
                        <a14:foregroundMark x1="48571" y1="32864" x2="45397" y2="22066"/>
                        <a14:foregroundMark x1="45873" y1="21127" x2="52857" y2="16667"/>
                        <a14:foregroundMark x1="52857" y1="16901" x2="58095" y2="22770"/>
                        <a14:foregroundMark x1="58254" y1="23239" x2="56032" y2="30986"/>
                        <a14:foregroundMark x1="55873" y1="31455" x2="51270" y2="34507"/>
                        <a14:foregroundMark x1="56349" y1="32629" x2="66349" y2="33568"/>
                        <a14:foregroundMark x1="66349" y1="33568" x2="78889" y2="50469"/>
                        <a14:foregroundMark x1="78730" y1="50939" x2="79048" y2="64789"/>
                        <a14:foregroundMark x1="79048" y1="64789" x2="73968" y2="65962"/>
                        <a14:foregroundMark x1="73651" y1="65962" x2="30159" y2="65962"/>
                        <a14:foregroundMark x1="30159" y1="65493" x2="20000" y2="65493"/>
                        <a14:foregroundMark x1="20635" y1="65493" x2="24603" y2="42254"/>
                        <a14:foregroundMark x1="24603" y1="42723" x2="33492" y2="43662"/>
                        <a14:foregroundMark x1="33810" y1="43897" x2="32222" y2="29812"/>
                        <a14:foregroundMark x1="32381" y1="29812" x2="46190" y2="32629"/>
                        <a14:foregroundMark x1="42222" y1="35915" x2="48413" y2="54930"/>
                        <a14:foregroundMark x1="35873" y1="50704" x2="41746" y2="39906"/>
                        <a14:foregroundMark x1="60159" y1="36150" x2="65714" y2="41549"/>
                        <a14:foregroundMark x1="36508" y1="35681" x2="38413" y2="39671"/>
                        <a14:foregroundMark x1="47302" y1="44131" x2="60794" y2="44131"/>
                        <a14:backgroundMark x1="32222" y1="71362" x2="72222" y2="70892"/>
                        <a14:backgroundMark x1="31270" y1="70188" x2="54127" y2="699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005" t="14990" r="21286" b="34018"/>
          <a:stretch/>
        </p:blipFill>
        <p:spPr bwMode="auto">
          <a:xfrm rot="19795234">
            <a:off x="152489" y="682147"/>
            <a:ext cx="3242616" cy="1937393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143" b="95429" l="10000" r="96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54672">
            <a:off x="886834" y="3222207"/>
            <a:ext cx="3413372" cy="2389361"/>
          </a:xfrm>
          <a:prstGeom prst="rect">
            <a:avLst/>
          </a:prstGeom>
          <a:effectLst/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8730"/>
          <a:stretch/>
        </p:blipFill>
        <p:spPr>
          <a:xfrm>
            <a:off x="10925315" y="205053"/>
            <a:ext cx="1120696" cy="109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848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792790"/>
              </p:ext>
            </p:extLst>
          </p:nvPr>
        </p:nvGraphicFramePr>
        <p:xfrm>
          <a:off x="1695449" y="1805886"/>
          <a:ext cx="9715502" cy="323215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2250423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7465079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131766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O" sz="20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Empoderamiento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b="1" dirty="0">
                          <a:latin typeface="Arial Rounded MT Bold" panose="020F0704030504030204" pitchFamily="34" charset="0"/>
                        </a:rPr>
                        <a:t>Actores Involucrados: </a:t>
                      </a:r>
                      <a:r>
                        <a:rPr lang="es-MX" dirty="0">
                          <a:latin typeface="Arial Rounded MT Bold" panose="020F0704030504030204" pitchFamily="34" charset="0"/>
                        </a:rPr>
                        <a:t>Involucra a la comunidad educativa mediante el trabajo colaborativo y el apoyo familiar para superar limitaciones de recursos</a:t>
                      </a:r>
                      <a:r>
                        <a:rPr lang="es-MX" dirty="0" smtClean="0">
                          <a:latin typeface="Arial Rounded MT Bold" panose="020F0704030504030204" pitchFamily="34" charset="0"/>
                        </a:rPr>
                        <a:t>.</a:t>
                      </a:r>
                      <a:endParaRPr lang="es-MX" dirty="0">
                        <a:latin typeface="Arial Rounded MT Bold" panose="020F070403050403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1597408403"/>
                  </a:ext>
                </a:extLst>
              </a:tr>
              <a:tr h="1914481">
                <a:tc vMerge="1">
                  <a:txBody>
                    <a:bodyPr/>
                    <a:lstStyle/>
                    <a:p>
                      <a:pPr algn="l" fontAlgn="ctr"/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b="1" dirty="0" smtClean="0">
                          <a:latin typeface="Arial Rounded MT Bold" panose="020F0704030504030204" pitchFamily="34" charset="0"/>
                        </a:rPr>
                        <a:t>Rol Docente: </a:t>
                      </a:r>
                      <a:r>
                        <a:rPr lang="es-MX" dirty="0" smtClean="0">
                          <a:latin typeface="Arial Rounded MT Bold" panose="020F0704030504030204" pitchFamily="34" charset="0"/>
                        </a:rPr>
                        <a:t>Fomenta la auto capacitación docente y el liderazgo del "equipo docente </a:t>
                      </a:r>
                      <a:r>
                        <a:rPr lang="es-MX" dirty="0" err="1" smtClean="0">
                          <a:latin typeface="Arial Rounded MT Bold" panose="020F0704030504030204" pitchFamily="34" charset="0"/>
                        </a:rPr>
                        <a:t>maker</a:t>
                      </a:r>
                      <a:r>
                        <a:rPr lang="es-MX" dirty="0" smtClean="0">
                          <a:latin typeface="Arial Rounded MT Bold" panose="020F0704030504030204" pitchFamily="34" charset="0"/>
                        </a:rPr>
                        <a:t>".</a:t>
                      </a:r>
                    </a:p>
                    <a:p>
                      <a:pPr algn="just"/>
                      <a:endParaRPr lang="es-MX" dirty="0">
                        <a:latin typeface="Arial Rounded MT Bold" panose="020F070403050403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3433870397"/>
                  </a:ext>
                </a:extLst>
              </a:tr>
            </a:tbl>
          </a:graphicData>
        </a:graphic>
      </p:graphicFrame>
      <p:pic>
        <p:nvPicPr>
          <p:cNvPr id="4" name="Picture 4" descr="ANSL » Lanzan Desafío Maker: “Un espacio para la creación” para todas las  escuelas de la provinci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432" b="68545" l="20000" r="80794">
                        <a14:foregroundMark x1="22063" y1="63850" x2="25397" y2="45540"/>
                        <a14:foregroundMark x1="34603" y1="63850" x2="40317" y2="64319"/>
                        <a14:foregroundMark x1="43651" y1="63380" x2="54762" y2="63380"/>
                        <a14:foregroundMark x1="60317" y1="63615" x2="76984" y2="62676"/>
                        <a14:foregroundMark x1="77778" y1="62207" x2="75714" y2="55399"/>
                        <a14:foregroundMark x1="76349" y1="54930" x2="77778" y2="52347"/>
                        <a14:foregroundMark x1="34603" y1="32629" x2="36032" y2="42723"/>
                        <a14:foregroundMark x1="36032" y1="43662" x2="39365" y2="38967"/>
                        <a14:foregroundMark x1="41587" y1="37559" x2="41587" y2="37559"/>
                        <a14:foregroundMark x1="47460" y1="38498" x2="47460" y2="38498"/>
                        <a14:foregroundMark x1="47460" y1="38498" x2="47302" y2="33568"/>
                        <a14:foregroundMark x1="44762" y1="42958" x2="47619" y2="43662"/>
                        <a14:foregroundMark x1="50952" y1="42254" x2="51746" y2="36385"/>
                        <a14:foregroundMark x1="55238" y1="42723" x2="54286" y2="34038"/>
                        <a14:foregroundMark x1="54762" y1="34507" x2="57460" y2="33803"/>
                        <a14:foregroundMark x1="55397" y1="38263" x2="57143" y2="38263"/>
                        <a14:foregroundMark x1="59365" y1="35446" x2="59524" y2="42958"/>
                        <a14:foregroundMark x1="49841" y1="34038" x2="53810" y2="18545"/>
                        <a14:foregroundMark x1="49683" y1="34038" x2="47143" y2="19953"/>
                        <a14:foregroundMark x1="48571" y1="32864" x2="45397" y2="22066"/>
                        <a14:foregroundMark x1="45873" y1="21127" x2="52857" y2="16667"/>
                        <a14:foregroundMark x1="52857" y1="16901" x2="58095" y2="22770"/>
                        <a14:foregroundMark x1="58254" y1="23239" x2="56032" y2="30986"/>
                        <a14:foregroundMark x1="55873" y1="31455" x2="51270" y2="34507"/>
                        <a14:foregroundMark x1="56349" y1="32629" x2="66349" y2="33568"/>
                        <a14:foregroundMark x1="66349" y1="33568" x2="78889" y2="50469"/>
                        <a14:foregroundMark x1="78730" y1="50939" x2="79048" y2="64789"/>
                        <a14:foregroundMark x1="79048" y1="64789" x2="73968" y2="65962"/>
                        <a14:foregroundMark x1="73651" y1="65962" x2="30159" y2="65962"/>
                        <a14:foregroundMark x1="30159" y1="65493" x2="20000" y2="65493"/>
                        <a14:foregroundMark x1="20635" y1="65493" x2="24603" y2="42254"/>
                        <a14:foregroundMark x1="24603" y1="42723" x2="33492" y2="43662"/>
                        <a14:foregroundMark x1="33810" y1="43897" x2="32222" y2="29812"/>
                        <a14:foregroundMark x1="32381" y1="29812" x2="46190" y2="32629"/>
                        <a14:foregroundMark x1="42222" y1="35915" x2="48413" y2="54930"/>
                        <a14:foregroundMark x1="35873" y1="50704" x2="41746" y2="39906"/>
                        <a14:foregroundMark x1="60159" y1="36150" x2="65714" y2="41549"/>
                        <a14:foregroundMark x1="36508" y1="35681" x2="38413" y2="39671"/>
                        <a14:foregroundMark x1="47302" y1="44131" x2="60794" y2="44131"/>
                        <a14:backgroundMark x1="32222" y1="71362" x2="72222" y2="70892"/>
                        <a14:backgroundMark x1="31270" y1="70188" x2="54127" y2="699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005" t="14990" r="21286" b="34018"/>
          <a:stretch/>
        </p:blipFill>
        <p:spPr bwMode="auto">
          <a:xfrm rot="19795234">
            <a:off x="152489" y="682147"/>
            <a:ext cx="3242616" cy="1937393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48" b="18461"/>
          <a:stretch/>
        </p:blipFill>
        <p:spPr>
          <a:xfrm flipH="1">
            <a:off x="167453" y="3736373"/>
            <a:ext cx="4143289" cy="2920678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8730"/>
          <a:stretch/>
        </p:blipFill>
        <p:spPr>
          <a:xfrm>
            <a:off x="10925315" y="205053"/>
            <a:ext cx="1120696" cy="109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985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313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497064"/>
              </p:ext>
            </p:extLst>
          </p:nvPr>
        </p:nvGraphicFramePr>
        <p:xfrm>
          <a:off x="1647825" y="1650843"/>
          <a:ext cx="9353550" cy="2873828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2859376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6494174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134934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O" sz="20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Evaluación y seguimiento</a:t>
                      </a:r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800" b="1" dirty="0">
                          <a:latin typeface="Arial Rounded MT Bold" panose="020F0704030504030204" pitchFamily="34" charset="0"/>
                        </a:rPr>
                        <a:t>Instrumentos</a:t>
                      </a:r>
                      <a:r>
                        <a:rPr lang="es-MX" sz="1800" dirty="0">
                          <a:latin typeface="Arial Rounded MT Bold" panose="020F0704030504030204" pitchFamily="34" charset="0"/>
                        </a:rPr>
                        <a:t>: Utiliza rúbricas, encuestas, autoevaluación y análisis tanto cuantitativos como cualitativos</a:t>
                      </a:r>
                      <a:r>
                        <a:rPr lang="es-MX" sz="1800" dirty="0" smtClean="0">
                          <a:latin typeface="Arial Rounded MT Bold" panose="020F0704030504030204" pitchFamily="34" charset="0"/>
                        </a:rPr>
                        <a:t>.</a:t>
                      </a:r>
                      <a:endParaRPr lang="es-MX" sz="1800" dirty="0">
                        <a:latin typeface="Arial Rounded MT Bold" panose="020F070403050403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1243005599"/>
                  </a:ext>
                </a:extLst>
              </a:tr>
              <a:tr h="1524480">
                <a:tc vMerge="1">
                  <a:txBody>
                    <a:bodyPr/>
                    <a:lstStyle/>
                    <a:p>
                      <a:pPr algn="l" fontAlgn="ctr"/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dirty="0" smtClean="0">
                          <a:latin typeface="Arial Rounded MT Bold" panose="020F0704030504030204" pitchFamily="34" charset="0"/>
                        </a:rPr>
                        <a:t>Proceso</a:t>
                      </a:r>
                      <a:r>
                        <a:rPr lang="es-MX" sz="1800" dirty="0" smtClean="0">
                          <a:latin typeface="Arial Rounded MT Bold" panose="020F0704030504030204" pitchFamily="34" charset="0"/>
                        </a:rPr>
                        <a:t>: Realiza un seguimiento personalizado y una evaluación continua del proceso para fortalecer los aprendizajes.</a:t>
                      </a:r>
                    </a:p>
                    <a:p>
                      <a:pPr algn="just"/>
                      <a:endParaRPr lang="es-MX" sz="1800" dirty="0">
                        <a:latin typeface="Arial Rounded MT Bold" panose="020F070403050403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3966013739"/>
                  </a:ext>
                </a:extLst>
              </a:tr>
            </a:tbl>
          </a:graphicData>
        </a:graphic>
      </p:graphicFrame>
      <p:pic>
        <p:nvPicPr>
          <p:cNvPr id="4" name="Picture 4" descr="ANSL » Lanzan Desafío Maker: “Un espacio para la creación” para todas las  escuelas de la provinci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432" b="68545" l="20000" r="80794">
                        <a14:foregroundMark x1="22063" y1="63850" x2="25397" y2="45540"/>
                        <a14:foregroundMark x1="34603" y1="63850" x2="40317" y2="64319"/>
                        <a14:foregroundMark x1="43651" y1="63380" x2="54762" y2="63380"/>
                        <a14:foregroundMark x1="60317" y1="63615" x2="76984" y2="62676"/>
                        <a14:foregroundMark x1="77778" y1="62207" x2="75714" y2="55399"/>
                        <a14:foregroundMark x1="76349" y1="54930" x2="77778" y2="52347"/>
                        <a14:foregroundMark x1="34603" y1="32629" x2="36032" y2="42723"/>
                        <a14:foregroundMark x1="36032" y1="43662" x2="39365" y2="38967"/>
                        <a14:foregroundMark x1="41587" y1="37559" x2="41587" y2="37559"/>
                        <a14:foregroundMark x1="47460" y1="38498" x2="47460" y2="38498"/>
                        <a14:foregroundMark x1="47460" y1="38498" x2="47302" y2="33568"/>
                        <a14:foregroundMark x1="44762" y1="42958" x2="47619" y2="43662"/>
                        <a14:foregroundMark x1="50952" y1="42254" x2="51746" y2="36385"/>
                        <a14:foregroundMark x1="55238" y1="42723" x2="54286" y2="34038"/>
                        <a14:foregroundMark x1="54762" y1="34507" x2="57460" y2="33803"/>
                        <a14:foregroundMark x1="55397" y1="38263" x2="57143" y2="38263"/>
                        <a14:foregroundMark x1="59365" y1="35446" x2="59524" y2="42958"/>
                        <a14:foregroundMark x1="49841" y1="34038" x2="53810" y2="18545"/>
                        <a14:foregroundMark x1="49683" y1="34038" x2="47143" y2="19953"/>
                        <a14:foregroundMark x1="48571" y1="32864" x2="45397" y2="22066"/>
                        <a14:foregroundMark x1="45873" y1="21127" x2="52857" y2="16667"/>
                        <a14:foregroundMark x1="52857" y1="16901" x2="58095" y2="22770"/>
                        <a14:foregroundMark x1="58254" y1="23239" x2="56032" y2="30986"/>
                        <a14:foregroundMark x1="55873" y1="31455" x2="51270" y2="34507"/>
                        <a14:foregroundMark x1="56349" y1="32629" x2="66349" y2="33568"/>
                        <a14:foregroundMark x1="66349" y1="33568" x2="78889" y2="50469"/>
                        <a14:foregroundMark x1="78730" y1="50939" x2="79048" y2="64789"/>
                        <a14:foregroundMark x1="79048" y1="64789" x2="73968" y2="65962"/>
                        <a14:foregroundMark x1="73651" y1="65962" x2="30159" y2="65962"/>
                        <a14:foregroundMark x1="30159" y1="65493" x2="20000" y2="65493"/>
                        <a14:foregroundMark x1="20635" y1="65493" x2="24603" y2="42254"/>
                        <a14:foregroundMark x1="24603" y1="42723" x2="33492" y2="43662"/>
                        <a14:foregroundMark x1="33810" y1="43897" x2="32222" y2="29812"/>
                        <a14:foregroundMark x1="32381" y1="29812" x2="46190" y2="32629"/>
                        <a14:foregroundMark x1="42222" y1="35915" x2="48413" y2="54930"/>
                        <a14:foregroundMark x1="35873" y1="50704" x2="41746" y2="39906"/>
                        <a14:foregroundMark x1="60159" y1="36150" x2="65714" y2="41549"/>
                        <a14:foregroundMark x1="36508" y1="35681" x2="38413" y2="39671"/>
                        <a14:foregroundMark x1="47302" y1="44131" x2="60794" y2="44131"/>
                        <a14:backgroundMark x1="32222" y1="71362" x2="72222" y2="70892"/>
                        <a14:backgroundMark x1="31270" y1="70188" x2="54127" y2="699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005" t="14990" r="21286" b="34018"/>
          <a:stretch/>
        </p:blipFill>
        <p:spPr bwMode="auto">
          <a:xfrm rot="19795234">
            <a:off x="152489" y="682147"/>
            <a:ext cx="3242616" cy="1937393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53"/>
          <a:stretch/>
        </p:blipFill>
        <p:spPr>
          <a:xfrm>
            <a:off x="1203953" y="3579648"/>
            <a:ext cx="3313619" cy="3000389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8730"/>
          <a:stretch/>
        </p:blipFill>
        <p:spPr>
          <a:xfrm>
            <a:off x="10925315" y="205053"/>
            <a:ext cx="1120696" cy="109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548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682808"/>
              </p:ext>
            </p:extLst>
          </p:nvPr>
        </p:nvGraphicFramePr>
        <p:xfrm>
          <a:off x="1773797" y="1650843"/>
          <a:ext cx="9480936" cy="3653943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2017524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7463412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109527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s-CO" sz="20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Resultados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800" b="1" dirty="0">
                          <a:latin typeface="Arial Rounded MT Bold" panose="020F0704030504030204" pitchFamily="34" charset="0"/>
                        </a:rPr>
                        <a:t>Impacto Cognitivo: </a:t>
                      </a:r>
                      <a:r>
                        <a:rPr lang="es-MX" sz="1800" dirty="0">
                          <a:latin typeface="Arial Rounded MT Bold" panose="020F0704030504030204" pitchFamily="34" charset="0"/>
                        </a:rPr>
                        <a:t>Mejora el desempeño académico y el desarrollo del pensamiento crítico.</a:t>
                      </a:r>
                    </a:p>
                    <a:p>
                      <a:pPr algn="just" fontAlgn="ctr"/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2517312088"/>
                  </a:ext>
                </a:extLst>
              </a:tr>
              <a:tr h="146062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800" b="1" dirty="0" smtClean="0">
                          <a:latin typeface="Arial Rounded MT Bold" panose="020F0704030504030204" pitchFamily="34" charset="0"/>
                        </a:rPr>
                        <a:t>Impacto Comportamental: </a:t>
                      </a:r>
                      <a:r>
                        <a:rPr lang="es-MX" sz="1800" dirty="0" smtClean="0">
                          <a:latin typeface="Arial Rounded MT Bold" panose="020F0704030504030204" pitchFamily="34" charset="0"/>
                        </a:rPr>
                        <a:t>Incremento en la motivación de los estudiantes y fortalecimiento del trabajo en equipo y el clima escolar.</a:t>
                      </a:r>
                    </a:p>
                    <a:p>
                      <a:pPr marL="285750" indent="-285750" algn="just" fontAlgn="ctr">
                        <a:buFont typeface="Arial" panose="020B0604020202020204" pitchFamily="34" charset="0"/>
                        <a:buChar char="•"/>
                      </a:pPr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114761" marR="4782" marT="4782" marB="0" anchor="ctr"/>
                </a:tc>
                <a:extLst>
                  <a:ext uri="{0D108BD9-81ED-4DB2-BD59-A6C34878D82A}">
                    <a16:rowId xmlns:a16="http://schemas.microsoft.com/office/drawing/2014/main" val="1558713013"/>
                  </a:ext>
                </a:extLst>
              </a:tr>
              <a:tr h="1098042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MX" sz="1800" b="1" dirty="0" smtClean="0">
                          <a:latin typeface="Arial Rounded MT Bold" panose="020F0704030504030204" pitchFamily="34" charset="0"/>
                        </a:rPr>
                        <a:t>Impacto Ambiental: </a:t>
                      </a:r>
                      <a:r>
                        <a:rPr lang="es-MX" sz="1800" dirty="0" smtClean="0">
                          <a:latin typeface="Arial Rounded MT Bold" panose="020F0704030504030204" pitchFamily="34" charset="0"/>
                        </a:rPr>
                        <a:t>Fomento de la conciencia ambiental a través de la reutilización de materiales en las actividades </a:t>
                      </a:r>
                      <a:r>
                        <a:rPr lang="es-MX" sz="1800" dirty="0" err="1" smtClean="0">
                          <a:latin typeface="Arial Rounded MT Bold" panose="020F0704030504030204" pitchFamily="34" charset="0"/>
                        </a:rPr>
                        <a:t>maker</a:t>
                      </a:r>
                      <a:endParaRPr lang="es-MX" sz="1800" dirty="0" smtClean="0">
                        <a:latin typeface="Arial Rounded MT Bold" panose="020F0704030504030204" pitchFamily="34" charset="0"/>
                      </a:endParaRPr>
                    </a:p>
                    <a:p>
                      <a:pPr marL="285750" indent="-285750" algn="just" fontAlgn="ctr">
                        <a:buFont typeface="Arial" panose="020B0604020202020204" pitchFamily="34" charset="0"/>
                        <a:buChar char="•"/>
                      </a:pP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114761" marR="4782" marT="4782" marB="0" anchor="ctr"/>
                </a:tc>
                <a:extLst>
                  <a:ext uri="{0D108BD9-81ED-4DB2-BD59-A6C34878D82A}">
                    <a16:rowId xmlns:a16="http://schemas.microsoft.com/office/drawing/2014/main" val="2484773483"/>
                  </a:ext>
                </a:extLst>
              </a:tr>
            </a:tbl>
          </a:graphicData>
        </a:graphic>
      </p:graphicFrame>
      <p:pic>
        <p:nvPicPr>
          <p:cNvPr id="4" name="Picture 4" descr="ANSL » Lanzan Desafío Maker: “Un espacio para la creación” para todas las  escuelas de la provinci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432" b="68545" l="20000" r="80794">
                        <a14:foregroundMark x1="22063" y1="63850" x2="25397" y2="45540"/>
                        <a14:foregroundMark x1="34603" y1="63850" x2="40317" y2="64319"/>
                        <a14:foregroundMark x1="43651" y1="63380" x2="54762" y2="63380"/>
                        <a14:foregroundMark x1="60317" y1="63615" x2="76984" y2="62676"/>
                        <a14:foregroundMark x1="77778" y1="62207" x2="75714" y2="55399"/>
                        <a14:foregroundMark x1="76349" y1="54930" x2="77778" y2="52347"/>
                        <a14:foregroundMark x1="34603" y1="32629" x2="36032" y2="42723"/>
                        <a14:foregroundMark x1="36032" y1="43662" x2="39365" y2="38967"/>
                        <a14:foregroundMark x1="41587" y1="37559" x2="41587" y2="37559"/>
                        <a14:foregroundMark x1="47460" y1="38498" x2="47460" y2="38498"/>
                        <a14:foregroundMark x1="47460" y1="38498" x2="47302" y2="33568"/>
                        <a14:foregroundMark x1="44762" y1="42958" x2="47619" y2="43662"/>
                        <a14:foregroundMark x1="50952" y1="42254" x2="51746" y2="36385"/>
                        <a14:foregroundMark x1="55238" y1="42723" x2="54286" y2="34038"/>
                        <a14:foregroundMark x1="54762" y1="34507" x2="57460" y2="33803"/>
                        <a14:foregroundMark x1="55397" y1="38263" x2="57143" y2="38263"/>
                        <a14:foregroundMark x1="59365" y1="35446" x2="59524" y2="42958"/>
                        <a14:foregroundMark x1="49841" y1="34038" x2="53810" y2="18545"/>
                        <a14:foregroundMark x1="49683" y1="34038" x2="47143" y2="19953"/>
                        <a14:foregroundMark x1="48571" y1="32864" x2="45397" y2="22066"/>
                        <a14:foregroundMark x1="45873" y1="21127" x2="52857" y2="16667"/>
                        <a14:foregroundMark x1="52857" y1="16901" x2="58095" y2="22770"/>
                        <a14:foregroundMark x1="58254" y1="23239" x2="56032" y2="30986"/>
                        <a14:foregroundMark x1="55873" y1="31455" x2="51270" y2="34507"/>
                        <a14:foregroundMark x1="56349" y1="32629" x2="66349" y2="33568"/>
                        <a14:foregroundMark x1="66349" y1="33568" x2="78889" y2="50469"/>
                        <a14:foregroundMark x1="78730" y1="50939" x2="79048" y2="64789"/>
                        <a14:foregroundMark x1="79048" y1="64789" x2="73968" y2="65962"/>
                        <a14:foregroundMark x1="73651" y1="65962" x2="30159" y2="65962"/>
                        <a14:foregroundMark x1="30159" y1="65493" x2="20000" y2="65493"/>
                        <a14:foregroundMark x1="20635" y1="65493" x2="24603" y2="42254"/>
                        <a14:foregroundMark x1="24603" y1="42723" x2="33492" y2="43662"/>
                        <a14:foregroundMark x1="33810" y1="43897" x2="32222" y2="29812"/>
                        <a14:foregroundMark x1="32381" y1="29812" x2="46190" y2="32629"/>
                        <a14:foregroundMark x1="42222" y1="35915" x2="48413" y2="54930"/>
                        <a14:foregroundMark x1="35873" y1="50704" x2="41746" y2="39906"/>
                        <a14:foregroundMark x1="60159" y1="36150" x2="65714" y2="41549"/>
                        <a14:foregroundMark x1="36508" y1="35681" x2="38413" y2="39671"/>
                        <a14:foregroundMark x1="47302" y1="44131" x2="60794" y2="44131"/>
                        <a14:backgroundMark x1="32222" y1="71362" x2="72222" y2="70892"/>
                        <a14:backgroundMark x1="31270" y1="70188" x2="54127" y2="699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005" t="14990" r="21286" b="34018"/>
          <a:stretch/>
        </p:blipFill>
        <p:spPr bwMode="auto">
          <a:xfrm rot="19795234">
            <a:off x="152489" y="682147"/>
            <a:ext cx="3242616" cy="1937393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716" b="94249" l="9903" r="8990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9638"/>
          <a:stretch/>
        </p:blipFill>
        <p:spPr>
          <a:xfrm rot="4684387">
            <a:off x="815978" y="3477814"/>
            <a:ext cx="2449285" cy="365394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8730"/>
          <a:stretch/>
        </p:blipFill>
        <p:spPr>
          <a:xfrm>
            <a:off x="10925315" y="205053"/>
            <a:ext cx="1120696" cy="109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727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177495"/>
              </p:ext>
            </p:extLst>
          </p:nvPr>
        </p:nvGraphicFramePr>
        <p:xfrm>
          <a:off x="1563774" y="1828136"/>
          <a:ext cx="9454662" cy="3701807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2327031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7127631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139742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O" sz="20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Transferencia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800" b="1" dirty="0">
                          <a:latin typeface="Arial Rounded MT Bold" panose="020F0704030504030204" pitchFamily="34" charset="0"/>
                        </a:rPr>
                        <a:t>Socialización: </a:t>
                      </a:r>
                      <a:r>
                        <a:rPr lang="es-MX" sz="1800" dirty="0">
                          <a:latin typeface="Arial Rounded MT Bold" panose="020F0704030504030204" pitchFamily="34" charset="0"/>
                        </a:rPr>
                        <a:t>Se han diseñado mecanismos para la comunicación institucional y la participación en eventos externos</a:t>
                      </a:r>
                      <a:r>
                        <a:rPr lang="es-MX" sz="1800" dirty="0" smtClean="0">
                          <a:latin typeface="Arial Rounded MT Bold" panose="020F0704030504030204" pitchFamily="34" charset="0"/>
                        </a:rPr>
                        <a:t>.</a:t>
                      </a:r>
                      <a:endParaRPr lang="es-MX" sz="1800" dirty="0">
                        <a:latin typeface="Arial Rounded MT Bold" panose="020F070403050403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2878609262"/>
                  </a:ext>
                </a:extLst>
              </a:tr>
              <a:tr h="2304383">
                <a:tc vMerge="1">
                  <a:txBody>
                    <a:bodyPr/>
                    <a:lstStyle/>
                    <a:p>
                      <a:pPr algn="l" fontAlgn="ctr"/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dirty="0" err="1" smtClean="0">
                          <a:latin typeface="Arial Rounded MT Bold" panose="020F0704030504030204" pitchFamily="34" charset="0"/>
                        </a:rPr>
                        <a:t>Replicabilidad</a:t>
                      </a:r>
                      <a:r>
                        <a:rPr lang="es-MX" sz="1800" b="1" dirty="0" smtClean="0">
                          <a:latin typeface="Arial Rounded MT Bold" panose="020F0704030504030204" pitchFamily="34" charset="0"/>
                        </a:rPr>
                        <a:t>: </a:t>
                      </a:r>
                      <a:r>
                        <a:rPr lang="es-MX" sz="1800" dirty="0" smtClean="0">
                          <a:latin typeface="Arial Rounded MT Bold" panose="020F0704030504030204" pitchFamily="34" charset="0"/>
                        </a:rPr>
                        <a:t>La propuesta está organizada para ser vinculada por otros docentes y replicada en diferentes contextos.</a:t>
                      </a:r>
                    </a:p>
                    <a:p>
                      <a:pPr algn="just"/>
                      <a:endParaRPr lang="es-MX" sz="1800" dirty="0">
                        <a:latin typeface="Arial Rounded MT Bold" panose="020F070403050403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1626049214"/>
                  </a:ext>
                </a:extLst>
              </a:tr>
            </a:tbl>
          </a:graphicData>
        </a:graphic>
      </p:graphicFrame>
      <p:pic>
        <p:nvPicPr>
          <p:cNvPr id="4" name="Picture 4" descr="ANSL » Lanzan Desafío Maker: “Un espacio para la creación” para todas las  escuelas de la provinci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432" b="68545" l="20000" r="80794">
                        <a14:foregroundMark x1="22063" y1="63850" x2="25397" y2="45540"/>
                        <a14:foregroundMark x1="34603" y1="63850" x2="40317" y2="64319"/>
                        <a14:foregroundMark x1="43651" y1="63380" x2="54762" y2="63380"/>
                        <a14:foregroundMark x1="60317" y1="63615" x2="76984" y2="62676"/>
                        <a14:foregroundMark x1="77778" y1="62207" x2="75714" y2="55399"/>
                        <a14:foregroundMark x1="76349" y1="54930" x2="77778" y2="52347"/>
                        <a14:foregroundMark x1="34603" y1="32629" x2="36032" y2="42723"/>
                        <a14:foregroundMark x1="36032" y1="43662" x2="39365" y2="38967"/>
                        <a14:foregroundMark x1="41587" y1="37559" x2="41587" y2="37559"/>
                        <a14:foregroundMark x1="47460" y1="38498" x2="47460" y2="38498"/>
                        <a14:foregroundMark x1="47460" y1="38498" x2="47302" y2="33568"/>
                        <a14:foregroundMark x1="44762" y1="42958" x2="47619" y2="43662"/>
                        <a14:foregroundMark x1="50952" y1="42254" x2="51746" y2="36385"/>
                        <a14:foregroundMark x1="55238" y1="42723" x2="54286" y2="34038"/>
                        <a14:foregroundMark x1="54762" y1="34507" x2="57460" y2="33803"/>
                        <a14:foregroundMark x1="55397" y1="38263" x2="57143" y2="38263"/>
                        <a14:foregroundMark x1="59365" y1="35446" x2="59524" y2="42958"/>
                        <a14:foregroundMark x1="49841" y1="34038" x2="53810" y2="18545"/>
                        <a14:foregroundMark x1="49683" y1="34038" x2="47143" y2="19953"/>
                        <a14:foregroundMark x1="48571" y1="32864" x2="45397" y2="22066"/>
                        <a14:foregroundMark x1="45873" y1="21127" x2="52857" y2="16667"/>
                        <a14:foregroundMark x1="52857" y1="16901" x2="58095" y2="22770"/>
                        <a14:foregroundMark x1="58254" y1="23239" x2="56032" y2="30986"/>
                        <a14:foregroundMark x1="55873" y1="31455" x2="51270" y2="34507"/>
                        <a14:foregroundMark x1="56349" y1="32629" x2="66349" y2="33568"/>
                        <a14:foregroundMark x1="66349" y1="33568" x2="78889" y2="50469"/>
                        <a14:foregroundMark x1="78730" y1="50939" x2="79048" y2="64789"/>
                        <a14:foregroundMark x1="79048" y1="64789" x2="73968" y2="65962"/>
                        <a14:foregroundMark x1="73651" y1="65962" x2="30159" y2="65962"/>
                        <a14:foregroundMark x1="30159" y1="65493" x2="20000" y2="65493"/>
                        <a14:foregroundMark x1="20635" y1="65493" x2="24603" y2="42254"/>
                        <a14:foregroundMark x1="24603" y1="42723" x2="33492" y2="43662"/>
                        <a14:foregroundMark x1="33810" y1="43897" x2="32222" y2="29812"/>
                        <a14:foregroundMark x1="32381" y1="29812" x2="46190" y2="32629"/>
                        <a14:foregroundMark x1="42222" y1="35915" x2="48413" y2="54930"/>
                        <a14:foregroundMark x1="35873" y1="50704" x2="41746" y2="39906"/>
                        <a14:foregroundMark x1="60159" y1="36150" x2="65714" y2="41549"/>
                        <a14:foregroundMark x1="36508" y1="35681" x2="38413" y2="39671"/>
                        <a14:foregroundMark x1="47302" y1="44131" x2="60794" y2="44131"/>
                        <a14:backgroundMark x1="32222" y1="71362" x2="72222" y2="70892"/>
                        <a14:backgroundMark x1="31270" y1="70188" x2="54127" y2="699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005" t="14990" r="21286" b="34018"/>
          <a:stretch/>
        </p:blipFill>
        <p:spPr bwMode="auto">
          <a:xfrm rot="19795234">
            <a:off x="152489" y="682147"/>
            <a:ext cx="3242616" cy="1937393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53"/>
          <a:stretch/>
        </p:blipFill>
        <p:spPr>
          <a:xfrm>
            <a:off x="1251859" y="4206704"/>
            <a:ext cx="2699656" cy="244446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8730"/>
          <a:stretch/>
        </p:blipFill>
        <p:spPr>
          <a:xfrm>
            <a:off x="10925315" y="205053"/>
            <a:ext cx="1120696" cy="109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669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739117"/>
              </p:ext>
            </p:extLst>
          </p:nvPr>
        </p:nvGraphicFramePr>
        <p:xfrm>
          <a:off x="1773797" y="1816591"/>
          <a:ext cx="8868507" cy="3408552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2773401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6095106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170427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O" sz="20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Sostenibilidad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800" b="1" dirty="0">
                          <a:latin typeface="Arial Rounded MT Bold" panose="020F0704030504030204" pitchFamily="34" charset="0"/>
                        </a:rPr>
                        <a:t>Institucionalización: </a:t>
                      </a:r>
                      <a:r>
                        <a:rPr lang="es-MX" sz="1800" dirty="0">
                          <a:latin typeface="Arial Rounded MT Bold" panose="020F0704030504030204" pitchFamily="34" charset="0"/>
                        </a:rPr>
                        <a:t>Integración oficial al currículo con espacios semanales asignados</a:t>
                      </a:r>
                      <a:r>
                        <a:rPr lang="es-MX" sz="1800" dirty="0" smtClean="0">
                          <a:latin typeface="Arial Rounded MT Bold" panose="020F0704030504030204" pitchFamily="34" charset="0"/>
                        </a:rPr>
                        <a:t>.</a:t>
                      </a:r>
                      <a:endParaRPr lang="es-MX" sz="1800" dirty="0">
                        <a:latin typeface="Arial Rounded MT Bold" panose="020F070403050403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648028817"/>
                  </a:ext>
                </a:extLst>
              </a:tr>
              <a:tr h="1704276">
                <a:tc vMerge="1">
                  <a:txBody>
                    <a:bodyPr/>
                    <a:lstStyle/>
                    <a:p>
                      <a:pPr algn="l" fontAlgn="ctr"/>
                      <a:endParaRPr lang="es-CO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dirty="0" smtClean="0">
                          <a:latin typeface="Arial Rounded MT Bold" panose="020F0704030504030204" pitchFamily="34" charset="0"/>
                        </a:rPr>
                        <a:t>Proyección: </a:t>
                      </a:r>
                      <a:r>
                        <a:rPr lang="es-MX" sz="1800" dirty="0" smtClean="0">
                          <a:latin typeface="Arial Rounded MT Bold" panose="020F0704030504030204" pitchFamily="34" charset="0"/>
                        </a:rPr>
                        <a:t>Difusión permanente y gestión institucional para asegurar los recursos y la continuidad del equipo </a:t>
                      </a:r>
                      <a:r>
                        <a:rPr lang="es-MX" sz="1800" dirty="0" err="1" smtClean="0">
                          <a:latin typeface="Arial Rounded MT Bold" panose="020F0704030504030204" pitchFamily="34" charset="0"/>
                        </a:rPr>
                        <a:t>maker</a:t>
                      </a:r>
                      <a:r>
                        <a:rPr lang="es-MX" sz="1800" dirty="0" smtClean="0">
                          <a:latin typeface="Arial Rounded MT Bold" panose="020F0704030504030204" pitchFamily="34" charset="0"/>
                        </a:rPr>
                        <a:t>.</a:t>
                      </a:r>
                    </a:p>
                    <a:p>
                      <a:pPr algn="just"/>
                      <a:endParaRPr lang="es-MX" sz="1800" dirty="0">
                        <a:latin typeface="Arial Rounded MT Bold" panose="020F0704030504030204" pitchFamily="34" charset="0"/>
                      </a:endParaRP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3331269323"/>
                  </a:ext>
                </a:extLst>
              </a:tr>
            </a:tbl>
          </a:graphicData>
        </a:graphic>
      </p:graphicFrame>
      <p:pic>
        <p:nvPicPr>
          <p:cNvPr id="4" name="Picture 4" descr="ANSL » Lanzan Desafío Maker: “Un espacio para la creación” para todas las  escuelas de la provinci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432" b="68545" l="20000" r="80794">
                        <a14:foregroundMark x1="22063" y1="63850" x2="25397" y2="45540"/>
                        <a14:foregroundMark x1="34603" y1="63850" x2="40317" y2="64319"/>
                        <a14:foregroundMark x1="43651" y1="63380" x2="54762" y2="63380"/>
                        <a14:foregroundMark x1="60317" y1="63615" x2="76984" y2="62676"/>
                        <a14:foregroundMark x1="77778" y1="62207" x2="75714" y2="55399"/>
                        <a14:foregroundMark x1="76349" y1="54930" x2="77778" y2="52347"/>
                        <a14:foregroundMark x1="34603" y1="32629" x2="36032" y2="42723"/>
                        <a14:foregroundMark x1="36032" y1="43662" x2="39365" y2="38967"/>
                        <a14:foregroundMark x1="41587" y1="37559" x2="41587" y2="37559"/>
                        <a14:foregroundMark x1="47460" y1="38498" x2="47460" y2="38498"/>
                        <a14:foregroundMark x1="47460" y1="38498" x2="47302" y2="33568"/>
                        <a14:foregroundMark x1="44762" y1="42958" x2="47619" y2="43662"/>
                        <a14:foregroundMark x1="50952" y1="42254" x2="51746" y2="36385"/>
                        <a14:foregroundMark x1="55238" y1="42723" x2="54286" y2="34038"/>
                        <a14:foregroundMark x1="54762" y1="34507" x2="57460" y2="33803"/>
                        <a14:foregroundMark x1="55397" y1="38263" x2="57143" y2="38263"/>
                        <a14:foregroundMark x1="59365" y1="35446" x2="59524" y2="42958"/>
                        <a14:foregroundMark x1="49841" y1="34038" x2="53810" y2="18545"/>
                        <a14:foregroundMark x1="49683" y1="34038" x2="47143" y2="19953"/>
                        <a14:foregroundMark x1="48571" y1="32864" x2="45397" y2="22066"/>
                        <a14:foregroundMark x1="45873" y1="21127" x2="52857" y2="16667"/>
                        <a14:foregroundMark x1="52857" y1="16901" x2="58095" y2="22770"/>
                        <a14:foregroundMark x1="58254" y1="23239" x2="56032" y2="30986"/>
                        <a14:foregroundMark x1="55873" y1="31455" x2="51270" y2="34507"/>
                        <a14:foregroundMark x1="56349" y1="32629" x2="66349" y2="33568"/>
                        <a14:foregroundMark x1="66349" y1="33568" x2="78889" y2="50469"/>
                        <a14:foregroundMark x1="78730" y1="50939" x2="79048" y2="64789"/>
                        <a14:foregroundMark x1="79048" y1="64789" x2="73968" y2="65962"/>
                        <a14:foregroundMark x1="73651" y1="65962" x2="30159" y2="65962"/>
                        <a14:foregroundMark x1="30159" y1="65493" x2="20000" y2="65493"/>
                        <a14:foregroundMark x1="20635" y1="65493" x2="24603" y2="42254"/>
                        <a14:foregroundMark x1="24603" y1="42723" x2="33492" y2="43662"/>
                        <a14:foregroundMark x1="33810" y1="43897" x2="32222" y2="29812"/>
                        <a14:foregroundMark x1="32381" y1="29812" x2="46190" y2="32629"/>
                        <a14:foregroundMark x1="42222" y1="35915" x2="48413" y2="54930"/>
                        <a14:foregroundMark x1="35873" y1="50704" x2="41746" y2="39906"/>
                        <a14:foregroundMark x1="60159" y1="36150" x2="65714" y2="41549"/>
                        <a14:foregroundMark x1="36508" y1="35681" x2="38413" y2="39671"/>
                        <a14:foregroundMark x1="47302" y1="44131" x2="60794" y2="44131"/>
                        <a14:backgroundMark x1="32222" y1="71362" x2="72222" y2="70892"/>
                        <a14:backgroundMark x1="31270" y1="70188" x2="54127" y2="699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005" t="14990" r="21286" b="34018"/>
          <a:stretch/>
        </p:blipFill>
        <p:spPr bwMode="auto">
          <a:xfrm rot="19795234">
            <a:off x="152489" y="682147"/>
            <a:ext cx="3242616" cy="1937393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8400" b="80200" l="19111" r="80222">
                        <a14:foregroundMark x1="38556" y1="36600" x2="38556" y2="36600"/>
                        <a14:foregroundMark x1="54556" y1="24600" x2="54556" y2="24600"/>
                        <a14:foregroundMark x1="55778" y1="44400" x2="55778" y2="44400"/>
                        <a14:foregroundMark x1="60556" y1="50400" x2="60556" y2="504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539" t="16225" r="17401" b="12522"/>
          <a:stretch/>
        </p:blipFill>
        <p:spPr>
          <a:xfrm>
            <a:off x="4061731" y="4582886"/>
            <a:ext cx="3887870" cy="2365516"/>
          </a:xfrm>
          <a:prstGeom prst="rect">
            <a:avLst/>
          </a:prstGeom>
          <a:effectLst/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8730"/>
          <a:stretch/>
        </p:blipFill>
        <p:spPr>
          <a:xfrm>
            <a:off x="10925315" y="205053"/>
            <a:ext cx="1120696" cy="109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353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494751"/>
              </p:ext>
            </p:extLst>
          </p:nvPr>
        </p:nvGraphicFramePr>
        <p:xfrm>
          <a:off x="1430110" y="1920020"/>
          <a:ext cx="9648825" cy="3017959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2420878">
                  <a:extLst>
                    <a:ext uri="{9D8B030D-6E8A-4147-A177-3AD203B41FA5}">
                      <a16:colId xmlns:a16="http://schemas.microsoft.com/office/drawing/2014/main" val="2667395497"/>
                    </a:ext>
                  </a:extLst>
                </a:gridCol>
                <a:gridCol w="7227947">
                  <a:extLst>
                    <a:ext uri="{9D8B030D-6E8A-4147-A177-3AD203B41FA5}">
                      <a16:colId xmlns:a16="http://schemas.microsoft.com/office/drawing/2014/main" val="539675217"/>
                    </a:ext>
                  </a:extLst>
                </a:gridCol>
              </a:tblGrid>
              <a:tr h="124666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O" sz="2000" b="1" u="none" strike="noStrike" dirty="0">
                          <a:effectLst/>
                          <a:latin typeface="Arial Rounded MT Bold" panose="020F0704030504030204" pitchFamily="34" charset="0"/>
                        </a:rPr>
                        <a:t>Innovación</a:t>
                      </a:r>
                      <a:endParaRPr lang="es-CO" sz="1800" b="1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4782" marR="4782" marT="4782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b="1" dirty="0" smtClean="0">
                          <a:latin typeface="Arial Rounded MT Bold" panose="020F0704030504030204" pitchFamily="34" charset="0"/>
                        </a:rPr>
                        <a:t>Gestión Pedagógica: </a:t>
                      </a:r>
                      <a:r>
                        <a:rPr lang="es-MX" sz="1800" dirty="0" smtClean="0">
                          <a:latin typeface="Arial Rounded MT Bold" panose="020F0704030504030204" pitchFamily="34" charset="0"/>
                        </a:rPr>
                        <a:t>Reorganiza la enseñanza de las matemáticas mediante la experimentación y el uso de herramientas digitales.</a:t>
                      </a:r>
                    </a:p>
                  </a:txBody>
                  <a:tcPr marL="4782" marR="4782" marT="4782" marB="0" anchor="ctr"/>
                </a:tc>
                <a:extLst>
                  <a:ext uri="{0D108BD9-81ED-4DB2-BD59-A6C34878D82A}">
                    <a16:rowId xmlns:a16="http://schemas.microsoft.com/office/drawing/2014/main" val="1990812606"/>
                  </a:ext>
                </a:extLst>
              </a:tr>
              <a:tr h="177129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800" b="1" dirty="0" smtClean="0">
                          <a:latin typeface="Arial Rounded MT Bold" panose="020F0704030504030204" pitchFamily="34" charset="0"/>
                        </a:rPr>
                        <a:t>Aporte</a:t>
                      </a:r>
                      <a:r>
                        <a:rPr lang="es-MX" sz="1800" b="1" dirty="0">
                          <a:latin typeface="Arial Rounded MT Bold" panose="020F0704030504030204" pitchFamily="34" charset="0"/>
                        </a:rPr>
                        <a:t>: </a:t>
                      </a:r>
                      <a:r>
                        <a:rPr lang="es-MX" sz="1800" dirty="0">
                          <a:latin typeface="Arial Rounded MT Bold" panose="020F0704030504030204" pitchFamily="34" charset="0"/>
                        </a:rPr>
                        <a:t>Trasciende la enseñanza tradicional al crear un modelo inclusivo y tecnológico adaptado a la realidad rural.</a:t>
                      </a:r>
                    </a:p>
                    <a:p>
                      <a:pPr algn="just" fontAlgn="ctr"/>
                      <a:endParaRPr lang="es-ES" sz="1800" b="0" i="0" u="none" strike="noStrike" dirty="0">
                        <a:solidFill>
                          <a:srgbClr val="000000"/>
                        </a:solidFill>
                        <a:effectLst/>
                        <a:latin typeface="Arial Rounded MT Bold" panose="020F0704030504030204" pitchFamily="34" charset="0"/>
                      </a:endParaRPr>
                    </a:p>
                  </a:txBody>
                  <a:tcPr marL="114761" marR="4782" marT="4782" marB="0" anchor="ctr"/>
                </a:tc>
                <a:extLst>
                  <a:ext uri="{0D108BD9-81ED-4DB2-BD59-A6C34878D82A}">
                    <a16:rowId xmlns:a16="http://schemas.microsoft.com/office/drawing/2014/main" val="4166287931"/>
                  </a:ext>
                </a:extLst>
              </a:tr>
            </a:tbl>
          </a:graphicData>
        </a:graphic>
      </p:graphicFrame>
      <p:pic>
        <p:nvPicPr>
          <p:cNvPr id="4" name="Picture 4" descr="ANSL » Lanzan Desafío Maker: “Un espacio para la creación” para todas las  escuelas de la provinci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6432" b="68545" l="20000" r="80794">
                        <a14:foregroundMark x1="22063" y1="63850" x2="25397" y2="45540"/>
                        <a14:foregroundMark x1="34603" y1="63850" x2="40317" y2="64319"/>
                        <a14:foregroundMark x1="43651" y1="63380" x2="54762" y2="63380"/>
                        <a14:foregroundMark x1="60317" y1="63615" x2="76984" y2="62676"/>
                        <a14:foregroundMark x1="77778" y1="62207" x2="75714" y2="55399"/>
                        <a14:foregroundMark x1="76349" y1="54930" x2="77778" y2="52347"/>
                        <a14:foregroundMark x1="34603" y1="32629" x2="36032" y2="42723"/>
                        <a14:foregroundMark x1="36032" y1="43662" x2="39365" y2="38967"/>
                        <a14:foregroundMark x1="41587" y1="37559" x2="41587" y2="37559"/>
                        <a14:foregroundMark x1="47460" y1="38498" x2="47460" y2="38498"/>
                        <a14:foregroundMark x1="47460" y1="38498" x2="47302" y2="33568"/>
                        <a14:foregroundMark x1="44762" y1="42958" x2="47619" y2="43662"/>
                        <a14:foregroundMark x1="50952" y1="42254" x2="51746" y2="36385"/>
                        <a14:foregroundMark x1="55238" y1="42723" x2="54286" y2="34038"/>
                        <a14:foregroundMark x1="54762" y1="34507" x2="57460" y2="33803"/>
                        <a14:foregroundMark x1="55397" y1="38263" x2="57143" y2="38263"/>
                        <a14:foregroundMark x1="59365" y1="35446" x2="59524" y2="42958"/>
                        <a14:foregroundMark x1="49841" y1="34038" x2="53810" y2="18545"/>
                        <a14:foregroundMark x1="49683" y1="34038" x2="47143" y2="19953"/>
                        <a14:foregroundMark x1="48571" y1="32864" x2="45397" y2="22066"/>
                        <a14:foregroundMark x1="45873" y1="21127" x2="52857" y2="16667"/>
                        <a14:foregroundMark x1="52857" y1="16901" x2="58095" y2="22770"/>
                        <a14:foregroundMark x1="58254" y1="23239" x2="56032" y2="30986"/>
                        <a14:foregroundMark x1="55873" y1="31455" x2="51270" y2="34507"/>
                        <a14:foregroundMark x1="56349" y1="32629" x2="66349" y2="33568"/>
                        <a14:foregroundMark x1="66349" y1="33568" x2="78889" y2="50469"/>
                        <a14:foregroundMark x1="78730" y1="50939" x2="79048" y2="64789"/>
                        <a14:foregroundMark x1="79048" y1="64789" x2="73968" y2="65962"/>
                        <a14:foregroundMark x1="73651" y1="65962" x2="30159" y2="65962"/>
                        <a14:foregroundMark x1="30159" y1="65493" x2="20000" y2="65493"/>
                        <a14:foregroundMark x1="20635" y1="65493" x2="24603" y2="42254"/>
                        <a14:foregroundMark x1="24603" y1="42723" x2="33492" y2="43662"/>
                        <a14:foregroundMark x1="33810" y1="43897" x2="32222" y2="29812"/>
                        <a14:foregroundMark x1="32381" y1="29812" x2="46190" y2="32629"/>
                        <a14:foregroundMark x1="42222" y1="35915" x2="48413" y2="54930"/>
                        <a14:foregroundMark x1="35873" y1="50704" x2="41746" y2="39906"/>
                        <a14:foregroundMark x1="60159" y1="36150" x2="65714" y2="41549"/>
                        <a14:foregroundMark x1="36508" y1="35681" x2="38413" y2="39671"/>
                        <a14:foregroundMark x1="47302" y1="44131" x2="60794" y2="44131"/>
                        <a14:backgroundMark x1="32222" y1="71362" x2="72222" y2="70892"/>
                        <a14:backgroundMark x1="31270" y1="70188" x2="54127" y2="699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005" t="14990" r="21286" b="34018"/>
          <a:stretch/>
        </p:blipFill>
        <p:spPr bwMode="auto">
          <a:xfrm rot="19795234">
            <a:off x="152489" y="682147"/>
            <a:ext cx="3242616" cy="1937393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8730"/>
          <a:stretch/>
        </p:blipFill>
        <p:spPr>
          <a:xfrm>
            <a:off x="10925315" y="205053"/>
            <a:ext cx="1120696" cy="109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6680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449</Words>
  <Application>Microsoft Office PowerPoint</Application>
  <PresentationFormat>Panorámica</PresentationFormat>
  <Paragraphs>35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Arial Rounded MT 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Nombre de la Experiencia Significativa</dc:title>
  <dc:creator>Sebastian Santamaria</dc:creator>
  <cp:lastModifiedBy>CALIDAD-MEJORAMIENTO</cp:lastModifiedBy>
  <cp:revision>29</cp:revision>
  <dcterms:created xsi:type="dcterms:W3CDTF">2025-07-23T15:35:07Z</dcterms:created>
  <dcterms:modified xsi:type="dcterms:W3CDTF">2026-06-10T17:42:21Z</dcterms:modified>
</cp:coreProperties>
</file>