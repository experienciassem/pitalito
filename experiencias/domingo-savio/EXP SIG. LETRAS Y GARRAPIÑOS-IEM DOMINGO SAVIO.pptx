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Open Sans Bold" panose="020B0604020202020204" charset="0"/>
      <p:regular r:id="rId16"/>
    </p:embeddedFont>
    <p:embeddedFont>
      <p:font typeface="Phongphrai Semi-Bold" panose="020B0604020202020204" charset="-34"/>
      <p:regular r:id="rId17"/>
    </p:embeddedFont>
    <p:embeddedFont>
      <p:font typeface="Inter Semi-Bold" panose="020B0604020202020204" charset="0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Inter" panose="020B0604020202020204" charset="0"/>
      <p:regular r:id="rId23"/>
    </p:embeddedFont>
    <p:embeddedFont>
      <p:font typeface="Inter Medium" panose="020B0604020202020204" charset="0"/>
      <p:regular r:id="rId24"/>
    </p:embeddedFont>
    <p:embeddedFont>
      <p:font typeface="DM Sans" panose="020B0604020202020204" charset="0"/>
      <p:regular r:id="rId25"/>
    </p:embeddedFont>
    <p:embeddedFont>
      <p:font typeface="Inter Bold" panose="020B0604020202020204" charset="0"/>
      <p:regular r:id="rId26"/>
    </p:embeddedFont>
    <p:embeddedFont>
      <p:font typeface="Bugaki" panose="020B0604020202020204" charset="0"/>
      <p:regular r:id="rId27"/>
    </p:embeddedFont>
    <p:embeddedFont>
      <p:font typeface="League Spartan" panose="020B0604020202020204" charset="0"/>
      <p:regular r:id="rId28"/>
    </p:embeddedFont>
    <p:embeddedFont>
      <p:font typeface="Lazydog" panose="020B0604020202020204" charset="0"/>
      <p:regular r:id="rId29"/>
    </p:embeddedFont>
    <p:embeddedFont>
      <p:font typeface="Open Sans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6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7.png"/><Relationship Id="rId18" Type="http://schemas.openxmlformats.org/officeDocument/2006/relationships/image" Target="../media/image17.svg"/><Relationship Id="rId3" Type="http://schemas.openxmlformats.org/officeDocument/2006/relationships/image" Target="../media/image2.png"/><Relationship Id="rId21" Type="http://schemas.openxmlformats.org/officeDocument/2006/relationships/image" Target="../media/image11.png"/><Relationship Id="rId7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9.png"/><Relationship Id="rId2" Type="http://schemas.openxmlformats.org/officeDocument/2006/relationships/image" Target="../media/image1.jpe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10" Type="http://schemas.openxmlformats.org/officeDocument/2006/relationships/image" Target="../media/image9.svg"/><Relationship Id="rId19" Type="http://schemas.openxmlformats.org/officeDocument/2006/relationships/image" Target="../media/image10.png"/><Relationship Id="rId4" Type="http://schemas.openxmlformats.org/officeDocument/2006/relationships/image" Target="../media/image3.svg"/><Relationship Id="rId9" Type="http://schemas.openxmlformats.org/officeDocument/2006/relationships/image" Target="../media/image5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0.png"/><Relationship Id="rId4" Type="http://schemas.openxmlformats.org/officeDocument/2006/relationships/image" Target="../media/image2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15.png"/><Relationship Id="rId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11" Type="http://schemas.openxmlformats.org/officeDocument/2006/relationships/image" Target="../media/image12.png"/><Relationship Id="rId5" Type="http://schemas.openxmlformats.org/officeDocument/2006/relationships/image" Target="../media/image18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5" Type="http://schemas.openxmlformats.org/officeDocument/2006/relationships/image" Target="../media/image22.png"/><Relationship Id="rId4" Type="http://schemas.openxmlformats.org/officeDocument/2006/relationships/image" Target="../media/image3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5" Type="http://schemas.openxmlformats.org/officeDocument/2006/relationships/image" Target="../media/image22.png"/><Relationship Id="rId4" Type="http://schemas.openxmlformats.org/officeDocument/2006/relationships/image" Target="../media/image3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5" Type="http://schemas.openxmlformats.org/officeDocument/2006/relationships/image" Target="../media/image18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7.png"/><Relationship Id="rId18" Type="http://schemas.openxmlformats.org/officeDocument/2006/relationships/image" Target="../media/image17.svg"/><Relationship Id="rId3" Type="http://schemas.openxmlformats.org/officeDocument/2006/relationships/image" Target="../media/image2.png"/><Relationship Id="rId21" Type="http://schemas.openxmlformats.org/officeDocument/2006/relationships/image" Target="../media/image11.png"/><Relationship Id="rId7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9.png"/><Relationship Id="rId2" Type="http://schemas.openxmlformats.org/officeDocument/2006/relationships/image" Target="../media/image1.jpe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10" Type="http://schemas.openxmlformats.org/officeDocument/2006/relationships/image" Target="../media/image9.svg"/><Relationship Id="rId19" Type="http://schemas.openxmlformats.org/officeDocument/2006/relationships/image" Target="../media/image10.png"/><Relationship Id="rId4" Type="http://schemas.openxmlformats.org/officeDocument/2006/relationships/image" Target="../media/image3.svg"/><Relationship Id="rId9" Type="http://schemas.openxmlformats.org/officeDocument/2006/relationships/image" Target="../media/image5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768319" y="6317931"/>
            <a:ext cx="10751362" cy="1174854"/>
            <a:chOff x="0" y="0"/>
            <a:chExt cx="2866368" cy="3132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66368" cy="313222"/>
            </a:xfrm>
            <a:custGeom>
              <a:avLst/>
              <a:gdLst/>
              <a:ahLst/>
              <a:cxnLst/>
              <a:rect l="l" t="t" r="r" b="b"/>
              <a:pathLst>
                <a:path w="2866368" h="313222">
                  <a:moveTo>
                    <a:pt x="10081" y="0"/>
                  </a:moveTo>
                  <a:lnTo>
                    <a:pt x="2856287" y="0"/>
                  </a:lnTo>
                  <a:cubicBezTo>
                    <a:pt x="2861855" y="0"/>
                    <a:pt x="2866368" y="4514"/>
                    <a:pt x="2866368" y="10081"/>
                  </a:cubicBezTo>
                  <a:lnTo>
                    <a:pt x="2866368" y="303141"/>
                  </a:lnTo>
                  <a:cubicBezTo>
                    <a:pt x="2866368" y="308709"/>
                    <a:pt x="2861855" y="313222"/>
                    <a:pt x="2856287" y="313222"/>
                  </a:cubicBezTo>
                  <a:lnTo>
                    <a:pt x="10081" y="313222"/>
                  </a:lnTo>
                  <a:cubicBezTo>
                    <a:pt x="4514" y="313222"/>
                    <a:pt x="0" y="308709"/>
                    <a:pt x="0" y="303141"/>
                  </a:cubicBezTo>
                  <a:lnTo>
                    <a:pt x="0" y="10081"/>
                  </a:lnTo>
                  <a:cubicBezTo>
                    <a:pt x="0" y="4514"/>
                    <a:pt x="4514" y="0"/>
                    <a:pt x="10081" y="0"/>
                  </a:cubicBezTo>
                  <a:close/>
                </a:path>
              </a:pathLst>
            </a:custGeom>
            <a:solidFill>
              <a:srgbClr val="FFDE8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866368" cy="3417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227191" y="-648590"/>
            <a:ext cx="3632203" cy="3183131"/>
          </a:xfrm>
          <a:custGeom>
            <a:avLst/>
            <a:gdLst/>
            <a:ahLst/>
            <a:cxnLst/>
            <a:rect l="l" t="t" r="r" b="b"/>
            <a:pathLst>
              <a:path w="3632203" h="3183131">
                <a:moveTo>
                  <a:pt x="0" y="0"/>
                </a:moveTo>
                <a:lnTo>
                  <a:pt x="3632204" y="0"/>
                </a:lnTo>
                <a:lnTo>
                  <a:pt x="3632204" y="3183130"/>
                </a:lnTo>
                <a:lnTo>
                  <a:pt x="0" y="31831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42419" y="8138603"/>
            <a:ext cx="3473198" cy="2873282"/>
          </a:xfrm>
          <a:custGeom>
            <a:avLst/>
            <a:gdLst/>
            <a:ahLst/>
            <a:cxnLst/>
            <a:rect l="l" t="t" r="r" b="b"/>
            <a:pathLst>
              <a:path w="3473198" h="2873282">
                <a:moveTo>
                  <a:pt x="0" y="0"/>
                </a:moveTo>
                <a:lnTo>
                  <a:pt x="3473198" y="0"/>
                </a:lnTo>
                <a:lnTo>
                  <a:pt x="3473198" y="2873281"/>
                </a:lnTo>
                <a:lnTo>
                  <a:pt x="0" y="28732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6022005" y="-562865"/>
            <a:ext cx="3813731" cy="3654248"/>
          </a:xfrm>
          <a:custGeom>
            <a:avLst/>
            <a:gdLst/>
            <a:ahLst/>
            <a:cxnLst/>
            <a:rect l="l" t="t" r="r" b="b"/>
            <a:pathLst>
              <a:path w="3813731" h="3654248">
                <a:moveTo>
                  <a:pt x="3813732" y="0"/>
                </a:moveTo>
                <a:lnTo>
                  <a:pt x="0" y="0"/>
                </a:lnTo>
                <a:lnTo>
                  <a:pt x="0" y="3654248"/>
                </a:lnTo>
                <a:lnTo>
                  <a:pt x="3813732" y="3654248"/>
                </a:lnTo>
                <a:lnTo>
                  <a:pt x="3813732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13627807" y="8730219"/>
            <a:ext cx="3955406" cy="2725634"/>
          </a:xfrm>
          <a:custGeom>
            <a:avLst/>
            <a:gdLst/>
            <a:ahLst/>
            <a:cxnLst/>
            <a:rect l="l" t="t" r="r" b="b"/>
            <a:pathLst>
              <a:path w="3955406" h="2725634">
                <a:moveTo>
                  <a:pt x="0" y="0"/>
                </a:moveTo>
                <a:lnTo>
                  <a:pt x="3955406" y="0"/>
                </a:lnTo>
                <a:lnTo>
                  <a:pt x="3955406" y="2725634"/>
                </a:lnTo>
                <a:lnTo>
                  <a:pt x="0" y="27256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 rot="360309">
            <a:off x="2652286" y="-883670"/>
            <a:ext cx="4270779" cy="2461522"/>
          </a:xfrm>
          <a:custGeom>
            <a:avLst/>
            <a:gdLst/>
            <a:ahLst/>
            <a:cxnLst/>
            <a:rect l="l" t="t" r="r" b="b"/>
            <a:pathLst>
              <a:path w="4270779" h="2461522">
                <a:moveTo>
                  <a:pt x="0" y="0"/>
                </a:moveTo>
                <a:lnTo>
                  <a:pt x="4270779" y="0"/>
                </a:lnTo>
                <a:lnTo>
                  <a:pt x="4270779" y="2461522"/>
                </a:lnTo>
                <a:lnTo>
                  <a:pt x="0" y="24615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6529963" y="6449237"/>
            <a:ext cx="3897074" cy="3266457"/>
          </a:xfrm>
          <a:custGeom>
            <a:avLst/>
            <a:gdLst/>
            <a:ahLst/>
            <a:cxnLst/>
            <a:rect l="l" t="t" r="r" b="b"/>
            <a:pathLst>
              <a:path w="3897074" h="3266457">
                <a:moveTo>
                  <a:pt x="0" y="0"/>
                </a:moveTo>
                <a:lnTo>
                  <a:pt x="3897074" y="0"/>
                </a:lnTo>
                <a:lnTo>
                  <a:pt x="3897074" y="3266457"/>
                </a:lnTo>
                <a:lnTo>
                  <a:pt x="0" y="326645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3421329" y="8920719"/>
            <a:ext cx="3216815" cy="2479872"/>
          </a:xfrm>
          <a:custGeom>
            <a:avLst/>
            <a:gdLst/>
            <a:ahLst/>
            <a:cxnLst/>
            <a:rect l="l" t="t" r="r" b="b"/>
            <a:pathLst>
              <a:path w="3216815" h="2479872">
                <a:moveTo>
                  <a:pt x="0" y="0"/>
                </a:moveTo>
                <a:lnTo>
                  <a:pt x="3216814" y="0"/>
                </a:lnTo>
                <a:lnTo>
                  <a:pt x="3216814" y="2479872"/>
                </a:lnTo>
                <a:lnTo>
                  <a:pt x="0" y="247987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TextBox 13"/>
          <p:cNvSpPr txBox="1"/>
          <p:nvPr/>
        </p:nvSpPr>
        <p:spPr>
          <a:xfrm>
            <a:off x="3433902" y="2622765"/>
            <a:ext cx="11420195" cy="3549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43"/>
              </a:lnSpc>
            </a:pPr>
            <a:r>
              <a:rPr lang="en-US" sz="11330" spc="-804">
                <a:solidFill>
                  <a:srgbClr val="522F24"/>
                </a:solidFill>
                <a:latin typeface="Bugaki"/>
                <a:ea typeface="Bugaki"/>
                <a:cs typeface="Bugaki"/>
                <a:sym typeface="Bugaki"/>
              </a:rPr>
              <a:t>LETRAS Y GARRAPIÑOS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37700" y="6404375"/>
            <a:ext cx="9812599" cy="82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6"/>
              </a:lnSpc>
            </a:pPr>
            <a:r>
              <a:rPr lang="en-US" sz="4450" b="1" spc="-155">
                <a:solidFill>
                  <a:srgbClr val="522F24"/>
                </a:solidFill>
                <a:latin typeface="Phongphrai Semi-Bold"/>
                <a:ea typeface="Phongphrai Semi-Bold"/>
                <a:cs typeface="Phongphrai Semi-Bold"/>
                <a:sym typeface="Phongphrai Semi-Bold"/>
              </a:rPr>
              <a:t>Construyen caminos de Paz</a:t>
            </a:r>
          </a:p>
        </p:txBody>
      </p:sp>
      <p:sp>
        <p:nvSpPr>
          <p:cNvPr id="15" name="Freeform 15"/>
          <p:cNvSpPr/>
          <p:nvPr/>
        </p:nvSpPr>
        <p:spPr>
          <a:xfrm>
            <a:off x="17583213" y="3699570"/>
            <a:ext cx="3170350" cy="2559167"/>
          </a:xfrm>
          <a:custGeom>
            <a:avLst/>
            <a:gdLst/>
            <a:ahLst/>
            <a:cxnLst/>
            <a:rect l="l" t="t" r="r" b="b"/>
            <a:pathLst>
              <a:path w="3170350" h="2559167">
                <a:moveTo>
                  <a:pt x="0" y="0"/>
                </a:moveTo>
                <a:lnTo>
                  <a:pt x="3170350" y="0"/>
                </a:lnTo>
                <a:lnTo>
                  <a:pt x="3170350" y="2559167"/>
                </a:lnTo>
                <a:lnTo>
                  <a:pt x="0" y="255916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xmlns="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 rot="5523116">
            <a:off x="11306177" y="-4050790"/>
            <a:ext cx="4318287" cy="5457551"/>
          </a:xfrm>
          <a:custGeom>
            <a:avLst/>
            <a:gdLst/>
            <a:ahLst/>
            <a:cxnLst/>
            <a:rect l="l" t="t" r="r" b="b"/>
            <a:pathLst>
              <a:path w="4318287" h="5457551">
                <a:moveTo>
                  <a:pt x="0" y="0"/>
                </a:moveTo>
                <a:lnTo>
                  <a:pt x="4318287" y="0"/>
                </a:lnTo>
                <a:lnTo>
                  <a:pt x="4318287" y="5457551"/>
                </a:lnTo>
                <a:lnTo>
                  <a:pt x="0" y="545755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xmlns="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 rot="-3404484">
            <a:off x="-2424187" y="3352508"/>
            <a:ext cx="3711902" cy="3581985"/>
          </a:xfrm>
          <a:custGeom>
            <a:avLst/>
            <a:gdLst/>
            <a:ahLst/>
            <a:cxnLst/>
            <a:rect l="l" t="t" r="r" b="b"/>
            <a:pathLst>
              <a:path w="3711902" h="3581985">
                <a:moveTo>
                  <a:pt x="0" y="0"/>
                </a:moveTo>
                <a:lnTo>
                  <a:pt x="3711902" y="0"/>
                </a:lnTo>
                <a:lnTo>
                  <a:pt x="3711902" y="3581984"/>
                </a:lnTo>
                <a:lnTo>
                  <a:pt x="0" y="358198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xmlns="" r:embed="rId2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 rot="5523116">
            <a:off x="7842768" y="8829322"/>
            <a:ext cx="4734728" cy="5983859"/>
          </a:xfrm>
          <a:custGeom>
            <a:avLst/>
            <a:gdLst/>
            <a:ahLst/>
            <a:cxnLst/>
            <a:rect l="l" t="t" r="r" b="b"/>
            <a:pathLst>
              <a:path w="4734728" h="5983859">
                <a:moveTo>
                  <a:pt x="0" y="0"/>
                </a:moveTo>
                <a:lnTo>
                  <a:pt x="4734728" y="0"/>
                </a:lnTo>
                <a:lnTo>
                  <a:pt x="4734728" y="5983858"/>
                </a:lnTo>
                <a:lnTo>
                  <a:pt x="0" y="598385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xmlns="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 rot="-2415080">
            <a:off x="7336171" y="-1842449"/>
            <a:ext cx="3170350" cy="2559167"/>
          </a:xfrm>
          <a:custGeom>
            <a:avLst/>
            <a:gdLst/>
            <a:ahLst/>
            <a:cxnLst/>
            <a:rect l="l" t="t" r="r" b="b"/>
            <a:pathLst>
              <a:path w="3170350" h="2559167">
                <a:moveTo>
                  <a:pt x="0" y="0"/>
                </a:moveTo>
                <a:lnTo>
                  <a:pt x="3170351" y="0"/>
                </a:lnTo>
                <a:lnTo>
                  <a:pt x="3170351" y="2559167"/>
                </a:lnTo>
                <a:lnTo>
                  <a:pt x="0" y="255916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xmlns="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0" name="AutoShape 20"/>
          <p:cNvSpPr/>
          <p:nvPr/>
        </p:nvSpPr>
        <p:spPr>
          <a:xfrm>
            <a:off x="5897880" y="5143500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21" name="Imagen 20"/>
          <p:cNvPicPr>
            <a:picLocks noChangeAspect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8730"/>
          <a:stretch/>
        </p:blipFill>
        <p:spPr>
          <a:xfrm>
            <a:off x="7773253" y="-190110"/>
            <a:ext cx="2741492" cy="26765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67482" y="2181976"/>
            <a:ext cx="7120518" cy="5476326"/>
          </a:xfrm>
          <a:custGeom>
            <a:avLst/>
            <a:gdLst/>
            <a:ahLst/>
            <a:cxnLst/>
            <a:rect l="l" t="t" r="r" b="b"/>
            <a:pathLst>
              <a:path w="7120518" h="5476326">
                <a:moveTo>
                  <a:pt x="0" y="0"/>
                </a:moveTo>
                <a:lnTo>
                  <a:pt x="7120518" y="0"/>
                </a:lnTo>
                <a:lnTo>
                  <a:pt x="7120518" y="5476326"/>
                </a:lnTo>
                <a:lnTo>
                  <a:pt x="0" y="54763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1504950" y="2048626"/>
            <a:ext cx="7515705" cy="196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20"/>
              </a:lnSpc>
            </a:pPr>
            <a:r>
              <a:rPr lang="en-US" sz="6000" spc="-252">
                <a:solidFill>
                  <a:srgbClr val="522F24"/>
                </a:solidFill>
                <a:latin typeface="Bugaki"/>
                <a:ea typeface="Bugaki"/>
                <a:cs typeface="Bugaki"/>
                <a:sym typeface="Bugaki"/>
              </a:rPr>
              <a:t>DATOS DE LA EXPERIENCIA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3455" y="4458179"/>
            <a:ext cx="11100240" cy="4559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9"/>
              </a:lnSpc>
            </a:pPr>
            <a:r>
              <a:rPr lang="en-US" sz="2363" b="1" spc="141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•La experiencia nace como una propuesta para apoyar el proceso lecto-escritor de los estudiantes, independientemente del nivel en que se encuentren, producto de la reflexión del grupo docente en cuanto a las dificultades generalizadas en las diferentes sedes educativas .</a:t>
            </a:r>
          </a:p>
          <a:p>
            <a:pPr algn="l">
              <a:lnSpc>
                <a:spcPts val="3309"/>
              </a:lnSpc>
            </a:pPr>
            <a:endParaRPr lang="en-US" sz="2363" b="1" spc="141">
              <a:solidFill>
                <a:srgbClr val="522F24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309"/>
              </a:lnSpc>
            </a:pPr>
            <a:r>
              <a:rPr lang="en-US" sz="2363" b="1" spc="141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En su proceso de transversalización se ha ido nutriendo con diversas clases de expresiones literarias que han trascendido dela estructura sintáctica y semántica que contienen, a una interacción de saberes, emociones y valores como la tolerancia y respeto.</a:t>
            </a:r>
          </a:p>
          <a:p>
            <a:pPr marL="0" lvl="0" indent="0" algn="l">
              <a:lnSpc>
                <a:spcPts val="3309"/>
              </a:lnSpc>
            </a:pPr>
            <a:endParaRPr lang="en-US" sz="2363" b="1" spc="141">
              <a:solidFill>
                <a:srgbClr val="522F24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6" name="Freeform 6"/>
          <p:cNvSpPr/>
          <p:nvPr/>
        </p:nvSpPr>
        <p:spPr>
          <a:xfrm rot="5400000">
            <a:off x="13403869" y="8106073"/>
            <a:ext cx="5484534" cy="6931481"/>
          </a:xfrm>
          <a:custGeom>
            <a:avLst/>
            <a:gdLst/>
            <a:ahLst/>
            <a:cxnLst/>
            <a:rect l="l" t="t" r="r" b="b"/>
            <a:pathLst>
              <a:path w="5484534" h="6931481">
                <a:moveTo>
                  <a:pt x="0" y="0"/>
                </a:moveTo>
                <a:lnTo>
                  <a:pt x="5484534" y="0"/>
                </a:lnTo>
                <a:lnTo>
                  <a:pt x="5484534" y="6931481"/>
                </a:lnTo>
                <a:lnTo>
                  <a:pt x="0" y="69314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5400000">
            <a:off x="-1237317" y="-4620047"/>
            <a:ext cx="5484534" cy="6931481"/>
          </a:xfrm>
          <a:custGeom>
            <a:avLst/>
            <a:gdLst/>
            <a:ahLst/>
            <a:cxnLst/>
            <a:rect l="l" t="t" r="r" b="b"/>
            <a:pathLst>
              <a:path w="5484534" h="6931481">
                <a:moveTo>
                  <a:pt x="0" y="0"/>
                </a:moveTo>
                <a:lnTo>
                  <a:pt x="5484534" y="0"/>
                </a:lnTo>
                <a:lnTo>
                  <a:pt x="5484534" y="6931481"/>
                </a:lnTo>
                <a:lnTo>
                  <a:pt x="0" y="69314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8730"/>
          <a:stretch/>
        </p:blipFill>
        <p:spPr>
          <a:xfrm>
            <a:off x="15546508" y="332238"/>
            <a:ext cx="2741492" cy="26765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26562" y="1329230"/>
            <a:ext cx="8360547" cy="104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20"/>
              </a:lnSpc>
            </a:pPr>
            <a:r>
              <a:rPr lang="en-US" sz="6000" spc="-252">
                <a:solidFill>
                  <a:srgbClr val="522F24"/>
                </a:solidFill>
                <a:latin typeface="Bugaki"/>
                <a:ea typeface="Bugaki"/>
                <a:cs typeface="Bugaki"/>
                <a:sym typeface="Bugaki"/>
              </a:rPr>
              <a:t>FUNDAMENTACION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26562" y="2884534"/>
            <a:ext cx="8756226" cy="604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2856" b="1" spc="171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El proyecto se basan en enfoques como:</a:t>
            </a:r>
          </a:p>
          <a:p>
            <a:pPr algn="l">
              <a:lnSpc>
                <a:spcPts val="3999"/>
              </a:lnSpc>
            </a:pPr>
            <a:r>
              <a:rPr lang="en-US" sz="2856" b="1" spc="171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•CONSTRUCTIVISMO: El estudiante construye su conocimiento a partir de experiencias significativas.</a:t>
            </a:r>
          </a:p>
          <a:p>
            <a:pPr algn="l">
              <a:lnSpc>
                <a:spcPts val="3999"/>
              </a:lnSpc>
            </a:pPr>
            <a:endParaRPr lang="en-US" sz="2856" b="1" spc="171">
              <a:solidFill>
                <a:srgbClr val="522F24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999"/>
              </a:lnSpc>
            </a:pPr>
            <a:r>
              <a:rPr lang="en-US" sz="2856" b="1" spc="171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•Enfoque comunicativo: La lengua se enseña como medio de interacción social.</a:t>
            </a:r>
          </a:p>
          <a:p>
            <a:pPr algn="l">
              <a:lnSpc>
                <a:spcPts val="3999"/>
              </a:lnSpc>
            </a:pPr>
            <a:endParaRPr lang="en-US" sz="2856" b="1" spc="171">
              <a:solidFill>
                <a:srgbClr val="522F24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0" lvl="0" indent="0" algn="l">
              <a:lnSpc>
                <a:spcPts val="3999"/>
              </a:lnSpc>
            </a:pPr>
            <a:r>
              <a:rPr lang="en-US" sz="2856" b="1" spc="171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ENFOQUE SOCIOCRITICO: Se busca que el estudiante no solo lea, sino que interprete, cuestione y transforme su realidad a través la lectura y escritura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556431" y="5175634"/>
            <a:ext cx="6446238" cy="1586294"/>
            <a:chOff x="0" y="0"/>
            <a:chExt cx="2073218" cy="7669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3218" cy="766998"/>
            </a:xfrm>
            <a:custGeom>
              <a:avLst/>
              <a:gdLst/>
              <a:ahLst/>
              <a:cxnLst/>
              <a:rect l="l" t="t" r="r" b="b"/>
              <a:pathLst>
                <a:path w="2073218" h="766998">
                  <a:moveTo>
                    <a:pt x="18015" y="0"/>
                  </a:moveTo>
                  <a:lnTo>
                    <a:pt x="2055203" y="0"/>
                  </a:lnTo>
                  <a:cubicBezTo>
                    <a:pt x="2059981" y="0"/>
                    <a:pt x="2064563" y="1898"/>
                    <a:pt x="2067942" y="5276"/>
                  </a:cubicBezTo>
                  <a:cubicBezTo>
                    <a:pt x="2071320" y="8655"/>
                    <a:pt x="2073218" y="13237"/>
                    <a:pt x="2073218" y="18015"/>
                  </a:cubicBezTo>
                  <a:lnTo>
                    <a:pt x="2073218" y="748983"/>
                  </a:lnTo>
                  <a:cubicBezTo>
                    <a:pt x="2073218" y="753760"/>
                    <a:pt x="2071320" y="758343"/>
                    <a:pt x="2067942" y="761721"/>
                  </a:cubicBezTo>
                  <a:cubicBezTo>
                    <a:pt x="2064563" y="765100"/>
                    <a:pt x="2059981" y="766998"/>
                    <a:pt x="2055203" y="766998"/>
                  </a:cubicBezTo>
                  <a:lnTo>
                    <a:pt x="18015" y="766998"/>
                  </a:lnTo>
                  <a:cubicBezTo>
                    <a:pt x="8066" y="766998"/>
                    <a:pt x="0" y="758932"/>
                    <a:pt x="0" y="748983"/>
                  </a:cubicBezTo>
                  <a:lnTo>
                    <a:pt x="0" y="18015"/>
                  </a:lnTo>
                  <a:cubicBezTo>
                    <a:pt x="0" y="13237"/>
                    <a:pt x="1898" y="8655"/>
                    <a:pt x="5276" y="5276"/>
                  </a:cubicBezTo>
                  <a:cubicBezTo>
                    <a:pt x="8655" y="1898"/>
                    <a:pt x="13237" y="0"/>
                    <a:pt x="18015" y="0"/>
                  </a:cubicBezTo>
                  <a:close/>
                </a:path>
              </a:pathLst>
            </a:custGeom>
            <a:solidFill>
              <a:srgbClr val="72311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04775"/>
              <a:ext cx="2073218" cy="662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83032" y="2901245"/>
            <a:ext cx="1467745" cy="146774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2311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470843" y="2884534"/>
            <a:ext cx="6446238" cy="1634500"/>
            <a:chOff x="0" y="0"/>
            <a:chExt cx="2073218" cy="67838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73218" cy="678382"/>
            </a:xfrm>
            <a:custGeom>
              <a:avLst/>
              <a:gdLst/>
              <a:ahLst/>
              <a:cxnLst/>
              <a:rect l="l" t="t" r="r" b="b"/>
              <a:pathLst>
                <a:path w="2073218" h="678382">
                  <a:moveTo>
                    <a:pt x="18015" y="0"/>
                  </a:moveTo>
                  <a:lnTo>
                    <a:pt x="2055203" y="0"/>
                  </a:lnTo>
                  <a:cubicBezTo>
                    <a:pt x="2059981" y="0"/>
                    <a:pt x="2064563" y="1898"/>
                    <a:pt x="2067942" y="5276"/>
                  </a:cubicBezTo>
                  <a:cubicBezTo>
                    <a:pt x="2071320" y="8655"/>
                    <a:pt x="2073218" y="13237"/>
                    <a:pt x="2073218" y="18015"/>
                  </a:cubicBezTo>
                  <a:lnTo>
                    <a:pt x="2073218" y="660367"/>
                  </a:lnTo>
                  <a:cubicBezTo>
                    <a:pt x="2073218" y="670316"/>
                    <a:pt x="2065152" y="678382"/>
                    <a:pt x="2055203" y="678382"/>
                  </a:cubicBezTo>
                  <a:lnTo>
                    <a:pt x="18015" y="678382"/>
                  </a:lnTo>
                  <a:cubicBezTo>
                    <a:pt x="8066" y="678382"/>
                    <a:pt x="0" y="670316"/>
                    <a:pt x="0" y="660367"/>
                  </a:cubicBezTo>
                  <a:lnTo>
                    <a:pt x="0" y="18015"/>
                  </a:lnTo>
                  <a:cubicBezTo>
                    <a:pt x="0" y="13237"/>
                    <a:pt x="1898" y="8655"/>
                    <a:pt x="5276" y="5276"/>
                  </a:cubicBezTo>
                  <a:cubicBezTo>
                    <a:pt x="8655" y="1898"/>
                    <a:pt x="13237" y="0"/>
                    <a:pt x="18015" y="0"/>
                  </a:cubicBezTo>
                  <a:close/>
                </a:path>
              </a:pathLst>
            </a:custGeom>
            <a:solidFill>
              <a:srgbClr val="72311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104775"/>
              <a:ext cx="2073218" cy="573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556431" y="7026098"/>
            <a:ext cx="6446238" cy="1857481"/>
            <a:chOff x="0" y="0"/>
            <a:chExt cx="2073218" cy="76699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73218" cy="766998"/>
            </a:xfrm>
            <a:custGeom>
              <a:avLst/>
              <a:gdLst/>
              <a:ahLst/>
              <a:cxnLst/>
              <a:rect l="l" t="t" r="r" b="b"/>
              <a:pathLst>
                <a:path w="2073218" h="766998">
                  <a:moveTo>
                    <a:pt x="18015" y="0"/>
                  </a:moveTo>
                  <a:lnTo>
                    <a:pt x="2055203" y="0"/>
                  </a:lnTo>
                  <a:cubicBezTo>
                    <a:pt x="2059981" y="0"/>
                    <a:pt x="2064563" y="1898"/>
                    <a:pt x="2067942" y="5276"/>
                  </a:cubicBezTo>
                  <a:cubicBezTo>
                    <a:pt x="2071320" y="8655"/>
                    <a:pt x="2073218" y="13237"/>
                    <a:pt x="2073218" y="18015"/>
                  </a:cubicBezTo>
                  <a:lnTo>
                    <a:pt x="2073218" y="748983"/>
                  </a:lnTo>
                  <a:cubicBezTo>
                    <a:pt x="2073218" y="753760"/>
                    <a:pt x="2071320" y="758343"/>
                    <a:pt x="2067942" y="761721"/>
                  </a:cubicBezTo>
                  <a:cubicBezTo>
                    <a:pt x="2064563" y="765100"/>
                    <a:pt x="2059981" y="766998"/>
                    <a:pt x="2055203" y="766998"/>
                  </a:cubicBezTo>
                  <a:lnTo>
                    <a:pt x="18015" y="766998"/>
                  </a:lnTo>
                  <a:cubicBezTo>
                    <a:pt x="8066" y="766998"/>
                    <a:pt x="0" y="758932"/>
                    <a:pt x="0" y="748983"/>
                  </a:cubicBezTo>
                  <a:lnTo>
                    <a:pt x="0" y="18015"/>
                  </a:lnTo>
                  <a:cubicBezTo>
                    <a:pt x="0" y="13237"/>
                    <a:pt x="1898" y="8655"/>
                    <a:pt x="5276" y="5276"/>
                  </a:cubicBezTo>
                  <a:cubicBezTo>
                    <a:pt x="8655" y="1898"/>
                    <a:pt x="13237" y="0"/>
                    <a:pt x="18015" y="0"/>
                  </a:cubicBezTo>
                  <a:close/>
                </a:path>
              </a:pathLst>
            </a:custGeom>
            <a:solidFill>
              <a:srgbClr val="72311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104775"/>
              <a:ext cx="2073218" cy="662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711816" y="5365821"/>
            <a:ext cx="6197610" cy="146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63"/>
              </a:lnSpc>
            </a:pPr>
            <a:r>
              <a:rPr lang="en-US" sz="4977" b="1" spc="-9" dirty="0" err="1">
                <a:solidFill>
                  <a:srgbClr val="F6ECE4"/>
                </a:solidFill>
                <a:latin typeface="Inter Medium"/>
                <a:ea typeface="Inter Medium"/>
                <a:cs typeface="Inter Medium"/>
                <a:sym typeface="Inter Medium"/>
              </a:rPr>
              <a:t>Vigotsky</a:t>
            </a:r>
            <a:endParaRPr lang="en-US" sz="4977" b="1" spc="-9" dirty="0">
              <a:solidFill>
                <a:srgbClr val="F6ECE4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lvl="0" indent="0" algn="ctr">
              <a:lnSpc>
                <a:spcPts val="3643"/>
              </a:lnSpc>
            </a:pPr>
            <a:endParaRPr lang="en-US" sz="4977" b="1" spc="-9" dirty="0">
              <a:solidFill>
                <a:srgbClr val="F6ECE4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818958" y="3216488"/>
            <a:ext cx="4102999" cy="16030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923"/>
              </a:lnSpc>
            </a:pPr>
            <a:r>
              <a:rPr lang="en-US" sz="4327" b="1" spc="-8" dirty="0">
                <a:solidFill>
                  <a:srgbClr val="F6ECE4"/>
                </a:solidFill>
                <a:latin typeface="Inter Medium"/>
                <a:ea typeface="Inter Medium"/>
                <a:cs typeface="Inter Medium"/>
                <a:sym typeface="Inter Medium"/>
              </a:rPr>
              <a:t>E</a:t>
            </a:r>
            <a:r>
              <a:rPr lang="en-US" sz="4327" b="1" u="none" spc="-8" dirty="0">
                <a:solidFill>
                  <a:srgbClr val="F6ECE4"/>
                </a:solidFill>
                <a:latin typeface="Inter Medium"/>
                <a:ea typeface="Inter Medium"/>
                <a:cs typeface="Inter Medium"/>
                <a:sym typeface="Inter Medium"/>
              </a:rPr>
              <a:t>milia </a:t>
            </a:r>
            <a:r>
              <a:rPr lang="en-US" sz="4327" b="1" u="none" spc="-8" dirty="0" err="1">
                <a:solidFill>
                  <a:srgbClr val="F6ECE4"/>
                </a:solidFill>
                <a:latin typeface="Inter Medium"/>
                <a:ea typeface="Inter Medium"/>
                <a:cs typeface="Inter Medium"/>
                <a:sym typeface="Inter Medium"/>
              </a:rPr>
              <a:t>Ferreiro</a:t>
            </a:r>
            <a:endParaRPr lang="en-US" sz="4327" b="1" u="none" spc="-8" dirty="0">
              <a:solidFill>
                <a:srgbClr val="F6ECE4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lvl="0" indent="0" algn="ctr">
              <a:lnSpc>
                <a:spcPts val="5643"/>
              </a:lnSpc>
            </a:pPr>
            <a:endParaRPr lang="en-US" sz="4327" b="1" u="none" spc="-8" dirty="0">
              <a:solidFill>
                <a:srgbClr val="F6ECE4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680745" y="7347292"/>
            <a:ext cx="6402726" cy="108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93"/>
              </a:lnSpc>
            </a:pPr>
            <a:r>
              <a:rPr lang="en-US" sz="5745" b="1" spc="-11" dirty="0">
                <a:solidFill>
                  <a:srgbClr val="F6ECE4"/>
                </a:solidFill>
                <a:latin typeface="Inter Medium"/>
                <a:ea typeface="Inter Medium"/>
                <a:cs typeface="Inter Medium"/>
                <a:sym typeface="Inter Medium"/>
              </a:rPr>
              <a:t>Jean Piaget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24149" y="3241001"/>
            <a:ext cx="1385511" cy="788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7"/>
              </a:lnSpc>
            </a:pPr>
            <a:r>
              <a:rPr lang="en-US" sz="5231" b="1" spc="-183" dirty="0">
                <a:solidFill>
                  <a:srgbClr val="F6ECE4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803355" y="5102959"/>
            <a:ext cx="1467745" cy="1467745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2311D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844472" y="5442715"/>
            <a:ext cx="1385511" cy="788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7"/>
              </a:lnSpc>
            </a:pPr>
            <a:r>
              <a:rPr lang="en-US" sz="5231" b="1" spc="-183">
                <a:solidFill>
                  <a:srgbClr val="F6ECE4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865497" y="6957297"/>
            <a:ext cx="1467745" cy="1467745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2311D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906614" y="7297052"/>
            <a:ext cx="1385511" cy="788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7"/>
              </a:lnSpc>
            </a:pPr>
            <a:r>
              <a:rPr lang="en-US" sz="5231" b="1" spc="-183">
                <a:solidFill>
                  <a:srgbClr val="F6ECE4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pic>
        <p:nvPicPr>
          <p:cNvPr id="29" name="Imagen 2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8730"/>
          <a:stretch/>
        </p:blipFill>
        <p:spPr>
          <a:xfrm>
            <a:off x="15581691" y="65167"/>
            <a:ext cx="2741492" cy="26765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13403869" y="8106073"/>
            <a:ext cx="5484534" cy="6931481"/>
          </a:xfrm>
          <a:custGeom>
            <a:avLst/>
            <a:gdLst/>
            <a:ahLst/>
            <a:cxnLst/>
            <a:rect l="l" t="t" r="r" b="b"/>
            <a:pathLst>
              <a:path w="5484534" h="6931481">
                <a:moveTo>
                  <a:pt x="0" y="0"/>
                </a:moveTo>
                <a:lnTo>
                  <a:pt x="5484534" y="0"/>
                </a:lnTo>
                <a:lnTo>
                  <a:pt x="5484534" y="6931481"/>
                </a:lnTo>
                <a:lnTo>
                  <a:pt x="0" y="69314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5400000">
            <a:off x="-1237317" y="-4620047"/>
            <a:ext cx="5484534" cy="6931481"/>
          </a:xfrm>
          <a:custGeom>
            <a:avLst/>
            <a:gdLst/>
            <a:ahLst/>
            <a:cxnLst/>
            <a:rect l="l" t="t" r="r" b="b"/>
            <a:pathLst>
              <a:path w="5484534" h="6931481">
                <a:moveTo>
                  <a:pt x="0" y="0"/>
                </a:moveTo>
                <a:lnTo>
                  <a:pt x="5484534" y="0"/>
                </a:lnTo>
                <a:lnTo>
                  <a:pt x="5484534" y="6931481"/>
                </a:lnTo>
                <a:lnTo>
                  <a:pt x="0" y="69314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0530379" y="1965368"/>
            <a:ext cx="6633671" cy="6356263"/>
          </a:xfrm>
          <a:custGeom>
            <a:avLst/>
            <a:gdLst/>
            <a:ahLst/>
            <a:cxnLst/>
            <a:rect l="l" t="t" r="r" b="b"/>
            <a:pathLst>
              <a:path w="6633671" h="6356263">
                <a:moveTo>
                  <a:pt x="0" y="0"/>
                </a:moveTo>
                <a:lnTo>
                  <a:pt x="6633671" y="0"/>
                </a:lnTo>
                <a:lnTo>
                  <a:pt x="6633671" y="6356264"/>
                </a:lnTo>
                <a:lnTo>
                  <a:pt x="0" y="63562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504950" y="2048626"/>
            <a:ext cx="7515705" cy="196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20"/>
              </a:lnSpc>
            </a:pPr>
            <a:r>
              <a:rPr lang="en-US" sz="6000" spc="-252" dirty="0">
                <a:solidFill>
                  <a:srgbClr val="522F24"/>
                </a:solidFill>
                <a:latin typeface="Bugaki"/>
                <a:ea typeface="Bugaki"/>
                <a:cs typeface="Bugaki"/>
                <a:sym typeface="Bugaki"/>
              </a:rPr>
              <a:t>PEI Y LA EXPERIENCIA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5025917"/>
            <a:ext cx="9501679" cy="3927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61"/>
              </a:lnSpc>
            </a:pPr>
            <a:r>
              <a:rPr lang="en-US" sz="3758" b="1" u="none" spc="225" dirty="0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La </a:t>
            </a:r>
            <a:r>
              <a:rPr lang="en-US" sz="3758" b="1" u="none" spc="225" dirty="0" err="1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experiencia</a:t>
            </a:r>
            <a:r>
              <a:rPr lang="en-US" sz="3758" b="1" u="none" spc="225" dirty="0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3758" b="1" u="none" spc="225" dirty="0" err="1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apoya</a:t>
            </a:r>
            <a:r>
              <a:rPr lang="en-US" sz="3758" b="1" u="none" spc="225" dirty="0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 el </a:t>
            </a:r>
            <a:r>
              <a:rPr lang="en-US" sz="3758" b="1" u="none" spc="225" dirty="0" err="1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horizonte</a:t>
            </a:r>
            <a:r>
              <a:rPr lang="en-US" sz="3758" b="1" u="none" spc="225" dirty="0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3758" b="1" u="none" spc="225" dirty="0" err="1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institucional</a:t>
            </a:r>
            <a:r>
              <a:rPr lang="en-US" sz="3758" b="1" u="none" spc="225" dirty="0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3758" b="1" u="none" spc="225" dirty="0" err="1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en</a:t>
            </a:r>
            <a:r>
              <a:rPr lang="en-US" sz="3758" b="1" u="none" spc="225" dirty="0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 el </a:t>
            </a:r>
            <a:r>
              <a:rPr lang="en-US" sz="3758" b="1" u="none" spc="225" dirty="0" err="1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fortalecimiento</a:t>
            </a:r>
            <a:r>
              <a:rPr lang="en-US" sz="3758" b="1" u="none" spc="225" dirty="0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 del </a:t>
            </a:r>
            <a:r>
              <a:rPr lang="en-US" sz="3758" b="1" u="none" spc="225" dirty="0" err="1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liderazgo</a:t>
            </a:r>
            <a:r>
              <a:rPr lang="en-US" sz="3758" b="1" u="none" spc="225" dirty="0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 y </a:t>
            </a:r>
            <a:r>
              <a:rPr lang="en-US" sz="3758" b="1" u="none" spc="225" dirty="0" err="1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productividad</a:t>
            </a:r>
            <a:r>
              <a:rPr lang="en-US" sz="3758" b="1" u="none" spc="225" dirty="0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, </a:t>
            </a:r>
            <a:r>
              <a:rPr lang="en-US" sz="3758" b="1" u="none" spc="225" dirty="0" err="1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mediante</a:t>
            </a:r>
            <a:r>
              <a:rPr lang="en-US" sz="3758" b="1" u="none" spc="225" dirty="0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 el </a:t>
            </a:r>
            <a:r>
              <a:rPr lang="en-US" sz="3758" b="1" u="none" spc="225" dirty="0" err="1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desarrollo</a:t>
            </a:r>
            <a:r>
              <a:rPr lang="en-US" sz="3758" b="1" u="none" spc="225" dirty="0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 de </a:t>
            </a:r>
            <a:r>
              <a:rPr lang="en-US" sz="3758" b="1" u="none" spc="225" dirty="0" err="1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competencias</a:t>
            </a:r>
            <a:r>
              <a:rPr lang="en-US" sz="3758" b="1" u="none" spc="225" dirty="0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3758" b="1" u="none" spc="225" dirty="0" err="1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comunicativas</a:t>
            </a:r>
            <a:r>
              <a:rPr lang="en-US" sz="3758" b="1" u="none" spc="225" dirty="0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 y </a:t>
            </a:r>
            <a:r>
              <a:rPr lang="en-US" sz="3758" b="1" u="none" spc="225" dirty="0" err="1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sociales</a:t>
            </a:r>
            <a:r>
              <a:rPr lang="en-US" sz="3758" b="1" u="none" spc="225" dirty="0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.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8730"/>
          <a:stretch/>
        </p:blipFill>
        <p:spPr>
          <a:xfrm>
            <a:off x="15581691" y="65167"/>
            <a:ext cx="2741492" cy="26765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47742" y="3458808"/>
            <a:ext cx="12868322" cy="1684692"/>
            <a:chOff x="0" y="0"/>
            <a:chExt cx="2171563" cy="2842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71563" cy="284296"/>
            </a:xfrm>
            <a:custGeom>
              <a:avLst/>
              <a:gdLst/>
              <a:ahLst/>
              <a:cxnLst/>
              <a:rect l="l" t="t" r="r" b="b"/>
              <a:pathLst>
                <a:path w="2171563" h="284296">
                  <a:moveTo>
                    <a:pt x="25268" y="0"/>
                  </a:moveTo>
                  <a:lnTo>
                    <a:pt x="2146295" y="0"/>
                  </a:lnTo>
                  <a:cubicBezTo>
                    <a:pt x="2160250" y="0"/>
                    <a:pt x="2171563" y="11313"/>
                    <a:pt x="2171563" y="25268"/>
                  </a:cubicBezTo>
                  <a:lnTo>
                    <a:pt x="2171563" y="259028"/>
                  </a:lnTo>
                  <a:cubicBezTo>
                    <a:pt x="2171563" y="265730"/>
                    <a:pt x="2168901" y="272157"/>
                    <a:pt x="2164162" y="276895"/>
                  </a:cubicBezTo>
                  <a:cubicBezTo>
                    <a:pt x="2159424" y="281634"/>
                    <a:pt x="2152996" y="284296"/>
                    <a:pt x="2146295" y="284296"/>
                  </a:cubicBezTo>
                  <a:lnTo>
                    <a:pt x="25268" y="284296"/>
                  </a:lnTo>
                  <a:cubicBezTo>
                    <a:pt x="18567" y="284296"/>
                    <a:pt x="12140" y="281634"/>
                    <a:pt x="7401" y="276895"/>
                  </a:cubicBezTo>
                  <a:cubicBezTo>
                    <a:pt x="2662" y="272157"/>
                    <a:pt x="0" y="265730"/>
                    <a:pt x="0" y="259028"/>
                  </a:cubicBezTo>
                  <a:lnTo>
                    <a:pt x="0" y="25268"/>
                  </a:lnTo>
                  <a:cubicBezTo>
                    <a:pt x="0" y="18567"/>
                    <a:pt x="2662" y="12140"/>
                    <a:pt x="7401" y="7401"/>
                  </a:cubicBezTo>
                  <a:cubicBezTo>
                    <a:pt x="12140" y="2662"/>
                    <a:pt x="18567" y="0"/>
                    <a:pt x="25268" y="0"/>
                  </a:cubicBezTo>
                  <a:close/>
                </a:path>
              </a:pathLst>
            </a:custGeom>
            <a:solidFill>
              <a:srgbClr val="72311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71563" cy="322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6ECE4"/>
                  </a:solidFill>
                  <a:latin typeface="Inter"/>
                  <a:ea typeface="Inter"/>
                  <a:cs typeface="Inter"/>
                  <a:sym typeface="Inter"/>
                </a:rPr>
                <a:t>En el proceso de Enseñanza- Aprendizaje uno de los ejes principales que permiten que este proceso de los resultados deseados es el uso adecuado de la lectura y la escritura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20520" y="3458808"/>
            <a:ext cx="1665533" cy="166553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2311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19571" y="5545515"/>
            <a:ext cx="12739729" cy="1542330"/>
            <a:chOff x="0" y="0"/>
            <a:chExt cx="2149863" cy="2602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49863" cy="260272"/>
            </a:xfrm>
            <a:custGeom>
              <a:avLst/>
              <a:gdLst/>
              <a:ahLst/>
              <a:cxnLst/>
              <a:rect l="l" t="t" r="r" b="b"/>
              <a:pathLst>
                <a:path w="2149863" h="260272">
                  <a:moveTo>
                    <a:pt x="25523" y="0"/>
                  </a:moveTo>
                  <a:lnTo>
                    <a:pt x="2124340" y="0"/>
                  </a:lnTo>
                  <a:cubicBezTo>
                    <a:pt x="2131109" y="0"/>
                    <a:pt x="2137601" y="2689"/>
                    <a:pt x="2142387" y="7476"/>
                  </a:cubicBezTo>
                  <a:cubicBezTo>
                    <a:pt x="2147174" y="12262"/>
                    <a:pt x="2149863" y="18754"/>
                    <a:pt x="2149863" y="25523"/>
                  </a:cubicBezTo>
                  <a:lnTo>
                    <a:pt x="2149863" y="234749"/>
                  </a:lnTo>
                  <a:cubicBezTo>
                    <a:pt x="2149863" y="241518"/>
                    <a:pt x="2147174" y="248010"/>
                    <a:pt x="2142387" y="252797"/>
                  </a:cubicBezTo>
                  <a:cubicBezTo>
                    <a:pt x="2137601" y="257583"/>
                    <a:pt x="2131109" y="260272"/>
                    <a:pt x="2124340" y="260272"/>
                  </a:cubicBezTo>
                  <a:lnTo>
                    <a:pt x="25523" y="260272"/>
                  </a:lnTo>
                  <a:cubicBezTo>
                    <a:pt x="18754" y="260272"/>
                    <a:pt x="12262" y="257583"/>
                    <a:pt x="7476" y="252797"/>
                  </a:cubicBezTo>
                  <a:cubicBezTo>
                    <a:pt x="2689" y="248010"/>
                    <a:pt x="0" y="241518"/>
                    <a:pt x="0" y="234749"/>
                  </a:cubicBezTo>
                  <a:lnTo>
                    <a:pt x="0" y="25523"/>
                  </a:lnTo>
                  <a:cubicBezTo>
                    <a:pt x="0" y="18754"/>
                    <a:pt x="2689" y="12262"/>
                    <a:pt x="7476" y="7476"/>
                  </a:cubicBezTo>
                  <a:cubicBezTo>
                    <a:pt x="12262" y="2689"/>
                    <a:pt x="18754" y="0"/>
                    <a:pt x="25523" y="0"/>
                  </a:cubicBezTo>
                  <a:close/>
                </a:path>
              </a:pathLst>
            </a:custGeom>
            <a:solidFill>
              <a:srgbClr val="72311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149863" cy="2983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6ECE4"/>
                  </a:solidFill>
                  <a:latin typeface="Inter"/>
                  <a:ea typeface="Inter"/>
                  <a:cs typeface="Inter"/>
                  <a:sym typeface="Inter"/>
                </a:rPr>
                <a:t>La dificultad que la gran mayoría de los estudiantes presentan en la  producción  textos, que se da mas por el poco tiempo que le dedican ala lectura y que limita su riqueza verbal, que por no tener temas de los cuales escribir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220520" y="5422312"/>
            <a:ext cx="1665533" cy="166553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2311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212077" y="7517245"/>
            <a:ext cx="13281054" cy="1531615"/>
            <a:chOff x="0" y="0"/>
            <a:chExt cx="2241213" cy="2584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41213" cy="258464"/>
            </a:xfrm>
            <a:custGeom>
              <a:avLst/>
              <a:gdLst/>
              <a:ahLst/>
              <a:cxnLst/>
              <a:rect l="l" t="t" r="r" b="b"/>
              <a:pathLst>
                <a:path w="2241213" h="258464">
                  <a:moveTo>
                    <a:pt x="24483" y="0"/>
                  </a:moveTo>
                  <a:lnTo>
                    <a:pt x="2216730" y="0"/>
                  </a:lnTo>
                  <a:cubicBezTo>
                    <a:pt x="2230252" y="0"/>
                    <a:pt x="2241213" y="10961"/>
                    <a:pt x="2241213" y="24483"/>
                  </a:cubicBezTo>
                  <a:lnTo>
                    <a:pt x="2241213" y="233981"/>
                  </a:lnTo>
                  <a:cubicBezTo>
                    <a:pt x="2241213" y="247503"/>
                    <a:pt x="2230252" y="258464"/>
                    <a:pt x="2216730" y="258464"/>
                  </a:cubicBezTo>
                  <a:lnTo>
                    <a:pt x="24483" y="258464"/>
                  </a:lnTo>
                  <a:cubicBezTo>
                    <a:pt x="10961" y="258464"/>
                    <a:pt x="0" y="247503"/>
                    <a:pt x="0" y="233981"/>
                  </a:cubicBezTo>
                  <a:lnTo>
                    <a:pt x="0" y="24483"/>
                  </a:lnTo>
                  <a:cubicBezTo>
                    <a:pt x="0" y="10961"/>
                    <a:pt x="10961" y="0"/>
                    <a:pt x="24483" y="0"/>
                  </a:cubicBezTo>
                  <a:close/>
                </a:path>
              </a:pathLst>
            </a:custGeom>
            <a:solidFill>
              <a:srgbClr val="72311D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241213" cy="296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6ECE4"/>
                  </a:solidFill>
                  <a:latin typeface="Inter"/>
                  <a:ea typeface="Inter"/>
                  <a:cs typeface="Inter"/>
                  <a:sym typeface="Inter"/>
                </a:rPr>
                <a:t>La propuesta  busca conquistar a través de temáticas novedosas el interés de nuestros estudiantes por la lectura y la escritura, usando como herramienta metodológica la carta y el cuento como ganancias adicionales a esta, propiciar y estrechar lazos de amistad entre los lecto-escritores de las diferentes sedes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20520" y="7383327"/>
            <a:ext cx="1665533" cy="1665533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2311D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592216" y="1104790"/>
            <a:ext cx="13103569" cy="104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20"/>
              </a:lnSpc>
            </a:pPr>
            <a:r>
              <a:rPr lang="en-US" sz="6000" spc="-252">
                <a:solidFill>
                  <a:srgbClr val="522F24"/>
                </a:solidFill>
                <a:latin typeface="Bugaki"/>
                <a:ea typeface="Bugaki"/>
                <a:cs typeface="Bugaki"/>
                <a:sym typeface="Bugaki"/>
              </a:rPr>
              <a:t>PERTINENCIA</a:t>
            </a:r>
          </a:p>
        </p:txBody>
      </p:sp>
      <p:pic>
        <p:nvPicPr>
          <p:cNvPr id="22" name="Imagen 2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8730"/>
          <a:stretch/>
        </p:blipFill>
        <p:spPr>
          <a:xfrm>
            <a:off x="15581691" y="65167"/>
            <a:ext cx="2741492" cy="26765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13403869" y="8106073"/>
            <a:ext cx="5484534" cy="6931481"/>
          </a:xfrm>
          <a:custGeom>
            <a:avLst/>
            <a:gdLst/>
            <a:ahLst/>
            <a:cxnLst/>
            <a:rect l="l" t="t" r="r" b="b"/>
            <a:pathLst>
              <a:path w="5484534" h="6931481">
                <a:moveTo>
                  <a:pt x="0" y="0"/>
                </a:moveTo>
                <a:lnTo>
                  <a:pt x="5484534" y="0"/>
                </a:lnTo>
                <a:lnTo>
                  <a:pt x="5484534" y="6931481"/>
                </a:lnTo>
                <a:lnTo>
                  <a:pt x="0" y="69314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5400000">
            <a:off x="-1237317" y="-4620047"/>
            <a:ext cx="5484534" cy="6931481"/>
          </a:xfrm>
          <a:custGeom>
            <a:avLst/>
            <a:gdLst/>
            <a:ahLst/>
            <a:cxnLst/>
            <a:rect l="l" t="t" r="r" b="b"/>
            <a:pathLst>
              <a:path w="5484534" h="6931481">
                <a:moveTo>
                  <a:pt x="0" y="0"/>
                </a:moveTo>
                <a:lnTo>
                  <a:pt x="5484534" y="0"/>
                </a:lnTo>
                <a:lnTo>
                  <a:pt x="5484534" y="6931481"/>
                </a:lnTo>
                <a:lnTo>
                  <a:pt x="0" y="69314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469312" y="3494244"/>
            <a:ext cx="5512834" cy="4844286"/>
          </a:xfrm>
          <a:custGeom>
            <a:avLst/>
            <a:gdLst/>
            <a:ahLst/>
            <a:cxnLst/>
            <a:rect l="l" t="t" r="r" b="b"/>
            <a:pathLst>
              <a:path w="5512834" h="4844286">
                <a:moveTo>
                  <a:pt x="0" y="0"/>
                </a:moveTo>
                <a:lnTo>
                  <a:pt x="5512834" y="0"/>
                </a:lnTo>
                <a:lnTo>
                  <a:pt x="5512834" y="4844286"/>
                </a:lnTo>
                <a:lnTo>
                  <a:pt x="0" y="48442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t="-14597" r="-21725"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6677091" y="648335"/>
            <a:ext cx="1360105" cy="136010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725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5529769" y="3196019"/>
            <a:ext cx="11547026" cy="6062281"/>
          </a:xfrm>
          <a:custGeom>
            <a:avLst/>
            <a:gdLst/>
            <a:ahLst/>
            <a:cxnLst/>
            <a:rect l="l" t="t" r="r" b="b"/>
            <a:pathLst>
              <a:path w="11547026" h="6062281">
                <a:moveTo>
                  <a:pt x="0" y="0"/>
                </a:moveTo>
                <a:lnTo>
                  <a:pt x="11547027" y="0"/>
                </a:lnTo>
                <a:lnTo>
                  <a:pt x="11547027" y="6062281"/>
                </a:lnTo>
                <a:lnTo>
                  <a:pt x="0" y="60622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897" r="-2897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743595" y="1894140"/>
            <a:ext cx="7515705" cy="87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00"/>
              </a:lnSpc>
            </a:pPr>
            <a:r>
              <a:rPr lang="en-US" sz="5000" spc="-210">
                <a:solidFill>
                  <a:srgbClr val="522F24"/>
                </a:solidFill>
                <a:latin typeface="Bugaki"/>
                <a:ea typeface="Bugaki"/>
                <a:cs typeface="Bugaki"/>
                <a:sym typeface="Bugaki"/>
              </a:rPr>
              <a:t>CONSISTENCIA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8730"/>
          <a:stretch/>
        </p:blipFill>
        <p:spPr>
          <a:xfrm>
            <a:off x="15581691" y="65167"/>
            <a:ext cx="2741492" cy="26765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55120" y="1229976"/>
            <a:ext cx="14977760" cy="104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20"/>
              </a:lnSpc>
            </a:pPr>
            <a:r>
              <a:rPr lang="en-US" sz="6000" spc="-252">
                <a:solidFill>
                  <a:srgbClr val="522F24"/>
                </a:solidFill>
                <a:latin typeface="Bugaki"/>
                <a:ea typeface="Bugaki"/>
                <a:cs typeface="Bugaki"/>
                <a:sym typeface="Bugaki"/>
              </a:rPr>
              <a:t>MADUREZ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604" y="777114"/>
            <a:ext cx="5325080" cy="4541006"/>
            <a:chOff x="0" y="0"/>
            <a:chExt cx="860293" cy="7336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60293" cy="733622"/>
            </a:xfrm>
            <a:custGeom>
              <a:avLst/>
              <a:gdLst/>
              <a:ahLst/>
              <a:cxnLst/>
              <a:rect l="l" t="t" r="r" b="b"/>
              <a:pathLst>
                <a:path w="860293" h="733622">
                  <a:moveTo>
                    <a:pt x="61062" y="0"/>
                  </a:moveTo>
                  <a:lnTo>
                    <a:pt x="799231" y="0"/>
                  </a:lnTo>
                  <a:cubicBezTo>
                    <a:pt x="832955" y="0"/>
                    <a:pt x="860293" y="27338"/>
                    <a:pt x="860293" y="61062"/>
                  </a:cubicBezTo>
                  <a:lnTo>
                    <a:pt x="860293" y="672560"/>
                  </a:lnTo>
                  <a:cubicBezTo>
                    <a:pt x="860293" y="688755"/>
                    <a:pt x="853860" y="704286"/>
                    <a:pt x="842409" y="715738"/>
                  </a:cubicBezTo>
                  <a:cubicBezTo>
                    <a:pt x="830957" y="727189"/>
                    <a:pt x="815426" y="733622"/>
                    <a:pt x="799231" y="733622"/>
                  </a:cubicBezTo>
                  <a:lnTo>
                    <a:pt x="61062" y="733622"/>
                  </a:lnTo>
                  <a:cubicBezTo>
                    <a:pt x="44867" y="733622"/>
                    <a:pt x="29336" y="727189"/>
                    <a:pt x="17885" y="715738"/>
                  </a:cubicBezTo>
                  <a:cubicBezTo>
                    <a:pt x="6433" y="704286"/>
                    <a:pt x="0" y="688755"/>
                    <a:pt x="0" y="672560"/>
                  </a:cubicBezTo>
                  <a:lnTo>
                    <a:pt x="0" y="61062"/>
                  </a:lnTo>
                  <a:cubicBezTo>
                    <a:pt x="0" y="44867"/>
                    <a:pt x="6433" y="29336"/>
                    <a:pt x="17885" y="17885"/>
                  </a:cubicBezTo>
                  <a:cubicBezTo>
                    <a:pt x="29336" y="6433"/>
                    <a:pt x="44867" y="0"/>
                    <a:pt x="61062" y="0"/>
                  </a:cubicBezTo>
                  <a:close/>
                </a:path>
              </a:pathLst>
            </a:custGeom>
            <a:solidFill>
              <a:srgbClr val="72311D"/>
            </a:solidFill>
            <a:ln w="19050" cap="rnd">
              <a:solidFill>
                <a:srgbClr val="F6ECE4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860293" cy="838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419"/>
                </a:lnSpc>
              </a:pPr>
              <a:r>
                <a:rPr lang="en-US" sz="5299">
                  <a:solidFill>
                    <a:srgbClr val="F6ECE4"/>
                  </a:solidFill>
                  <a:latin typeface="DM Sans"/>
                  <a:ea typeface="DM Sans"/>
                  <a:cs typeface="DM Sans"/>
                  <a:sym typeface="DM Sans"/>
                </a:rPr>
                <a:t>Inicio en el año </a:t>
              </a:r>
            </a:p>
            <a:p>
              <a:pPr algn="ctr">
                <a:lnSpc>
                  <a:spcPts val="7419"/>
                </a:lnSpc>
              </a:pPr>
              <a:r>
                <a:rPr lang="en-US" sz="5299">
                  <a:solidFill>
                    <a:srgbClr val="F6ECE4"/>
                  </a:solidFill>
                  <a:latin typeface="DM Sans"/>
                  <a:ea typeface="DM Sans"/>
                  <a:cs typeface="DM Sans"/>
                  <a:sym typeface="DM Sans"/>
                </a:rPr>
                <a:t>2010</a:t>
              </a:r>
            </a:p>
            <a:p>
              <a:pPr algn="ctr">
                <a:lnSpc>
                  <a:spcPts val="3359"/>
                </a:lnSpc>
              </a:pPr>
              <a:endParaRPr lang="en-US" sz="5299">
                <a:solidFill>
                  <a:srgbClr val="F6ECE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algn="ctr">
                <a:lnSpc>
                  <a:spcPts val="3359"/>
                </a:lnSpc>
              </a:pPr>
              <a:endParaRPr lang="en-US" sz="5299">
                <a:solidFill>
                  <a:srgbClr val="F6ECE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algn="ctr">
                <a:lnSpc>
                  <a:spcPts val="3359"/>
                </a:lnSpc>
              </a:pPr>
              <a:endParaRPr lang="en-US" sz="5299">
                <a:solidFill>
                  <a:srgbClr val="F6ECE4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84356" y="5318120"/>
            <a:ext cx="5031103" cy="4405388"/>
            <a:chOff x="0" y="0"/>
            <a:chExt cx="812800" cy="71171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711713"/>
            </a:xfrm>
            <a:custGeom>
              <a:avLst/>
              <a:gdLst/>
              <a:ahLst/>
              <a:cxnLst/>
              <a:rect l="l" t="t" r="r" b="b"/>
              <a:pathLst>
                <a:path w="812800" h="711713">
                  <a:moveTo>
                    <a:pt x="64630" y="0"/>
                  </a:moveTo>
                  <a:lnTo>
                    <a:pt x="748170" y="0"/>
                  </a:lnTo>
                  <a:cubicBezTo>
                    <a:pt x="765311" y="0"/>
                    <a:pt x="781750" y="6809"/>
                    <a:pt x="793870" y="18930"/>
                  </a:cubicBezTo>
                  <a:cubicBezTo>
                    <a:pt x="805991" y="31050"/>
                    <a:pt x="812800" y="47489"/>
                    <a:pt x="812800" y="64630"/>
                  </a:cubicBezTo>
                  <a:lnTo>
                    <a:pt x="812800" y="647083"/>
                  </a:lnTo>
                  <a:cubicBezTo>
                    <a:pt x="812800" y="682777"/>
                    <a:pt x="783864" y="711713"/>
                    <a:pt x="748170" y="711713"/>
                  </a:cubicBezTo>
                  <a:lnTo>
                    <a:pt x="64630" y="711713"/>
                  </a:lnTo>
                  <a:cubicBezTo>
                    <a:pt x="47489" y="711713"/>
                    <a:pt x="31050" y="704903"/>
                    <a:pt x="18930" y="692783"/>
                  </a:cubicBezTo>
                  <a:cubicBezTo>
                    <a:pt x="6809" y="680662"/>
                    <a:pt x="0" y="664224"/>
                    <a:pt x="0" y="647083"/>
                  </a:cubicBezTo>
                  <a:lnTo>
                    <a:pt x="0" y="64630"/>
                  </a:lnTo>
                  <a:cubicBezTo>
                    <a:pt x="0" y="47489"/>
                    <a:pt x="6809" y="31050"/>
                    <a:pt x="18930" y="18930"/>
                  </a:cubicBezTo>
                  <a:cubicBezTo>
                    <a:pt x="31050" y="6809"/>
                    <a:pt x="47489" y="0"/>
                    <a:pt x="64630" y="0"/>
                  </a:cubicBezTo>
                  <a:close/>
                </a:path>
              </a:pathLst>
            </a:custGeom>
            <a:solidFill>
              <a:srgbClr val="72311D"/>
            </a:solidFill>
            <a:ln w="19050" cap="rnd">
              <a:solidFill>
                <a:srgbClr val="F6ECE4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812800" cy="7593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  <a:p>
              <a:pPr algn="ctr">
                <a:lnSpc>
                  <a:spcPts val="3359"/>
                </a:lnSpc>
              </a:pPr>
              <a:endParaRPr/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F6ECE4"/>
                  </a:solidFill>
                  <a:latin typeface="DM Sans"/>
                  <a:ea typeface="DM Sans"/>
                  <a:cs typeface="DM Sans"/>
                  <a:sym typeface="DM Sans"/>
                </a:rPr>
                <a:t>El trabajo realizado durante estos años, ha sido un proceso conjunto de aprendizaje, en el que docentes, estudiantes y padres de familia se han ido apropiando cada vez más de este proyecto.</a:t>
              </a:r>
            </a:p>
            <a:p>
              <a:pPr algn="ctr">
                <a:lnSpc>
                  <a:spcPts val="7279"/>
                </a:lnSpc>
              </a:pPr>
              <a:endParaRPr lang="en-US" sz="2299">
                <a:solidFill>
                  <a:srgbClr val="F6ECE4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538353" y="4145955"/>
            <a:ext cx="5177718" cy="4606976"/>
            <a:chOff x="0" y="0"/>
            <a:chExt cx="836486" cy="7442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36486" cy="744280"/>
            </a:xfrm>
            <a:custGeom>
              <a:avLst/>
              <a:gdLst/>
              <a:ahLst/>
              <a:cxnLst/>
              <a:rect l="l" t="t" r="r" b="b"/>
              <a:pathLst>
                <a:path w="836486" h="744280">
                  <a:moveTo>
                    <a:pt x="62800" y="0"/>
                  </a:moveTo>
                  <a:lnTo>
                    <a:pt x="773686" y="0"/>
                  </a:lnTo>
                  <a:cubicBezTo>
                    <a:pt x="790342" y="0"/>
                    <a:pt x="806315" y="6616"/>
                    <a:pt x="818093" y="18394"/>
                  </a:cubicBezTo>
                  <a:cubicBezTo>
                    <a:pt x="829870" y="30171"/>
                    <a:pt x="836486" y="46144"/>
                    <a:pt x="836486" y="62800"/>
                  </a:cubicBezTo>
                  <a:lnTo>
                    <a:pt x="836486" y="681480"/>
                  </a:lnTo>
                  <a:cubicBezTo>
                    <a:pt x="836486" y="716164"/>
                    <a:pt x="808370" y="744280"/>
                    <a:pt x="773686" y="744280"/>
                  </a:cubicBezTo>
                  <a:lnTo>
                    <a:pt x="62800" y="744280"/>
                  </a:lnTo>
                  <a:cubicBezTo>
                    <a:pt x="46144" y="744280"/>
                    <a:pt x="30171" y="737664"/>
                    <a:pt x="18394" y="725886"/>
                  </a:cubicBezTo>
                  <a:cubicBezTo>
                    <a:pt x="6616" y="714109"/>
                    <a:pt x="0" y="698136"/>
                    <a:pt x="0" y="681480"/>
                  </a:cubicBezTo>
                  <a:lnTo>
                    <a:pt x="0" y="62800"/>
                  </a:lnTo>
                  <a:cubicBezTo>
                    <a:pt x="0" y="46144"/>
                    <a:pt x="6616" y="30171"/>
                    <a:pt x="18394" y="18394"/>
                  </a:cubicBezTo>
                  <a:cubicBezTo>
                    <a:pt x="30171" y="6616"/>
                    <a:pt x="46144" y="0"/>
                    <a:pt x="62800" y="0"/>
                  </a:cubicBezTo>
                  <a:close/>
                </a:path>
              </a:pathLst>
            </a:custGeom>
            <a:solidFill>
              <a:srgbClr val="72311D"/>
            </a:solidFill>
            <a:ln w="19050" cap="rnd">
              <a:solidFill>
                <a:srgbClr val="F6ECE4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836486" cy="791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6ECE4"/>
                  </a:solidFill>
                  <a:latin typeface="DM Sans"/>
                  <a:ea typeface="DM Sans"/>
                  <a:cs typeface="DM Sans"/>
                  <a:sym typeface="DM Sans"/>
                </a:rPr>
                <a:t>Los resultados obtenidos hasta el momento dan cuenta de como a través de actividades pedagógicas usando la pintura, poesía, saberes populares, creencias, costumbres y otras expresiones artísticas fortalecen de manera significativa el uso de la palabra escrita.</a:t>
              </a:r>
            </a:p>
            <a:p>
              <a:pPr algn="ctr">
                <a:lnSpc>
                  <a:spcPts val="4059"/>
                </a:lnSpc>
              </a:pPr>
              <a:endParaRPr lang="en-US" sz="2499">
                <a:solidFill>
                  <a:srgbClr val="F6ECE4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722390" y="5318120"/>
            <a:ext cx="1729507" cy="1131322"/>
            <a:chOff x="0" y="0"/>
            <a:chExt cx="944990" cy="61814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44990" cy="618146"/>
            </a:xfrm>
            <a:custGeom>
              <a:avLst/>
              <a:gdLst/>
              <a:ahLst/>
              <a:cxnLst/>
              <a:rect l="l" t="t" r="r" b="b"/>
              <a:pathLst>
                <a:path w="944990" h="618146">
                  <a:moveTo>
                    <a:pt x="472495" y="0"/>
                  </a:moveTo>
                  <a:cubicBezTo>
                    <a:pt x="211543" y="0"/>
                    <a:pt x="0" y="138377"/>
                    <a:pt x="0" y="309073"/>
                  </a:cubicBezTo>
                  <a:cubicBezTo>
                    <a:pt x="0" y="479769"/>
                    <a:pt x="211543" y="618146"/>
                    <a:pt x="472495" y="618146"/>
                  </a:cubicBezTo>
                  <a:cubicBezTo>
                    <a:pt x="733447" y="618146"/>
                    <a:pt x="944990" y="479769"/>
                    <a:pt x="944990" y="309073"/>
                  </a:cubicBezTo>
                  <a:cubicBezTo>
                    <a:pt x="944990" y="138377"/>
                    <a:pt x="733447" y="0"/>
                    <a:pt x="472495" y="0"/>
                  </a:cubicBezTo>
                  <a:close/>
                </a:path>
              </a:pathLst>
            </a:custGeom>
            <a:solidFill>
              <a:srgbClr val="72311D"/>
            </a:solidFill>
            <a:ln w="19050" cap="sq">
              <a:solidFill>
                <a:srgbClr val="F6ECE4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8593" y="19851"/>
              <a:ext cx="767804" cy="540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364850" y="5654912"/>
            <a:ext cx="2444589" cy="457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5"/>
              </a:lnSpc>
            </a:pPr>
            <a:r>
              <a:rPr lang="en-US" sz="3038" b="1" spc="-106">
                <a:solidFill>
                  <a:srgbClr val="F6ECE4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353166" y="3831292"/>
            <a:ext cx="1693484" cy="1164438"/>
            <a:chOff x="0" y="0"/>
            <a:chExt cx="908453" cy="62465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08453" cy="624652"/>
            </a:xfrm>
            <a:custGeom>
              <a:avLst/>
              <a:gdLst/>
              <a:ahLst/>
              <a:cxnLst/>
              <a:rect l="l" t="t" r="r" b="b"/>
              <a:pathLst>
                <a:path w="908453" h="624652">
                  <a:moveTo>
                    <a:pt x="454227" y="0"/>
                  </a:moveTo>
                  <a:cubicBezTo>
                    <a:pt x="203364" y="0"/>
                    <a:pt x="0" y="139833"/>
                    <a:pt x="0" y="312326"/>
                  </a:cubicBezTo>
                  <a:cubicBezTo>
                    <a:pt x="0" y="484819"/>
                    <a:pt x="203364" y="624652"/>
                    <a:pt x="454227" y="624652"/>
                  </a:cubicBezTo>
                  <a:cubicBezTo>
                    <a:pt x="705089" y="624652"/>
                    <a:pt x="908453" y="484819"/>
                    <a:pt x="908453" y="312326"/>
                  </a:cubicBezTo>
                  <a:cubicBezTo>
                    <a:pt x="908453" y="139833"/>
                    <a:pt x="705089" y="0"/>
                    <a:pt x="454227" y="0"/>
                  </a:cubicBezTo>
                  <a:close/>
                </a:path>
              </a:pathLst>
            </a:custGeom>
            <a:solidFill>
              <a:srgbClr val="72311D"/>
            </a:solidFill>
            <a:ln w="19050" cap="sq">
              <a:solidFill>
                <a:srgbClr val="F6ECE4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168" y="20461"/>
              <a:ext cx="738118" cy="545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776594" y="4140048"/>
            <a:ext cx="2734813" cy="421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6"/>
              </a:lnSpc>
            </a:pPr>
            <a:r>
              <a:rPr lang="en-US" sz="2797" b="1" spc="-97">
                <a:solidFill>
                  <a:srgbClr val="F6ECE4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4161018" y="2019024"/>
            <a:ext cx="1934482" cy="1515173"/>
            <a:chOff x="0" y="0"/>
            <a:chExt cx="1037735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37735" cy="812800"/>
            </a:xfrm>
            <a:custGeom>
              <a:avLst/>
              <a:gdLst/>
              <a:ahLst/>
              <a:cxnLst/>
              <a:rect l="l" t="t" r="r" b="b"/>
              <a:pathLst>
                <a:path w="1037735" h="812800">
                  <a:moveTo>
                    <a:pt x="518867" y="0"/>
                  </a:moveTo>
                  <a:cubicBezTo>
                    <a:pt x="232305" y="0"/>
                    <a:pt x="0" y="181951"/>
                    <a:pt x="0" y="406400"/>
                  </a:cubicBezTo>
                  <a:cubicBezTo>
                    <a:pt x="0" y="630849"/>
                    <a:pt x="232305" y="812800"/>
                    <a:pt x="518867" y="812800"/>
                  </a:cubicBezTo>
                  <a:cubicBezTo>
                    <a:pt x="805430" y="812800"/>
                    <a:pt x="1037735" y="630849"/>
                    <a:pt x="1037735" y="406400"/>
                  </a:cubicBezTo>
                  <a:cubicBezTo>
                    <a:pt x="1037735" y="181951"/>
                    <a:pt x="805430" y="0"/>
                    <a:pt x="518867" y="0"/>
                  </a:cubicBezTo>
                  <a:close/>
                </a:path>
              </a:pathLst>
            </a:custGeom>
            <a:solidFill>
              <a:srgbClr val="72311D"/>
            </a:solidFill>
            <a:ln w="19050" cap="sq">
              <a:solidFill>
                <a:srgbClr val="F6ECE4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7288" y="38100"/>
              <a:ext cx="843159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4158924" y="2552772"/>
            <a:ext cx="193657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5"/>
              </a:lnSpc>
            </a:pPr>
            <a:r>
              <a:rPr lang="en-US" sz="2971" b="1" spc="-103">
                <a:solidFill>
                  <a:srgbClr val="F6ECE4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pic>
        <p:nvPicPr>
          <p:cNvPr id="25" name="Imagen 2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8730"/>
          <a:stretch/>
        </p:blipFill>
        <p:spPr>
          <a:xfrm>
            <a:off x="15581691" y="65167"/>
            <a:ext cx="2741492" cy="26765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505948" y="4649788"/>
            <a:ext cx="7276104" cy="87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00"/>
              </a:lnSpc>
            </a:pPr>
            <a:r>
              <a:rPr lang="en-US" sz="5000" spc="-210">
                <a:solidFill>
                  <a:srgbClr val="522F24"/>
                </a:solidFill>
                <a:latin typeface="Bugaki"/>
                <a:ea typeface="Bugaki"/>
                <a:cs typeface="Bugaki"/>
                <a:sym typeface="Bugaki"/>
              </a:rPr>
              <a:t>empoderamiento</a:t>
            </a:r>
          </a:p>
        </p:txBody>
      </p:sp>
      <p:sp>
        <p:nvSpPr>
          <p:cNvPr id="4" name="Freeform 4"/>
          <p:cNvSpPr/>
          <p:nvPr/>
        </p:nvSpPr>
        <p:spPr>
          <a:xfrm>
            <a:off x="7260021" y="1271651"/>
            <a:ext cx="3767959" cy="1904532"/>
          </a:xfrm>
          <a:custGeom>
            <a:avLst/>
            <a:gdLst/>
            <a:ahLst/>
            <a:cxnLst/>
            <a:rect l="l" t="t" r="r" b="b"/>
            <a:pathLst>
              <a:path w="3767959" h="1904532">
                <a:moveTo>
                  <a:pt x="0" y="0"/>
                </a:moveTo>
                <a:lnTo>
                  <a:pt x="3767958" y="0"/>
                </a:lnTo>
                <a:lnTo>
                  <a:pt x="3767958" y="1904531"/>
                </a:lnTo>
                <a:lnTo>
                  <a:pt x="0" y="19045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1418421"/>
            <a:ext cx="4829703" cy="3345667"/>
          </a:xfrm>
          <a:custGeom>
            <a:avLst/>
            <a:gdLst/>
            <a:ahLst/>
            <a:cxnLst/>
            <a:rect l="l" t="t" r="r" b="b"/>
            <a:pathLst>
              <a:path w="4829703" h="3345667">
                <a:moveTo>
                  <a:pt x="0" y="0"/>
                </a:moveTo>
                <a:lnTo>
                  <a:pt x="4829703" y="0"/>
                </a:lnTo>
                <a:lnTo>
                  <a:pt x="4829703" y="3345667"/>
                </a:lnTo>
                <a:lnTo>
                  <a:pt x="0" y="33456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87394" y="5604534"/>
            <a:ext cx="4829703" cy="3345667"/>
          </a:xfrm>
          <a:custGeom>
            <a:avLst/>
            <a:gdLst/>
            <a:ahLst/>
            <a:cxnLst/>
            <a:rect l="l" t="t" r="r" b="b"/>
            <a:pathLst>
              <a:path w="4829703" h="3345667">
                <a:moveTo>
                  <a:pt x="0" y="0"/>
                </a:moveTo>
                <a:lnTo>
                  <a:pt x="4829703" y="0"/>
                </a:lnTo>
                <a:lnTo>
                  <a:pt x="4829703" y="3345666"/>
                </a:lnTo>
                <a:lnTo>
                  <a:pt x="0" y="33456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570903" y="1336800"/>
            <a:ext cx="4829703" cy="3647392"/>
          </a:xfrm>
          <a:custGeom>
            <a:avLst/>
            <a:gdLst/>
            <a:ahLst/>
            <a:cxnLst/>
            <a:rect l="l" t="t" r="r" b="b"/>
            <a:pathLst>
              <a:path w="4829703" h="3345667">
                <a:moveTo>
                  <a:pt x="0" y="0"/>
                </a:moveTo>
                <a:lnTo>
                  <a:pt x="4829703" y="0"/>
                </a:lnTo>
                <a:lnTo>
                  <a:pt x="4829703" y="3345666"/>
                </a:lnTo>
                <a:lnTo>
                  <a:pt x="0" y="33456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2570903" y="5596302"/>
            <a:ext cx="4829703" cy="3345667"/>
          </a:xfrm>
          <a:custGeom>
            <a:avLst/>
            <a:gdLst/>
            <a:ahLst/>
            <a:cxnLst/>
            <a:rect l="l" t="t" r="r" b="b"/>
            <a:pathLst>
              <a:path w="4829703" h="3345667">
                <a:moveTo>
                  <a:pt x="0" y="0"/>
                </a:moveTo>
                <a:lnTo>
                  <a:pt x="4829703" y="0"/>
                </a:lnTo>
                <a:lnTo>
                  <a:pt x="4829703" y="3345666"/>
                </a:lnTo>
                <a:lnTo>
                  <a:pt x="0" y="33456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1731988" y="6082421"/>
            <a:ext cx="3140515" cy="77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2848" b="1" spc="119">
                <a:solidFill>
                  <a:srgbClr val="F6ECE4"/>
                </a:solidFill>
                <a:latin typeface="Inter Bold"/>
                <a:ea typeface="Inter Bold"/>
                <a:cs typeface="Inter Bold"/>
                <a:sym typeface="Inter Bold"/>
              </a:rPr>
              <a:t>COMUNIDAD </a:t>
            </a:r>
          </a:p>
          <a:p>
            <a:pPr algn="ctr">
              <a:lnSpc>
                <a:spcPts val="2991"/>
              </a:lnSpc>
            </a:pPr>
            <a:r>
              <a:rPr lang="en-US" sz="2848" b="1" spc="119">
                <a:solidFill>
                  <a:srgbClr val="F6ECE4"/>
                </a:solidFill>
                <a:latin typeface="Inter Bold"/>
                <a:ea typeface="Inter Bold"/>
                <a:cs typeface="Inter Bold"/>
                <a:sym typeface="Inter Bold"/>
              </a:rPr>
              <a:t>EDUCATIVA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31988" y="7086093"/>
            <a:ext cx="3283665" cy="163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7"/>
              </a:lnSpc>
            </a:pPr>
            <a:r>
              <a:rPr lang="en-US" sz="2427" b="1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•Existe actividad colaborativa entre padres e hijos</a:t>
            </a:r>
          </a:p>
          <a:p>
            <a:pPr algn="ctr">
              <a:lnSpc>
                <a:spcPts val="3277"/>
              </a:lnSpc>
            </a:pPr>
            <a:endParaRPr lang="en-US" sz="2427" b="1">
              <a:solidFill>
                <a:srgbClr val="F6ECE4"/>
              </a:solidFill>
              <a:latin typeface="Inter Semi-Bold"/>
              <a:ea typeface="Inter Semi-Bold"/>
              <a:cs typeface="Inter Semi-Bold"/>
              <a:sym typeface="Inter Semi-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993200" y="1815105"/>
            <a:ext cx="3985109" cy="394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2848" b="1" spc="119">
                <a:solidFill>
                  <a:srgbClr val="F6ECE4"/>
                </a:solidFill>
                <a:latin typeface="Inter Bold"/>
                <a:ea typeface="Inter Bold"/>
                <a:cs typeface="Inter Bold"/>
                <a:sym typeface="Inter Bold"/>
              </a:rPr>
              <a:t>ESTUDIANTE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79531" y="2185817"/>
            <a:ext cx="4821075" cy="2675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</a:pPr>
            <a:r>
              <a:rPr lang="en-US" sz="2006" b="1" dirty="0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•</a:t>
            </a:r>
            <a:r>
              <a:rPr lang="en-US" sz="2006" b="1" dirty="0" err="1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Fomenta</a:t>
            </a:r>
            <a:r>
              <a:rPr lang="en-US" sz="2006" b="1" dirty="0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el </a:t>
            </a:r>
            <a:r>
              <a:rPr lang="en-US" sz="2006" b="1" dirty="0" err="1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hábito</a:t>
            </a:r>
            <a:r>
              <a:rPr lang="en-US" sz="2006" b="1" dirty="0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de la </a:t>
            </a:r>
            <a:r>
              <a:rPr lang="en-US" sz="2006" b="1" dirty="0" err="1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lectura</a:t>
            </a:r>
            <a:r>
              <a:rPr lang="en-US" sz="2006" b="1" dirty="0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y </a:t>
            </a:r>
            <a:r>
              <a:rPr lang="en-US" sz="2006" b="1" dirty="0" err="1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escritura</a:t>
            </a:r>
            <a:r>
              <a:rPr lang="en-US" sz="2006" b="1" dirty="0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.</a:t>
            </a:r>
          </a:p>
          <a:p>
            <a:pPr algn="ctr">
              <a:lnSpc>
                <a:spcPts val="2709"/>
              </a:lnSpc>
            </a:pPr>
            <a:r>
              <a:rPr lang="en-US" sz="2006" b="1" dirty="0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•</a:t>
            </a:r>
            <a:r>
              <a:rPr lang="en-US" sz="2006" b="1" dirty="0" err="1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Valoración</a:t>
            </a:r>
            <a:r>
              <a:rPr lang="en-US" sz="2006" b="1" dirty="0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de las </a:t>
            </a:r>
            <a:r>
              <a:rPr lang="en-US" sz="2006" b="1" dirty="0" err="1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diferentes</a:t>
            </a:r>
            <a:r>
              <a:rPr lang="en-US" sz="2006" b="1" dirty="0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</a:t>
            </a:r>
            <a:r>
              <a:rPr lang="en-US" sz="2006" b="1" dirty="0" err="1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manifestaciones</a:t>
            </a:r>
            <a:r>
              <a:rPr lang="en-US" sz="2006" b="1" dirty="0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.</a:t>
            </a:r>
          </a:p>
          <a:p>
            <a:pPr algn="ctr">
              <a:lnSpc>
                <a:spcPts val="2709"/>
              </a:lnSpc>
            </a:pPr>
            <a:r>
              <a:rPr lang="en-US" sz="2006" b="1" dirty="0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•</a:t>
            </a:r>
            <a:r>
              <a:rPr lang="en-US" sz="2006" b="1" dirty="0" err="1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Desarrollo</a:t>
            </a:r>
            <a:r>
              <a:rPr lang="en-US" sz="2006" b="1" dirty="0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de </a:t>
            </a:r>
            <a:r>
              <a:rPr lang="en-US" sz="2006" b="1" dirty="0" err="1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habilidades</a:t>
            </a:r>
            <a:r>
              <a:rPr lang="en-US" sz="2006" b="1" dirty="0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</a:t>
            </a:r>
            <a:r>
              <a:rPr lang="en-US" sz="2006" b="1" dirty="0" err="1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comunicativas</a:t>
            </a:r>
            <a:r>
              <a:rPr lang="en-US" sz="2006" b="1" dirty="0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</a:t>
            </a:r>
            <a:r>
              <a:rPr lang="en-US" sz="2006" b="1" dirty="0" err="1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en</a:t>
            </a:r>
            <a:r>
              <a:rPr lang="en-US" sz="2006" b="1" dirty="0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</a:t>
            </a:r>
            <a:r>
              <a:rPr lang="en-US" sz="2006" b="1" dirty="0" err="1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su</a:t>
            </a:r>
            <a:r>
              <a:rPr lang="en-US" sz="2006" b="1" dirty="0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</a:t>
            </a:r>
            <a:r>
              <a:rPr lang="en-US" sz="2006" b="1" dirty="0" err="1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contexto</a:t>
            </a:r>
            <a:r>
              <a:rPr lang="en-US" sz="2006" b="1" dirty="0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de aula, familiar y </a:t>
            </a:r>
            <a:r>
              <a:rPr lang="en-US" sz="2006" b="1" dirty="0" err="1">
                <a:solidFill>
                  <a:srgbClr val="F6EC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comunitaria</a:t>
            </a:r>
            <a:endParaRPr lang="en-US" sz="2006" b="1" dirty="0">
              <a:solidFill>
                <a:srgbClr val="F6ECE4"/>
              </a:solidFill>
              <a:latin typeface="Inter Semi-Bold"/>
              <a:ea typeface="Inter Semi-Bold"/>
              <a:cs typeface="Inter Semi-Bold"/>
              <a:sym typeface="Inter Semi-Bold"/>
            </a:endParaRPr>
          </a:p>
          <a:p>
            <a:pPr algn="ctr">
              <a:lnSpc>
                <a:spcPts val="2709"/>
              </a:lnSpc>
            </a:pPr>
            <a:endParaRPr lang="en-US" sz="2006" b="1" dirty="0">
              <a:solidFill>
                <a:srgbClr val="F6ECE4"/>
              </a:solidFill>
              <a:latin typeface="Inter Semi-Bold"/>
              <a:ea typeface="Inter Semi-Bold"/>
              <a:cs typeface="Inter Semi-Bold"/>
              <a:sym typeface="Inter Semi-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993200" y="6074188"/>
            <a:ext cx="3985109" cy="394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2848" b="1" spc="119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ARTICULACION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72970" y="6551119"/>
            <a:ext cx="3283665" cy="1778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7"/>
              </a:lnSpc>
            </a:pPr>
            <a:r>
              <a:rPr lang="en-US" sz="2627" b="1">
                <a:solidFill>
                  <a:srgbClr val="522F2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 transversaliza en la gran mayoría de áreas</a:t>
            </a:r>
          </a:p>
          <a:p>
            <a:pPr algn="ctr">
              <a:lnSpc>
                <a:spcPts val="3547"/>
              </a:lnSpc>
            </a:pPr>
            <a:endParaRPr lang="en-US" sz="2627" b="1">
              <a:solidFill>
                <a:srgbClr val="522F24"/>
              </a:solidFill>
              <a:latin typeface="Inter Semi-Bold"/>
              <a:ea typeface="Inter Semi-Bold"/>
              <a:cs typeface="Inter Semi-Bold"/>
              <a:sym typeface="Inter Semi-Bold"/>
            </a:endParaRPr>
          </a:p>
        </p:txBody>
      </p:sp>
      <p:sp>
        <p:nvSpPr>
          <p:cNvPr id="15" name="Freeform 15"/>
          <p:cNvSpPr/>
          <p:nvPr/>
        </p:nvSpPr>
        <p:spPr>
          <a:xfrm rot="-5400000">
            <a:off x="6033710" y="2779397"/>
            <a:ext cx="980037" cy="1093348"/>
          </a:xfrm>
          <a:custGeom>
            <a:avLst/>
            <a:gdLst/>
            <a:ahLst/>
            <a:cxnLst/>
            <a:rect l="l" t="t" r="r" b="b"/>
            <a:pathLst>
              <a:path w="980037" h="1093348">
                <a:moveTo>
                  <a:pt x="0" y="0"/>
                </a:moveTo>
                <a:lnTo>
                  <a:pt x="980037" y="0"/>
                </a:lnTo>
                <a:lnTo>
                  <a:pt x="980037" y="1093348"/>
                </a:lnTo>
                <a:lnTo>
                  <a:pt x="0" y="109334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 rot="-5400000" flipH="1" flipV="1">
            <a:off x="11274253" y="6414255"/>
            <a:ext cx="980037" cy="1093348"/>
          </a:xfrm>
          <a:custGeom>
            <a:avLst/>
            <a:gdLst/>
            <a:ahLst/>
            <a:cxnLst/>
            <a:rect l="l" t="t" r="r" b="b"/>
            <a:pathLst>
              <a:path w="980037" h="1093348">
                <a:moveTo>
                  <a:pt x="980037" y="1093348"/>
                </a:moveTo>
                <a:lnTo>
                  <a:pt x="0" y="1093348"/>
                </a:lnTo>
                <a:lnTo>
                  <a:pt x="0" y="0"/>
                </a:lnTo>
                <a:lnTo>
                  <a:pt x="980037" y="0"/>
                </a:lnTo>
                <a:lnTo>
                  <a:pt x="980037" y="1093348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 rot="5400000" flipH="1">
            <a:off x="11274253" y="2779397"/>
            <a:ext cx="980037" cy="1093348"/>
          </a:xfrm>
          <a:custGeom>
            <a:avLst/>
            <a:gdLst/>
            <a:ahLst/>
            <a:cxnLst/>
            <a:rect l="l" t="t" r="r" b="b"/>
            <a:pathLst>
              <a:path w="980037" h="1093348">
                <a:moveTo>
                  <a:pt x="980037" y="0"/>
                </a:moveTo>
                <a:lnTo>
                  <a:pt x="0" y="0"/>
                </a:lnTo>
                <a:lnTo>
                  <a:pt x="0" y="1093348"/>
                </a:lnTo>
                <a:lnTo>
                  <a:pt x="980037" y="1093348"/>
                </a:lnTo>
                <a:lnTo>
                  <a:pt x="980037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 rot="5400000" flipV="1">
            <a:off x="6033710" y="6414255"/>
            <a:ext cx="980037" cy="1093348"/>
          </a:xfrm>
          <a:custGeom>
            <a:avLst/>
            <a:gdLst/>
            <a:ahLst/>
            <a:cxnLst/>
            <a:rect l="l" t="t" r="r" b="b"/>
            <a:pathLst>
              <a:path w="980037" h="1093348">
                <a:moveTo>
                  <a:pt x="0" y="1093348"/>
                </a:moveTo>
                <a:lnTo>
                  <a:pt x="980037" y="1093348"/>
                </a:lnTo>
                <a:lnTo>
                  <a:pt x="980037" y="0"/>
                </a:lnTo>
                <a:lnTo>
                  <a:pt x="0" y="0"/>
                </a:lnTo>
                <a:lnTo>
                  <a:pt x="0" y="1093348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TextBox 19"/>
          <p:cNvSpPr txBox="1"/>
          <p:nvPr/>
        </p:nvSpPr>
        <p:spPr>
          <a:xfrm>
            <a:off x="1028700" y="2307846"/>
            <a:ext cx="4757855" cy="238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9"/>
              </a:lnSpc>
            </a:pPr>
            <a:r>
              <a:rPr lang="en-US" sz="19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•Herramienta de apoyo a su labor pedagógica.</a:t>
            </a:r>
          </a:p>
          <a:p>
            <a:pPr algn="ctr">
              <a:lnSpc>
                <a:spcPts val="2769"/>
              </a:lnSpc>
            </a:pPr>
            <a:r>
              <a:rPr lang="en-US" sz="19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•Estrategia para estimular proceso lecto escritor.</a:t>
            </a:r>
          </a:p>
          <a:p>
            <a:pPr algn="ctr">
              <a:lnSpc>
                <a:spcPts val="2769"/>
              </a:lnSpc>
            </a:pPr>
            <a:r>
              <a:rPr lang="en-US" sz="19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•Propiciar espacios de interacción con los otros</a:t>
            </a:r>
          </a:p>
          <a:p>
            <a:pPr algn="ctr">
              <a:lnSpc>
                <a:spcPts val="2769"/>
              </a:lnSpc>
            </a:pPr>
            <a:endParaRPr lang="en-US" sz="1977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955999" y="1710330"/>
            <a:ext cx="269249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DOCENTE</a:t>
            </a:r>
          </a:p>
        </p:txBody>
      </p:sp>
      <p:pic>
        <p:nvPicPr>
          <p:cNvPr id="21" name="Imagen 20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8730"/>
          <a:stretch/>
        </p:blipFill>
        <p:spPr>
          <a:xfrm>
            <a:off x="7773254" y="7519843"/>
            <a:ext cx="2741492" cy="26765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1867340"/>
            <a:ext cx="7425384" cy="5076263"/>
          </a:xfrm>
          <a:custGeom>
            <a:avLst/>
            <a:gdLst/>
            <a:ahLst/>
            <a:cxnLst/>
            <a:rect l="l" t="t" r="r" b="b"/>
            <a:pathLst>
              <a:path w="7425384" h="5076263">
                <a:moveTo>
                  <a:pt x="0" y="0"/>
                </a:moveTo>
                <a:lnTo>
                  <a:pt x="7425384" y="0"/>
                </a:lnTo>
                <a:lnTo>
                  <a:pt x="7425384" y="5076263"/>
                </a:lnTo>
                <a:lnTo>
                  <a:pt x="0" y="50762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1504950" y="1753040"/>
            <a:ext cx="7515705" cy="1795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0"/>
              </a:lnSpc>
            </a:pPr>
            <a:r>
              <a:rPr lang="en-US" sz="5500" spc="-231">
                <a:solidFill>
                  <a:srgbClr val="522F24"/>
                </a:solidFill>
                <a:latin typeface="Bugaki"/>
                <a:ea typeface="Bugaki"/>
                <a:cs typeface="Bugaki"/>
                <a:sym typeface="Bugaki"/>
              </a:rPr>
              <a:t>EVALUACION  Y SEGUIMIENTO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8494" y="4537892"/>
            <a:ext cx="9210245" cy="463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37670" lvl="1" indent="-568835" algn="l">
              <a:lnSpc>
                <a:spcPts val="7377"/>
              </a:lnSpc>
              <a:buFont typeface="Arial"/>
              <a:buChar char="•"/>
            </a:pPr>
            <a:r>
              <a:rPr lang="en-US" sz="5269" b="1" spc="316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Conversatorios</a:t>
            </a:r>
          </a:p>
          <a:p>
            <a:pPr marL="1137670" lvl="1" indent="-568835" algn="l">
              <a:lnSpc>
                <a:spcPts val="7377"/>
              </a:lnSpc>
              <a:buFont typeface="Arial"/>
              <a:buChar char="•"/>
            </a:pPr>
            <a:r>
              <a:rPr lang="en-US" sz="5269" b="1" spc="316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Encuestas</a:t>
            </a:r>
          </a:p>
          <a:p>
            <a:pPr marL="1137670" lvl="1" indent="-568835" algn="l">
              <a:lnSpc>
                <a:spcPts val="7377"/>
              </a:lnSpc>
              <a:buFont typeface="Arial"/>
              <a:buChar char="•"/>
            </a:pPr>
            <a:r>
              <a:rPr lang="en-US" sz="5269" b="1" spc="316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Reunión de docentes</a:t>
            </a:r>
          </a:p>
          <a:p>
            <a:pPr marL="1137670" lvl="1" indent="-568835" algn="l">
              <a:lnSpc>
                <a:spcPts val="7377"/>
              </a:lnSpc>
              <a:buFont typeface="Arial"/>
              <a:buChar char="•"/>
            </a:pPr>
            <a:r>
              <a:rPr lang="en-US" sz="5269" b="1" spc="316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Informe semestral</a:t>
            </a:r>
          </a:p>
          <a:p>
            <a:pPr marL="0" lvl="0" indent="0" algn="l">
              <a:lnSpc>
                <a:spcPts val="7377"/>
              </a:lnSpc>
            </a:pPr>
            <a:endParaRPr lang="en-US" sz="5269" b="1" spc="316">
              <a:solidFill>
                <a:srgbClr val="522F24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6" name="Freeform 6"/>
          <p:cNvSpPr/>
          <p:nvPr/>
        </p:nvSpPr>
        <p:spPr>
          <a:xfrm rot="5400000">
            <a:off x="13403869" y="8534827"/>
            <a:ext cx="5484534" cy="6931481"/>
          </a:xfrm>
          <a:custGeom>
            <a:avLst/>
            <a:gdLst/>
            <a:ahLst/>
            <a:cxnLst/>
            <a:rect l="l" t="t" r="r" b="b"/>
            <a:pathLst>
              <a:path w="5484534" h="6931481">
                <a:moveTo>
                  <a:pt x="0" y="0"/>
                </a:moveTo>
                <a:lnTo>
                  <a:pt x="5484534" y="0"/>
                </a:lnTo>
                <a:lnTo>
                  <a:pt x="5484534" y="6931481"/>
                </a:lnTo>
                <a:lnTo>
                  <a:pt x="0" y="69314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5400000">
            <a:off x="-1237317" y="-5179308"/>
            <a:ext cx="5484534" cy="6931481"/>
          </a:xfrm>
          <a:custGeom>
            <a:avLst/>
            <a:gdLst/>
            <a:ahLst/>
            <a:cxnLst/>
            <a:rect l="l" t="t" r="r" b="b"/>
            <a:pathLst>
              <a:path w="5484534" h="6931481">
                <a:moveTo>
                  <a:pt x="0" y="0"/>
                </a:moveTo>
                <a:lnTo>
                  <a:pt x="5484534" y="0"/>
                </a:lnTo>
                <a:lnTo>
                  <a:pt x="5484534" y="6931481"/>
                </a:lnTo>
                <a:lnTo>
                  <a:pt x="0" y="69314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8730"/>
          <a:stretch/>
        </p:blipFill>
        <p:spPr>
          <a:xfrm>
            <a:off x="15581691" y="65167"/>
            <a:ext cx="2741492" cy="26765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11256" y="681023"/>
            <a:ext cx="16865488" cy="8924954"/>
            <a:chOff x="0" y="0"/>
            <a:chExt cx="4441939" cy="23506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1939" cy="2350605"/>
            </a:xfrm>
            <a:custGeom>
              <a:avLst/>
              <a:gdLst/>
              <a:ahLst/>
              <a:cxnLst/>
              <a:rect l="l" t="t" r="r" b="b"/>
              <a:pathLst>
                <a:path w="4441939" h="2350605">
                  <a:moveTo>
                    <a:pt x="6886" y="0"/>
                  </a:moveTo>
                  <a:lnTo>
                    <a:pt x="4435054" y="0"/>
                  </a:lnTo>
                  <a:cubicBezTo>
                    <a:pt x="4436880" y="0"/>
                    <a:pt x="4438631" y="725"/>
                    <a:pt x="4439923" y="2017"/>
                  </a:cubicBezTo>
                  <a:cubicBezTo>
                    <a:pt x="4441214" y="3308"/>
                    <a:pt x="4441939" y="5059"/>
                    <a:pt x="4441939" y="6886"/>
                  </a:cubicBezTo>
                  <a:lnTo>
                    <a:pt x="4441939" y="2343720"/>
                  </a:lnTo>
                  <a:cubicBezTo>
                    <a:pt x="4441939" y="2347522"/>
                    <a:pt x="4438857" y="2350605"/>
                    <a:pt x="4435054" y="2350605"/>
                  </a:cubicBezTo>
                  <a:lnTo>
                    <a:pt x="6886" y="2350605"/>
                  </a:lnTo>
                  <a:cubicBezTo>
                    <a:pt x="5059" y="2350605"/>
                    <a:pt x="3308" y="2349880"/>
                    <a:pt x="2017" y="2348588"/>
                  </a:cubicBezTo>
                  <a:cubicBezTo>
                    <a:pt x="725" y="2347297"/>
                    <a:pt x="0" y="2345546"/>
                    <a:pt x="0" y="2343720"/>
                  </a:cubicBezTo>
                  <a:lnTo>
                    <a:pt x="0" y="6886"/>
                  </a:lnTo>
                  <a:cubicBezTo>
                    <a:pt x="0" y="5059"/>
                    <a:pt x="725" y="3308"/>
                    <a:pt x="2017" y="2017"/>
                  </a:cubicBezTo>
                  <a:cubicBezTo>
                    <a:pt x="3308" y="725"/>
                    <a:pt x="5059" y="0"/>
                    <a:pt x="6886" y="0"/>
                  </a:cubicBezTo>
                  <a:close/>
                </a:path>
              </a:pathLst>
            </a:custGeom>
            <a:solidFill>
              <a:srgbClr val="72311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04775"/>
              <a:ext cx="4441939" cy="22458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850766" y="1328630"/>
            <a:ext cx="8586468" cy="937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25"/>
              </a:lnSpc>
            </a:pPr>
            <a:r>
              <a:rPr lang="en-US" sz="5430" spc="-228">
                <a:solidFill>
                  <a:srgbClr val="F6ECE4"/>
                </a:solidFill>
                <a:latin typeface="Bugaki"/>
                <a:ea typeface="Bugaki"/>
                <a:cs typeface="Bugaki"/>
                <a:sym typeface="Bugaki"/>
              </a:rPr>
              <a:t>RESULTADOS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73136" y="6030739"/>
            <a:ext cx="15386164" cy="2637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73"/>
              </a:lnSpc>
            </a:pPr>
            <a:r>
              <a:rPr lang="en-US" sz="3767" b="1" spc="226">
                <a:solidFill>
                  <a:srgbClr val="F6EC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DIFICU</a:t>
            </a:r>
            <a:r>
              <a:rPr lang="en-US" sz="3767" b="1" u="none" spc="226">
                <a:solidFill>
                  <a:srgbClr val="F6EC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LTADES Y AJUSTES</a:t>
            </a:r>
          </a:p>
          <a:p>
            <a:pPr algn="ctr">
              <a:lnSpc>
                <a:spcPts val="5273"/>
              </a:lnSpc>
            </a:pPr>
            <a:r>
              <a:rPr lang="en-US" sz="3767" b="1" u="none" spc="226">
                <a:solidFill>
                  <a:srgbClr val="F6EC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Resistencia de algunos compañeros docentes</a:t>
            </a:r>
          </a:p>
          <a:p>
            <a:pPr algn="ctr">
              <a:lnSpc>
                <a:spcPts val="5273"/>
              </a:lnSpc>
            </a:pPr>
            <a:r>
              <a:rPr lang="en-US" sz="3767" b="1" u="none" spc="226">
                <a:solidFill>
                  <a:srgbClr val="F6EC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Actividades iniciales limitadas</a:t>
            </a:r>
          </a:p>
          <a:p>
            <a:pPr marL="0" lvl="0" indent="0" algn="ctr">
              <a:lnSpc>
                <a:spcPts val="5273"/>
              </a:lnSpc>
            </a:pPr>
            <a:endParaRPr lang="en-US" sz="3767" b="1" u="none" spc="226">
              <a:solidFill>
                <a:srgbClr val="F6ECE4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159466" y="3034726"/>
            <a:ext cx="12754625" cy="2933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33"/>
              </a:lnSpc>
            </a:pPr>
            <a:r>
              <a:rPr lang="en-US" sz="4043" spc="-169">
                <a:solidFill>
                  <a:srgbClr val="F6ECE4"/>
                </a:solidFill>
                <a:latin typeface="Open Sans"/>
                <a:ea typeface="Open Sans"/>
                <a:cs typeface="Open Sans"/>
                <a:sym typeface="Open Sans"/>
              </a:rPr>
              <a:t>Fomenta el hábito de la lectura y escritura.</a:t>
            </a:r>
          </a:p>
          <a:p>
            <a:pPr algn="ctr">
              <a:lnSpc>
                <a:spcPts val="4933"/>
              </a:lnSpc>
            </a:pPr>
            <a:r>
              <a:rPr lang="en-US" sz="4043" spc="-169">
                <a:solidFill>
                  <a:srgbClr val="F6ECE4"/>
                </a:solidFill>
                <a:latin typeface="Open Sans"/>
                <a:ea typeface="Open Sans"/>
                <a:cs typeface="Open Sans"/>
                <a:sym typeface="Open Sans"/>
              </a:rPr>
              <a:t>Valoración de las diferentes manifestaciones literarias.</a:t>
            </a:r>
          </a:p>
          <a:p>
            <a:pPr algn="ctr">
              <a:lnSpc>
                <a:spcPts val="4721"/>
              </a:lnSpc>
            </a:pPr>
            <a:r>
              <a:rPr lang="en-US" sz="3869" spc="-162">
                <a:solidFill>
                  <a:srgbClr val="F6ECE4"/>
                </a:solidFill>
                <a:latin typeface="Open Sans"/>
                <a:ea typeface="Open Sans"/>
                <a:cs typeface="Open Sans"/>
                <a:sym typeface="Open Sans"/>
              </a:rPr>
              <a:t>Desarrollo de habilidades comunicativas en su contexto de aula, familiar y comunitaria.</a:t>
            </a:r>
          </a:p>
          <a:p>
            <a:pPr algn="ctr">
              <a:lnSpc>
                <a:spcPts val="4084"/>
              </a:lnSpc>
            </a:pPr>
            <a:endParaRPr lang="en-US" sz="3869" spc="-162">
              <a:solidFill>
                <a:srgbClr val="F6ECE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8730"/>
          <a:stretch/>
        </p:blipFill>
        <p:spPr>
          <a:xfrm>
            <a:off x="14615210" y="927953"/>
            <a:ext cx="2741492" cy="26765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11256" y="681023"/>
            <a:ext cx="16865488" cy="8924954"/>
            <a:chOff x="0" y="0"/>
            <a:chExt cx="4441939" cy="23506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1939" cy="2350605"/>
            </a:xfrm>
            <a:custGeom>
              <a:avLst/>
              <a:gdLst/>
              <a:ahLst/>
              <a:cxnLst/>
              <a:rect l="l" t="t" r="r" b="b"/>
              <a:pathLst>
                <a:path w="4441939" h="2350605">
                  <a:moveTo>
                    <a:pt x="6886" y="0"/>
                  </a:moveTo>
                  <a:lnTo>
                    <a:pt x="4435054" y="0"/>
                  </a:lnTo>
                  <a:cubicBezTo>
                    <a:pt x="4436880" y="0"/>
                    <a:pt x="4438631" y="725"/>
                    <a:pt x="4439923" y="2017"/>
                  </a:cubicBezTo>
                  <a:cubicBezTo>
                    <a:pt x="4441214" y="3308"/>
                    <a:pt x="4441939" y="5059"/>
                    <a:pt x="4441939" y="6886"/>
                  </a:cubicBezTo>
                  <a:lnTo>
                    <a:pt x="4441939" y="2343720"/>
                  </a:lnTo>
                  <a:cubicBezTo>
                    <a:pt x="4441939" y="2347522"/>
                    <a:pt x="4438857" y="2350605"/>
                    <a:pt x="4435054" y="2350605"/>
                  </a:cubicBezTo>
                  <a:lnTo>
                    <a:pt x="6886" y="2350605"/>
                  </a:lnTo>
                  <a:cubicBezTo>
                    <a:pt x="5059" y="2350605"/>
                    <a:pt x="3308" y="2349880"/>
                    <a:pt x="2017" y="2348588"/>
                  </a:cubicBezTo>
                  <a:cubicBezTo>
                    <a:pt x="725" y="2347297"/>
                    <a:pt x="0" y="2345546"/>
                    <a:pt x="0" y="2343720"/>
                  </a:cubicBezTo>
                  <a:lnTo>
                    <a:pt x="0" y="6886"/>
                  </a:lnTo>
                  <a:cubicBezTo>
                    <a:pt x="0" y="5059"/>
                    <a:pt x="725" y="3308"/>
                    <a:pt x="2017" y="2017"/>
                  </a:cubicBezTo>
                  <a:cubicBezTo>
                    <a:pt x="3308" y="725"/>
                    <a:pt x="5059" y="0"/>
                    <a:pt x="6886" y="0"/>
                  </a:cubicBezTo>
                  <a:close/>
                </a:path>
              </a:pathLst>
            </a:custGeom>
            <a:solidFill>
              <a:srgbClr val="F6ECE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04775"/>
              <a:ext cx="4441939" cy="22458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3242308"/>
            <a:ext cx="16548044" cy="626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281"/>
              </a:lnSpc>
            </a:pPr>
            <a:r>
              <a:rPr lang="en-US" sz="4486" b="1" u="none" spc="269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La experiencia permite la interacción socio-afectiva y el desarrollo de habilidades  comunicativas dentro del contexto familiar, comunitario y regional.</a:t>
            </a:r>
          </a:p>
          <a:p>
            <a:pPr marL="0" lvl="0" indent="0" algn="ctr">
              <a:lnSpc>
                <a:spcPts val="6281"/>
              </a:lnSpc>
            </a:pPr>
            <a:endParaRPr lang="en-US" sz="4486" b="1" u="none" spc="269">
              <a:solidFill>
                <a:srgbClr val="522F24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0" lvl="0" indent="0" algn="ctr">
              <a:lnSpc>
                <a:spcPts val="6281"/>
              </a:lnSpc>
            </a:pPr>
            <a:r>
              <a:rPr lang="en-US" sz="4486" b="1" u="none" spc="269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Se ha articulado con el proyecto  de valores</a:t>
            </a:r>
          </a:p>
          <a:p>
            <a:pPr marL="0" lvl="0" indent="0" algn="ctr">
              <a:lnSpc>
                <a:spcPts val="6281"/>
              </a:lnSpc>
            </a:pPr>
            <a:r>
              <a:rPr lang="en-US" sz="4486" b="1" u="none" spc="269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Las 3 ediciones de la revista  </a:t>
            </a:r>
          </a:p>
          <a:p>
            <a:pPr marL="0" lvl="0" indent="0" algn="ctr">
              <a:lnSpc>
                <a:spcPts val="6281"/>
              </a:lnSpc>
            </a:pPr>
            <a:endParaRPr lang="en-US" sz="4486" b="1" u="none" spc="269">
              <a:solidFill>
                <a:srgbClr val="522F24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0" lvl="0" indent="0" algn="ctr">
              <a:lnSpc>
                <a:spcPts val="6281"/>
              </a:lnSpc>
            </a:pPr>
            <a:endParaRPr lang="en-US" sz="4486" b="1" u="none" spc="269">
              <a:solidFill>
                <a:srgbClr val="522F24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250791" y="1532093"/>
            <a:ext cx="10640217" cy="687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5"/>
              </a:lnSpc>
            </a:pPr>
            <a:r>
              <a:rPr lang="en-US" sz="3955" spc="-166">
                <a:solidFill>
                  <a:srgbClr val="522F24"/>
                </a:solidFill>
                <a:latin typeface="Bugaki"/>
                <a:ea typeface="Bugaki"/>
                <a:cs typeface="Bugaki"/>
                <a:sym typeface="Bugaki"/>
              </a:rPr>
              <a:t>TRANSFERENCIA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1867340"/>
            <a:ext cx="7425384" cy="5076263"/>
          </a:xfrm>
          <a:custGeom>
            <a:avLst/>
            <a:gdLst/>
            <a:ahLst/>
            <a:cxnLst/>
            <a:rect l="l" t="t" r="r" b="b"/>
            <a:pathLst>
              <a:path w="7425384" h="5076263">
                <a:moveTo>
                  <a:pt x="0" y="0"/>
                </a:moveTo>
                <a:lnTo>
                  <a:pt x="7425384" y="0"/>
                </a:lnTo>
                <a:lnTo>
                  <a:pt x="7425384" y="5076263"/>
                </a:lnTo>
                <a:lnTo>
                  <a:pt x="0" y="50762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1504950" y="1753040"/>
            <a:ext cx="7515705" cy="948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0"/>
              </a:lnSpc>
            </a:pPr>
            <a:r>
              <a:rPr lang="en-US" sz="5500" spc="-231">
                <a:solidFill>
                  <a:srgbClr val="522F24"/>
                </a:solidFill>
                <a:latin typeface="Bugaki"/>
                <a:ea typeface="Bugaki"/>
                <a:cs typeface="Bugaki"/>
                <a:sym typeface="Bugaki"/>
              </a:rPr>
              <a:t>SOSTENIBILIDAD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5704" y="3228306"/>
            <a:ext cx="10047294" cy="6511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5480" lvl="1" indent="-397740" algn="l">
              <a:lnSpc>
                <a:spcPts val="5158"/>
              </a:lnSpc>
              <a:buFont typeface="Arial"/>
              <a:buChar char="•"/>
            </a:pPr>
            <a:r>
              <a:rPr lang="en-US" sz="3684" b="1" spc="221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·Interés y participación de la comunidad educativa.</a:t>
            </a:r>
          </a:p>
          <a:p>
            <a:pPr marL="795480" lvl="1" indent="-397740" algn="l">
              <a:lnSpc>
                <a:spcPts val="5158"/>
              </a:lnSpc>
              <a:buFont typeface="Arial"/>
              <a:buChar char="•"/>
            </a:pPr>
            <a:r>
              <a:rPr lang="en-US" sz="3684" b="1" spc="221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Herramienta constructiva para el desarrollo de actividades pedagógicas.</a:t>
            </a:r>
          </a:p>
          <a:p>
            <a:pPr marL="795480" lvl="1" indent="-397740" algn="l">
              <a:lnSpc>
                <a:spcPts val="5158"/>
              </a:lnSpc>
              <a:buFont typeface="Arial"/>
              <a:buChar char="•"/>
            </a:pPr>
            <a:r>
              <a:rPr lang="en-US" sz="3684" b="1" spc="221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Apoyo financiero secretaria de educación municipal.</a:t>
            </a:r>
          </a:p>
          <a:p>
            <a:pPr marL="795480" lvl="1" indent="-397740" algn="l">
              <a:lnSpc>
                <a:spcPts val="5158"/>
              </a:lnSpc>
              <a:buFont typeface="Arial"/>
              <a:buChar char="•"/>
            </a:pPr>
            <a:r>
              <a:rPr lang="en-US" sz="3684" b="1" spc="221">
                <a:solidFill>
                  <a:srgbClr val="522F24"/>
                </a:solidFill>
                <a:latin typeface="Inter Bold"/>
                <a:ea typeface="Inter Bold"/>
                <a:cs typeface="Inter Bold"/>
                <a:sym typeface="Inter Bold"/>
              </a:rPr>
              <a:t>Reconocimiento y divulgación de la práctica.</a:t>
            </a:r>
          </a:p>
          <a:p>
            <a:pPr marL="0" lvl="0" indent="0" algn="l">
              <a:lnSpc>
                <a:spcPts val="5158"/>
              </a:lnSpc>
            </a:pPr>
            <a:endParaRPr lang="en-US" sz="3684" b="1" spc="221">
              <a:solidFill>
                <a:srgbClr val="522F24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6" name="Freeform 6"/>
          <p:cNvSpPr/>
          <p:nvPr/>
        </p:nvSpPr>
        <p:spPr>
          <a:xfrm rot="5400000">
            <a:off x="13403869" y="8534827"/>
            <a:ext cx="5484534" cy="6931481"/>
          </a:xfrm>
          <a:custGeom>
            <a:avLst/>
            <a:gdLst/>
            <a:ahLst/>
            <a:cxnLst/>
            <a:rect l="l" t="t" r="r" b="b"/>
            <a:pathLst>
              <a:path w="5484534" h="6931481">
                <a:moveTo>
                  <a:pt x="0" y="0"/>
                </a:moveTo>
                <a:lnTo>
                  <a:pt x="5484534" y="0"/>
                </a:lnTo>
                <a:lnTo>
                  <a:pt x="5484534" y="6931481"/>
                </a:lnTo>
                <a:lnTo>
                  <a:pt x="0" y="69314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5400000">
            <a:off x="-1237317" y="-5179308"/>
            <a:ext cx="5484534" cy="6931481"/>
          </a:xfrm>
          <a:custGeom>
            <a:avLst/>
            <a:gdLst/>
            <a:ahLst/>
            <a:cxnLst/>
            <a:rect l="l" t="t" r="r" b="b"/>
            <a:pathLst>
              <a:path w="5484534" h="6931481">
                <a:moveTo>
                  <a:pt x="0" y="0"/>
                </a:moveTo>
                <a:lnTo>
                  <a:pt x="5484534" y="0"/>
                </a:lnTo>
                <a:lnTo>
                  <a:pt x="5484534" y="6931481"/>
                </a:lnTo>
                <a:lnTo>
                  <a:pt x="0" y="69314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8730"/>
          <a:stretch/>
        </p:blipFill>
        <p:spPr>
          <a:xfrm>
            <a:off x="15581691" y="65167"/>
            <a:ext cx="2741492" cy="26765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977055" y="4671050"/>
            <a:ext cx="6047175" cy="917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58"/>
              </a:lnSpc>
            </a:pPr>
            <a:r>
              <a:rPr lang="en-US" sz="5293" spc="-222">
                <a:solidFill>
                  <a:srgbClr val="522F24"/>
                </a:solidFill>
                <a:latin typeface="Bugaki"/>
                <a:ea typeface="Bugaki"/>
                <a:cs typeface="Bugaki"/>
                <a:sym typeface="Bugaki"/>
              </a:rPr>
              <a:t>innovacion</a:t>
            </a:r>
          </a:p>
        </p:txBody>
      </p:sp>
      <p:sp>
        <p:nvSpPr>
          <p:cNvPr id="4" name="Freeform 4"/>
          <p:cNvSpPr/>
          <p:nvPr/>
        </p:nvSpPr>
        <p:spPr>
          <a:xfrm>
            <a:off x="6903735" y="269261"/>
            <a:ext cx="5078185" cy="2566792"/>
          </a:xfrm>
          <a:custGeom>
            <a:avLst/>
            <a:gdLst/>
            <a:ahLst/>
            <a:cxnLst/>
            <a:rect l="l" t="t" r="r" b="b"/>
            <a:pathLst>
              <a:path w="5078185" h="2566792">
                <a:moveTo>
                  <a:pt x="0" y="0"/>
                </a:moveTo>
                <a:lnTo>
                  <a:pt x="5078185" y="0"/>
                </a:lnTo>
                <a:lnTo>
                  <a:pt x="5078185" y="2566791"/>
                </a:lnTo>
                <a:lnTo>
                  <a:pt x="0" y="25667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12036" y="786356"/>
            <a:ext cx="5180419" cy="3588617"/>
          </a:xfrm>
          <a:custGeom>
            <a:avLst/>
            <a:gdLst/>
            <a:ahLst/>
            <a:cxnLst/>
            <a:rect l="l" t="t" r="r" b="b"/>
            <a:pathLst>
              <a:path w="5180419" h="3588617">
                <a:moveTo>
                  <a:pt x="0" y="0"/>
                </a:moveTo>
                <a:lnTo>
                  <a:pt x="5180419" y="0"/>
                </a:lnTo>
                <a:lnTo>
                  <a:pt x="5180419" y="3588617"/>
                </a:lnTo>
                <a:lnTo>
                  <a:pt x="0" y="35886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87394" y="5604534"/>
            <a:ext cx="4829703" cy="3345667"/>
          </a:xfrm>
          <a:custGeom>
            <a:avLst/>
            <a:gdLst/>
            <a:ahLst/>
            <a:cxnLst/>
            <a:rect l="l" t="t" r="r" b="b"/>
            <a:pathLst>
              <a:path w="4829703" h="3345667">
                <a:moveTo>
                  <a:pt x="0" y="0"/>
                </a:moveTo>
                <a:lnTo>
                  <a:pt x="4829703" y="0"/>
                </a:lnTo>
                <a:lnTo>
                  <a:pt x="4829703" y="3345666"/>
                </a:lnTo>
                <a:lnTo>
                  <a:pt x="0" y="33456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829886" y="907831"/>
            <a:ext cx="4829703" cy="3345667"/>
          </a:xfrm>
          <a:custGeom>
            <a:avLst/>
            <a:gdLst/>
            <a:ahLst/>
            <a:cxnLst/>
            <a:rect l="l" t="t" r="r" b="b"/>
            <a:pathLst>
              <a:path w="4829703" h="3345667">
                <a:moveTo>
                  <a:pt x="0" y="0"/>
                </a:moveTo>
                <a:lnTo>
                  <a:pt x="4829702" y="0"/>
                </a:lnTo>
                <a:lnTo>
                  <a:pt x="4829702" y="3345666"/>
                </a:lnTo>
                <a:lnTo>
                  <a:pt x="0" y="33456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2570903" y="5596302"/>
            <a:ext cx="4829703" cy="3345667"/>
          </a:xfrm>
          <a:custGeom>
            <a:avLst/>
            <a:gdLst/>
            <a:ahLst/>
            <a:cxnLst/>
            <a:rect l="l" t="t" r="r" b="b"/>
            <a:pathLst>
              <a:path w="4829703" h="3345667">
                <a:moveTo>
                  <a:pt x="0" y="0"/>
                </a:moveTo>
                <a:lnTo>
                  <a:pt x="4829703" y="0"/>
                </a:lnTo>
                <a:lnTo>
                  <a:pt x="4829703" y="3345666"/>
                </a:lnTo>
                <a:lnTo>
                  <a:pt x="0" y="33456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1443168" y="6387487"/>
            <a:ext cx="3718155" cy="1359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1"/>
              </a:lnSpc>
            </a:pPr>
            <a:r>
              <a:rPr lang="en-US" sz="3372" b="1" spc="141">
                <a:solidFill>
                  <a:srgbClr val="F6ECE4"/>
                </a:solidFill>
                <a:latin typeface="Inter Bold"/>
                <a:ea typeface="Inter Bold"/>
                <a:cs typeface="Inter Bold"/>
                <a:sym typeface="Inter Bold"/>
              </a:rPr>
              <a:t>FOMENTO DE LA AUTONOMÍA INTELECTUAL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93200" y="1824630"/>
            <a:ext cx="4666388" cy="2228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2"/>
              </a:lnSpc>
            </a:pPr>
            <a:r>
              <a:rPr lang="en-US" sz="3335" b="1" spc="140">
                <a:solidFill>
                  <a:srgbClr val="F6ECE4"/>
                </a:solidFill>
                <a:latin typeface="Inter Bold"/>
                <a:ea typeface="Inter Bold"/>
                <a:cs typeface="Inter Bold"/>
                <a:sym typeface="Inter Bold"/>
              </a:rPr>
              <a:t>FORMACIÓN DEL PENSAMIENTO CRÍTICO</a:t>
            </a:r>
          </a:p>
          <a:p>
            <a:pPr algn="ctr">
              <a:lnSpc>
                <a:spcPts val="3502"/>
              </a:lnSpc>
            </a:pPr>
            <a:endParaRPr lang="en-US" sz="3335" b="1" spc="140">
              <a:solidFill>
                <a:srgbClr val="F6ECE4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ctr">
              <a:lnSpc>
                <a:spcPts val="3502"/>
              </a:lnSpc>
            </a:pPr>
            <a:endParaRPr lang="en-US" sz="3335" b="1" spc="140">
              <a:solidFill>
                <a:srgbClr val="F6ECE4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836674" y="6158887"/>
            <a:ext cx="4123748" cy="2783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5"/>
              </a:lnSpc>
            </a:pPr>
            <a:r>
              <a:rPr lang="en-US" sz="4699">
                <a:solidFill>
                  <a:srgbClr val="522F24"/>
                </a:solidFill>
                <a:latin typeface="Lazydog"/>
                <a:ea typeface="Lazydog"/>
                <a:cs typeface="Lazydog"/>
                <a:sym typeface="Lazydog"/>
              </a:rPr>
              <a:t>impacto social y cultural</a:t>
            </a:r>
          </a:p>
        </p:txBody>
      </p:sp>
      <p:sp>
        <p:nvSpPr>
          <p:cNvPr id="12" name="Freeform 12"/>
          <p:cNvSpPr/>
          <p:nvPr/>
        </p:nvSpPr>
        <p:spPr>
          <a:xfrm rot="-5400000">
            <a:off x="6033710" y="2779397"/>
            <a:ext cx="980037" cy="1093348"/>
          </a:xfrm>
          <a:custGeom>
            <a:avLst/>
            <a:gdLst/>
            <a:ahLst/>
            <a:cxnLst/>
            <a:rect l="l" t="t" r="r" b="b"/>
            <a:pathLst>
              <a:path w="980037" h="1093348">
                <a:moveTo>
                  <a:pt x="0" y="0"/>
                </a:moveTo>
                <a:lnTo>
                  <a:pt x="980037" y="0"/>
                </a:lnTo>
                <a:lnTo>
                  <a:pt x="980037" y="1093348"/>
                </a:lnTo>
                <a:lnTo>
                  <a:pt x="0" y="109334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 rot="-5400000" flipH="1" flipV="1">
            <a:off x="11274253" y="6414255"/>
            <a:ext cx="980037" cy="1093348"/>
          </a:xfrm>
          <a:custGeom>
            <a:avLst/>
            <a:gdLst/>
            <a:ahLst/>
            <a:cxnLst/>
            <a:rect l="l" t="t" r="r" b="b"/>
            <a:pathLst>
              <a:path w="980037" h="1093348">
                <a:moveTo>
                  <a:pt x="980037" y="1093348"/>
                </a:moveTo>
                <a:lnTo>
                  <a:pt x="0" y="1093348"/>
                </a:lnTo>
                <a:lnTo>
                  <a:pt x="0" y="0"/>
                </a:lnTo>
                <a:lnTo>
                  <a:pt x="980037" y="0"/>
                </a:lnTo>
                <a:lnTo>
                  <a:pt x="980037" y="1093348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 rot="5400000" flipH="1">
            <a:off x="11274253" y="2779397"/>
            <a:ext cx="980037" cy="1093348"/>
          </a:xfrm>
          <a:custGeom>
            <a:avLst/>
            <a:gdLst/>
            <a:ahLst/>
            <a:cxnLst/>
            <a:rect l="l" t="t" r="r" b="b"/>
            <a:pathLst>
              <a:path w="980037" h="1093348">
                <a:moveTo>
                  <a:pt x="980037" y="0"/>
                </a:moveTo>
                <a:lnTo>
                  <a:pt x="0" y="0"/>
                </a:lnTo>
                <a:lnTo>
                  <a:pt x="0" y="1093348"/>
                </a:lnTo>
                <a:lnTo>
                  <a:pt x="980037" y="1093348"/>
                </a:lnTo>
                <a:lnTo>
                  <a:pt x="980037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 rot="5400000" flipV="1">
            <a:off x="6033710" y="6414255"/>
            <a:ext cx="980037" cy="1093348"/>
          </a:xfrm>
          <a:custGeom>
            <a:avLst/>
            <a:gdLst/>
            <a:ahLst/>
            <a:cxnLst/>
            <a:rect l="l" t="t" r="r" b="b"/>
            <a:pathLst>
              <a:path w="980037" h="1093348">
                <a:moveTo>
                  <a:pt x="0" y="1093348"/>
                </a:moveTo>
                <a:lnTo>
                  <a:pt x="980037" y="1093348"/>
                </a:lnTo>
                <a:lnTo>
                  <a:pt x="980037" y="0"/>
                </a:lnTo>
                <a:lnTo>
                  <a:pt x="0" y="0"/>
                </a:lnTo>
                <a:lnTo>
                  <a:pt x="0" y="1093348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TextBox 16"/>
          <p:cNvSpPr txBox="1"/>
          <p:nvPr/>
        </p:nvSpPr>
        <p:spPr>
          <a:xfrm>
            <a:off x="12993200" y="6404235"/>
            <a:ext cx="3655637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Apoyo al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rendimiento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academico</a:t>
            </a:r>
          </a:p>
        </p:txBody>
      </p:sp>
      <p:sp>
        <p:nvSpPr>
          <p:cNvPr id="17" name="AutoShape 17"/>
          <p:cNvSpPr/>
          <p:nvPr/>
        </p:nvSpPr>
        <p:spPr>
          <a:xfrm>
            <a:off x="5897880" y="5143500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1222994" y="1466677"/>
            <a:ext cx="4494103" cy="1876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1"/>
              </a:lnSpc>
            </a:pPr>
            <a:r>
              <a:rPr lang="en-US" sz="4066" spc="-17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EDICION DE LA</a:t>
            </a:r>
          </a:p>
          <a:p>
            <a:pPr algn="ctr">
              <a:lnSpc>
                <a:spcPts val="4961"/>
              </a:lnSpc>
            </a:pPr>
            <a:r>
              <a:rPr lang="en-US" sz="4066" spc="-17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REVISTA </a:t>
            </a:r>
          </a:p>
          <a:p>
            <a:pPr algn="ctr">
              <a:lnSpc>
                <a:spcPts val="4961"/>
              </a:lnSpc>
              <a:spcBef>
                <a:spcPct val="0"/>
              </a:spcBef>
            </a:pPr>
            <a:r>
              <a:rPr lang="en-US" sz="4066" spc="-17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 NIÑOS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260730" y="6447768"/>
            <a:ext cx="7766540" cy="1174854"/>
            <a:chOff x="0" y="0"/>
            <a:chExt cx="2070600" cy="3132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70600" cy="313222"/>
            </a:xfrm>
            <a:custGeom>
              <a:avLst/>
              <a:gdLst/>
              <a:ahLst/>
              <a:cxnLst/>
              <a:rect l="l" t="t" r="r" b="b"/>
              <a:pathLst>
                <a:path w="2070600" h="313222">
                  <a:moveTo>
                    <a:pt x="13956" y="0"/>
                  </a:moveTo>
                  <a:lnTo>
                    <a:pt x="2056644" y="0"/>
                  </a:lnTo>
                  <a:cubicBezTo>
                    <a:pt x="2060345" y="0"/>
                    <a:pt x="2063895" y="1470"/>
                    <a:pt x="2066512" y="4088"/>
                  </a:cubicBezTo>
                  <a:cubicBezTo>
                    <a:pt x="2069129" y="6705"/>
                    <a:pt x="2070600" y="10254"/>
                    <a:pt x="2070600" y="13956"/>
                  </a:cubicBezTo>
                  <a:lnTo>
                    <a:pt x="2070600" y="299267"/>
                  </a:lnTo>
                  <a:cubicBezTo>
                    <a:pt x="2070600" y="302968"/>
                    <a:pt x="2069129" y="306517"/>
                    <a:pt x="2066512" y="309135"/>
                  </a:cubicBezTo>
                  <a:cubicBezTo>
                    <a:pt x="2063895" y="311752"/>
                    <a:pt x="2060345" y="313222"/>
                    <a:pt x="2056644" y="313222"/>
                  </a:cubicBezTo>
                  <a:lnTo>
                    <a:pt x="13956" y="313222"/>
                  </a:lnTo>
                  <a:cubicBezTo>
                    <a:pt x="10254" y="313222"/>
                    <a:pt x="6705" y="311752"/>
                    <a:pt x="4088" y="309135"/>
                  </a:cubicBezTo>
                  <a:cubicBezTo>
                    <a:pt x="1470" y="306517"/>
                    <a:pt x="0" y="302968"/>
                    <a:pt x="0" y="299267"/>
                  </a:cubicBezTo>
                  <a:lnTo>
                    <a:pt x="0" y="13956"/>
                  </a:lnTo>
                  <a:cubicBezTo>
                    <a:pt x="0" y="10254"/>
                    <a:pt x="1470" y="6705"/>
                    <a:pt x="4088" y="4088"/>
                  </a:cubicBezTo>
                  <a:cubicBezTo>
                    <a:pt x="6705" y="1470"/>
                    <a:pt x="10254" y="0"/>
                    <a:pt x="13956" y="0"/>
                  </a:cubicBezTo>
                  <a:close/>
                </a:path>
              </a:pathLst>
            </a:custGeom>
            <a:solidFill>
              <a:srgbClr val="FFDE8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070600" cy="3417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227191" y="-648590"/>
            <a:ext cx="3632203" cy="3183131"/>
          </a:xfrm>
          <a:custGeom>
            <a:avLst/>
            <a:gdLst/>
            <a:ahLst/>
            <a:cxnLst/>
            <a:rect l="l" t="t" r="r" b="b"/>
            <a:pathLst>
              <a:path w="3632203" h="3183131">
                <a:moveTo>
                  <a:pt x="0" y="0"/>
                </a:moveTo>
                <a:lnTo>
                  <a:pt x="3632204" y="0"/>
                </a:lnTo>
                <a:lnTo>
                  <a:pt x="3632204" y="3183130"/>
                </a:lnTo>
                <a:lnTo>
                  <a:pt x="0" y="31831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42419" y="8138603"/>
            <a:ext cx="3473198" cy="2873282"/>
          </a:xfrm>
          <a:custGeom>
            <a:avLst/>
            <a:gdLst/>
            <a:ahLst/>
            <a:cxnLst/>
            <a:rect l="l" t="t" r="r" b="b"/>
            <a:pathLst>
              <a:path w="3473198" h="2873282">
                <a:moveTo>
                  <a:pt x="0" y="0"/>
                </a:moveTo>
                <a:lnTo>
                  <a:pt x="3473198" y="0"/>
                </a:lnTo>
                <a:lnTo>
                  <a:pt x="3473198" y="2873281"/>
                </a:lnTo>
                <a:lnTo>
                  <a:pt x="0" y="28732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6022005" y="-562865"/>
            <a:ext cx="3813731" cy="3654248"/>
          </a:xfrm>
          <a:custGeom>
            <a:avLst/>
            <a:gdLst/>
            <a:ahLst/>
            <a:cxnLst/>
            <a:rect l="l" t="t" r="r" b="b"/>
            <a:pathLst>
              <a:path w="3813731" h="3654248">
                <a:moveTo>
                  <a:pt x="3813732" y="0"/>
                </a:moveTo>
                <a:lnTo>
                  <a:pt x="0" y="0"/>
                </a:lnTo>
                <a:lnTo>
                  <a:pt x="0" y="3654248"/>
                </a:lnTo>
                <a:lnTo>
                  <a:pt x="3813732" y="3654248"/>
                </a:lnTo>
                <a:lnTo>
                  <a:pt x="3813732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13627807" y="8730219"/>
            <a:ext cx="3955406" cy="2725634"/>
          </a:xfrm>
          <a:custGeom>
            <a:avLst/>
            <a:gdLst/>
            <a:ahLst/>
            <a:cxnLst/>
            <a:rect l="l" t="t" r="r" b="b"/>
            <a:pathLst>
              <a:path w="3955406" h="2725634">
                <a:moveTo>
                  <a:pt x="0" y="0"/>
                </a:moveTo>
                <a:lnTo>
                  <a:pt x="3955406" y="0"/>
                </a:lnTo>
                <a:lnTo>
                  <a:pt x="3955406" y="2725634"/>
                </a:lnTo>
                <a:lnTo>
                  <a:pt x="0" y="27256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 rot="360309">
            <a:off x="2652286" y="-883670"/>
            <a:ext cx="4270779" cy="2461522"/>
          </a:xfrm>
          <a:custGeom>
            <a:avLst/>
            <a:gdLst/>
            <a:ahLst/>
            <a:cxnLst/>
            <a:rect l="l" t="t" r="r" b="b"/>
            <a:pathLst>
              <a:path w="4270779" h="2461522">
                <a:moveTo>
                  <a:pt x="0" y="0"/>
                </a:moveTo>
                <a:lnTo>
                  <a:pt x="4270779" y="0"/>
                </a:lnTo>
                <a:lnTo>
                  <a:pt x="4270779" y="2461522"/>
                </a:lnTo>
                <a:lnTo>
                  <a:pt x="0" y="24615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6529963" y="6449237"/>
            <a:ext cx="3897074" cy="3266457"/>
          </a:xfrm>
          <a:custGeom>
            <a:avLst/>
            <a:gdLst/>
            <a:ahLst/>
            <a:cxnLst/>
            <a:rect l="l" t="t" r="r" b="b"/>
            <a:pathLst>
              <a:path w="3897074" h="3266457">
                <a:moveTo>
                  <a:pt x="0" y="0"/>
                </a:moveTo>
                <a:lnTo>
                  <a:pt x="3897074" y="0"/>
                </a:lnTo>
                <a:lnTo>
                  <a:pt x="3897074" y="3266457"/>
                </a:lnTo>
                <a:lnTo>
                  <a:pt x="0" y="326645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3421329" y="8920719"/>
            <a:ext cx="3216815" cy="2479872"/>
          </a:xfrm>
          <a:custGeom>
            <a:avLst/>
            <a:gdLst/>
            <a:ahLst/>
            <a:cxnLst/>
            <a:rect l="l" t="t" r="r" b="b"/>
            <a:pathLst>
              <a:path w="3216815" h="2479872">
                <a:moveTo>
                  <a:pt x="0" y="0"/>
                </a:moveTo>
                <a:lnTo>
                  <a:pt x="3216814" y="0"/>
                </a:lnTo>
                <a:lnTo>
                  <a:pt x="3216814" y="2479872"/>
                </a:lnTo>
                <a:lnTo>
                  <a:pt x="0" y="247987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TextBox 13"/>
          <p:cNvSpPr txBox="1"/>
          <p:nvPr/>
        </p:nvSpPr>
        <p:spPr>
          <a:xfrm>
            <a:off x="3433902" y="2483403"/>
            <a:ext cx="11420195" cy="378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55"/>
              </a:lnSpc>
            </a:pPr>
            <a:r>
              <a:rPr lang="en-US" sz="12030" spc="-854">
                <a:solidFill>
                  <a:srgbClr val="522F24"/>
                </a:solidFill>
                <a:latin typeface="Bugaki"/>
                <a:ea typeface="Bugaki"/>
                <a:cs typeface="Bugaki"/>
                <a:sym typeface="Bugaki"/>
              </a:rPr>
              <a:t>¡MUCHAS GRACIAS!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43343" y="6534212"/>
            <a:ext cx="6723656" cy="82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6"/>
              </a:lnSpc>
            </a:pPr>
            <a:r>
              <a:rPr lang="en-US" sz="4450" b="1" spc="-155">
                <a:solidFill>
                  <a:srgbClr val="522F24"/>
                </a:solidFill>
                <a:latin typeface="Phongphrai Semi-Bold"/>
                <a:ea typeface="Phongphrai Semi-Bold"/>
                <a:cs typeface="Phongphrai Semi-Bold"/>
                <a:sym typeface="Phongphrai Semi-Bold"/>
              </a:rPr>
              <a:t>www.unsitiogenial.es</a:t>
            </a:r>
          </a:p>
        </p:txBody>
      </p:sp>
      <p:sp>
        <p:nvSpPr>
          <p:cNvPr id="15" name="Freeform 15"/>
          <p:cNvSpPr/>
          <p:nvPr/>
        </p:nvSpPr>
        <p:spPr>
          <a:xfrm>
            <a:off x="17583213" y="3699570"/>
            <a:ext cx="3170350" cy="2559167"/>
          </a:xfrm>
          <a:custGeom>
            <a:avLst/>
            <a:gdLst/>
            <a:ahLst/>
            <a:cxnLst/>
            <a:rect l="l" t="t" r="r" b="b"/>
            <a:pathLst>
              <a:path w="3170350" h="2559167">
                <a:moveTo>
                  <a:pt x="0" y="0"/>
                </a:moveTo>
                <a:lnTo>
                  <a:pt x="3170350" y="0"/>
                </a:lnTo>
                <a:lnTo>
                  <a:pt x="3170350" y="2559167"/>
                </a:lnTo>
                <a:lnTo>
                  <a:pt x="0" y="255916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xmlns="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 rot="5523116">
            <a:off x="11306177" y="-4050790"/>
            <a:ext cx="4318287" cy="5457551"/>
          </a:xfrm>
          <a:custGeom>
            <a:avLst/>
            <a:gdLst/>
            <a:ahLst/>
            <a:cxnLst/>
            <a:rect l="l" t="t" r="r" b="b"/>
            <a:pathLst>
              <a:path w="4318287" h="5457551">
                <a:moveTo>
                  <a:pt x="0" y="0"/>
                </a:moveTo>
                <a:lnTo>
                  <a:pt x="4318287" y="0"/>
                </a:lnTo>
                <a:lnTo>
                  <a:pt x="4318287" y="5457551"/>
                </a:lnTo>
                <a:lnTo>
                  <a:pt x="0" y="545755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xmlns="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 rot="-3404484">
            <a:off x="-2424187" y="3352508"/>
            <a:ext cx="3711902" cy="3581985"/>
          </a:xfrm>
          <a:custGeom>
            <a:avLst/>
            <a:gdLst/>
            <a:ahLst/>
            <a:cxnLst/>
            <a:rect l="l" t="t" r="r" b="b"/>
            <a:pathLst>
              <a:path w="3711902" h="3581985">
                <a:moveTo>
                  <a:pt x="0" y="0"/>
                </a:moveTo>
                <a:lnTo>
                  <a:pt x="3711902" y="0"/>
                </a:lnTo>
                <a:lnTo>
                  <a:pt x="3711902" y="3581984"/>
                </a:lnTo>
                <a:lnTo>
                  <a:pt x="0" y="358198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xmlns="" r:embed="rId2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 rot="5523116">
            <a:off x="7842768" y="8829322"/>
            <a:ext cx="4734728" cy="5983859"/>
          </a:xfrm>
          <a:custGeom>
            <a:avLst/>
            <a:gdLst/>
            <a:ahLst/>
            <a:cxnLst/>
            <a:rect l="l" t="t" r="r" b="b"/>
            <a:pathLst>
              <a:path w="4734728" h="5983859">
                <a:moveTo>
                  <a:pt x="0" y="0"/>
                </a:moveTo>
                <a:lnTo>
                  <a:pt x="4734728" y="0"/>
                </a:lnTo>
                <a:lnTo>
                  <a:pt x="4734728" y="5983858"/>
                </a:lnTo>
                <a:lnTo>
                  <a:pt x="0" y="598385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xmlns="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 rot="-2415080">
            <a:off x="7336171" y="-1842449"/>
            <a:ext cx="3170350" cy="2559167"/>
          </a:xfrm>
          <a:custGeom>
            <a:avLst/>
            <a:gdLst/>
            <a:ahLst/>
            <a:cxnLst/>
            <a:rect l="l" t="t" r="r" b="b"/>
            <a:pathLst>
              <a:path w="3170350" h="2559167">
                <a:moveTo>
                  <a:pt x="0" y="0"/>
                </a:moveTo>
                <a:lnTo>
                  <a:pt x="3170351" y="0"/>
                </a:lnTo>
                <a:lnTo>
                  <a:pt x="3170351" y="2559167"/>
                </a:lnTo>
                <a:lnTo>
                  <a:pt x="0" y="255916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xmlns="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20" name="Imagen 19"/>
          <p:cNvPicPr>
            <a:picLocks noChangeAspect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8730"/>
          <a:stretch/>
        </p:blipFill>
        <p:spPr>
          <a:xfrm>
            <a:off x="7643533" y="-98608"/>
            <a:ext cx="2741492" cy="26765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634</Words>
  <Application>Microsoft Office PowerPoint</Application>
  <PresentationFormat>Personalizado</PresentationFormat>
  <Paragraphs>85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8" baseType="lpstr">
      <vt:lpstr>Open Sans Bold</vt:lpstr>
      <vt:lpstr>Phongphrai Semi-Bold</vt:lpstr>
      <vt:lpstr>Inter Semi-Bold</vt:lpstr>
      <vt:lpstr>Calibri</vt:lpstr>
      <vt:lpstr>Arial</vt:lpstr>
      <vt:lpstr>Inter</vt:lpstr>
      <vt:lpstr>Inter Medium</vt:lpstr>
      <vt:lpstr>DM Sans</vt:lpstr>
      <vt:lpstr>Inter Bold</vt:lpstr>
      <vt:lpstr>Bugaki</vt:lpstr>
      <vt:lpstr>League Spartan</vt:lpstr>
      <vt:lpstr>Lazydog</vt:lpstr>
      <vt:lpstr>Open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letras y garrapiños</dc:title>
  <dc:creator>CALIDAD-MEJORAMIENTO</dc:creator>
  <cp:lastModifiedBy>CALIDAD-MEJORAMIENTO</cp:lastModifiedBy>
  <cp:revision>4</cp:revision>
  <dcterms:created xsi:type="dcterms:W3CDTF">2006-08-16T00:00:00Z</dcterms:created>
  <dcterms:modified xsi:type="dcterms:W3CDTF">2026-06-10T17:50:46Z</dcterms:modified>
  <dc:identifier>DAGxHZ-YZQ4</dc:identifier>
</cp:coreProperties>
</file>