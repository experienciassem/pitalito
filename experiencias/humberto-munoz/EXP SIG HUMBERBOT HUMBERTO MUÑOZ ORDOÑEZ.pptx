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2" autoAdjust="0"/>
    <p:restoredTop sz="93607"/>
  </p:normalViewPr>
  <p:slideViewPr>
    <p:cSldViewPr snapToGrid="0">
      <p:cViewPr varScale="1">
        <p:scale>
          <a:sx n="108" d="100"/>
          <a:sy n="108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8800" b="1" dirty="0" err="1"/>
              <a:t>Humberbot’s</a:t>
            </a:r>
            <a:endParaRPr lang="es-CO" sz="88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278922"/>
            <a:ext cx="9144000" cy="978877"/>
          </a:xfrm>
        </p:spPr>
        <p:txBody>
          <a:bodyPr/>
          <a:lstStyle/>
          <a:p>
            <a:r>
              <a:rPr lang="es-ES" dirty="0"/>
              <a:t>Líder: Juan Manuel González Álvarez</a:t>
            </a:r>
          </a:p>
          <a:p>
            <a:r>
              <a:rPr lang="es-ES" dirty="0"/>
              <a:t>IEM Humberto Muñoz Ordoñez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37BB2D8-37BC-5391-03F2-B64E01C9BBCB}"/>
              </a:ext>
            </a:extLst>
          </p:cNvPr>
          <p:cNvSpPr txBox="1"/>
          <p:nvPr/>
        </p:nvSpPr>
        <p:spPr>
          <a:xfrm>
            <a:off x="899556" y="2012822"/>
            <a:ext cx="991886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400" u="sng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Humberbot’s</a:t>
            </a:r>
            <a:r>
              <a:rPr lang="es-CO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se articula al (PEI) como una estrategia para el fortalecimiento de la misión y visión institucional, ya que esta experiencia se encuentra en búsqueda de una formación integral,  a través de la innovación pedagógica y el uso pertinente de las TIC, con el fin de promover diferentes escenarios, metodologías y enfoques tales como, la educación STEM, el pensamiento computacional y el Aprendizaje Basado en Proyectos (ABP), impulsando de esta manera, valores como la autonomía, la responsabilidad y el trabajo colaborativo (</a:t>
            </a:r>
            <a:r>
              <a:rPr lang="es-CO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Wing</a:t>
            </a:r>
            <a:r>
              <a:rPr lang="es-CO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2006; P21, 2009).</a:t>
            </a:r>
          </a:p>
          <a:p>
            <a:pPr algn="just"/>
            <a:r>
              <a:rPr lang="es-CO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E57AD2F-3F52-D9DE-6D40-A86F7C5A781D}"/>
              </a:ext>
            </a:extLst>
          </p:cNvPr>
          <p:cNvSpPr txBox="1"/>
          <p:nvPr/>
        </p:nvSpPr>
        <p:spPr>
          <a:xfrm>
            <a:off x="899556" y="1059526"/>
            <a:ext cx="45987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Fundamentación</a:t>
            </a:r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065149"/>
              </p:ext>
            </p:extLst>
          </p:nvPr>
        </p:nvGraphicFramePr>
        <p:xfrm>
          <a:off x="795647" y="1425039"/>
          <a:ext cx="10540567" cy="57655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356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377006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58387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Pertinencia</a:t>
                      </a:r>
                      <a:endParaRPr lang="es-CO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kern="120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Humberbot’s</a:t>
                      </a:r>
                      <a:r>
                        <a:rPr lang="es-CO" sz="18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responde a problemáticas relacionadas tales como: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kern="12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s-CO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Vulnerabilidad socioeconómica asociadas a la insuficiente infraestructura tecnológica y limitada formación de capital humano especializado</a:t>
                      </a:r>
                      <a:endParaRPr lang="es-CO" sz="1800" b="0" kern="12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s-CO" sz="18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Brecha digital y an</a:t>
                      </a:r>
                      <a:r>
                        <a:rPr lang="es-CO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alfabetismo tecnológico</a:t>
                      </a:r>
                      <a:endParaRPr lang="es-CO" sz="1800" b="0" kern="12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s-CO" sz="18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La limitada orientación vocacional temprana</a:t>
                      </a: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s-CO" sz="18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Las desigualdades sociales y de género en el acceso a áreas STEM</a:t>
                      </a: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s-CO" sz="1800" b="0" kern="12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En este sentido, se articula al ODS 4 (Educación de calidad) al garantizar aprendizajes inclusivos y pertinentes mediante la robótica educativa, el pensamiento computacional, por otro lado contribuye al ODS 1 (Fin de la pobreza) al fomentar la vocación temprana en STEM como estrategia de movilidad social y ampliación de oportunidades educativas y laborales; y aporta al ODS 5 (Igualdad de género) al promover la participación equitativa de niñas y adolescentes en procesos de ciencia, tecnología e innovación, reduciendo estereotipos y brechas históricas en estos campos</a:t>
                      </a:r>
                    </a:p>
                    <a:p>
                      <a:pPr algn="l" fontAlgn="ctr"/>
                      <a:endParaRPr lang="es-ES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609565"/>
              </p:ext>
            </p:extLst>
          </p:nvPr>
        </p:nvGraphicFramePr>
        <p:xfrm>
          <a:off x="838200" y="1825624"/>
          <a:ext cx="10287000" cy="48815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327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39372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531821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Consistencia</a:t>
                      </a:r>
                      <a:endParaRPr lang="es-CO" sz="20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Humberbot’s</a:t>
                      </a:r>
                      <a:r>
                        <a:rPr lang="es-CO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se articula a partir de una relación causal entre el análisis del contexto, la fundamentación teórica y la metodología aplicada. Las problemáticas identificadas en el contexto local, como la brecha tecnológica, la limitada formación en competencias STEM y las desigualdades sociales y de género, orientan la selección de referentes conceptuales como la educación STEM, el pensamiento computacional y los Objetivos de Desarrollo Sostenible (ODS). </a:t>
                      </a:r>
                    </a:p>
                    <a:p>
                      <a:pPr algn="l" fontAlgn="ctr"/>
                      <a:endParaRPr lang="es-CO" sz="20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  <a:p>
                      <a:pPr algn="l" fontAlgn="ctr"/>
                      <a:r>
                        <a:rPr lang="es-CO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Estos pilares se concretan metodológicamente mediante el Aprendizaje Basado en Proyectos (ABP), la robótica educativa y el trabajo colaborativo, configurándose como respuestas pedagógicas contextualizadas que transforman las condiciones iniciales y generan impactos educativos, vocacionales y sociales medibles</a:t>
                      </a:r>
                      <a:r>
                        <a:rPr lang="es-ES" sz="20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.</a:t>
                      </a:r>
                      <a:endParaRPr lang="es-ES" sz="20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FDB5E2A-6C9A-CEBD-1905-855E2B21F3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32"/>
          <a:stretch>
            <a:fillRect/>
          </a:stretch>
        </p:blipFill>
        <p:spPr bwMode="auto">
          <a:xfrm>
            <a:off x="457200" y="759995"/>
            <a:ext cx="11277600" cy="4569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AE4C02E-92E6-CDFB-3F51-B409E1247E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3"/>
          <a:stretch>
            <a:fillRect/>
          </a:stretch>
        </p:blipFill>
        <p:spPr bwMode="auto">
          <a:xfrm>
            <a:off x="1704290" y="0"/>
            <a:ext cx="8783420" cy="642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819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BDA14C4-4F27-9B94-BEAC-18368583C2F3}"/>
              </a:ext>
            </a:extLst>
          </p:cNvPr>
          <p:cNvSpPr txBox="1"/>
          <p:nvPr/>
        </p:nvSpPr>
        <p:spPr>
          <a:xfrm>
            <a:off x="319543" y="1330270"/>
            <a:ext cx="402401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experiencia significativa </a:t>
            </a:r>
            <a:r>
              <a:rPr lang="es-CO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Humberbot’s</a:t>
            </a:r>
            <a:r>
              <a:rPr lang="es-CO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dispone de una metodología integral de seguimiento y evaluación, sustentada en un enfoque formativo, continuo y contextualizado. Para ello, utiliza instrumentos pertinentes como rúbricas de proyectos STEM, listas de cotejo, registros audiovisuales, que permiten documentar los procesos y resultados de aprendizaje. </a:t>
            </a:r>
          </a:p>
          <a:p>
            <a:pPr algn="just"/>
            <a:endParaRPr lang="es-CO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ED9347-DAF9-CFB8-0A64-1E28F4F7F937}"/>
              </a:ext>
            </a:extLst>
          </p:cNvPr>
          <p:cNvSpPr txBox="1"/>
          <p:nvPr/>
        </p:nvSpPr>
        <p:spPr>
          <a:xfrm>
            <a:off x="3497178" y="374751"/>
            <a:ext cx="8458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/>
              <a:t>Evaluación y seguimiento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2A982AC-262A-BE8B-03B5-92DA816B2E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2" t="19802" r="-2342" b="-12026"/>
          <a:stretch>
            <a:fillRect/>
          </a:stretch>
        </p:blipFill>
        <p:spPr bwMode="auto">
          <a:xfrm>
            <a:off x="4291629" y="1330270"/>
            <a:ext cx="8269340" cy="419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FF0E26A-E264-7DF2-9FC0-962C4C531034}"/>
              </a:ext>
            </a:extLst>
          </p:cNvPr>
          <p:cNvSpPr txBox="1"/>
          <p:nvPr/>
        </p:nvSpPr>
        <p:spPr>
          <a:xfrm>
            <a:off x="371474" y="4758781"/>
            <a:ext cx="114490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1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Los </a:t>
            </a:r>
            <a:r>
              <a:rPr lang="es-CO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mecanismos de seguimiento incluyen la observación sistemática, la retroalimentación permanente, el análisis de desempeños académicos y espacios de reflexión pedagógica entre docentes. A partir del análisis de estas evidencias, la experiencia organiza los aprendizajes y lecciones aprendidas, realizando ajustes curriculares, metodológicos y estratégicos que fortalecen su impacto, sostenibilidad y mejora continua.</a:t>
            </a:r>
          </a:p>
        </p:txBody>
      </p:sp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79826"/>
              </p:ext>
            </p:extLst>
          </p:nvPr>
        </p:nvGraphicFramePr>
        <p:xfrm>
          <a:off x="930749" y="1222811"/>
          <a:ext cx="10556632" cy="5978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433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839199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582253">
                <a:tc>
                  <a:txBody>
                    <a:bodyPr/>
                    <a:lstStyle/>
                    <a:p>
                      <a:pPr algn="just" fontAlgn="ctr"/>
                      <a:r>
                        <a:rPr lang="es-CO" sz="16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Resultados</a:t>
                      </a:r>
                      <a:endParaRPr lang="es-CO" sz="16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En el ámbito pedagógico, se evidenció el fortalecimiento de competencias STEM y del pensamiento computacional en los estudiantes, reflejado en una mayor capacidad para resolver problemas, diseñar proyectos tecnológicos y aplicar conocimientos de Matemáticas, Ciencias y Tecnología de manera integrada. </a:t>
                      </a:r>
                    </a:p>
                    <a:p>
                      <a:pPr algn="just"/>
                      <a:endParaRPr lang="es-CO" sz="1400" b="0" kern="12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s-CO" sz="14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En el ámbito académico, se registró una mejora progresiva en el desempeño de los estudiantes en áreas asociadas a STEM, tanto en evaluaciones internas como en pruebas externas, incrementando los niveles de desempeño y la motivación por el aprendizaje.</a:t>
                      </a:r>
                    </a:p>
                    <a:p>
                      <a:pPr algn="just"/>
                      <a:endParaRPr lang="es-CO" sz="1400" b="0" kern="12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s-CO" sz="14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 nivel institucional, </a:t>
                      </a:r>
                      <a:r>
                        <a:rPr lang="es-CO" sz="1400" b="0" kern="120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Humberbot’s</a:t>
                      </a:r>
                      <a:r>
                        <a:rPr lang="es-CO" sz="14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impulsó la actualización curricular del área de Tecnología e Informática y su transversalización con otras áreas, fortaleciendo el Plan de Mejoramiento Institucional y consolidando prácticas pedagógicas innovadoras. Se creó y consolidó el semillero de robótica </a:t>
                      </a:r>
                      <a:r>
                        <a:rPr lang="es-CO" sz="1400" b="0" kern="120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Humberbot’s</a:t>
                      </a:r>
                      <a:r>
                        <a:rPr lang="es-CO" sz="14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como espacio permanente de formación extracurricular.</a:t>
                      </a:r>
                    </a:p>
                    <a:p>
                      <a:pPr algn="just"/>
                      <a:endParaRPr lang="es-CO" sz="1400" b="0" kern="12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s-CO" sz="14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En el ámbito social y vocacional, la experiencia promovió la vocación temprana en áreas STEM, ampliando las expectativas educativas y laborales de los estudiantes, especialmente en contextos de vulnerabilidad socioeconómica y reduciendo brechas de género en la participación en ciencia y tecnología.</a:t>
                      </a:r>
                    </a:p>
                    <a:p>
                      <a:pPr algn="just"/>
                      <a:endParaRPr lang="es-CO" sz="1400" b="0" kern="12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s-CO" sz="14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En el ámbito de proyección externa, </a:t>
                      </a:r>
                      <a:r>
                        <a:rPr lang="es-CO" sz="1400" b="0" kern="120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Humberbot’s</a:t>
                      </a:r>
                      <a:r>
                        <a:rPr lang="es-CO" sz="14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logró reconocimiento institucional, participación en eventos académicos y tecnológicos, alianzas con instituciones de educación superior y obtención de premios y menciones, posicionándose como una experiencia significativa, sostenible y replicable, lo cual ha permitido que la institución pueda estar habilitada para ser participe diferentes convocatorias, tal como de Nodo de Pensamiento Computacional del British Council.</a:t>
                      </a:r>
                    </a:p>
                    <a:p>
                      <a:pPr algn="just"/>
                      <a:r>
                        <a:rPr lang="es-CO" sz="1400" b="0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7FD9D29-2AED-2A9D-6D7A-B094CCBB0077}"/>
              </a:ext>
            </a:extLst>
          </p:cNvPr>
          <p:cNvSpPr txBox="1"/>
          <p:nvPr/>
        </p:nvSpPr>
        <p:spPr>
          <a:xfrm>
            <a:off x="3497178" y="374751"/>
            <a:ext cx="2598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/>
              <a:t>Transferencia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1A86436-DF7B-E911-3A9F-8729383C3B85}"/>
              </a:ext>
            </a:extLst>
          </p:cNvPr>
          <p:cNvSpPr txBox="1"/>
          <p:nvPr/>
        </p:nvSpPr>
        <p:spPr>
          <a:xfrm>
            <a:off x="565485" y="1059105"/>
            <a:ext cx="631986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1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Humberbot’s</a:t>
            </a:r>
            <a:r>
              <a:rPr lang="es-CO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ha transferido su metodología mediante espacios de divulgación académica, tales como artículos científicos, ferias institucionales, y encuentros de innovación educativa, donde se presentan proyectos, productos y evidencias de aprendizaje desarrollados por los estudiantes.</a:t>
            </a:r>
          </a:p>
          <a:p>
            <a:pPr algn="just"/>
            <a:endParaRPr lang="es-CO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just"/>
            <a:r>
              <a:rPr lang="es-CO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Como mecanismo de transferencia pedagógica, se promueve el acompañamiento y la formación de docentes de la institución, compartiendo estrategias didácticas, recursos educativos digitales, rúbricas y experiencias de aula basadas en  pensamiento computacional.</a:t>
            </a:r>
          </a:p>
          <a:p>
            <a:pPr algn="just"/>
            <a:endParaRPr lang="es-CO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just"/>
            <a:r>
              <a:rPr lang="es-CO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Adicionalmente, la experiencia utiliza medios digitales y redes educativas, así como su articulación con el Nodo de Pensamiento Computacional del British Council y MinTIC, para ampliar su alcance, facilitar la apropiación metodológica y fortalecer la replicabilidad de </a:t>
            </a:r>
            <a:r>
              <a:rPr lang="es-CO" sz="1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Humberbot’s</a:t>
            </a:r>
            <a:r>
              <a:rPr lang="es-CO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como experiencia significativa contextualizada y sostenible.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598FB2B-1D31-C1B0-017D-31B20CD06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819" y="636361"/>
            <a:ext cx="4791163" cy="558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266955"/>
              </p:ext>
            </p:extLst>
          </p:nvPr>
        </p:nvGraphicFramePr>
        <p:xfrm>
          <a:off x="876146" y="1185792"/>
          <a:ext cx="10517759" cy="49425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163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228596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711205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Sostenibilidad</a:t>
                      </a:r>
                      <a:endParaRPr lang="es-CO" sz="20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CO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Garantiza su sostenibilidad institucional mediante la ampliación progresiva de la participación de la comunidad educativa, a través de espacios permanentes de retroalimentación, socialización y validación de la experiencia.</a:t>
                      </a:r>
                    </a:p>
                    <a:p>
                      <a:pPr algn="just" fontAlgn="ctr"/>
                      <a:endParaRPr lang="es-CO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  <a:p>
                      <a:pPr algn="just" fontAlgn="ctr"/>
                      <a:r>
                        <a:rPr lang="es-CO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Contempla jornadas de socialización de proyectos, ferias tecnológicas institucionales, encuentros de reflexión pedagógica entre docentes, reuniones con directivos y espacios de participación de padres de familia</a:t>
                      </a:r>
                    </a:p>
                    <a:p>
                      <a:pPr algn="just" fontAlgn="ctr"/>
                      <a:endParaRPr lang="es-CO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  <a:p>
                      <a:pPr algn="just" fontAlgn="ctr"/>
                      <a:r>
                        <a:rPr lang="es-CO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 participación activa de estudiantes en el semillero </a:t>
                      </a:r>
                      <a:r>
                        <a:rPr lang="es-CO" sz="1800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Humberbot’s</a:t>
                      </a:r>
                      <a:r>
                        <a:rPr lang="es-CO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y de actores externos fortalece la visibilidad y legitimidad de la experiencia, asegurando su continuidad en el PEI y su articulación con el Plan de Mejoramiento Institucional</a:t>
                      </a:r>
                      <a:endParaRPr lang="es-ES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64802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139780"/>
              </p:ext>
            </p:extLst>
          </p:nvPr>
        </p:nvGraphicFramePr>
        <p:xfrm>
          <a:off x="1084385" y="1582616"/>
          <a:ext cx="10369062" cy="39671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158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767478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692768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Innovación</a:t>
                      </a:r>
                      <a:endParaRPr lang="es-CO" sz="20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CO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 experiencia puede profundizar en la integración del enfoque STEM con perspectivas como el aprendizaje situado, la educación para el desarrollo sostenible y la educación inclusiva, consolidando un marco pedagógico más robusto y contextualizado. Metodológicamente, la sistematización del Aprendizaje Basado en Proyectos.</a:t>
                      </a:r>
                    </a:p>
                    <a:p>
                      <a:pPr algn="just" fontAlgn="ctr"/>
                      <a:endParaRPr lang="es-CO" sz="20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  <a:p>
                      <a:pPr algn="just" fontAlgn="ctr"/>
                      <a:r>
                        <a:rPr lang="es-CO" sz="2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Trascendiendo como proyecto de investigación o acción pedagógica, al sistematizar sus prácticas, analizar evidencias de impacto y generar conocimiento educativo contextualizado.</a:t>
                      </a:r>
                      <a:endParaRPr lang="es-CO" sz="20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990812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1042</Words>
  <Application>Microsoft Office PowerPoint</Application>
  <PresentationFormat>Panorámica</PresentationFormat>
  <Paragraphs>49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Humberbot’s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8</cp:revision>
  <dcterms:created xsi:type="dcterms:W3CDTF">2025-07-23T15:35:07Z</dcterms:created>
  <dcterms:modified xsi:type="dcterms:W3CDTF">2026-06-10T18:57:24Z</dcterms:modified>
</cp:coreProperties>
</file>