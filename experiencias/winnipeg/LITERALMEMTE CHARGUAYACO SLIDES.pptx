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9" d="100"/>
          <a:sy n="109" d="100"/>
        </p:scale>
        <p:origin x="6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3B46F3-BD87-1244-C518-539103D7FDA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81DB866E-528A-E7A1-888D-047A34E554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F0E838C8-B107-769B-CA23-0886E2F73C86}"/>
              </a:ext>
            </a:extLst>
          </p:cNvPr>
          <p:cNvSpPr>
            <a:spLocks noGrp="1"/>
          </p:cNvSpPr>
          <p:nvPr>
            <p:ph type="dt" sz="half" idx="10"/>
          </p:nvPr>
        </p:nvSpPr>
        <p:spPr/>
        <p:txBody>
          <a:bodyPr/>
          <a:lstStyle/>
          <a:p>
            <a:fld id="{E232DC3D-3364-4B98-B737-2FEA8DB4EEB9}" type="datetimeFigureOut">
              <a:rPr lang="es-CO" smtClean="0"/>
              <a:t>17/06/2026</a:t>
            </a:fld>
            <a:endParaRPr lang="es-CO"/>
          </a:p>
        </p:txBody>
      </p:sp>
      <p:sp>
        <p:nvSpPr>
          <p:cNvPr id="5" name="Marcador de pie de página 4">
            <a:extLst>
              <a:ext uri="{FF2B5EF4-FFF2-40B4-BE49-F238E27FC236}">
                <a16:creationId xmlns:a16="http://schemas.microsoft.com/office/drawing/2014/main" id="{B0DF867A-4E8F-A03F-A929-7DA6ACDDBE5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AD2D83F-DADF-BCE9-05D8-3A899D9B102B}"/>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570897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CE0EBB-9626-1753-03B1-50B133A5A6B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6BFEC1A-5FED-A861-DCEA-C205BB94BEB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44A9250-4773-1F58-BB28-B7EABC3DD0AE}"/>
              </a:ext>
            </a:extLst>
          </p:cNvPr>
          <p:cNvSpPr>
            <a:spLocks noGrp="1"/>
          </p:cNvSpPr>
          <p:nvPr>
            <p:ph type="dt" sz="half" idx="10"/>
          </p:nvPr>
        </p:nvSpPr>
        <p:spPr/>
        <p:txBody>
          <a:bodyPr/>
          <a:lstStyle/>
          <a:p>
            <a:fld id="{E232DC3D-3364-4B98-B737-2FEA8DB4EEB9}" type="datetimeFigureOut">
              <a:rPr lang="es-CO" smtClean="0"/>
              <a:t>17/06/2026</a:t>
            </a:fld>
            <a:endParaRPr lang="es-CO"/>
          </a:p>
        </p:txBody>
      </p:sp>
      <p:sp>
        <p:nvSpPr>
          <p:cNvPr id="5" name="Marcador de pie de página 4">
            <a:extLst>
              <a:ext uri="{FF2B5EF4-FFF2-40B4-BE49-F238E27FC236}">
                <a16:creationId xmlns:a16="http://schemas.microsoft.com/office/drawing/2014/main" id="{F60FA128-B7B8-B0EF-D31D-231A72A3020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30F846C-CD29-FC4E-6C35-B35E945D22D3}"/>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170401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3948D9-1D84-100B-E086-763A0B5A148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F1287FC-DE40-5FEE-99C0-5E106C5E606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3EB6DCD-998D-79C6-A391-68F2326B2345}"/>
              </a:ext>
            </a:extLst>
          </p:cNvPr>
          <p:cNvSpPr>
            <a:spLocks noGrp="1"/>
          </p:cNvSpPr>
          <p:nvPr>
            <p:ph type="dt" sz="half" idx="10"/>
          </p:nvPr>
        </p:nvSpPr>
        <p:spPr/>
        <p:txBody>
          <a:bodyPr/>
          <a:lstStyle/>
          <a:p>
            <a:fld id="{E232DC3D-3364-4B98-B737-2FEA8DB4EEB9}" type="datetimeFigureOut">
              <a:rPr lang="es-CO" smtClean="0"/>
              <a:t>17/06/2026</a:t>
            </a:fld>
            <a:endParaRPr lang="es-CO"/>
          </a:p>
        </p:txBody>
      </p:sp>
      <p:sp>
        <p:nvSpPr>
          <p:cNvPr id="5" name="Marcador de pie de página 4">
            <a:extLst>
              <a:ext uri="{FF2B5EF4-FFF2-40B4-BE49-F238E27FC236}">
                <a16:creationId xmlns:a16="http://schemas.microsoft.com/office/drawing/2014/main" id="{9F42B1B5-98B4-F2C6-D48C-D9916064279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CFF1E9B-C3BA-795B-EDC3-183AD742781B}"/>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4189741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EF2BB7-E88B-5479-E88F-1FF94E10104C}"/>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60D1765-B4DF-B8A8-267B-23D3D8FC0C0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9A175493-7780-2FBB-7845-55FB500A68D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815E3D2A-5DA3-B8EE-6513-1EE2D2F1691B}"/>
              </a:ext>
            </a:extLst>
          </p:cNvPr>
          <p:cNvSpPr>
            <a:spLocks noGrp="1"/>
          </p:cNvSpPr>
          <p:nvPr>
            <p:ph type="dt" sz="half" idx="10"/>
          </p:nvPr>
        </p:nvSpPr>
        <p:spPr/>
        <p:txBody>
          <a:bodyPr/>
          <a:lstStyle/>
          <a:p>
            <a:fld id="{E232DC3D-3364-4B98-B737-2FEA8DB4EEB9}" type="datetimeFigureOut">
              <a:rPr lang="es-CO" smtClean="0"/>
              <a:t>17/06/2026</a:t>
            </a:fld>
            <a:endParaRPr lang="es-CO"/>
          </a:p>
        </p:txBody>
      </p:sp>
      <p:sp>
        <p:nvSpPr>
          <p:cNvPr id="6" name="Marcador de pie de página 5">
            <a:extLst>
              <a:ext uri="{FF2B5EF4-FFF2-40B4-BE49-F238E27FC236}">
                <a16:creationId xmlns:a16="http://schemas.microsoft.com/office/drawing/2014/main" id="{485006BB-22EF-6C17-9AC9-8BC0A6CFEBBE}"/>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6ED5FB5-C590-9217-D3CB-C4EBF32E9BAD}"/>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1038476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384527-F461-E0E3-CBD4-91A3E821E06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1B32A59-9727-6758-5DA4-C470274EC0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265B3E9-34E1-6718-763E-F143E9540C7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44176C83-F680-A73B-26CC-0CF5D7F590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7F9EBE45-361A-12BD-E0BF-240F81DE588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47D40406-BB14-9140-A36E-57E06C84B7B9}"/>
              </a:ext>
            </a:extLst>
          </p:cNvPr>
          <p:cNvSpPr>
            <a:spLocks noGrp="1"/>
          </p:cNvSpPr>
          <p:nvPr>
            <p:ph type="dt" sz="half" idx="10"/>
          </p:nvPr>
        </p:nvSpPr>
        <p:spPr/>
        <p:txBody>
          <a:bodyPr/>
          <a:lstStyle/>
          <a:p>
            <a:fld id="{E232DC3D-3364-4B98-B737-2FEA8DB4EEB9}" type="datetimeFigureOut">
              <a:rPr lang="es-CO" smtClean="0"/>
              <a:t>17/06/2026</a:t>
            </a:fld>
            <a:endParaRPr lang="es-CO"/>
          </a:p>
        </p:txBody>
      </p:sp>
      <p:sp>
        <p:nvSpPr>
          <p:cNvPr id="8" name="Marcador de pie de página 7">
            <a:extLst>
              <a:ext uri="{FF2B5EF4-FFF2-40B4-BE49-F238E27FC236}">
                <a16:creationId xmlns:a16="http://schemas.microsoft.com/office/drawing/2014/main" id="{A8A04C30-EDA6-E8D8-17E5-6FFC31775E72}"/>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6C15371C-606E-D71B-7E87-18750CB7B2CC}"/>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986970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786D20-6E3E-3281-0F95-BBF3C95D2EBB}"/>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6CFA1186-6ED9-F6E4-97BA-3A4F960A7318}"/>
              </a:ext>
            </a:extLst>
          </p:cNvPr>
          <p:cNvSpPr>
            <a:spLocks noGrp="1"/>
          </p:cNvSpPr>
          <p:nvPr>
            <p:ph type="dt" sz="half" idx="10"/>
          </p:nvPr>
        </p:nvSpPr>
        <p:spPr/>
        <p:txBody>
          <a:bodyPr/>
          <a:lstStyle/>
          <a:p>
            <a:fld id="{E232DC3D-3364-4B98-B737-2FEA8DB4EEB9}" type="datetimeFigureOut">
              <a:rPr lang="es-CO" smtClean="0"/>
              <a:t>17/06/2026</a:t>
            </a:fld>
            <a:endParaRPr lang="es-CO"/>
          </a:p>
        </p:txBody>
      </p:sp>
      <p:sp>
        <p:nvSpPr>
          <p:cNvPr id="4" name="Marcador de pie de página 3">
            <a:extLst>
              <a:ext uri="{FF2B5EF4-FFF2-40B4-BE49-F238E27FC236}">
                <a16:creationId xmlns:a16="http://schemas.microsoft.com/office/drawing/2014/main" id="{E00C95CA-1239-B99E-77D3-7A6FDE082216}"/>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F376426A-9ABC-5EF1-AEB1-C0CFC2215C37}"/>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3915364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CA8B009-C69D-1D5D-2898-3FAB863565E3}"/>
              </a:ext>
            </a:extLst>
          </p:cNvPr>
          <p:cNvSpPr>
            <a:spLocks noGrp="1"/>
          </p:cNvSpPr>
          <p:nvPr>
            <p:ph type="dt" sz="half" idx="10"/>
          </p:nvPr>
        </p:nvSpPr>
        <p:spPr/>
        <p:txBody>
          <a:bodyPr/>
          <a:lstStyle/>
          <a:p>
            <a:fld id="{E232DC3D-3364-4B98-B737-2FEA8DB4EEB9}" type="datetimeFigureOut">
              <a:rPr lang="es-CO" smtClean="0"/>
              <a:t>17/06/2026</a:t>
            </a:fld>
            <a:endParaRPr lang="es-CO"/>
          </a:p>
        </p:txBody>
      </p:sp>
      <p:sp>
        <p:nvSpPr>
          <p:cNvPr id="3" name="Marcador de pie de página 2">
            <a:extLst>
              <a:ext uri="{FF2B5EF4-FFF2-40B4-BE49-F238E27FC236}">
                <a16:creationId xmlns:a16="http://schemas.microsoft.com/office/drawing/2014/main" id="{914A400F-EF69-18E2-03A6-884F1D73A20A}"/>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D4CBCE93-02A5-2D01-14B0-951F79F14B7D}"/>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3587554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CE0CD9-7BCB-2025-6D74-C27F3B345F8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10EA8B7-9869-5158-E183-19819CDE34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841FCE9D-FC78-3797-E9CE-C3F4DD2CF3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2142166-3168-72E8-7E91-C1FC8816A97A}"/>
              </a:ext>
            </a:extLst>
          </p:cNvPr>
          <p:cNvSpPr>
            <a:spLocks noGrp="1"/>
          </p:cNvSpPr>
          <p:nvPr>
            <p:ph type="dt" sz="half" idx="10"/>
          </p:nvPr>
        </p:nvSpPr>
        <p:spPr/>
        <p:txBody>
          <a:bodyPr/>
          <a:lstStyle/>
          <a:p>
            <a:fld id="{E232DC3D-3364-4B98-B737-2FEA8DB4EEB9}" type="datetimeFigureOut">
              <a:rPr lang="es-CO" smtClean="0"/>
              <a:t>17/06/2026</a:t>
            </a:fld>
            <a:endParaRPr lang="es-CO"/>
          </a:p>
        </p:txBody>
      </p:sp>
      <p:sp>
        <p:nvSpPr>
          <p:cNvPr id="6" name="Marcador de pie de página 5">
            <a:extLst>
              <a:ext uri="{FF2B5EF4-FFF2-40B4-BE49-F238E27FC236}">
                <a16:creationId xmlns:a16="http://schemas.microsoft.com/office/drawing/2014/main" id="{8B384531-13AD-3876-2B69-E6BF5C86C92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5F634F09-C68B-DFE7-CDD2-5D12307D1031}"/>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1279997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F0B0B6-178A-2DE2-9D4C-1EA48B40C0E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FFED4931-6DD5-8470-00B4-4AD729FB19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720390BD-29BD-3EF3-3F42-30FB741D80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1F85192-11DA-8CCF-60ED-9C2E23CB8A2B}"/>
              </a:ext>
            </a:extLst>
          </p:cNvPr>
          <p:cNvSpPr>
            <a:spLocks noGrp="1"/>
          </p:cNvSpPr>
          <p:nvPr>
            <p:ph type="dt" sz="half" idx="10"/>
          </p:nvPr>
        </p:nvSpPr>
        <p:spPr/>
        <p:txBody>
          <a:bodyPr/>
          <a:lstStyle/>
          <a:p>
            <a:fld id="{E232DC3D-3364-4B98-B737-2FEA8DB4EEB9}" type="datetimeFigureOut">
              <a:rPr lang="es-CO" smtClean="0"/>
              <a:t>17/06/2026</a:t>
            </a:fld>
            <a:endParaRPr lang="es-CO"/>
          </a:p>
        </p:txBody>
      </p:sp>
      <p:sp>
        <p:nvSpPr>
          <p:cNvPr id="6" name="Marcador de pie de página 5">
            <a:extLst>
              <a:ext uri="{FF2B5EF4-FFF2-40B4-BE49-F238E27FC236}">
                <a16:creationId xmlns:a16="http://schemas.microsoft.com/office/drawing/2014/main" id="{10B09ACD-B38C-A414-7D9B-22F6970DF23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864F253-73AE-4A50-5D78-FA299CF7DE26}"/>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3208398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CD14DF-6133-7225-5208-6F1F8F738CB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F9A2C64-4BCF-8878-42A2-2B7E30B623F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5B21BBE-E8B9-71AD-99D2-9280106CF287}"/>
              </a:ext>
            </a:extLst>
          </p:cNvPr>
          <p:cNvSpPr>
            <a:spLocks noGrp="1"/>
          </p:cNvSpPr>
          <p:nvPr>
            <p:ph type="dt" sz="half" idx="10"/>
          </p:nvPr>
        </p:nvSpPr>
        <p:spPr/>
        <p:txBody>
          <a:bodyPr/>
          <a:lstStyle/>
          <a:p>
            <a:fld id="{E232DC3D-3364-4B98-B737-2FEA8DB4EEB9}" type="datetimeFigureOut">
              <a:rPr lang="es-CO" smtClean="0"/>
              <a:t>17/06/2026</a:t>
            </a:fld>
            <a:endParaRPr lang="es-CO"/>
          </a:p>
        </p:txBody>
      </p:sp>
      <p:sp>
        <p:nvSpPr>
          <p:cNvPr id="5" name="Marcador de pie de página 4">
            <a:extLst>
              <a:ext uri="{FF2B5EF4-FFF2-40B4-BE49-F238E27FC236}">
                <a16:creationId xmlns:a16="http://schemas.microsoft.com/office/drawing/2014/main" id="{EB04BB80-30DC-4522-9F3A-F376EF2E449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7D9122F-2D63-7AAC-D358-2F25E455CF39}"/>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923708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8AD4C63-322B-9289-95FE-95F8B78D340B}"/>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73DCC26B-B15B-4664-3A32-C1A29ADA18B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7B1FA146-87B7-F736-BB5A-46426D064BBA}"/>
              </a:ext>
            </a:extLst>
          </p:cNvPr>
          <p:cNvSpPr>
            <a:spLocks noGrp="1"/>
          </p:cNvSpPr>
          <p:nvPr>
            <p:ph type="dt" sz="half" idx="10"/>
          </p:nvPr>
        </p:nvSpPr>
        <p:spPr/>
        <p:txBody>
          <a:bodyPr/>
          <a:lstStyle/>
          <a:p>
            <a:fld id="{E232DC3D-3364-4B98-B737-2FEA8DB4EEB9}" type="datetimeFigureOut">
              <a:rPr lang="es-CO" smtClean="0"/>
              <a:t>17/06/2026</a:t>
            </a:fld>
            <a:endParaRPr lang="es-CO"/>
          </a:p>
        </p:txBody>
      </p:sp>
      <p:sp>
        <p:nvSpPr>
          <p:cNvPr id="5" name="Marcador de pie de página 4">
            <a:extLst>
              <a:ext uri="{FF2B5EF4-FFF2-40B4-BE49-F238E27FC236}">
                <a16:creationId xmlns:a16="http://schemas.microsoft.com/office/drawing/2014/main" id="{099FD83E-D958-4ABA-64A4-1CD41203CDA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32301AD-C2B3-B9CB-1E65-9B2DA6E56E38}"/>
              </a:ext>
            </a:extLst>
          </p:cNvPr>
          <p:cNvSpPr>
            <a:spLocks noGrp="1"/>
          </p:cNvSpPr>
          <p:nvPr>
            <p:ph type="sldNum" sz="quarter" idx="12"/>
          </p:nvPr>
        </p:nvSpPr>
        <p:spPr/>
        <p:txBody>
          <a:bodyPr/>
          <a:lstStyle/>
          <a:p>
            <a:fld id="{2AE74EE6-D869-4078-805E-69EBC1C524E1}" type="slidenum">
              <a:rPr lang="es-CO" smtClean="0"/>
              <a:t>‹Nº›</a:t>
            </a:fld>
            <a:endParaRPr lang="es-CO"/>
          </a:p>
        </p:txBody>
      </p:sp>
    </p:spTree>
    <p:extLst>
      <p:ext uri="{BB962C8B-B14F-4D97-AF65-F5344CB8AC3E}">
        <p14:creationId xmlns:p14="http://schemas.microsoft.com/office/powerpoint/2010/main" val="2000970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2C9864D-1483-2AE5-0FEA-4885553706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1FD254BB-B860-F144-7BF3-315B8786E3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BF5BED5-0585-53C3-A724-BE9242651E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32DC3D-3364-4B98-B737-2FEA8DB4EEB9}" type="datetimeFigureOut">
              <a:rPr lang="es-CO" smtClean="0"/>
              <a:t>17/06/2026</a:t>
            </a:fld>
            <a:endParaRPr lang="es-CO"/>
          </a:p>
        </p:txBody>
      </p:sp>
      <p:sp>
        <p:nvSpPr>
          <p:cNvPr id="5" name="Marcador de pie de página 4">
            <a:extLst>
              <a:ext uri="{FF2B5EF4-FFF2-40B4-BE49-F238E27FC236}">
                <a16:creationId xmlns:a16="http://schemas.microsoft.com/office/drawing/2014/main" id="{F0016D93-5AFA-DE80-D034-217A49DEC6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418A8A3A-02BF-B19A-B382-EB9221EEB8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E74EE6-D869-4078-805E-69EBC1C524E1}" type="slidenum">
              <a:rPr lang="es-CO" smtClean="0"/>
              <a:t>‹Nº›</a:t>
            </a:fld>
            <a:endParaRPr lang="es-CO"/>
          </a:p>
        </p:txBody>
      </p:sp>
    </p:spTree>
    <p:extLst>
      <p:ext uri="{BB962C8B-B14F-4D97-AF65-F5344CB8AC3E}">
        <p14:creationId xmlns:p14="http://schemas.microsoft.com/office/powerpoint/2010/main" val="42281356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1.jpeg"/><Relationship Id="rId4"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D1E2251-D51D-E043-921A-7495EE8A48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ítulo 1"/>
          <p:cNvSpPr>
            <a:spLocks noGrp="1"/>
          </p:cNvSpPr>
          <p:nvPr>
            <p:ph type="ctrTitle"/>
          </p:nvPr>
        </p:nvSpPr>
        <p:spPr>
          <a:xfrm>
            <a:off x="138052" y="1517650"/>
            <a:ext cx="6295293" cy="2387600"/>
          </a:xfrm>
        </p:spPr>
        <p:txBody>
          <a:bodyPr>
            <a:normAutofit/>
          </a:bodyPr>
          <a:lstStyle/>
          <a:p>
            <a:r>
              <a:rPr lang="es-ES" sz="2800" b="1" dirty="0"/>
              <a:t>Experiencia Significativa </a:t>
            </a:r>
            <a:br>
              <a:rPr lang="es-ES" sz="2800" b="1" dirty="0"/>
            </a:br>
            <a:r>
              <a:rPr lang="es-ES" sz="2800" b="1" dirty="0"/>
              <a:t/>
            </a:r>
            <a:br>
              <a:rPr lang="es-ES" sz="2800" b="1" dirty="0"/>
            </a:br>
            <a:r>
              <a:rPr lang="es-ES" sz="2800" b="1" dirty="0"/>
              <a:t>literalmente </a:t>
            </a:r>
            <a:endParaRPr lang="es-CO" sz="2800" b="1" dirty="0"/>
          </a:p>
        </p:txBody>
      </p:sp>
      <p:sp>
        <p:nvSpPr>
          <p:cNvPr id="3" name="Subtítulo 2"/>
          <p:cNvSpPr>
            <a:spLocks noGrp="1"/>
          </p:cNvSpPr>
          <p:nvPr>
            <p:ph type="subTitle" idx="1"/>
          </p:nvPr>
        </p:nvSpPr>
        <p:spPr>
          <a:xfrm>
            <a:off x="138052" y="5422900"/>
            <a:ext cx="9005948" cy="978877"/>
          </a:xfrm>
        </p:spPr>
        <p:txBody>
          <a:bodyPr/>
          <a:lstStyle/>
          <a:p>
            <a:r>
              <a:rPr lang="es-ES" dirty="0" err="1"/>
              <a:t>Lider</a:t>
            </a:r>
            <a:r>
              <a:rPr lang="es-ES" dirty="0"/>
              <a:t>: Milady Castro Urbano </a:t>
            </a:r>
          </a:p>
          <a:p>
            <a:r>
              <a:rPr lang="es-ES" dirty="0"/>
              <a:t>Institución Educativa Municipal Winnipeg </a:t>
            </a:r>
          </a:p>
          <a:p>
            <a:endParaRPr lang="es-CO" dirty="0"/>
          </a:p>
        </p:txBody>
      </p:sp>
      <p:pic>
        <p:nvPicPr>
          <p:cNvPr id="6" name="Imagen 5">
            <a:extLst>
              <a:ext uri="{FF2B5EF4-FFF2-40B4-BE49-F238E27FC236}">
                <a16:creationId xmlns:a16="http://schemas.microsoft.com/office/drawing/2014/main" id="{453524E3-0A58-CE9A-9C4B-8273131CF7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1397" y="989689"/>
            <a:ext cx="5419042" cy="4064282"/>
          </a:xfrm>
          <a:prstGeom prst="rect">
            <a:avLst/>
          </a:prstGeom>
        </p:spPr>
      </p:pic>
    </p:spTree>
    <p:extLst>
      <p:ext uri="{BB962C8B-B14F-4D97-AF65-F5344CB8AC3E}">
        <p14:creationId xmlns:p14="http://schemas.microsoft.com/office/powerpoint/2010/main" val="3697933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E88AC51-D933-785F-6FF3-0EAB785E7A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1888033777"/>
              </p:ext>
            </p:extLst>
          </p:nvPr>
        </p:nvGraphicFramePr>
        <p:xfrm>
          <a:off x="4011559" y="197409"/>
          <a:ext cx="7870723" cy="6410364"/>
        </p:xfrm>
        <a:graphic>
          <a:graphicData uri="http://schemas.openxmlformats.org/drawingml/2006/table">
            <a:tbl>
              <a:tblPr>
                <a:tableStyleId>{5C22544A-7EE6-4342-B048-85BDC9FD1C3A}</a:tableStyleId>
              </a:tblPr>
              <a:tblGrid>
                <a:gridCol w="1764281">
                  <a:extLst>
                    <a:ext uri="{9D8B030D-6E8A-4147-A177-3AD203B41FA5}">
                      <a16:colId xmlns:a16="http://schemas.microsoft.com/office/drawing/2014/main" val="2215923136"/>
                    </a:ext>
                  </a:extLst>
                </a:gridCol>
                <a:gridCol w="6106442">
                  <a:extLst>
                    <a:ext uri="{9D8B030D-6E8A-4147-A177-3AD203B41FA5}">
                      <a16:colId xmlns:a16="http://schemas.microsoft.com/office/drawing/2014/main" val="1923169113"/>
                    </a:ext>
                  </a:extLst>
                </a:gridCol>
              </a:tblGrid>
              <a:tr h="1178153">
                <a:tc rowSpan="3">
                  <a:txBody>
                    <a:bodyPr/>
                    <a:lstStyle/>
                    <a:p>
                      <a:pPr algn="ctr" fontAlgn="ctr"/>
                      <a:r>
                        <a:rPr lang="es-CO" sz="1400" b="1" u="none" strike="noStrike" dirty="0">
                          <a:effectLst/>
                        </a:rPr>
                        <a:t>Fundamentación</a:t>
                      </a:r>
                      <a:endParaRPr lang="es-CO" sz="1400" b="1" i="0" u="none" strike="noStrike" dirty="0">
                        <a:solidFill>
                          <a:srgbClr val="000000"/>
                        </a:solidFill>
                        <a:effectLst/>
                        <a:latin typeface="Arial" panose="020B0604020202020204" pitchFamily="34" charset="0"/>
                      </a:endParaRPr>
                    </a:p>
                  </a:txBody>
                  <a:tcPr marL="4782" marR="4782" marT="4782" marB="0" anchor="ctr"/>
                </a:tc>
                <a:tc>
                  <a:txBody>
                    <a:bodyPr/>
                    <a:lstStyle/>
                    <a:p>
                      <a:pPr algn="ctr"/>
                      <a:r>
                        <a:rPr lang="es-CO" sz="1200" b="0" dirty="0">
                          <a:effectLst/>
                          <a:latin typeface="Arial" panose="020B0604020202020204" pitchFamily="34" charset="0"/>
                          <a:ea typeface="Calibri" panose="020F0502020204030204" pitchFamily="34" charset="0"/>
                          <a:cs typeface="Times New Roman" panose="02020603050405020304" pitchFamily="18" charset="0"/>
                        </a:rPr>
                        <a:t> </a:t>
                      </a:r>
                      <a:endParaRPr lang="es-CO" sz="1100" dirty="0">
                        <a:effectLst/>
                        <a:latin typeface="Calibri" panose="020F0502020204030204" pitchFamily="34" charset="0"/>
                        <a:cs typeface="Times New Roman" panose="02020603050405020304" pitchFamily="18" charset="0"/>
                      </a:endParaRPr>
                    </a:p>
                    <a:p>
                      <a:pPr algn="just"/>
                      <a:r>
                        <a:rPr lang="es-CO" sz="1400" b="0" dirty="0" smtClean="0">
                          <a:effectLst/>
                          <a:latin typeface="+mn-lt"/>
                          <a:cs typeface="Times New Roman" panose="02020603050405020304" pitchFamily="18" charset="0"/>
                        </a:rPr>
                        <a:t>El </a:t>
                      </a:r>
                      <a:r>
                        <a:rPr lang="es-CO" sz="1400" b="0" dirty="0">
                          <a:effectLst/>
                          <a:latin typeface="+mn-lt"/>
                          <a:cs typeface="Times New Roman" panose="02020603050405020304" pitchFamily="18" charset="0"/>
                        </a:rPr>
                        <a:t>ambiente de aprendizaje diseñado para llevar a cabo la experiencia significativa esta dado desde el modelo conceptual aplicando metodologías activas los estudiantes logran desarrollar sus habilidades en la lectura y la escritura por medio de bases sólidas, hasta llegar al producto final. De igual forma, se ha diseñado un ambiente de aprendizaje físico como la biblioteca escolar en donde se lleva a cabo la mayoría de la construcción de la revista</a:t>
                      </a:r>
                      <a:r>
                        <a:rPr lang="es-CO" sz="1200" b="0" dirty="0">
                          <a:effectLst/>
                          <a:latin typeface="Arial" panose="020B0604020202020204" pitchFamily="34" charset="0"/>
                          <a:cs typeface="Times New Roman" panose="02020603050405020304" pitchFamily="18" charset="0"/>
                        </a:rPr>
                        <a:t>. </a:t>
                      </a:r>
                      <a:endParaRPr lang="es-CO" sz="1100" dirty="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14961306"/>
                  </a:ext>
                </a:extLst>
              </a:tr>
              <a:tr h="1056751">
                <a:tc vMerge="1">
                  <a:txBody>
                    <a:bodyPr/>
                    <a:lstStyle/>
                    <a:p>
                      <a:pPr algn="ctr" fontAlgn="ctr"/>
                      <a:endParaRPr lang="es-CO" sz="1400" b="1" i="0" u="none" strike="noStrike" dirty="0">
                        <a:solidFill>
                          <a:srgbClr val="000000"/>
                        </a:solidFill>
                        <a:effectLst/>
                        <a:latin typeface="Arial" panose="020B0604020202020204" pitchFamily="34" charset="0"/>
                      </a:endParaRPr>
                    </a:p>
                  </a:txBody>
                  <a:tcPr marL="4782" marR="4782" marT="4782"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CO" sz="1400" b="1" dirty="0"/>
                        <a:t>Objetivo general: </a:t>
                      </a:r>
                    </a:p>
                    <a:p>
                      <a:pPr marL="285750" marR="0" lvl="0" indent="-2857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s-CO" sz="1400" dirty="0"/>
                        <a:t>Promover la expresión, la creatividad y la formación integral de los estudiantes a través de la elaboración de una revista escolar, que refleje valores, saberes y experiencias en coherencia con los principios institucionales orientados al desarrollo humano, la inclusión y la calidad educativa. </a:t>
                      </a:r>
                      <a:endParaRPr lang="es-MX" sz="1400" dirty="0"/>
                    </a:p>
                  </a:txBody>
                  <a:tcPr marL="4782" marR="4782" marT="4782" marB="0" anchor="ctr"/>
                </a:tc>
                <a:extLst>
                  <a:ext uri="{0D108BD9-81ED-4DB2-BD59-A6C34878D82A}">
                    <a16:rowId xmlns:a16="http://schemas.microsoft.com/office/drawing/2014/main" val="3488044358"/>
                  </a:ext>
                </a:extLst>
              </a:tr>
              <a:tr h="1608227">
                <a:tc vMerge="1">
                  <a:txBody>
                    <a:bodyPr/>
                    <a:lstStyle/>
                    <a:p>
                      <a:pPr algn="ctr" fontAlgn="ctr"/>
                      <a:endParaRPr lang="es-CO" sz="1400" b="1" i="0" u="none" strike="noStrike" dirty="0">
                        <a:solidFill>
                          <a:srgbClr val="000000"/>
                        </a:solidFill>
                        <a:effectLst/>
                        <a:latin typeface="Arial" panose="020B0604020202020204" pitchFamily="34" charset="0"/>
                      </a:endParaRPr>
                    </a:p>
                  </a:txBody>
                  <a:tcPr marL="4782" marR="4782" marT="4782" marB="0" anchor="ctr"/>
                </a:tc>
                <a:tc>
                  <a:txBody>
                    <a:bodyPr/>
                    <a:lstStyle/>
                    <a:p>
                      <a:pPr algn="just"/>
                      <a:r>
                        <a:rPr lang="es-MX" sz="1600" b="1" dirty="0"/>
                        <a:t>Objetivos Específicos: </a:t>
                      </a:r>
                    </a:p>
                    <a:p>
                      <a:pPr marL="285750" lvl="0" indent="-285750">
                        <a:buFont typeface="Arial" panose="020B0604020202020204" pitchFamily="34" charset="0"/>
                        <a:buChar char="•"/>
                      </a:pPr>
                      <a:r>
                        <a:rPr lang="es-CO" sz="1400" dirty="0"/>
                        <a:t>Fomentar la participación activa de los estudiantes en la creación de contenidos que fortalezcan la identidad institucional, el pensamiento crítico y el compromiso social.</a:t>
                      </a:r>
                    </a:p>
                    <a:p>
                      <a:pPr marL="285750" lvl="0" indent="-285750">
                        <a:buFont typeface="Arial" panose="020B0604020202020204" pitchFamily="34" charset="0"/>
                        <a:buChar char="•"/>
                      </a:pPr>
                      <a:r>
                        <a:rPr lang="es-CO" sz="1400" dirty="0" smtClean="0"/>
                        <a:t>Desarrollar </a:t>
                      </a:r>
                      <a:r>
                        <a:rPr lang="es-CO" sz="1400" dirty="0"/>
                        <a:t>habilidades comunicativas, tecnológicas y artísticas mediante la redacción, diseño y publicación de artículos que integren valores humanos y conocimientos académicos</a:t>
                      </a:r>
                      <a:r>
                        <a:rPr lang="es-CO" sz="1400" dirty="0" smtClean="0"/>
                        <a:t>.</a:t>
                      </a:r>
                      <a:endParaRPr lang="es-CO" sz="1400" b="1" dirty="0"/>
                    </a:p>
                    <a:p>
                      <a:pPr marL="285750" lvl="0" indent="-285750">
                        <a:buFont typeface="Arial" panose="020B0604020202020204" pitchFamily="34" charset="0"/>
                        <a:buChar char="•"/>
                      </a:pPr>
                      <a:r>
                        <a:rPr lang="es-CO" sz="1400" dirty="0"/>
                        <a:t>Impulsar el trabajo colaborativo y la responsabilidad en la ejecución del proyecto, promoviendo una cultura de respeto, equidad y sentido de pertenencia hacia la institución</a:t>
                      </a:r>
                      <a:endParaRPr lang="es-ES" sz="14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2166883621"/>
                  </a:ext>
                </a:extLst>
              </a:tr>
            </a:tbl>
          </a:graphicData>
        </a:graphic>
      </p:graphicFrame>
      <p:pic>
        <p:nvPicPr>
          <p:cNvPr id="4" name="Imagen 3">
            <a:extLst>
              <a:ext uri="{FF2B5EF4-FFF2-40B4-BE49-F238E27FC236}">
                <a16:creationId xmlns:a16="http://schemas.microsoft.com/office/drawing/2014/main" id="{14BB1DA9-8A0C-480F-3B4B-82FCC9B683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718" y="516195"/>
            <a:ext cx="3603525" cy="2702643"/>
          </a:xfrm>
          <a:prstGeom prst="rect">
            <a:avLst/>
          </a:prstGeom>
        </p:spPr>
      </p:pic>
      <p:pic>
        <p:nvPicPr>
          <p:cNvPr id="7" name="Imagen 6">
            <a:extLst>
              <a:ext uri="{FF2B5EF4-FFF2-40B4-BE49-F238E27FC236}">
                <a16:creationId xmlns:a16="http://schemas.microsoft.com/office/drawing/2014/main" id="{FA2B8C43-82FC-83A9-80A8-97557A2388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9718" y="3358943"/>
            <a:ext cx="3603525" cy="2702644"/>
          </a:xfrm>
          <a:prstGeom prst="rect">
            <a:avLst/>
          </a:prstGeom>
        </p:spPr>
      </p:pic>
    </p:spTree>
    <p:extLst>
      <p:ext uri="{BB962C8B-B14F-4D97-AF65-F5344CB8AC3E}">
        <p14:creationId xmlns:p14="http://schemas.microsoft.com/office/powerpoint/2010/main" val="568321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2214721273"/>
              </p:ext>
            </p:extLst>
          </p:nvPr>
        </p:nvGraphicFramePr>
        <p:xfrm>
          <a:off x="4468951" y="3545220"/>
          <a:ext cx="7590124" cy="2687022"/>
        </p:xfrm>
        <a:graphic>
          <a:graphicData uri="http://schemas.openxmlformats.org/drawingml/2006/table">
            <a:tbl>
              <a:tblPr>
                <a:tableStyleId>{5C22544A-7EE6-4342-B048-85BDC9FD1C3A}</a:tableStyleId>
              </a:tblPr>
              <a:tblGrid>
                <a:gridCol w="1557952">
                  <a:extLst>
                    <a:ext uri="{9D8B030D-6E8A-4147-A177-3AD203B41FA5}">
                      <a16:colId xmlns:a16="http://schemas.microsoft.com/office/drawing/2014/main" val="2667395497"/>
                    </a:ext>
                  </a:extLst>
                </a:gridCol>
                <a:gridCol w="6032172">
                  <a:extLst>
                    <a:ext uri="{9D8B030D-6E8A-4147-A177-3AD203B41FA5}">
                      <a16:colId xmlns:a16="http://schemas.microsoft.com/office/drawing/2014/main" val="539675217"/>
                    </a:ext>
                  </a:extLst>
                </a:gridCol>
              </a:tblGrid>
              <a:tr h="1849220">
                <a:tc>
                  <a:txBody>
                    <a:bodyPr/>
                    <a:lstStyle/>
                    <a:p>
                      <a:pPr algn="l" fontAlgn="ctr"/>
                      <a:r>
                        <a:rPr lang="es-CO" sz="1600" u="none" strike="noStrike" dirty="0">
                          <a:effectLst/>
                        </a:rPr>
                        <a:t>Pertinencia</a:t>
                      </a:r>
                      <a:endParaRPr lang="es-CO" sz="1600" b="1" i="0" u="none" strike="noStrike" dirty="0">
                        <a:solidFill>
                          <a:srgbClr val="000000"/>
                        </a:solidFill>
                        <a:effectLst/>
                        <a:latin typeface="Arial" panose="020B0604020202020204" pitchFamily="34" charset="0"/>
                      </a:endParaRPr>
                    </a:p>
                  </a:txBody>
                  <a:tcPr marL="4782" marR="4782" marT="4782" marB="0" anchor="ctr"/>
                </a:tc>
                <a:tc>
                  <a:txBody>
                    <a:bodyPr/>
                    <a:lstStyle/>
                    <a:p>
                      <a:r>
                        <a:rPr lang="es-CO" sz="1600" dirty="0">
                          <a:solidFill>
                            <a:schemeClr val="tx1"/>
                          </a:solidFill>
                        </a:rPr>
                        <a:t>La revista surge en el año 2018 como respuesta a una necesidad: muchos estudiantes tenían dificultades al momento de escribir, como falta de coherencia, cohesión e intención comunicativa.</a:t>
                      </a:r>
                      <a:br>
                        <a:rPr lang="es-CO" sz="1600" dirty="0">
                          <a:solidFill>
                            <a:schemeClr val="tx1"/>
                          </a:solidFill>
                        </a:rPr>
                      </a:br>
                      <a:r>
                        <a:rPr lang="es-CO" sz="1600" dirty="0">
                          <a:solidFill>
                            <a:schemeClr val="tx1"/>
                          </a:solidFill>
                        </a:rPr>
                        <a:t>Para transformar esta situación, se plantearon objetivos claros: promover la expresión y la creatividad, fortalecer el pensamiento crítico y consolidar un espacio en el que los estudiantes, docentes, familias y comunidad puedan participar y dejar huella a través de la escritura</a:t>
                      </a:r>
                      <a:r>
                        <a:rPr lang="es-CO" sz="1600" dirty="0"/>
                        <a:t>. </a:t>
                      </a:r>
                      <a:endParaRPr lang="es-CO" sz="1600" b="1" dirty="0"/>
                    </a:p>
                    <a:p>
                      <a:endParaRPr lang="es-ES" sz="16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782949291"/>
                  </a:ext>
                </a:extLst>
              </a:tr>
            </a:tbl>
          </a:graphicData>
        </a:graphic>
      </p:graphicFrame>
      <p:pic>
        <p:nvPicPr>
          <p:cNvPr id="4" name="Imagen 3">
            <a:extLst>
              <a:ext uri="{FF2B5EF4-FFF2-40B4-BE49-F238E27FC236}">
                <a16:creationId xmlns:a16="http://schemas.microsoft.com/office/drawing/2014/main" id="{C3F4D78B-7A81-D68F-4B7B-B94A680F0E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9569" y="662382"/>
            <a:ext cx="3843784" cy="2882838"/>
          </a:xfrm>
          <a:prstGeom prst="rect">
            <a:avLst/>
          </a:prstGeom>
        </p:spPr>
      </p:pic>
      <p:pic>
        <p:nvPicPr>
          <p:cNvPr id="7" name="Imagen 6">
            <a:extLst>
              <a:ext uri="{FF2B5EF4-FFF2-40B4-BE49-F238E27FC236}">
                <a16:creationId xmlns:a16="http://schemas.microsoft.com/office/drawing/2014/main" id="{341D4457-0A27-D04D-D78D-8F4DE12170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5696" y="529175"/>
            <a:ext cx="4021393" cy="3016045"/>
          </a:xfrm>
          <a:prstGeom prst="rect">
            <a:avLst/>
          </a:prstGeom>
        </p:spPr>
      </p:pic>
      <p:pic>
        <p:nvPicPr>
          <p:cNvPr id="9" name="Imagen 8">
            <a:extLst>
              <a:ext uri="{FF2B5EF4-FFF2-40B4-BE49-F238E27FC236}">
                <a16:creationId xmlns:a16="http://schemas.microsoft.com/office/drawing/2014/main" id="{C1751D54-2A59-6969-E5E5-D8C2A0A63A5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1960" y="3875006"/>
            <a:ext cx="3564066" cy="2673050"/>
          </a:xfrm>
          <a:prstGeom prst="rect">
            <a:avLst/>
          </a:prstGeom>
        </p:spPr>
      </p:pic>
    </p:spTree>
    <p:extLst>
      <p:ext uri="{BB962C8B-B14F-4D97-AF65-F5344CB8AC3E}">
        <p14:creationId xmlns:p14="http://schemas.microsoft.com/office/powerpoint/2010/main" val="3731378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604280605"/>
              </p:ext>
            </p:extLst>
          </p:nvPr>
        </p:nvGraphicFramePr>
        <p:xfrm>
          <a:off x="4704735" y="3429000"/>
          <a:ext cx="7300452" cy="3097162"/>
        </p:xfrm>
        <a:graphic>
          <a:graphicData uri="http://schemas.openxmlformats.org/drawingml/2006/table">
            <a:tbl>
              <a:tblPr>
                <a:tableStyleId>{5C22544A-7EE6-4342-B048-85BDC9FD1C3A}</a:tableStyleId>
              </a:tblPr>
              <a:tblGrid>
                <a:gridCol w="1607575">
                  <a:extLst>
                    <a:ext uri="{9D8B030D-6E8A-4147-A177-3AD203B41FA5}">
                      <a16:colId xmlns:a16="http://schemas.microsoft.com/office/drawing/2014/main" val="2667395497"/>
                    </a:ext>
                  </a:extLst>
                </a:gridCol>
                <a:gridCol w="5692877">
                  <a:extLst>
                    <a:ext uri="{9D8B030D-6E8A-4147-A177-3AD203B41FA5}">
                      <a16:colId xmlns:a16="http://schemas.microsoft.com/office/drawing/2014/main" val="539675217"/>
                    </a:ext>
                  </a:extLst>
                </a:gridCol>
              </a:tblGrid>
              <a:tr h="3097162">
                <a:tc>
                  <a:txBody>
                    <a:bodyPr/>
                    <a:lstStyle/>
                    <a:p>
                      <a:pPr algn="l" fontAlgn="ctr"/>
                      <a:r>
                        <a:rPr lang="es-CO" sz="2000" u="none" strike="noStrike" dirty="0">
                          <a:effectLst/>
                        </a:rPr>
                        <a:t>Consistencia</a:t>
                      </a:r>
                      <a:endParaRPr lang="es-CO" sz="2000" b="1" i="0" u="none" strike="noStrike" dirty="0">
                        <a:solidFill>
                          <a:srgbClr val="000000"/>
                        </a:solidFill>
                        <a:effectLst/>
                        <a:latin typeface="Arial" panose="020B0604020202020204" pitchFamily="34" charset="0"/>
                      </a:endParaRPr>
                    </a:p>
                  </a:txBody>
                  <a:tcPr marL="4782" marR="4782" marT="4782" marB="0" anchor="ctr"/>
                </a:tc>
                <a:tc>
                  <a:txBody>
                    <a:bodyPr/>
                    <a:lstStyle/>
                    <a:p>
                      <a:pPr marL="342900" indent="-342900">
                        <a:buFont typeface="Arial" panose="020B0604020202020204" pitchFamily="34" charset="0"/>
                        <a:buChar char="•"/>
                      </a:pPr>
                      <a:r>
                        <a:rPr lang="es-CO" sz="1600" dirty="0"/>
                        <a:t>El proyecto se desarrolla cada año mediante la conformación de un comité editorial. </a:t>
                      </a:r>
                    </a:p>
                    <a:p>
                      <a:pPr marL="342900" indent="-342900">
                        <a:buFont typeface="Arial" panose="020B0604020202020204" pitchFamily="34" charset="0"/>
                        <a:buChar char="•"/>
                      </a:pPr>
                      <a:r>
                        <a:rPr lang="es-CO" sz="1600" dirty="0"/>
                        <a:t>El proceso de escritura se trabaja paso a paso: primero los borradores, después la revisión y finalmente la publicación</a:t>
                      </a:r>
                    </a:p>
                    <a:p>
                      <a:pPr marL="342900" indent="-342900">
                        <a:buFont typeface="Arial" panose="020B0604020202020204" pitchFamily="34" charset="0"/>
                        <a:buChar char="•"/>
                      </a:pPr>
                      <a:r>
                        <a:rPr lang="es-CO" sz="1600" dirty="0"/>
                        <a:t> Se construye desde un enfoque constructivista, donde todos aprendemos colaborando. (salidas pedagógicas). </a:t>
                      </a:r>
                    </a:p>
                    <a:p>
                      <a:pPr marL="342900" indent="-342900">
                        <a:buFont typeface="Arial" panose="020B0604020202020204" pitchFamily="34" charset="0"/>
                        <a:buChar char="•"/>
                      </a:pPr>
                      <a:r>
                        <a:rPr lang="es-CO" sz="1600" dirty="0"/>
                        <a:t>Se usan medios digitales para difusión del trabajo</a:t>
                      </a:r>
                      <a:endParaRPr lang="es-ES" sz="16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782949291"/>
                  </a:ext>
                </a:extLst>
              </a:tr>
            </a:tbl>
          </a:graphicData>
        </a:graphic>
      </p:graphicFrame>
      <p:pic>
        <p:nvPicPr>
          <p:cNvPr id="4" name="Imagen 3">
            <a:extLst>
              <a:ext uri="{FF2B5EF4-FFF2-40B4-BE49-F238E27FC236}">
                <a16:creationId xmlns:a16="http://schemas.microsoft.com/office/drawing/2014/main" id="{23D6442B-A72D-5236-039F-3B1DEC3117C0}"/>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86813" y="2216867"/>
            <a:ext cx="4280719" cy="3210539"/>
          </a:xfrm>
          <a:prstGeom prst="rect">
            <a:avLst/>
          </a:prstGeom>
        </p:spPr>
      </p:pic>
      <p:pic>
        <p:nvPicPr>
          <p:cNvPr id="7" name="Imagen 6">
            <a:extLst>
              <a:ext uri="{FF2B5EF4-FFF2-40B4-BE49-F238E27FC236}">
                <a16:creationId xmlns:a16="http://schemas.microsoft.com/office/drawing/2014/main" id="{946FF3D4-5511-87C1-1440-B3559DCF8E2D}"/>
              </a:ext>
            </a:extLst>
          </p:cNvPr>
          <p:cNvPicPr>
            <a:picLocks noChangeAspect="1"/>
          </p:cNvPicPr>
          <p:nvPr/>
        </p:nvPicPr>
        <p:blipFill>
          <a:blip r:embed="rId4">
            <a:extLst>
              <a:ext uri="{28A0092B-C50C-407E-A947-70E740481C1C}">
                <a14:useLocalDpi xmlns:a14="http://schemas.microsoft.com/office/drawing/2010/main" val="0"/>
              </a:ext>
            </a:extLst>
          </a:blip>
          <a:srcRect b="18925"/>
          <a:stretch>
            <a:fillRect/>
          </a:stretch>
        </p:blipFill>
        <p:spPr>
          <a:xfrm>
            <a:off x="5550308" y="176164"/>
            <a:ext cx="4140011" cy="2920998"/>
          </a:xfrm>
          <a:prstGeom prst="rect">
            <a:avLst/>
          </a:prstGeom>
        </p:spPr>
      </p:pic>
    </p:spTree>
    <p:extLst>
      <p:ext uri="{BB962C8B-B14F-4D97-AF65-F5344CB8AC3E}">
        <p14:creationId xmlns:p14="http://schemas.microsoft.com/office/powerpoint/2010/main" val="1523814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3760483579"/>
              </p:ext>
            </p:extLst>
          </p:nvPr>
        </p:nvGraphicFramePr>
        <p:xfrm>
          <a:off x="5324168" y="1725562"/>
          <a:ext cx="5847924" cy="3174684"/>
        </p:xfrm>
        <a:graphic>
          <a:graphicData uri="http://schemas.openxmlformats.org/drawingml/2006/table">
            <a:tbl>
              <a:tblPr>
                <a:tableStyleId>{5C22544A-7EE6-4342-B048-85BDC9FD1C3A}</a:tableStyleId>
              </a:tblPr>
              <a:tblGrid>
                <a:gridCol w="1250520">
                  <a:extLst>
                    <a:ext uri="{9D8B030D-6E8A-4147-A177-3AD203B41FA5}">
                      <a16:colId xmlns:a16="http://schemas.microsoft.com/office/drawing/2014/main" val="2667395497"/>
                    </a:ext>
                  </a:extLst>
                </a:gridCol>
                <a:gridCol w="4597404">
                  <a:extLst>
                    <a:ext uri="{9D8B030D-6E8A-4147-A177-3AD203B41FA5}">
                      <a16:colId xmlns:a16="http://schemas.microsoft.com/office/drawing/2014/main" val="539675217"/>
                    </a:ext>
                  </a:extLst>
                </a:gridCol>
              </a:tblGrid>
              <a:tr h="3174684">
                <a:tc>
                  <a:txBody>
                    <a:bodyPr/>
                    <a:lstStyle/>
                    <a:p>
                      <a:pPr algn="l" fontAlgn="ctr"/>
                      <a:r>
                        <a:rPr lang="es-CO" sz="1800" u="none" strike="noStrike" dirty="0">
                          <a:effectLst/>
                        </a:rPr>
                        <a:t>Madurez</a:t>
                      </a:r>
                      <a:endParaRPr lang="es-CO" sz="1800" b="1" i="0" u="none" strike="noStrike" dirty="0">
                        <a:solidFill>
                          <a:srgbClr val="000000"/>
                        </a:solidFill>
                        <a:effectLst/>
                        <a:latin typeface="Arial" panose="020B0604020202020204" pitchFamily="34" charset="0"/>
                      </a:endParaRPr>
                    </a:p>
                  </a:txBody>
                  <a:tcPr marL="4782" marR="4782" marT="4782"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MX" sz="1800" kern="1200" dirty="0">
                          <a:solidFill>
                            <a:schemeClr val="dk1"/>
                          </a:solidFill>
                          <a:effectLst/>
                          <a:latin typeface="+mn-lt"/>
                          <a:ea typeface="+mn-ea"/>
                          <a:cs typeface="+mn-cs"/>
                        </a:rPr>
                        <a:t>La experiencia se convierte en un espacio de expresión al pensamiento la creatividad y las voces de nuestros estudiantes. Su impacto ha sido positivo ya que a través del proceso de lectura y escritura se fortalece la identidad institucional, el trabajo académico y la cultura de la comunidad educativa.  </a:t>
                      </a:r>
                      <a:endParaRPr lang="es-CO" sz="1800" kern="1200" dirty="0">
                        <a:solidFill>
                          <a:schemeClr val="dk1"/>
                        </a:solidFill>
                        <a:effectLst/>
                        <a:latin typeface="+mn-lt"/>
                        <a:ea typeface="+mn-ea"/>
                        <a:cs typeface="+mn-cs"/>
                      </a:endParaRPr>
                    </a:p>
                    <a:p>
                      <a:pPr algn="l" fontAlgn="ctr"/>
                      <a:endParaRPr lang="es-ES" sz="18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782949291"/>
                  </a:ext>
                </a:extLst>
              </a:tr>
            </a:tbl>
          </a:graphicData>
        </a:graphic>
      </p:graphicFrame>
      <p:pic>
        <p:nvPicPr>
          <p:cNvPr id="9" name="Imagen 8">
            <a:extLst>
              <a:ext uri="{FF2B5EF4-FFF2-40B4-BE49-F238E27FC236}">
                <a16:creationId xmlns:a16="http://schemas.microsoft.com/office/drawing/2014/main" id="{D955710D-2B10-0651-12B3-B20A727134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019" y="1806678"/>
            <a:ext cx="4426974" cy="3320230"/>
          </a:xfrm>
          <a:prstGeom prst="rect">
            <a:avLst/>
          </a:prstGeom>
        </p:spPr>
      </p:pic>
    </p:spTree>
    <p:extLst>
      <p:ext uri="{BB962C8B-B14F-4D97-AF65-F5344CB8AC3E}">
        <p14:creationId xmlns:p14="http://schemas.microsoft.com/office/powerpoint/2010/main" val="3538848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2252478921"/>
              </p:ext>
            </p:extLst>
          </p:nvPr>
        </p:nvGraphicFramePr>
        <p:xfrm>
          <a:off x="2402380" y="205568"/>
          <a:ext cx="7580671" cy="3662382"/>
        </p:xfrm>
        <a:graphic>
          <a:graphicData uri="http://schemas.openxmlformats.org/drawingml/2006/table">
            <a:tbl>
              <a:tblPr>
                <a:tableStyleId>{5C22544A-7EE6-4342-B048-85BDC9FD1C3A}</a:tableStyleId>
              </a:tblPr>
              <a:tblGrid>
                <a:gridCol w="1932228">
                  <a:extLst>
                    <a:ext uri="{9D8B030D-6E8A-4147-A177-3AD203B41FA5}">
                      <a16:colId xmlns:a16="http://schemas.microsoft.com/office/drawing/2014/main" val="2667395497"/>
                    </a:ext>
                  </a:extLst>
                </a:gridCol>
                <a:gridCol w="5648443">
                  <a:extLst>
                    <a:ext uri="{9D8B030D-6E8A-4147-A177-3AD203B41FA5}">
                      <a16:colId xmlns:a16="http://schemas.microsoft.com/office/drawing/2014/main" val="539675217"/>
                    </a:ext>
                  </a:extLst>
                </a:gridCol>
              </a:tblGrid>
              <a:tr h="2651684">
                <a:tc>
                  <a:txBody>
                    <a:bodyPr/>
                    <a:lstStyle/>
                    <a:p>
                      <a:pPr algn="l" fontAlgn="ctr"/>
                      <a:r>
                        <a:rPr lang="es-CO" sz="1800" u="none" strike="noStrike" dirty="0">
                          <a:effectLst/>
                        </a:rPr>
                        <a:t>Empoderamiento</a:t>
                      </a:r>
                      <a:endParaRPr lang="es-CO" sz="1800" b="1" i="0" u="none" strike="noStrike" dirty="0">
                        <a:solidFill>
                          <a:srgbClr val="000000"/>
                        </a:solidFill>
                        <a:effectLst/>
                        <a:latin typeface="Arial" panose="020B0604020202020204" pitchFamily="34" charset="0"/>
                      </a:endParaRPr>
                    </a:p>
                  </a:txBody>
                  <a:tcPr marL="4782" marR="4782" marT="4782" marB="0" anchor="ctr"/>
                </a:tc>
                <a:tc>
                  <a:txBody>
                    <a:bodyPr/>
                    <a:lstStyle/>
                    <a:p>
                      <a:pPr algn="l" fontAlgn="ctr"/>
                      <a:r>
                        <a:rPr lang="es-MX" sz="1600" dirty="0"/>
                        <a:t>La experiencia significativa l</a:t>
                      </a:r>
                      <a:r>
                        <a:rPr lang="es-MX" sz="1600" b="0" dirty="0"/>
                        <a:t>iteralmente, </a:t>
                      </a:r>
                      <a:r>
                        <a:rPr lang="es-MX" sz="1600" dirty="0"/>
                        <a:t>representada en la revista del colegio, es un ejemplo de empoderamiento estudiantil y transformación educativa. A través de este proyecto, los estudiantes se convierten en protagonistas del proceso de aprendizaje, desarrollando su creatividad, pensamiento crítico y capacidad de comunicación. La revista no solo da voz a sus ideas y sentimientos, sino que también fortalece el sentido de pertenencia, la colaboración y el amor por la palabra escrita. Literalmente,  demuestra que cuando los jóvenes se expresan con libertad y compromiso, la educación se convierte en un acto de creación y liderazgo</a:t>
                      </a:r>
                      <a:r>
                        <a:rPr lang="es-ES" sz="1600" u="none" strike="noStrike" dirty="0">
                          <a:effectLst/>
                        </a:rPr>
                        <a:t>.</a:t>
                      </a:r>
                      <a:endParaRPr lang="es-ES" sz="16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1597408403"/>
                  </a:ext>
                </a:extLst>
              </a:tr>
            </a:tbl>
          </a:graphicData>
        </a:graphic>
      </p:graphicFrame>
      <p:pic>
        <p:nvPicPr>
          <p:cNvPr id="4" name="Imagen 3">
            <a:extLst>
              <a:ext uri="{FF2B5EF4-FFF2-40B4-BE49-F238E27FC236}">
                <a16:creationId xmlns:a16="http://schemas.microsoft.com/office/drawing/2014/main" id="{F054B2BA-66EB-41B1-085D-F5449E84CA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0407" y="3867950"/>
            <a:ext cx="3597891" cy="2698418"/>
          </a:xfrm>
          <a:prstGeom prst="rect">
            <a:avLst/>
          </a:prstGeom>
        </p:spPr>
      </p:pic>
      <p:pic>
        <p:nvPicPr>
          <p:cNvPr id="7" name="Imagen 6">
            <a:extLst>
              <a:ext uri="{FF2B5EF4-FFF2-40B4-BE49-F238E27FC236}">
                <a16:creationId xmlns:a16="http://schemas.microsoft.com/office/drawing/2014/main" id="{09F69930-D2A5-22F3-A8E5-07F5AFE8D4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4508" y="3429000"/>
            <a:ext cx="3598984" cy="2699238"/>
          </a:xfrm>
          <a:prstGeom prst="rect">
            <a:avLst/>
          </a:prstGeom>
        </p:spPr>
      </p:pic>
    </p:spTree>
    <p:extLst>
      <p:ext uri="{BB962C8B-B14F-4D97-AF65-F5344CB8AC3E}">
        <p14:creationId xmlns:p14="http://schemas.microsoft.com/office/powerpoint/2010/main" val="943985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2864757635"/>
              </p:ext>
            </p:extLst>
          </p:nvPr>
        </p:nvGraphicFramePr>
        <p:xfrm>
          <a:off x="1249926" y="221226"/>
          <a:ext cx="9692148" cy="3088840"/>
        </p:xfrm>
        <a:graphic>
          <a:graphicData uri="http://schemas.openxmlformats.org/drawingml/2006/table">
            <a:tbl>
              <a:tblPr>
                <a:tableStyleId>{5C22544A-7EE6-4342-B048-85BDC9FD1C3A}</a:tableStyleId>
              </a:tblPr>
              <a:tblGrid>
                <a:gridCol w="2962885">
                  <a:extLst>
                    <a:ext uri="{9D8B030D-6E8A-4147-A177-3AD203B41FA5}">
                      <a16:colId xmlns:a16="http://schemas.microsoft.com/office/drawing/2014/main" val="2667395497"/>
                    </a:ext>
                  </a:extLst>
                </a:gridCol>
                <a:gridCol w="6729263">
                  <a:extLst>
                    <a:ext uri="{9D8B030D-6E8A-4147-A177-3AD203B41FA5}">
                      <a16:colId xmlns:a16="http://schemas.microsoft.com/office/drawing/2014/main" val="539675217"/>
                    </a:ext>
                  </a:extLst>
                </a:gridCol>
              </a:tblGrid>
              <a:tr h="3088840">
                <a:tc>
                  <a:txBody>
                    <a:bodyPr/>
                    <a:lstStyle/>
                    <a:p>
                      <a:pPr algn="l" fontAlgn="ctr"/>
                      <a:r>
                        <a:rPr lang="es-CO" sz="2000" u="none" strike="noStrike" dirty="0">
                          <a:effectLst/>
                        </a:rPr>
                        <a:t>Evaluación y seguimiento</a:t>
                      </a:r>
                      <a:endParaRPr lang="es-CO" sz="2000" b="1" i="0" u="none" strike="noStrike" dirty="0">
                        <a:solidFill>
                          <a:srgbClr val="000000"/>
                        </a:solidFill>
                        <a:effectLst/>
                        <a:latin typeface="Arial" panose="020B0604020202020204" pitchFamily="34" charset="0"/>
                      </a:endParaRPr>
                    </a:p>
                  </a:txBody>
                  <a:tcPr marL="4782" marR="4782" marT="4782" marB="0" anchor="ctr"/>
                </a:tc>
                <a:tc>
                  <a:txBody>
                    <a:bodyPr/>
                    <a:lstStyle/>
                    <a:p>
                      <a:pPr algn="just" fontAlgn="ctr"/>
                      <a:r>
                        <a:rPr lang="es-MX" sz="1600" dirty="0"/>
                        <a:t>La evaluación y el seguimiento de la experiencia significativa literalmente  se desarrollan de manera continua y participativa. A través de observaciones, retroalimentaciones y registros, se analizan los avances en las competencias comunicativas, el trabajo colaborativo y la creatividad de los estudiantes. Este proceso permite identificar fortalezas, necesidades de mejora y logros alcanzados, asegurando que cada etapa del proyecto contribuya al aprendizaje significativo y al fortalecimiento de la expresión escrita y oral.</a:t>
                      </a:r>
                      <a:endParaRPr lang="es-ES" sz="16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1243005599"/>
                  </a:ext>
                </a:extLst>
              </a:tr>
            </a:tbl>
          </a:graphicData>
        </a:graphic>
      </p:graphicFrame>
      <p:pic>
        <p:nvPicPr>
          <p:cNvPr id="4" name="Imagen 3">
            <a:extLst>
              <a:ext uri="{FF2B5EF4-FFF2-40B4-BE49-F238E27FC236}">
                <a16:creationId xmlns:a16="http://schemas.microsoft.com/office/drawing/2014/main" id="{0100EAA9-9020-5F9E-CF35-71D23D0A04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426" y="3429000"/>
            <a:ext cx="4080387" cy="2919046"/>
          </a:xfrm>
          <a:prstGeom prst="rect">
            <a:avLst/>
          </a:prstGeom>
        </p:spPr>
      </p:pic>
      <p:pic>
        <p:nvPicPr>
          <p:cNvPr id="7" name="Imagen 6">
            <a:extLst>
              <a:ext uri="{FF2B5EF4-FFF2-40B4-BE49-F238E27FC236}">
                <a16:creationId xmlns:a16="http://schemas.microsoft.com/office/drawing/2014/main" id="{EB672823-C67A-F9FD-D6E1-DEB52F089D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99238" y="3429000"/>
            <a:ext cx="4183626" cy="2822331"/>
          </a:xfrm>
          <a:prstGeom prst="rect">
            <a:avLst/>
          </a:prstGeom>
        </p:spPr>
      </p:pic>
    </p:spTree>
    <p:extLst>
      <p:ext uri="{BB962C8B-B14F-4D97-AF65-F5344CB8AC3E}">
        <p14:creationId xmlns:p14="http://schemas.microsoft.com/office/powerpoint/2010/main" val="3085548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1514658014"/>
              </p:ext>
            </p:extLst>
          </p:nvPr>
        </p:nvGraphicFramePr>
        <p:xfrm>
          <a:off x="444303" y="2137873"/>
          <a:ext cx="1717433" cy="2582253"/>
        </p:xfrm>
        <a:graphic>
          <a:graphicData uri="http://schemas.openxmlformats.org/drawingml/2006/table">
            <a:tbl>
              <a:tblPr>
                <a:tableStyleId>{5C22544A-7EE6-4342-B048-85BDC9FD1C3A}</a:tableStyleId>
              </a:tblPr>
              <a:tblGrid>
                <a:gridCol w="1717433">
                  <a:extLst>
                    <a:ext uri="{9D8B030D-6E8A-4147-A177-3AD203B41FA5}">
                      <a16:colId xmlns:a16="http://schemas.microsoft.com/office/drawing/2014/main" val="2667395497"/>
                    </a:ext>
                  </a:extLst>
                </a:gridCol>
              </a:tblGrid>
              <a:tr h="2582253">
                <a:tc>
                  <a:txBody>
                    <a:bodyPr/>
                    <a:lstStyle/>
                    <a:p>
                      <a:pPr algn="l" fontAlgn="ctr"/>
                      <a:r>
                        <a:rPr lang="es-CO" sz="2000" u="none" strike="noStrike" dirty="0">
                          <a:effectLst/>
                        </a:rPr>
                        <a:t>Resultados</a:t>
                      </a:r>
                      <a:endParaRPr lang="es-CO" sz="2000" b="1"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2517312088"/>
                  </a:ext>
                </a:extLst>
              </a:tr>
            </a:tbl>
          </a:graphicData>
        </a:graphic>
      </p:graphicFrame>
      <p:pic>
        <p:nvPicPr>
          <p:cNvPr id="3" name="Imagen 2">
            <a:extLst>
              <a:ext uri="{FF2B5EF4-FFF2-40B4-BE49-F238E27FC236}">
                <a16:creationId xmlns:a16="http://schemas.microsoft.com/office/drawing/2014/main" id="{2518B27B-2488-439E-BFD0-44A0E6583EEF}"/>
              </a:ext>
            </a:extLst>
          </p:cNvPr>
          <p:cNvPicPr>
            <a:picLocks noChangeAspect="1"/>
          </p:cNvPicPr>
          <p:nvPr/>
        </p:nvPicPr>
        <p:blipFill rotWithShape="1">
          <a:blip r:embed="rId3"/>
          <a:srcRect l="25634" t="23611" r="11942" b="12689"/>
          <a:stretch/>
        </p:blipFill>
        <p:spPr>
          <a:xfrm>
            <a:off x="2606039" y="980050"/>
            <a:ext cx="8651610" cy="4745501"/>
          </a:xfrm>
          <a:prstGeom prst="rect">
            <a:avLst/>
          </a:prstGeom>
        </p:spPr>
      </p:pic>
    </p:spTree>
    <p:extLst>
      <p:ext uri="{BB962C8B-B14F-4D97-AF65-F5344CB8AC3E}">
        <p14:creationId xmlns:p14="http://schemas.microsoft.com/office/powerpoint/2010/main" val="4134727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2809470913"/>
              </p:ext>
            </p:extLst>
          </p:nvPr>
        </p:nvGraphicFramePr>
        <p:xfrm>
          <a:off x="1368669" y="307296"/>
          <a:ext cx="9454662" cy="2617421"/>
        </p:xfrm>
        <a:graphic>
          <a:graphicData uri="http://schemas.openxmlformats.org/drawingml/2006/table">
            <a:tbl>
              <a:tblPr>
                <a:tableStyleId>{5C22544A-7EE6-4342-B048-85BDC9FD1C3A}</a:tableStyleId>
              </a:tblPr>
              <a:tblGrid>
                <a:gridCol w="2327031">
                  <a:extLst>
                    <a:ext uri="{9D8B030D-6E8A-4147-A177-3AD203B41FA5}">
                      <a16:colId xmlns:a16="http://schemas.microsoft.com/office/drawing/2014/main" val="2667395497"/>
                    </a:ext>
                  </a:extLst>
                </a:gridCol>
                <a:gridCol w="7127631">
                  <a:extLst>
                    <a:ext uri="{9D8B030D-6E8A-4147-A177-3AD203B41FA5}">
                      <a16:colId xmlns:a16="http://schemas.microsoft.com/office/drawing/2014/main" val="539675217"/>
                    </a:ext>
                  </a:extLst>
                </a:gridCol>
              </a:tblGrid>
              <a:tr h="2617421">
                <a:tc>
                  <a:txBody>
                    <a:bodyPr/>
                    <a:lstStyle/>
                    <a:p>
                      <a:pPr algn="l" fontAlgn="ctr"/>
                      <a:r>
                        <a:rPr lang="es-CO" sz="2000" u="none" strike="noStrike" dirty="0">
                          <a:effectLst/>
                        </a:rPr>
                        <a:t>Transferencia</a:t>
                      </a:r>
                      <a:endParaRPr lang="es-CO" sz="2000" b="1" i="0" u="none" strike="noStrike" dirty="0">
                        <a:solidFill>
                          <a:srgbClr val="000000"/>
                        </a:solidFill>
                        <a:effectLst/>
                        <a:latin typeface="Arial" panose="020B0604020202020204" pitchFamily="34" charset="0"/>
                      </a:endParaRPr>
                    </a:p>
                  </a:txBody>
                  <a:tcPr marL="4782" marR="4782" marT="4782" marB="0" anchor="ctr"/>
                </a:tc>
                <a:tc>
                  <a:txBody>
                    <a:bodyPr/>
                    <a:lstStyle/>
                    <a:p>
                      <a:pPr algn="l" fontAlgn="ctr"/>
                      <a:r>
                        <a:rPr lang="es-ES" sz="2000" u="none" strike="noStrike" dirty="0">
                          <a:effectLst/>
                        </a:rPr>
                        <a:t>Reorganiza instrumentos y mecanismos para dar a conocer la experiencia a otros establecimientos: propuesta, desarrollo, metodología y resultados.</a:t>
                      </a:r>
                      <a:endParaRPr lang="es-ES" sz="20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2878609262"/>
                  </a:ext>
                </a:extLst>
              </a:tr>
            </a:tbl>
          </a:graphicData>
        </a:graphic>
      </p:graphicFrame>
      <p:pic>
        <p:nvPicPr>
          <p:cNvPr id="4" name="Imagen 3">
            <a:extLst>
              <a:ext uri="{FF2B5EF4-FFF2-40B4-BE49-F238E27FC236}">
                <a16:creationId xmlns:a16="http://schemas.microsoft.com/office/drawing/2014/main" id="{90FB5AC2-19BC-60F1-115D-704392E81C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4061" y="3232012"/>
            <a:ext cx="4102873" cy="3077155"/>
          </a:xfrm>
          <a:prstGeom prst="rect">
            <a:avLst/>
          </a:prstGeom>
        </p:spPr>
      </p:pic>
      <p:pic>
        <p:nvPicPr>
          <p:cNvPr id="7" name="Imagen 6">
            <a:extLst>
              <a:ext uri="{FF2B5EF4-FFF2-40B4-BE49-F238E27FC236}">
                <a16:creationId xmlns:a16="http://schemas.microsoft.com/office/drawing/2014/main" id="{DB99EE43-DE9D-6F4E-4CF6-A74BD1BF1D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10995" y="3232013"/>
            <a:ext cx="4102873" cy="3077155"/>
          </a:xfrm>
          <a:prstGeom prst="rect">
            <a:avLst/>
          </a:prstGeom>
        </p:spPr>
      </p:pic>
    </p:spTree>
    <p:extLst>
      <p:ext uri="{BB962C8B-B14F-4D97-AF65-F5344CB8AC3E}">
        <p14:creationId xmlns:p14="http://schemas.microsoft.com/office/powerpoint/2010/main" val="1338669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1460413070"/>
              </p:ext>
            </p:extLst>
          </p:nvPr>
        </p:nvGraphicFramePr>
        <p:xfrm>
          <a:off x="1661746" y="359105"/>
          <a:ext cx="8868507" cy="2711205"/>
        </p:xfrm>
        <a:graphic>
          <a:graphicData uri="http://schemas.openxmlformats.org/drawingml/2006/table">
            <a:tbl>
              <a:tblPr>
                <a:tableStyleId>{5C22544A-7EE6-4342-B048-85BDC9FD1C3A}</a:tableStyleId>
              </a:tblPr>
              <a:tblGrid>
                <a:gridCol w="2773401">
                  <a:extLst>
                    <a:ext uri="{9D8B030D-6E8A-4147-A177-3AD203B41FA5}">
                      <a16:colId xmlns:a16="http://schemas.microsoft.com/office/drawing/2014/main" val="2667395497"/>
                    </a:ext>
                  </a:extLst>
                </a:gridCol>
                <a:gridCol w="6095106">
                  <a:extLst>
                    <a:ext uri="{9D8B030D-6E8A-4147-A177-3AD203B41FA5}">
                      <a16:colId xmlns:a16="http://schemas.microsoft.com/office/drawing/2014/main" val="539675217"/>
                    </a:ext>
                  </a:extLst>
                </a:gridCol>
              </a:tblGrid>
              <a:tr h="2711205">
                <a:tc>
                  <a:txBody>
                    <a:bodyPr/>
                    <a:lstStyle/>
                    <a:p>
                      <a:pPr algn="l" fontAlgn="ctr"/>
                      <a:r>
                        <a:rPr lang="es-CO" sz="2000" u="none" strike="noStrike" dirty="0">
                          <a:effectLst/>
                        </a:rPr>
                        <a:t>Sostenibilidad</a:t>
                      </a:r>
                      <a:endParaRPr lang="es-CO" sz="2000" b="1" i="0" u="none" strike="noStrike" dirty="0">
                        <a:solidFill>
                          <a:srgbClr val="000000"/>
                        </a:solidFill>
                        <a:effectLst/>
                        <a:latin typeface="Arial" panose="020B0604020202020204" pitchFamily="34" charset="0"/>
                      </a:endParaRPr>
                    </a:p>
                  </a:txBody>
                  <a:tcPr marL="4782" marR="4782" marT="4782"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CO" sz="1400" dirty="0">
                          <a:latin typeface="+mn-lt"/>
                          <a:ea typeface="Times New Roman" panose="02020603050405020304" pitchFamily="18" charset="0"/>
                        </a:rPr>
                        <a:t>Para garantizar la continuidad del proyecto, cada año se conforma un nuevo comité editorial. Además, la revista se utiliza como material en las clases para seguir aprendiendo.</a:t>
                      </a:r>
                      <a:br>
                        <a:rPr lang="es-CO" sz="1400" dirty="0">
                          <a:latin typeface="+mn-lt"/>
                          <a:ea typeface="Times New Roman" panose="02020603050405020304" pitchFamily="18" charset="0"/>
                        </a:rPr>
                      </a:br>
                      <a:r>
                        <a:rPr lang="es-CO" sz="1400" dirty="0">
                          <a:latin typeface="+mn-lt"/>
                          <a:ea typeface="Times New Roman" panose="02020603050405020304" pitchFamily="18" charset="0"/>
                        </a:rPr>
                        <a:t>Esta experiencia puede ser replicada en otras instituciones educativas porque demuestra que la escritura y la lectura se pueden trabajar de manera innovadora y colaborativa.</a:t>
                      </a:r>
                      <a:r>
                        <a:rPr lang="es-CO" sz="2000" dirty="0">
                          <a:latin typeface="Arial" panose="020B0604020202020204" pitchFamily="34" charset="0"/>
                          <a:ea typeface="Times New Roman" panose="02020603050405020304" pitchFamily="18" charset="0"/>
                        </a:rPr>
                        <a:t/>
                      </a:r>
                      <a:br>
                        <a:rPr lang="es-CO" sz="2000" dirty="0">
                          <a:latin typeface="Arial" panose="020B0604020202020204" pitchFamily="34" charset="0"/>
                          <a:ea typeface="Times New Roman" panose="02020603050405020304" pitchFamily="18" charset="0"/>
                        </a:rPr>
                      </a:br>
                      <a:endParaRPr lang="es-CO" sz="2000" dirty="0"/>
                    </a:p>
                    <a:p>
                      <a:pPr algn="l" fontAlgn="ctr"/>
                      <a:endParaRPr lang="es-ES" sz="2000" b="0" i="0" u="none" strike="noStrike" dirty="0">
                        <a:solidFill>
                          <a:srgbClr val="000000"/>
                        </a:solidFill>
                        <a:effectLst/>
                        <a:latin typeface="Arial" panose="020B0604020202020204" pitchFamily="34" charset="0"/>
                      </a:endParaRPr>
                    </a:p>
                  </a:txBody>
                  <a:tcPr marL="4782" marR="4782" marT="4782" marB="0" anchor="ctr"/>
                </a:tc>
                <a:extLst>
                  <a:ext uri="{0D108BD9-81ED-4DB2-BD59-A6C34878D82A}">
                    <a16:rowId xmlns:a16="http://schemas.microsoft.com/office/drawing/2014/main" val="648028817"/>
                  </a:ext>
                </a:extLst>
              </a:tr>
            </a:tbl>
          </a:graphicData>
        </a:graphic>
      </p:graphicFrame>
      <p:pic>
        <p:nvPicPr>
          <p:cNvPr id="4" name="Imagen 3">
            <a:extLst>
              <a:ext uri="{FF2B5EF4-FFF2-40B4-BE49-F238E27FC236}">
                <a16:creationId xmlns:a16="http://schemas.microsoft.com/office/drawing/2014/main" id="{041B78B8-045D-A509-C843-B9202A91CA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7806" y="3249655"/>
            <a:ext cx="4280719" cy="3080807"/>
          </a:xfrm>
          <a:prstGeom prst="rect">
            <a:avLst/>
          </a:prstGeom>
        </p:spPr>
      </p:pic>
      <p:pic>
        <p:nvPicPr>
          <p:cNvPr id="6" name="Imagen 5">
            <a:extLst>
              <a:ext uri="{FF2B5EF4-FFF2-40B4-BE49-F238E27FC236}">
                <a16:creationId xmlns:a16="http://schemas.microsoft.com/office/drawing/2014/main" id="{3FFF73B1-49D5-243C-21D3-536E74CB1B1E}"/>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5909187" y="3249655"/>
            <a:ext cx="4280719" cy="3080807"/>
          </a:xfrm>
          <a:prstGeom prst="rect">
            <a:avLst/>
          </a:prstGeom>
        </p:spPr>
      </p:pic>
    </p:spTree>
    <p:extLst>
      <p:ext uri="{BB962C8B-B14F-4D97-AF65-F5344CB8AC3E}">
        <p14:creationId xmlns:p14="http://schemas.microsoft.com/office/powerpoint/2010/main" val="2830353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368CA2-4FB3-1EDE-CA76-9CC85A30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987" y="-250722"/>
            <a:ext cx="12192000" cy="6858000"/>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2219086558"/>
              </p:ext>
            </p:extLst>
          </p:nvPr>
        </p:nvGraphicFramePr>
        <p:xfrm>
          <a:off x="714091" y="19287"/>
          <a:ext cx="6299359" cy="3479502"/>
        </p:xfrm>
        <a:graphic>
          <a:graphicData uri="http://schemas.openxmlformats.org/drawingml/2006/table">
            <a:tbl>
              <a:tblPr>
                <a:tableStyleId>{5C22544A-7EE6-4342-B048-85BDC9FD1C3A}</a:tableStyleId>
              </a:tblPr>
              <a:tblGrid>
                <a:gridCol w="1503442">
                  <a:extLst>
                    <a:ext uri="{9D8B030D-6E8A-4147-A177-3AD203B41FA5}">
                      <a16:colId xmlns:a16="http://schemas.microsoft.com/office/drawing/2014/main" val="2667395497"/>
                    </a:ext>
                  </a:extLst>
                </a:gridCol>
                <a:gridCol w="4795917">
                  <a:extLst>
                    <a:ext uri="{9D8B030D-6E8A-4147-A177-3AD203B41FA5}">
                      <a16:colId xmlns:a16="http://schemas.microsoft.com/office/drawing/2014/main" val="539675217"/>
                    </a:ext>
                  </a:extLst>
                </a:gridCol>
              </a:tblGrid>
              <a:tr h="3431836">
                <a:tc>
                  <a:txBody>
                    <a:bodyPr/>
                    <a:lstStyle/>
                    <a:p>
                      <a:pPr algn="l" fontAlgn="ctr"/>
                      <a:r>
                        <a:rPr lang="es-CO" sz="1600" u="none" strike="noStrike" dirty="0">
                          <a:effectLst/>
                        </a:rPr>
                        <a:t>Innovación</a:t>
                      </a:r>
                      <a:endParaRPr lang="es-CO" sz="1600" b="1" i="0" u="none" strike="noStrike" dirty="0">
                        <a:solidFill>
                          <a:srgbClr val="000000"/>
                        </a:solidFill>
                        <a:effectLst/>
                        <a:latin typeface="Arial" panose="020B0604020202020204" pitchFamily="34" charset="0"/>
                      </a:endParaRPr>
                    </a:p>
                  </a:txBody>
                  <a:tcPr marL="4782" marR="4782" marT="4782" marB="0" anchor="ctr"/>
                </a:tc>
                <a:tc>
                  <a:txBody>
                    <a:bodyPr/>
                    <a:lstStyle/>
                    <a:p>
                      <a:pPr algn="l" fontAlgn="ctr"/>
                      <a:r>
                        <a:rPr lang="es-MX" sz="1600" dirty="0"/>
                        <a:t>La experiencia significativa literalmente  representa una innovación pedagógica al integrar la escritura, la lectura y la creatividad en un proyecto colaborativo que trasciende el aula. Su enfoque fomenta la investigación, la reflexión crítica. Esta propuesta fortalece la gestión pedagógica al promover una práctica educativa transformadora, donde los estudiantes se convierten en autores, editores y difusores de nuevas ideas que enriquecen la comunidad educativa.</a:t>
                      </a:r>
                      <a:endParaRPr lang="es-ES" sz="1600" b="0" i="0" u="none" strike="noStrike" dirty="0">
                        <a:solidFill>
                          <a:srgbClr val="000000"/>
                        </a:solidFill>
                        <a:effectLst/>
                        <a:latin typeface="Symbol" panose="05050102010706020507" pitchFamily="18" charset="2"/>
                      </a:endParaRPr>
                    </a:p>
                    <a:p>
                      <a:pPr algn="l" fontAlgn="ctr"/>
                      <a:r>
                        <a:rPr lang="es-ES" sz="2000" u="none" strike="noStrike" dirty="0">
                          <a:effectLst/>
                        </a:rPr>
                        <a:t>.</a:t>
                      </a:r>
                      <a:endParaRPr lang="es-ES" sz="2000" b="0" i="0" u="none" strike="noStrike" dirty="0">
                        <a:solidFill>
                          <a:srgbClr val="000000"/>
                        </a:solidFill>
                        <a:effectLst/>
                        <a:latin typeface="Symbol" panose="05050102010706020507" pitchFamily="18" charset="2"/>
                      </a:endParaRPr>
                    </a:p>
                  </a:txBody>
                  <a:tcPr marL="4782" marR="4782" marT="4782" marB="0" anchor="ctr"/>
                </a:tc>
                <a:extLst>
                  <a:ext uri="{0D108BD9-81ED-4DB2-BD59-A6C34878D82A}">
                    <a16:rowId xmlns:a16="http://schemas.microsoft.com/office/drawing/2014/main" val="1990812606"/>
                  </a:ext>
                </a:extLst>
              </a:tr>
            </a:tbl>
          </a:graphicData>
        </a:graphic>
      </p:graphicFrame>
      <p:pic>
        <p:nvPicPr>
          <p:cNvPr id="4" name="Imagen 3">
            <a:extLst>
              <a:ext uri="{FF2B5EF4-FFF2-40B4-BE49-F238E27FC236}">
                <a16:creationId xmlns:a16="http://schemas.microsoft.com/office/drawing/2014/main" id="{80B6200E-02D2-3934-9EFA-8D9E90613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623" y="3429000"/>
            <a:ext cx="3664406" cy="2748305"/>
          </a:xfrm>
          <a:prstGeom prst="rect">
            <a:avLst/>
          </a:prstGeom>
        </p:spPr>
      </p:pic>
      <p:pic>
        <p:nvPicPr>
          <p:cNvPr id="7" name="Imagen 6">
            <a:extLst>
              <a:ext uri="{FF2B5EF4-FFF2-40B4-BE49-F238E27FC236}">
                <a16:creationId xmlns:a16="http://schemas.microsoft.com/office/drawing/2014/main" id="{B2228F35-ADFF-20CD-B036-AAE4AA3BC32D}"/>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rot="5400000">
            <a:off x="7183694" y="1079327"/>
            <a:ext cx="5294671" cy="3971003"/>
          </a:xfrm>
          <a:prstGeom prst="rect">
            <a:avLst/>
          </a:prstGeom>
        </p:spPr>
      </p:pic>
      <p:pic>
        <p:nvPicPr>
          <p:cNvPr id="9" name="Imagen 8">
            <a:extLst>
              <a:ext uri="{FF2B5EF4-FFF2-40B4-BE49-F238E27FC236}">
                <a16:creationId xmlns:a16="http://schemas.microsoft.com/office/drawing/2014/main" id="{2DD507AB-CFD6-E288-E1E6-FC9DD6FA17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23639" y="3451123"/>
            <a:ext cx="3664407" cy="2748305"/>
          </a:xfrm>
          <a:prstGeom prst="rect">
            <a:avLst/>
          </a:prstGeom>
        </p:spPr>
      </p:pic>
    </p:spTree>
    <p:extLst>
      <p:ext uri="{BB962C8B-B14F-4D97-AF65-F5344CB8AC3E}">
        <p14:creationId xmlns:p14="http://schemas.microsoft.com/office/powerpoint/2010/main" val="276166802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248</TotalTime>
  <Words>608</Words>
  <Application>Microsoft Office PowerPoint</Application>
  <PresentationFormat>Panorámica</PresentationFormat>
  <Paragraphs>33</Paragraphs>
  <Slides>11</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11</vt:i4>
      </vt:variant>
    </vt:vector>
  </HeadingPairs>
  <TitlesOfParts>
    <vt:vector size="18" baseType="lpstr">
      <vt:lpstr>Aptos</vt:lpstr>
      <vt:lpstr>Aptos Display</vt:lpstr>
      <vt:lpstr>Arial</vt:lpstr>
      <vt:lpstr>Calibri</vt:lpstr>
      <vt:lpstr>Symbol</vt:lpstr>
      <vt:lpstr>Times New Roman</vt:lpstr>
      <vt:lpstr>Tema de Office</vt:lpstr>
      <vt:lpstr>Experiencia Significativa   literalmente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Nombre de la Experiencia Significativa</dc:title>
  <dc:creator>Sebastian Santamaria</dc:creator>
  <cp:lastModifiedBy>CALIDAD-MEJORAMIENTO</cp:lastModifiedBy>
  <cp:revision>14</cp:revision>
  <dcterms:created xsi:type="dcterms:W3CDTF">2025-07-23T15:35:07Z</dcterms:created>
  <dcterms:modified xsi:type="dcterms:W3CDTF">2026-06-17T19:23:54Z</dcterms:modified>
</cp:coreProperties>
</file>