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4800" b="1" dirty="0"/>
              <a:t>Matemáticas en problemas</a:t>
            </a:r>
            <a:endParaRPr lang="es-CO" sz="48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278922"/>
            <a:ext cx="9144000" cy="978877"/>
          </a:xfrm>
        </p:spPr>
        <p:txBody>
          <a:bodyPr/>
          <a:lstStyle/>
          <a:p>
            <a:r>
              <a:rPr lang="es-ES" dirty="0"/>
              <a:t>Líder: Elizabeth Trujillo</a:t>
            </a:r>
          </a:p>
          <a:p>
            <a:r>
              <a:rPr lang="es-ES" dirty="0"/>
              <a:t>IEM Winnipeg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267469"/>
              </p:ext>
            </p:extLst>
          </p:nvPr>
        </p:nvGraphicFramePr>
        <p:xfrm>
          <a:off x="374553" y="713886"/>
          <a:ext cx="10527910" cy="5779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4404">
                  <a:extLst>
                    <a:ext uri="{9D8B030D-6E8A-4147-A177-3AD203B41FA5}">
                      <a16:colId xmlns:a16="http://schemas.microsoft.com/office/drawing/2014/main" val="2215923136"/>
                    </a:ext>
                  </a:extLst>
                </a:gridCol>
                <a:gridCol w="9013506">
                  <a:extLst>
                    <a:ext uri="{9D8B030D-6E8A-4147-A177-3AD203B41FA5}">
                      <a16:colId xmlns:a16="http://schemas.microsoft.com/office/drawing/2014/main" val="1923169113"/>
                    </a:ext>
                  </a:extLst>
                </a:gridCol>
              </a:tblGrid>
              <a:tr h="62664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s-CO" sz="1400" b="1" u="none" strike="noStrike" dirty="0">
                          <a:effectLst/>
                        </a:rPr>
                        <a:t>Fundamentación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400" u="none" strike="noStrike" dirty="0">
                          <a:effectLst/>
                        </a:rPr>
                        <a:t>La experiencia está articulada al PEI. procura: </a:t>
                      </a:r>
                      <a:r>
                        <a:rPr lang="es-ES" sz="1400" dirty="0"/>
                        <a:t>Desarrollar el pensamiento lógico-matemático mediante dinámicas lúdicas que permitan aplicar conceptos de </a:t>
                      </a:r>
                      <a:r>
                        <a:rPr lang="es-ES" sz="1400" b="0" dirty="0"/>
                        <a:t>estadística</a:t>
                      </a:r>
                      <a:r>
                        <a:rPr lang="es-ES" sz="1400" b="1" dirty="0"/>
                        <a:t>, </a:t>
                      </a:r>
                      <a:r>
                        <a:rPr lang="es-ES" sz="1400" b="0" dirty="0"/>
                        <a:t>geometría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0" dirty="0"/>
                        <a:t>y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0" dirty="0"/>
                        <a:t>números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0" dirty="0"/>
                        <a:t>enteros</a:t>
                      </a:r>
                      <a:r>
                        <a:rPr lang="es-ES" sz="1400" dirty="0"/>
                        <a:t> y racionales en situaciones prácticas y divertidas.</a:t>
                      </a:r>
                      <a:endParaRPr lang="es-ES" sz="1400" u="none" strike="noStrike" dirty="0">
                        <a:effectLst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3714961306"/>
                  </a:ext>
                </a:extLst>
              </a:tr>
              <a:tr h="145597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u="none" strike="noStrike" dirty="0">
                          <a:effectLst/>
                        </a:rPr>
                        <a:t>Ampliar puntos de articulación con misión, visión, valores y principios.</a:t>
                      </a:r>
                    </a:p>
                    <a:p>
                      <a:r>
                        <a:rPr lang="es-ES" sz="1400" b="1" dirty="0"/>
                        <a:t>Misión institucional:</a:t>
                      </a:r>
                      <a:r>
                        <a:rPr lang="es-ES" sz="1400" dirty="0"/>
                        <a:t> Promueve aprendizajes significativos, el desarrollo integral y la formación en valores.</a:t>
                      </a:r>
                    </a:p>
                    <a:p>
                      <a:r>
                        <a:rPr lang="es-ES" sz="1400" b="1" dirty="0"/>
                        <a:t>Visión institucional:</a:t>
                      </a:r>
                      <a:r>
                        <a:rPr lang="es-ES" sz="1400" dirty="0"/>
                        <a:t> Busca que los estudiantes sean autónomos, críticos y capaces de resolver problemas en la vida cotidiana.</a:t>
                      </a:r>
                    </a:p>
                    <a:p>
                      <a:r>
                        <a:rPr lang="es-ES" sz="1400" b="1" dirty="0"/>
                        <a:t>Ejes del PEI:</a:t>
                      </a:r>
                      <a:r>
                        <a:rPr lang="es-ES" sz="1400" dirty="0"/>
                        <a:t> Innovación pedagógica, trabajo colaborativo y fortalecimiento de competencias básicas.</a:t>
                      </a: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3488044358"/>
                  </a:ext>
                </a:extLst>
              </a:tr>
              <a:tr h="207797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Metodología activa:</a:t>
                      </a:r>
                      <a:r>
                        <a:rPr lang="es-ES" sz="1400" dirty="0"/>
                        <a:t> incorporar juegos como estrategia permanente en las clases de matemáticas.</a:t>
                      </a:r>
                    </a:p>
                    <a:p>
                      <a:r>
                        <a:rPr lang="es-ES" sz="1400" b="1" dirty="0"/>
                        <a:t>Seguimiento:</a:t>
                      </a:r>
                      <a:r>
                        <a:rPr lang="es-ES" sz="1400" dirty="0"/>
                        <a:t> registrar avances en el portafolio docente y compararlos con las metas del PMI.</a:t>
                      </a:r>
                    </a:p>
                    <a:p>
                      <a:r>
                        <a:rPr lang="es-ES" sz="1400" b="1" dirty="0"/>
                        <a:t>Inclusión:</a:t>
                      </a:r>
                      <a:r>
                        <a:rPr lang="es-ES" sz="1400" dirty="0"/>
                        <a:t> garantizar que todos los estudiantes participen, adaptando los juegos a diferentes ritmos de aprendizaje.</a:t>
                      </a:r>
                    </a:p>
                    <a:p>
                      <a:r>
                        <a:rPr lang="es-ES" sz="1400" b="1" dirty="0"/>
                        <a:t>Evaluación:</a:t>
                      </a:r>
                      <a:r>
                        <a:rPr lang="es-ES" sz="1400" dirty="0"/>
                        <a:t> usar rúbricas que midan no solo resultados, sino también participación, creatividad y razonamiento lógico.</a:t>
                      </a:r>
                    </a:p>
                    <a:p>
                      <a:r>
                        <a:rPr lang="es-ES" sz="1400" b="1" dirty="0"/>
                        <a:t>Impacto institucional:</a:t>
                      </a:r>
                      <a:r>
                        <a:rPr lang="es-ES" sz="1400" dirty="0"/>
                        <a:t> compartir la experiencia en reuniones pedagógicas para que otros docentes la adapten en sus áreas.</a:t>
                      </a: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166883621"/>
                  </a:ext>
                </a:extLst>
              </a:tr>
              <a:tr h="145597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u="none" strike="noStrike" dirty="0">
                          <a:effectLst/>
                        </a:rPr>
                        <a:t>Referencias teóricas: </a:t>
                      </a:r>
                      <a:r>
                        <a:rPr lang="es-ES" sz="1400" b="1" dirty="0"/>
                        <a:t>David Ausubel (Aprendizaje significativo):</a:t>
                      </a:r>
                      <a:r>
                        <a:rPr lang="es-ES" sz="1400" dirty="0"/>
                        <a:t> Los juegos permiten conectar nuevos conocimientos con experiencias previas, generando aprendizajes duraderos.</a:t>
                      </a:r>
                    </a:p>
                    <a:p>
                      <a:pPr algn="l" fontAlgn="ctr"/>
                      <a:r>
                        <a:rPr lang="es-ES" sz="1400" u="none" strike="noStrike" dirty="0">
                          <a:effectLst/>
                        </a:rPr>
                        <a:t>Metodológicas: </a:t>
                      </a:r>
                      <a:r>
                        <a:rPr lang="es-ES" sz="1400" b="1" dirty="0"/>
                        <a:t>Aprendizaje basado en juegos (</a:t>
                      </a:r>
                      <a:r>
                        <a:rPr lang="es-ES" sz="1400" b="1" dirty="0" err="1"/>
                        <a:t>Game-Based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Learning</a:t>
                      </a:r>
                      <a:r>
                        <a:rPr lang="es-ES" sz="1400" b="1" dirty="0"/>
                        <a:t>):</a:t>
                      </a:r>
                      <a:r>
                        <a:rPr lang="es-ES" sz="1400" dirty="0"/>
                        <a:t> Utilizar dinámicas lúdicas como estrategia central para enseñar contenidos matemáticos.</a:t>
                      </a:r>
                      <a:endParaRPr lang="es-ES" sz="1400" u="none" strike="noStrike" dirty="0">
                        <a:effectLst/>
                      </a:endParaRPr>
                    </a:p>
                    <a:p>
                      <a:pPr algn="l" fontAlgn="ctr"/>
                      <a:r>
                        <a:rPr lang="es-ES" sz="1400" u="none" strike="noStrike" dirty="0">
                          <a:effectLst/>
                        </a:rPr>
                        <a:t>Conceptuales: </a:t>
                      </a:r>
                      <a:r>
                        <a:rPr lang="es-ES" sz="1400" b="1" dirty="0"/>
                        <a:t>Pensamiento lógico-matemático:</a:t>
                      </a:r>
                      <a:r>
                        <a:rPr lang="es-ES" sz="1400" dirty="0"/>
                        <a:t> Capacidad de razonar, establecer relaciones, resolver problemas y aplicar operaciones.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062487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382192"/>
              </p:ext>
            </p:extLst>
          </p:nvPr>
        </p:nvGraphicFramePr>
        <p:xfrm>
          <a:off x="662354" y="1081208"/>
          <a:ext cx="10251832" cy="52168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4295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147537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248846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800" u="none" strike="noStrike" dirty="0">
                          <a:effectLst/>
                        </a:rPr>
                        <a:t>Pertinencia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Pertinencia Pedagógica</a:t>
                      </a:r>
                    </a:p>
                    <a:p>
                      <a:r>
                        <a:rPr lang="es-ES" b="1" dirty="0"/>
                        <a:t>Aprendizaje significativo:</a:t>
                      </a:r>
                      <a:r>
                        <a:rPr lang="es-ES" dirty="0"/>
                        <a:t> Los juegos permiten que los estudiantes relacionen conceptos matemáticos con situaciones reales y cotidianas.</a:t>
                      </a:r>
                    </a:p>
                    <a:p>
                      <a:r>
                        <a:rPr lang="es-ES" b="1" dirty="0"/>
                        <a:t>Desarrollo del pensamiento lógico:</a:t>
                      </a:r>
                      <a:r>
                        <a:rPr lang="es-ES" dirty="0"/>
                        <a:t> Favorece la resolución de problemas, el razonamiento y la toma de decisiones.</a:t>
                      </a:r>
                    </a:p>
                    <a:p>
                      <a:r>
                        <a:rPr lang="es-ES" b="1" dirty="0"/>
                        <a:t>Motivación y participación:</a:t>
                      </a:r>
                      <a:r>
                        <a:rPr lang="es-ES" dirty="0"/>
                        <a:t> El componente lúdico despierta interés y compromiso en los estudiantes, reduciendo la apatía hacia las matemáticas.</a:t>
                      </a:r>
                    </a:p>
                    <a:p>
                      <a:pPr algn="l" fontAlgn="ctr"/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r>
                        <a:rPr lang="es-ES" b="1" dirty="0"/>
                        <a:t>Pertinencia Institucional</a:t>
                      </a:r>
                    </a:p>
                    <a:p>
                      <a:r>
                        <a:rPr lang="es-ES" b="1" dirty="0"/>
                        <a:t>Articulación con el PEI y PMI:</a:t>
                      </a:r>
                      <a:r>
                        <a:rPr lang="es-ES" dirty="0"/>
                        <a:t> La experiencia responde a los objetivos de innovación pedagógica y mejoramiento de resultados académicos.</a:t>
                      </a:r>
                    </a:p>
                    <a:p>
                      <a:r>
                        <a:rPr lang="es-ES" b="1" dirty="0"/>
                        <a:t>Inclusión:</a:t>
                      </a:r>
                      <a:r>
                        <a:rPr lang="es-ES" dirty="0"/>
                        <a:t> Los juegos permiten que todos los estudiantes participen, respetando ritmos y estilos de aprendizaje.</a:t>
                      </a:r>
                    </a:p>
                    <a:p>
                      <a:r>
                        <a:rPr lang="es-ES" b="1" dirty="0"/>
                        <a:t>Cultura institucional:</a:t>
                      </a:r>
                      <a:r>
                        <a:rPr lang="es-ES" dirty="0"/>
                        <a:t> Promueve un ambiente colaborativo, positivo y orientado al logro de metas comunes.</a:t>
                      </a:r>
                    </a:p>
                    <a:p>
                      <a:pPr algn="l" fontAlgn="ctr"/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62205"/>
              </p:ext>
            </p:extLst>
          </p:nvPr>
        </p:nvGraphicFramePr>
        <p:xfrm>
          <a:off x="653561" y="988209"/>
          <a:ext cx="10287000" cy="48815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3277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393723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531821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Consistencia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dirty="0"/>
                        <a:t>Articula una sólida fundamentación teórica en enfoques constructivistas y socioculturales que reconocen el valor del aprendizaje activo y lúdico, se contextualiza en sexto y séptimo grado respondiendo a las necesidades institucionales de fortalecer competencias matemáticas según el Plan de Mejoramiento Institucional, emplea una metodología basada en juegos didácticos que promueven la participación, el trabajo colaborativo y la evaluación formativa, y plantea resultados esperados como la mejora en la comprensión de estadística, geometría, números enteros y racionales, el aumento de la motivación y el desarrollo de habilidades sociales, todo ello reforzando la </a:t>
                      </a:r>
                      <a:r>
                        <a:rPr lang="es-ES" sz="2000" dirty="0" err="1"/>
                        <a:t>autoreflexión</a:t>
                      </a:r>
                      <a:r>
                        <a:rPr lang="es-ES" sz="2000" dirty="0"/>
                        <a:t> y autocrítica docente que permiten ajustar las prácticas y garantizar la coherencia entre teoría, contexto, metodología y logros alcanzados.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814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693734"/>
              </p:ext>
            </p:extLst>
          </p:nvPr>
        </p:nvGraphicFramePr>
        <p:xfrm>
          <a:off x="838200" y="1825624"/>
          <a:ext cx="10333892" cy="3074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124092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074621">
                <a:tc>
                  <a:txBody>
                    <a:bodyPr/>
                    <a:lstStyle/>
                    <a:p>
                      <a:pPr algn="l" fontAlgn="ctr"/>
                      <a:r>
                        <a:rPr lang="es-CO" sz="1800" u="none" strike="noStrike" dirty="0">
                          <a:effectLst/>
                        </a:rPr>
                        <a:t>Madurez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dirty="0"/>
                        <a:t>La madurez de la experiencia significativa se evidencia en la capacidad del docente para reflexionar sobre el tiempo de desarrollo de las actividades y reconocer que cada año lectivo implica ajustes y aprendizajes que fortalecen la práctica pedagógica; se consolida mediante el análisis crítico de los resultados obtenidos y del tiempo invertido, identificando logros alcanzados y dificultades presentadas, lo que permite reorientar acciones de mejoramiento en consonancia con el Plan de Mejoramiento Institucional, garantizando continuidad, coherencia y crecimiento tanto en el ámbito académico como en el institucional.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848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89108"/>
              </p:ext>
            </p:extLst>
          </p:nvPr>
        </p:nvGraphicFramePr>
        <p:xfrm>
          <a:off x="609598" y="1034318"/>
          <a:ext cx="10451124" cy="43939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0817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030307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215298">
                <a:tc>
                  <a:txBody>
                    <a:bodyPr/>
                    <a:lstStyle/>
                    <a:p>
                      <a:pPr algn="l" fontAlgn="ctr"/>
                      <a:r>
                        <a:rPr lang="es-CO" sz="1800" u="none" strike="noStrike" dirty="0">
                          <a:effectLst/>
                        </a:rPr>
                        <a:t>Empoderamiento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dirty="0"/>
                        <a:t>Se refleja en la capacidad que adquieren tanto el docente como los estudiantes para asumir un rol activo y transformador dentro del proceso educativo. El docente se fortalece al reconocer que puede innovar, liderar y reorientar acciones de mejoramiento en consonancia con el Plan de Mejoramiento Institucional, convirtiéndose en un agente de cambio que motiva y guía hacia el logro de metas comunes. Por su parte, los estudiantes participan de manera autónoma y colaborativa en los juegos, desarrollando confianza en sus habilidades lógico-matemáticas, seguridad para aplicar lo aprendido en situaciones reales y compromiso con el trabajo en equipo. Este empoderamiento garantiza que la experiencia no sea un hecho aislado, sino una práctica sostenible que impacta positivamente en el aprendizaje, la convivencia y el fortalecimiento institucional.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597408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3985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058845"/>
              </p:ext>
            </p:extLst>
          </p:nvPr>
        </p:nvGraphicFramePr>
        <p:xfrm>
          <a:off x="750277" y="1333255"/>
          <a:ext cx="10181492" cy="45767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2477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06901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578713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Evaluación y seguimiento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r>
                        <a:rPr lang="es-ES" sz="2000" dirty="0"/>
                        <a:t>Se estructura de manera integral para garantizar su coherencia con el PMI y el fortalecimiento de aprendizajes. Su metodología se basa en la evaluación formativa, que valora procesos, participación y aplicación de conceptos, se realiza de manera continua ajustando estrategias según las necesidades detectadas</a:t>
                      </a:r>
                    </a:p>
                    <a:p>
                      <a:r>
                        <a:rPr lang="es-ES" sz="2000" dirty="0"/>
                        <a:t>En los mecanismos de seguimiento se contemplan reuniones con el área, retroalimentación con los estudiantes.</a:t>
                      </a:r>
                    </a:p>
                    <a:p>
                      <a:r>
                        <a:rPr lang="es-ES" sz="2000" dirty="0"/>
                        <a:t>el análisis se centra en identificar, fortalezas, debilidades, oportunidades de mejora, organizando los aprendizajes para su fortalecimiento.</a:t>
                      </a: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243005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548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498938"/>
              </p:ext>
            </p:extLst>
          </p:nvPr>
        </p:nvGraphicFramePr>
        <p:xfrm>
          <a:off x="457200" y="853463"/>
          <a:ext cx="11257908" cy="56609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3414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654494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444039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Resultados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 dirty="0">
                          <a:effectLst/>
                        </a:rPr>
                        <a:t>A partir del análisis y sistematización: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  <a:tr h="5076921">
                <a:tc vMerge="1">
                  <a:txBody>
                    <a:bodyPr/>
                    <a:lstStyle/>
                    <a:p>
                      <a:pPr algn="l" fontAlgn="ctr"/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Resultados a corto plazo:</a:t>
                      </a:r>
                    </a:p>
                    <a:p>
                      <a:r>
                        <a:rPr lang="es-ES" sz="1800" dirty="0"/>
                        <a:t>Incremento en la motivación y participación de los estudiantes en las clases de matemáticas.</a:t>
                      </a:r>
                    </a:p>
                    <a:p>
                      <a:r>
                        <a:rPr lang="es-ES" sz="1800" dirty="0"/>
                        <a:t>Mayor comprensión de conceptos básicos</a:t>
                      </a:r>
                    </a:p>
                    <a:p>
                      <a:r>
                        <a:rPr lang="es-ES" sz="1800" dirty="0"/>
                        <a:t>Mejora en la convivencia y el trabajo colaborativo dentro del aula.</a:t>
                      </a: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s-ES" sz="1800" u="none" strike="noStrike" dirty="0">
                        <a:effectLst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Mediano plazo</a:t>
                      </a:r>
                    </a:p>
                    <a:p>
                      <a:r>
                        <a:rPr lang="es-ES" sz="1800" dirty="0"/>
                        <a:t>Consolidación de estrategias lúdicas como parte de la práctica pedagógica institucional.</a:t>
                      </a:r>
                    </a:p>
                    <a:p>
                      <a:r>
                        <a:rPr lang="es-ES" sz="1800" dirty="0"/>
                        <a:t>Mejora progresiva en los resultados académicos internos y externos (pruebas institucionales y nacionales).</a:t>
                      </a:r>
                    </a:p>
                    <a:p>
                      <a:r>
                        <a:rPr lang="es-ES" sz="1800" dirty="0"/>
                        <a:t>Desarrollo de competencias transversales: pensamiento crítico, resolución de problemas y comunicación efectiva.</a:t>
                      </a:r>
                    </a:p>
                    <a:p>
                      <a:endParaRPr lang="es-ES" sz="1800" dirty="0"/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Largo plazo</a:t>
                      </a:r>
                    </a:p>
                    <a:p>
                      <a:r>
                        <a:rPr lang="es-ES" sz="1800" dirty="0"/>
                        <a:t>Sostenibilidad de la metodología lúdica como estrategia institucional de enseñanza-aprendizaje.</a:t>
                      </a:r>
                    </a:p>
                    <a:p>
                      <a:r>
                        <a:rPr lang="es-ES" sz="1800" dirty="0"/>
                        <a:t>Impacto positivo en la cultura institucional: estudiantes más autónomos, motivados y con confianza en sus capacidades matemáticas.</a:t>
                      </a: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1558713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727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337392"/>
              </p:ext>
            </p:extLst>
          </p:nvPr>
        </p:nvGraphicFramePr>
        <p:xfrm>
          <a:off x="852853" y="908293"/>
          <a:ext cx="9454662" cy="54911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27031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127631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2617421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Transferencia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r>
                        <a:rPr lang="es-ES" sz="2000" b="1" dirty="0"/>
                        <a:t>Académica:</a:t>
                      </a:r>
                      <a:r>
                        <a:rPr lang="es-ES" sz="2000" dirty="0"/>
                        <a:t> los estudiantes aplican el pensamiento lógico-matemático en otras asignaturas (ciencias, tecnología, economía) y en pruebas institucionales o externas.</a:t>
                      </a:r>
                    </a:p>
                    <a:p>
                      <a:r>
                        <a:rPr lang="es-ES" sz="2000" b="1" dirty="0"/>
                        <a:t>Pedagógica:</a:t>
                      </a:r>
                      <a:r>
                        <a:rPr lang="es-ES" sz="2000" dirty="0"/>
                        <a:t> el docente incorpora la metodología lúdica en diferentes grados y comparte la experiencia con colegas, fortaleciendo el Plan de Mejoramiento Institucional.</a:t>
                      </a:r>
                    </a:p>
                    <a:p>
                      <a:r>
                        <a:rPr lang="es-ES" sz="2000" b="1" dirty="0"/>
                        <a:t>Institucional:</a:t>
                      </a:r>
                      <a:r>
                        <a:rPr lang="es-ES" sz="2000" dirty="0"/>
                        <a:t> la práctica se convierte en referente de innovación y se integra en el PEI como estrategia transversal para mejorar aprendizajes.</a:t>
                      </a:r>
                    </a:p>
                    <a:p>
                      <a:r>
                        <a:rPr lang="es-ES" sz="2000" b="1" dirty="0"/>
                        <a:t>Social y cotidiana:</a:t>
                      </a:r>
                      <a:r>
                        <a:rPr lang="es-ES" sz="2000" dirty="0"/>
                        <a:t> los estudiantes transfieren lo aprendido a situaciones reales, como interpretar datos, calcular medidas en proyectos personales o resolver problemas prácticos.</a:t>
                      </a: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878609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669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795762"/>
              </p:ext>
            </p:extLst>
          </p:nvPr>
        </p:nvGraphicFramePr>
        <p:xfrm>
          <a:off x="1682261" y="1907686"/>
          <a:ext cx="8868507" cy="27112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3401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6095106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2711205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Sostenibilidad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 consigue mediante la integración de la metodología lúdica en la práctica pedagógica cotidiana, esto implica que la experiencia se convierta en una estrategia transversal replicable en otros grados y áreas, apoyadas por la reflexión docente y el compromiso institucional</a:t>
                      </a: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648028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353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365903"/>
              </p:ext>
            </p:extLst>
          </p:nvPr>
        </p:nvGraphicFramePr>
        <p:xfrm>
          <a:off x="911469" y="969158"/>
          <a:ext cx="10369062" cy="42719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1584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767478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1305999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Innovación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dirty="0"/>
                        <a:t>Permite transformar la enseñanza tradicional de las matemáticas en un proceso dinámico y participativo mediante el uso de juegos didácticos. Esta estrategia rompe con la rutina de clases centradas en la memorización y promueve aprendizajes activos, donde los estudiantes construyen conocimientos a través de retos lúdicos que estimulan el razonamiento lógico, la creatividad y el trabajo en equipo. Además ofrece una metodología novedosa que mejora los resultados académicos, fomenta la inclusión y fortalece la motivación estudiantil, convirtiéndose en una práctica replicable y sostenible dentro del currículo escolar.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</a:endParaRP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4166287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6680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1184</Words>
  <Application>Microsoft Office PowerPoint</Application>
  <PresentationFormat>Panorámica</PresentationFormat>
  <Paragraphs>61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Symbol</vt:lpstr>
      <vt:lpstr>Tema de Office</vt:lpstr>
      <vt:lpstr>Matemáticas en problemas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 la Experiencia Significativa</dc:title>
  <dc:creator>Sebastian Santamaria</dc:creator>
  <cp:lastModifiedBy>CALIDAD-MEJORAMIENTO</cp:lastModifiedBy>
  <cp:revision>17</cp:revision>
  <dcterms:created xsi:type="dcterms:W3CDTF">2025-07-23T15:35:07Z</dcterms:created>
  <dcterms:modified xsi:type="dcterms:W3CDTF">2026-06-17T19:32:19Z</dcterms:modified>
</cp:coreProperties>
</file>