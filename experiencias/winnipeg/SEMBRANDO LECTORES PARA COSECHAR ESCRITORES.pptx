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2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8C02-E900-44E6-96D6-F7402B4E8975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D799-0297-4EDB-8D8F-2E683647D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188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8C02-E900-44E6-96D6-F7402B4E8975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D799-0297-4EDB-8D8F-2E683647D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619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8C02-E900-44E6-96D6-F7402B4E8975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D799-0297-4EDB-8D8F-2E683647D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74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8C02-E900-44E6-96D6-F7402B4E8975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D799-0297-4EDB-8D8F-2E683647D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281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8C02-E900-44E6-96D6-F7402B4E8975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D799-0297-4EDB-8D8F-2E683647D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22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8C02-E900-44E6-96D6-F7402B4E8975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D799-0297-4EDB-8D8F-2E683647D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585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8C02-E900-44E6-96D6-F7402B4E8975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D799-0297-4EDB-8D8F-2E683647D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6232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8C02-E900-44E6-96D6-F7402B4E8975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D799-0297-4EDB-8D8F-2E683647D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0925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8C02-E900-44E6-96D6-F7402B4E8975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D799-0297-4EDB-8D8F-2E683647D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4637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8C02-E900-44E6-96D6-F7402B4E8975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D799-0297-4EDB-8D8F-2E683647D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582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8C02-E900-44E6-96D6-F7402B4E8975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6D799-0297-4EDB-8D8F-2E683647D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332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78C02-E900-44E6-96D6-F7402B4E8975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6D799-0297-4EDB-8D8F-2E683647D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008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33848" y="1704110"/>
            <a:ext cx="9144000" cy="4258808"/>
          </a:xfrm>
        </p:spPr>
        <p:txBody>
          <a:bodyPr>
            <a:normAutofit fontScale="92500" lnSpcReduction="10000"/>
          </a:bodyPr>
          <a:lstStyle/>
          <a:p>
            <a:r>
              <a:rPr lang="es-CO" sz="2600" dirty="0">
                <a:latin typeface="Adobe Caslon Pro" panose="0205050205050A020403" pitchFamily="18" charset="0"/>
              </a:rPr>
              <a:t>Sembrando lectores para cosechar </a:t>
            </a:r>
            <a:r>
              <a:rPr lang="es-CO" sz="2600" dirty="0" smtClean="0">
                <a:latin typeface="Adobe Caslon Pro" panose="0205050205050A020403" pitchFamily="18" charset="0"/>
              </a:rPr>
              <a:t>escritores</a:t>
            </a:r>
          </a:p>
          <a:p>
            <a:r>
              <a:rPr lang="es-CO" sz="2600" dirty="0">
                <a:latin typeface="Adobe Caslon Pro" panose="0205050205050A020403" pitchFamily="18" charset="0"/>
              </a:rPr>
              <a:t>Experiencia </a:t>
            </a:r>
            <a:r>
              <a:rPr lang="es-CO" sz="2600" dirty="0" smtClean="0">
                <a:latin typeface="Adobe Caslon Pro" panose="0205050205050A020403" pitchFamily="18" charset="0"/>
              </a:rPr>
              <a:t>significativa</a:t>
            </a:r>
          </a:p>
          <a:p>
            <a:endParaRPr lang="es-CO" sz="2600" dirty="0" smtClean="0">
              <a:latin typeface="Adobe Caslon Pro" panose="0205050205050A020403" pitchFamily="18" charset="0"/>
            </a:endParaRPr>
          </a:p>
          <a:p>
            <a:endParaRPr lang="es-CO" sz="2600" dirty="0">
              <a:latin typeface="Adobe Caslon Pro" panose="0205050205050A020403" pitchFamily="18" charset="0"/>
            </a:endParaRPr>
          </a:p>
          <a:p>
            <a:r>
              <a:rPr lang="es-CO" sz="2600" dirty="0" smtClean="0">
                <a:latin typeface="Adobe Caslon Pro" panose="0205050205050A020403" pitchFamily="18" charset="0"/>
              </a:rPr>
              <a:t>Docente Líder </a:t>
            </a:r>
            <a:r>
              <a:rPr lang="es-ES" sz="2600" dirty="0" smtClean="0">
                <a:latin typeface="Adobe Caslon Pro" panose="0205050205050A020403" pitchFamily="18" charset="0"/>
              </a:rPr>
              <a:t>Laura valentina de la Paz morales rojas </a:t>
            </a:r>
            <a:endParaRPr lang="es-CO" sz="2600" dirty="0" smtClean="0">
              <a:latin typeface="Adobe Caslon Pro" panose="0205050205050A020403" pitchFamily="18" charset="0"/>
            </a:endParaRPr>
          </a:p>
          <a:p>
            <a:endParaRPr lang="es-CO" sz="2600" dirty="0" smtClean="0">
              <a:latin typeface="Adobe Caslon Pro" panose="0205050205050A020403" pitchFamily="18" charset="0"/>
            </a:endParaRPr>
          </a:p>
          <a:p>
            <a:endParaRPr lang="es-CO" sz="2600" dirty="0">
              <a:latin typeface="Adobe Caslon Pro" panose="0205050205050A020403" pitchFamily="18" charset="0"/>
            </a:endParaRPr>
          </a:p>
          <a:p>
            <a:endParaRPr lang="es-CO" sz="2600" dirty="0" smtClean="0">
              <a:latin typeface="Adobe Caslon Pro" panose="0205050205050A020403" pitchFamily="18" charset="0"/>
            </a:endParaRPr>
          </a:p>
          <a:p>
            <a:r>
              <a:rPr lang="es-CO" sz="2200" dirty="0" smtClean="0">
                <a:latin typeface="Adobe Caslon Pro" panose="0205050205050A020403" pitchFamily="18" charset="0"/>
              </a:rPr>
              <a:t>Institución </a:t>
            </a:r>
            <a:r>
              <a:rPr lang="es-CO" sz="2200" dirty="0">
                <a:latin typeface="Adobe Caslon Pro" panose="0205050205050A020403" pitchFamily="18" charset="0"/>
              </a:rPr>
              <a:t>Educativa Municipal Winnipeg</a:t>
            </a:r>
          </a:p>
          <a:p>
            <a:r>
              <a:rPr lang="es-CO" sz="2200" dirty="0">
                <a:latin typeface="Adobe Caslon Pro" panose="0205050205050A020403" pitchFamily="18" charset="0"/>
              </a:rPr>
              <a:t>Pitalito - Huila</a:t>
            </a:r>
          </a:p>
          <a:p>
            <a:endParaRPr lang="es-CO" sz="3200" dirty="0">
              <a:latin typeface="Adobe Caslon Pro" panose="0205050205050A020403" pitchFamily="18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28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906037"/>
            <a:ext cx="10515600" cy="1325563"/>
          </a:xfrm>
        </p:spPr>
        <p:txBody>
          <a:bodyPr/>
          <a:lstStyle/>
          <a:p>
            <a:pPr algn="ctr"/>
            <a:r>
              <a:rPr lang="es-CO" dirty="0" smtClean="0">
                <a:latin typeface="Adobe Caslon Pro" panose="0205050205050A020403" pitchFamily="18" charset="0"/>
              </a:rPr>
              <a:t/>
            </a:r>
            <a:br>
              <a:rPr lang="es-CO" dirty="0" smtClean="0">
                <a:latin typeface="Adobe Caslon Pro" panose="0205050205050A020403" pitchFamily="18" charset="0"/>
              </a:rPr>
            </a:br>
            <a:r>
              <a:rPr lang="es-CO" dirty="0" smtClean="0">
                <a:latin typeface="Adobe Caslon Pro" panose="0205050205050A020403" pitchFamily="18" charset="0"/>
              </a:rPr>
              <a:t>Introducción</a:t>
            </a:r>
            <a:endParaRPr lang="es-CO" dirty="0">
              <a:latin typeface="Adobe Caslon Pro" panose="0205050205050A020403" pitchFamily="18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653047"/>
            <a:ext cx="10515600" cy="3523915"/>
          </a:xfrm>
        </p:spPr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La experiencia busca fortalecer la lectura y escritura en los estudiantes.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Se desarrolla a través de la producción de un libro cartonero.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31" y="3834516"/>
            <a:ext cx="4397843" cy="247928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613" y="3834516"/>
            <a:ext cx="3455831" cy="259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7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87097"/>
            <a:ext cx="10515600" cy="1325563"/>
          </a:xfrm>
        </p:spPr>
        <p:txBody>
          <a:bodyPr/>
          <a:lstStyle/>
          <a:p>
            <a:pPr algn="ctr"/>
            <a:r>
              <a:rPr lang="es-CO" dirty="0">
                <a:latin typeface="Adobe Caslon Pro" panose="0205050205050A020403" pitchFamily="18" charset="0"/>
              </a:rPr>
              <a:t>Articulación al PEI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485623"/>
            <a:ext cx="10515600" cy="3691340"/>
          </a:xfrm>
        </p:spPr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Conecta con la misión: formar ciudadanos críticos, reflexivos y creativos.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Visión: consolidarse como referente en formación integral al 2035.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Valores: autonomía, inclusión, democracia, transformación social.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Se articula con el Plan de Mejoramiento Institucional.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45860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996190"/>
            <a:ext cx="10515600" cy="1325563"/>
          </a:xfrm>
        </p:spPr>
        <p:txBody>
          <a:bodyPr/>
          <a:lstStyle/>
          <a:p>
            <a:pPr algn="ctr"/>
            <a:r>
              <a:rPr lang="es-CO" dirty="0">
                <a:latin typeface="Adobe Caslon Pro" panose="0205050205050A020403" pitchFamily="18" charset="0"/>
              </a:rPr>
              <a:t>Fundamentación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704563"/>
            <a:ext cx="10515600" cy="3472400"/>
          </a:xfrm>
        </p:spPr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Modelo pedagógico conceptual de la I.E.M. Winnipeg.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Metodologías activas: ABP, aprendizaje colaborativo.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Referentes: </a:t>
            </a:r>
            <a:r>
              <a:rPr lang="es-CO" sz="2400" dirty="0" err="1">
                <a:latin typeface="Adobe Caslon Pro" panose="0205050205050A020403" pitchFamily="18" charset="0"/>
              </a:rPr>
              <a:t>Cassany</a:t>
            </a:r>
            <a:r>
              <a:rPr lang="es-CO" sz="2400" dirty="0">
                <a:latin typeface="Adobe Caslon Pro" panose="0205050205050A020403" pitchFamily="18" charset="0"/>
              </a:rPr>
              <a:t>, Freire, Lerner, </a:t>
            </a:r>
            <a:r>
              <a:rPr lang="es-CO" sz="2400" dirty="0" err="1">
                <a:latin typeface="Adobe Caslon Pro" panose="0205050205050A020403" pitchFamily="18" charset="0"/>
              </a:rPr>
              <a:t>Petit</a:t>
            </a:r>
            <a:r>
              <a:rPr lang="es-CO" sz="2400" dirty="0">
                <a:latin typeface="Adobe Caslon Pro" panose="0205050205050A020403" pitchFamily="18" charset="0"/>
              </a:rPr>
              <a:t>, </a:t>
            </a:r>
            <a:r>
              <a:rPr lang="es-CO" sz="2400" dirty="0" err="1">
                <a:latin typeface="Adobe Caslon Pro" panose="0205050205050A020403" pitchFamily="18" charset="0"/>
              </a:rPr>
              <a:t>Escarpit</a:t>
            </a:r>
            <a:r>
              <a:rPr lang="es-CO" sz="2400" dirty="0">
                <a:latin typeface="Adobe Caslon Pro" panose="0205050205050A020403" pitchFamily="18" charset="0"/>
              </a:rPr>
              <a:t>, entre otros.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Ambiente de aprendizaje: pedagogía por proyectos y edición cartonera.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66708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1231" y="893159"/>
            <a:ext cx="10515600" cy="1325563"/>
          </a:xfrm>
        </p:spPr>
        <p:txBody>
          <a:bodyPr/>
          <a:lstStyle/>
          <a:p>
            <a:pPr algn="ctr"/>
            <a:r>
              <a:rPr lang="es-CO" dirty="0">
                <a:latin typeface="Adobe Caslon Pro" panose="0205050205050A020403" pitchFamily="18" charset="0"/>
              </a:rPr>
              <a:t>Pertinencia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785838"/>
            <a:ext cx="10515600" cy="2591829"/>
          </a:xfrm>
        </p:spPr>
        <p:txBody>
          <a:bodyPr/>
          <a:lstStyle/>
          <a:p>
            <a:pPr marL="0" indent="0">
              <a:buNone/>
            </a:pPr>
            <a:endParaRPr lang="es-CO" sz="3200" dirty="0">
              <a:latin typeface="Adobe Caslon Pro" panose="0205050205050A020403" pitchFamily="18" charset="0"/>
            </a:endParaRP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Responde a la necesidad de mejorar lectura y escritura.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Resultados de pruebas Saber evidenciaban bajos puntajes.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Fortalece la identidad cultural.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Contexto: comunidad rural de Charguayaco.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862" y="3429000"/>
            <a:ext cx="3249769" cy="243732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336041" y="3692710"/>
            <a:ext cx="2331344" cy="310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9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099221"/>
            <a:ext cx="10515600" cy="1325563"/>
          </a:xfrm>
        </p:spPr>
        <p:txBody>
          <a:bodyPr/>
          <a:lstStyle/>
          <a:p>
            <a:pPr algn="ctr"/>
            <a:r>
              <a:rPr lang="es-CO" dirty="0" smtClean="0">
                <a:latin typeface="Adobe Caslon Pro" panose="0205050205050A020403" pitchFamily="18" charset="0"/>
              </a:rPr>
              <a:t>Consistencia </a:t>
            </a:r>
            <a:endParaRPr lang="es-CO" dirty="0">
              <a:latin typeface="Adobe Caslon Pro" panose="0205050205050A020403" pitchFamily="18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424784"/>
            <a:ext cx="10515600" cy="2244099"/>
          </a:xfrm>
        </p:spPr>
        <p:txBody>
          <a:bodyPr/>
          <a:lstStyle/>
          <a:p>
            <a:pPr marL="0" indent="0">
              <a:buNone/>
            </a:pPr>
            <a:endParaRPr lang="es-CO" sz="3200" dirty="0">
              <a:latin typeface="Adobe Caslon Pro" panose="0205050205050A020403" pitchFamily="18" charset="0"/>
            </a:endParaRP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Se articula fundamentación, contexto, metodología y resultados.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Del saber local y ancestral a la producción de textos creativos.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De la teoría a la práctica: escritura, edición y publicación del libro.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80526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893159"/>
            <a:ext cx="10515600" cy="1325563"/>
          </a:xfrm>
        </p:spPr>
        <p:txBody>
          <a:bodyPr/>
          <a:lstStyle/>
          <a:p>
            <a:pPr algn="ctr"/>
            <a:r>
              <a:rPr lang="es-CO" dirty="0" smtClean="0">
                <a:latin typeface="Adobe Caslon Pro" panose="0205050205050A020403" pitchFamily="18" charset="0"/>
              </a:rPr>
              <a:t>Madurez</a:t>
            </a:r>
            <a:endParaRPr lang="es-CO" dirty="0">
              <a:latin typeface="Adobe Caslon Pro" panose="0205050205050A020403" pitchFamily="18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54110" y="2675631"/>
            <a:ext cx="10515600" cy="1973643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La experiencia inició en 2014.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Cuenta con más de </a:t>
            </a:r>
            <a:r>
              <a:rPr lang="es-CO" sz="2400" dirty="0" smtClean="0">
                <a:latin typeface="Adobe Caslon Pro" panose="0205050205050A020403" pitchFamily="18" charset="0"/>
              </a:rPr>
              <a:t>12 </a:t>
            </a:r>
            <a:r>
              <a:rPr lang="es-CO" sz="2400" dirty="0">
                <a:latin typeface="Adobe Caslon Pro" panose="0205050205050A020403" pitchFamily="18" charset="0"/>
              </a:rPr>
              <a:t>años de continuidad.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Cinco publicaciones previas, incluyendo antologías y crónicas.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Se fortalece cada año con la reflexión y análisis de resultados</a:t>
            </a:r>
            <a:r>
              <a:rPr lang="es-CO" sz="2400" dirty="0" smtClean="0">
                <a:latin typeface="Adobe Caslon Pro" panose="0205050205050A020403" pitchFamily="18" charset="0"/>
              </a:rPr>
              <a:t>.</a:t>
            </a:r>
            <a:endParaRPr lang="es-CO" sz="2400" dirty="0">
              <a:latin typeface="Adobe Caslon Pro" panose="0205050205050A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702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830595"/>
            <a:ext cx="10515600" cy="1002485"/>
          </a:xfrm>
        </p:spPr>
        <p:txBody>
          <a:bodyPr/>
          <a:lstStyle/>
          <a:p>
            <a:pPr algn="ctr"/>
            <a:r>
              <a:rPr lang="es-CO" dirty="0" smtClean="0">
                <a:latin typeface="Adobe Caslon Pro" panose="0205050205050A020403" pitchFamily="18" charset="0"/>
              </a:rPr>
              <a:t>Empoderamiento </a:t>
            </a:r>
            <a:endParaRPr lang="es-CO" dirty="0">
              <a:latin typeface="Adobe Caslon Pro" panose="0205050205050A020403" pitchFamily="18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2290" y="1620334"/>
            <a:ext cx="10515600" cy="2939558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 smtClean="0">
                <a:latin typeface="Adobe Caslon Pro" panose="0205050205050A020403" pitchFamily="18" charset="0"/>
              </a:rPr>
              <a:t>Estudiantes</a:t>
            </a:r>
            <a:r>
              <a:rPr lang="es-CO" sz="2400" dirty="0">
                <a:latin typeface="Adobe Caslon Pro" panose="0205050205050A020403" pitchFamily="18" charset="0"/>
              </a:rPr>
              <a:t>: protagonistas de la escritura y creación artística.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Docentes: acompañamiento, corrección y apoyo logístico.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Directivos: respaldo institucional continuo.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Padres y comunidad: aportes de saberes locales y cultura</a:t>
            </a:r>
            <a:r>
              <a:rPr lang="es-CO" sz="2400" dirty="0" smtClean="0">
                <a:latin typeface="Adobe Caslon Pro" panose="0205050205050A020403" pitchFamily="18" charset="0"/>
              </a:rPr>
              <a:t>.</a:t>
            </a:r>
            <a:endParaRPr lang="es-CO" sz="2400" dirty="0">
              <a:latin typeface="Adobe Caslon Pro" panose="0205050205050A020403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29" y="4131188"/>
            <a:ext cx="2910625" cy="218296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370" y="3429000"/>
            <a:ext cx="3520224" cy="264016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86"/>
          <a:stretch/>
        </p:blipFill>
        <p:spPr>
          <a:xfrm>
            <a:off x="4825283" y="3922745"/>
            <a:ext cx="2266950" cy="259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15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8048" y="1182642"/>
            <a:ext cx="10515600" cy="1028543"/>
          </a:xfrm>
        </p:spPr>
        <p:txBody>
          <a:bodyPr/>
          <a:lstStyle/>
          <a:p>
            <a:pPr algn="ctr"/>
            <a:r>
              <a:rPr lang="es-CO" dirty="0" smtClean="0">
                <a:latin typeface="Adobe Caslon Pro" panose="0205050205050A020403" pitchFamily="18" charset="0"/>
              </a:rPr>
              <a:t>Evaluación y seguimiento </a:t>
            </a:r>
            <a:endParaRPr lang="es-CO" dirty="0">
              <a:latin typeface="Adobe Caslon Pro" panose="0205050205050A020403" pitchFamily="18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508205"/>
            <a:ext cx="10515600" cy="2707738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 smtClean="0">
                <a:latin typeface="Adobe Caslon Pro" panose="0205050205050A020403" pitchFamily="18" charset="0"/>
              </a:rPr>
              <a:t>Asesoría </a:t>
            </a:r>
            <a:r>
              <a:rPr lang="es-CO" sz="2400" dirty="0">
                <a:latin typeface="Adobe Caslon Pro" panose="0205050205050A020403" pitchFamily="18" charset="0"/>
              </a:rPr>
              <a:t>y acompañamiento de la Secretaría de Educación de Pitalito.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Comités editoriales estudiantiles.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Registro y socialización en la comunidad educativa</a:t>
            </a:r>
            <a:r>
              <a:rPr lang="es-CO" sz="2400" dirty="0" smtClean="0">
                <a:latin typeface="Adobe Caslon Pro" panose="0205050205050A020403" pitchFamily="18" charset="0"/>
              </a:rPr>
              <a:t>.</a:t>
            </a:r>
            <a:endParaRPr lang="es-CO" sz="2400" dirty="0">
              <a:latin typeface="Adobe Caslon Pro" panose="0205050205050A020403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032" y="3902387"/>
            <a:ext cx="3316633" cy="247918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372" y="3939347"/>
            <a:ext cx="3288405" cy="246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3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112100"/>
            <a:ext cx="10515600" cy="1325563"/>
          </a:xfrm>
        </p:spPr>
        <p:txBody>
          <a:bodyPr/>
          <a:lstStyle/>
          <a:p>
            <a:r>
              <a:rPr lang="es-CO" dirty="0" smtClean="0">
                <a:latin typeface="Adobe Caslon Pro" panose="0205050205050A020403" pitchFamily="18" charset="0"/>
              </a:rPr>
              <a:t>Resultados </a:t>
            </a:r>
            <a:endParaRPr lang="es-CO" dirty="0">
              <a:latin typeface="Adobe Caslon Pro" panose="0205050205050A020403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80011" y="1431414"/>
            <a:ext cx="10515600" cy="1561519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Cinco publicaciones físicas y una virtual del libro cartonero.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Mejora en los resultados de pruebas Saber de Lengua Castellana.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s-CO" sz="2400" dirty="0">
                <a:latin typeface="Adobe Caslon Pro" panose="0205050205050A020403" pitchFamily="18" charset="0"/>
              </a:rPr>
              <a:t>Impacto positivo en la cultura lectora y escritora institucional</a:t>
            </a:r>
            <a:r>
              <a:rPr lang="es-CO" sz="2400" dirty="0" smtClean="0">
                <a:latin typeface="Adobe Caslon Pro" panose="0205050205050A020403" pitchFamily="18" charset="0"/>
              </a:rPr>
              <a:t>.</a:t>
            </a:r>
            <a:endParaRPr lang="es-CO" sz="2400" dirty="0">
              <a:latin typeface="Adobe Caslon Pro" panose="0205050205050A020403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3" t="20373" r="25816" b="4636"/>
          <a:stretch/>
        </p:blipFill>
        <p:spPr>
          <a:xfrm>
            <a:off x="1017430" y="3670478"/>
            <a:ext cx="1532587" cy="2395470"/>
          </a:xfrm>
          <a:prstGeom prst="rect">
            <a:avLst/>
          </a:prstGeom>
        </p:spPr>
      </p:pic>
      <p:sp>
        <p:nvSpPr>
          <p:cNvPr id="7" name="AutoShape 2" descr="blob:https://web.whatsapp.com/ea49c63b-d459-4613-9c02-d4b72abbfd1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178" y="3703906"/>
            <a:ext cx="1571670" cy="2328614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009" y="3703906"/>
            <a:ext cx="1594862" cy="247654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840" y="3703906"/>
            <a:ext cx="1429339" cy="247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746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339</Words>
  <Application>Microsoft Office PowerPoint</Application>
  <PresentationFormat>Panorámica</PresentationFormat>
  <Paragraphs>52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Adobe Caslon Pro</vt:lpstr>
      <vt:lpstr>Arial</vt:lpstr>
      <vt:lpstr>Calibri</vt:lpstr>
      <vt:lpstr>Calibri Light</vt:lpstr>
      <vt:lpstr>Tema de Office</vt:lpstr>
      <vt:lpstr>Presentación de PowerPoint</vt:lpstr>
      <vt:lpstr> Introducción</vt:lpstr>
      <vt:lpstr>Articulación al PEI</vt:lpstr>
      <vt:lpstr>Fundamentación</vt:lpstr>
      <vt:lpstr>Pertinencia</vt:lpstr>
      <vt:lpstr>Consistencia </vt:lpstr>
      <vt:lpstr>Madurez</vt:lpstr>
      <vt:lpstr>Empoderamiento </vt:lpstr>
      <vt:lpstr>Evaluación y seguimiento </vt:lpstr>
      <vt:lpstr>Resultados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Usuario-PC</dc:creator>
  <cp:lastModifiedBy>CALIDAD-MEJORAMIENTO</cp:lastModifiedBy>
  <cp:revision>12</cp:revision>
  <dcterms:created xsi:type="dcterms:W3CDTF">2025-08-28T15:56:48Z</dcterms:created>
  <dcterms:modified xsi:type="dcterms:W3CDTF">2026-06-17T20:13:55Z</dcterms:modified>
</cp:coreProperties>
</file>