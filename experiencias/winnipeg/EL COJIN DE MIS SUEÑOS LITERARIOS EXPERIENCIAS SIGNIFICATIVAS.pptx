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83" r:id="rId4"/>
    <p:sldId id="258" r:id="rId5"/>
    <p:sldId id="267" r:id="rId6"/>
    <p:sldId id="259" r:id="rId7"/>
    <p:sldId id="260" r:id="rId8"/>
    <p:sldId id="261" r:id="rId9"/>
    <p:sldId id="273" r:id="rId10"/>
    <p:sldId id="275" r:id="rId11"/>
    <p:sldId id="280" r:id="rId12"/>
    <p:sldId id="279" r:id="rId13"/>
    <p:sldId id="276" r:id="rId14"/>
    <p:sldId id="278" r:id="rId15"/>
    <p:sldId id="263" r:id="rId16"/>
    <p:sldId id="264" r:id="rId17"/>
    <p:sldId id="281" r:id="rId18"/>
    <p:sldId id="265" r:id="rId19"/>
    <p:sldId id="282" r:id="rId20"/>
    <p:sldId id="268" r:id="rId21"/>
    <p:sldId id="269" r:id="rId22"/>
    <p:sldId id="270" r:id="rId2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23" autoAdjust="0"/>
    <p:restoredTop sz="94719"/>
  </p:normalViewPr>
  <p:slideViewPr>
    <p:cSldViewPr snapToGrid="0">
      <p:cViewPr varScale="1">
        <p:scale>
          <a:sx n="109" d="100"/>
          <a:sy n="109" d="100"/>
        </p:scale>
        <p:origin x="106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19A22A-9368-5845-80A5-D6A0D7D0190B}" type="datetimeFigureOut">
              <a:rPr lang="es-CO" smtClean="0"/>
              <a:t>17/06/2026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EE0955-5FB9-5F4B-9511-B0EB6ECB47AF}" type="slidenum">
              <a:rPr lang="es-CO" smtClean="0"/>
              <a:t>‹Nº›</a:t>
            </a:fld>
            <a:endParaRPr lang="es-CO"/>
          </a:p>
        </p:txBody>
      </p:sp>
    </p:spTree>
    <p:extLst>
      <p:ext uri="{BB962C8B-B14F-4D97-AF65-F5344CB8AC3E}">
        <p14:creationId xmlns:p14="http://schemas.microsoft.com/office/powerpoint/2010/main" val="3418789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A4EE0955-5FB9-5F4B-9511-B0EB6ECB47AF}" type="slidenum">
              <a:rPr lang="es-CO" smtClean="0"/>
              <a:t>13</a:t>
            </a:fld>
            <a:endParaRPr lang="es-CO"/>
          </a:p>
        </p:txBody>
      </p:sp>
    </p:spTree>
    <p:extLst>
      <p:ext uri="{BB962C8B-B14F-4D97-AF65-F5344CB8AC3E}">
        <p14:creationId xmlns:p14="http://schemas.microsoft.com/office/powerpoint/2010/main" val="724859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3B46F3-BD87-1244-C518-539103D7FDA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1DB866E-528A-E7A1-888D-047A34E554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F0E838C8-B107-769B-CA23-0886E2F73C86}"/>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5" name="Marcador de pie de página 4">
            <a:extLst>
              <a:ext uri="{FF2B5EF4-FFF2-40B4-BE49-F238E27FC236}">
                <a16:creationId xmlns:a16="http://schemas.microsoft.com/office/drawing/2014/main" id="{B0DF867A-4E8F-A03F-A929-7DA6ACDDBE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AD2D83F-DADF-BCE9-05D8-3A899D9B102B}"/>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570897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CE0EBB-9626-1753-03B1-50B133A5A6B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6BFEC1A-5FED-A861-DCEA-C205BB94BEB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44A9250-4773-1F58-BB28-B7EABC3DD0AE}"/>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5" name="Marcador de pie de página 4">
            <a:extLst>
              <a:ext uri="{FF2B5EF4-FFF2-40B4-BE49-F238E27FC236}">
                <a16:creationId xmlns:a16="http://schemas.microsoft.com/office/drawing/2014/main" id="{F60FA128-B7B8-B0EF-D31D-231A72A302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30F846C-CD29-FC4E-6C35-B35E945D22D3}"/>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70401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3948D9-1D84-100B-E086-763A0B5A148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F1287FC-DE40-5FEE-99C0-5E106C5E60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3EB6DCD-998D-79C6-A391-68F2326B2345}"/>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5" name="Marcador de pie de página 4">
            <a:extLst>
              <a:ext uri="{FF2B5EF4-FFF2-40B4-BE49-F238E27FC236}">
                <a16:creationId xmlns:a16="http://schemas.microsoft.com/office/drawing/2014/main" id="{9F42B1B5-98B4-F2C6-D48C-D9916064279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CFF1E9B-C3BA-795B-EDC3-183AD742781B}"/>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4189741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EF2BB7-E88B-5479-E88F-1FF94E10104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60D1765-B4DF-B8A8-267B-23D3D8FC0C0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9A175493-7780-2FBB-7845-55FB500A68D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815E3D2A-5DA3-B8EE-6513-1EE2D2F1691B}"/>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6" name="Marcador de pie de página 5">
            <a:extLst>
              <a:ext uri="{FF2B5EF4-FFF2-40B4-BE49-F238E27FC236}">
                <a16:creationId xmlns:a16="http://schemas.microsoft.com/office/drawing/2014/main" id="{485006BB-22EF-6C17-9AC9-8BC0A6CFEBB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6ED5FB5-C590-9217-D3CB-C4EBF32E9BAD}"/>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038476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384527-F461-E0E3-CBD4-91A3E821E06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1B32A59-9727-6758-5DA4-C470274EC0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265B3E9-34E1-6718-763E-F143E9540C7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44176C83-F680-A73B-26CC-0CF5D7F590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F9EBE45-361A-12BD-E0BF-240F81DE588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47D40406-BB14-9140-A36E-57E06C84B7B9}"/>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8" name="Marcador de pie de página 7">
            <a:extLst>
              <a:ext uri="{FF2B5EF4-FFF2-40B4-BE49-F238E27FC236}">
                <a16:creationId xmlns:a16="http://schemas.microsoft.com/office/drawing/2014/main" id="{A8A04C30-EDA6-E8D8-17E5-6FFC31775E72}"/>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6C15371C-606E-D71B-7E87-18750CB7B2CC}"/>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986970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786D20-6E3E-3281-0F95-BBF3C95D2EB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6CFA1186-6ED9-F6E4-97BA-3A4F960A7318}"/>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4" name="Marcador de pie de página 3">
            <a:extLst>
              <a:ext uri="{FF2B5EF4-FFF2-40B4-BE49-F238E27FC236}">
                <a16:creationId xmlns:a16="http://schemas.microsoft.com/office/drawing/2014/main" id="{E00C95CA-1239-B99E-77D3-7A6FDE082216}"/>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F376426A-9ABC-5EF1-AEB1-C0CFC2215C37}"/>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915364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CA8B009-C69D-1D5D-2898-3FAB863565E3}"/>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3" name="Marcador de pie de página 2">
            <a:extLst>
              <a:ext uri="{FF2B5EF4-FFF2-40B4-BE49-F238E27FC236}">
                <a16:creationId xmlns:a16="http://schemas.microsoft.com/office/drawing/2014/main" id="{914A400F-EF69-18E2-03A6-884F1D73A20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4CBCE93-02A5-2D01-14B0-951F79F14B7D}"/>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587554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CE0CD9-7BCB-2025-6D74-C27F3B345F8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10EA8B7-9869-5158-E183-19819CDE34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841FCE9D-FC78-3797-E9CE-C3F4DD2CF3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142166-3168-72E8-7E91-C1FC8816A97A}"/>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6" name="Marcador de pie de página 5">
            <a:extLst>
              <a:ext uri="{FF2B5EF4-FFF2-40B4-BE49-F238E27FC236}">
                <a16:creationId xmlns:a16="http://schemas.microsoft.com/office/drawing/2014/main" id="{8B384531-13AD-3876-2B69-E6BF5C86C92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F634F09-C68B-DFE7-CDD2-5D12307D1031}"/>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279997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F0B0B6-178A-2DE2-9D4C-1EA48B40C0E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FED4931-6DD5-8470-00B4-4AD729FB19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720390BD-29BD-3EF3-3F42-30FB741D8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1F85192-11DA-8CCF-60ED-9C2E23CB8A2B}"/>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6" name="Marcador de pie de página 5">
            <a:extLst>
              <a:ext uri="{FF2B5EF4-FFF2-40B4-BE49-F238E27FC236}">
                <a16:creationId xmlns:a16="http://schemas.microsoft.com/office/drawing/2014/main" id="{10B09ACD-B38C-A414-7D9B-22F6970DF23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864F253-73AE-4A50-5D78-FA299CF7DE26}"/>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208398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CD14DF-6133-7225-5208-6F1F8F738CB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9A2C64-4BCF-8878-42A2-2B7E30B623F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5B21BBE-E8B9-71AD-99D2-9280106CF287}"/>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5" name="Marcador de pie de página 4">
            <a:extLst>
              <a:ext uri="{FF2B5EF4-FFF2-40B4-BE49-F238E27FC236}">
                <a16:creationId xmlns:a16="http://schemas.microsoft.com/office/drawing/2014/main" id="{EB04BB80-30DC-4522-9F3A-F376EF2E449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7D9122F-2D63-7AAC-D358-2F25E455CF39}"/>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923708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8AD4C63-322B-9289-95FE-95F8B78D340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3DCC26B-B15B-4664-3A32-C1A29ADA18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B1FA146-87B7-F736-BB5A-46426D064BBA}"/>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5" name="Marcador de pie de página 4">
            <a:extLst>
              <a:ext uri="{FF2B5EF4-FFF2-40B4-BE49-F238E27FC236}">
                <a16:creationId xmlns:a16="http://schemas.microsoft.com/office/drawing/2014/main" id="{099FD83E-D958-4ABA-64A4-1CD41203CDA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32301AD-C2B3-B9CB-1E65-9B2DA6E56E38}"/>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2000970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2C9864D-1483-2AE5-0FEA-4885553706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FD254BB-B860-F144-7BF3-315B8786E3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BF5BED5-0585-53C3-A724-BE9242651E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32DC3D-3364-4B98-B737-2FEA8DB4EEB9}" type="datetimeFigureOut">
              <a:rPr lang="es-CO" smtClean="0"/>
              <a:t>17/06/2026</a:t>
            </a:fld>
            <a:endParaRPr lang="es-CO"/>
          </a:p>
        </p:txBody>
      </p:sp>
      <p:sp>
        <p:nvSpPr>
          <p:cNvPr id="5" name="Marcador de pie de página 4">
            <a:extLst>
              <a:ext uri="{FF2B5EF4-FFF2-40B4-BE49-F238E27FC236}">
                <a16:creationId xmlns:a16="http://schemas.microsoft.com/office/drawing/2014/main" id="{F0016D93-5AFA-DE80-D034-217A49DEC6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418A8A3A-02BF-B19A-B382-EB9221EEB8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E74EE6-D869-4078-805E-69EBC1C524E1}" type="slidenum">
              <a:rPr lang="es-CO" smtClean="0"/>
              <a:t>‹Nº›</a:t>
            </a:fld>
            <a:endParaRPr lang="es-CO"/>
          </a:p>
        </p:txBody>
      </p:sp>
    </p:spTree>
    <p:extLst>
      <p:ext uri="{BB962C8B-B14F-4D97-AF65-F5344CB8AC3E}">
        <p14:creationId xmlns:p14="http://schemas.microsoft.com/office/powerpoint/2010/main" val="4228135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D1E2251-D51D-E043-921A-7495EE8A48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8919"/>
            <a:ext cx="12192000" cy="6858000"/>
          </a:xfrm>
          <a:prstGeom prst="rect">
            <a:avLst/>
          </a:prstGeom>
        </p:spPr>
      </p:pic>
      <p:sp>
        <p:nvSpPr>
          <p:cNvPr id="2" name="Título 1"/>
          <p:cNvSpPr>
            <a:spLocks noGrp="1"/>
          </p:cNvSpPr>
          <p:nvPr>
            <p:ph type="ctrTitle"/>
          </p:nvPr>
        </p:nvSpPr>
        <p:spPr/>
        <p:txBody>
          <a:bodyPr>
            <a:normAutofit/>
          </a:bodyPr>
          <a:lstStyle/>
          <a:p>
            <a:r>
              <a:rPr lang="es-ES" sz="4800" b="1" dirty="0"/>
              <a:t>EL COJIN DE MIS SUEÑOS </a:t>
            </a:r>
            <a:r>
              <a:rPr lang="es-ES" sz="4800" b="1" dirty="0" smtClean="0"/>
              <a:t>LITERARIOS</a:t>
            </a:r>
            <a:br>
              <a:rPr lang="es-ES" sz="4800" b="1" dirty="0" smtClean="0"/>
            </a:br>
            <a:r>
              <a:rPr lang="es-ES" sz="2000" b="1" dirty="0" smtClean="0"/>
              <a:t>DOCENTE LÍDER NANCY JANETH HERRERA CANO</a:t>
            </a:r>
            <a:endParaRPr lang="es-CO" sz="4800" b="1" dirty="0"/>
          </a:p>
        </p:txBody>
      </p:sp>
      <p:sp>
        <p:nvSpPr>
          <p:cNvPr id="3" name="Subtítulo 2"/>
          <p:cNvSpPr>
            <a:spLocks noGrp="1"/>
          </p:cNvSpPr>
          <p:nvPr>
            <p:ph type="subTitle" idx="1"/>
          </p:nvPr>
        </p:nvSpPr>
        <p:spPr>
          <a:xfrm>
            <a:off x="1524000" y="4278922"/>
            <a:ext cx="9144000" cy="978877"/>
          </a:xfrm>
        </p:spPr>
        <p:txBody>
          <a:bodyPr/>
          <a:lstStyle/>
          <a:p>
            <a:r>
              <a:rPr lang="es-ES" sz="4000" dirty="0"/>
              <a:t>IEM WINNIPEG</a:t>
            </a:r>
          </a:p>
          <a:p>
            <a:endParaRPr lang="es-CO" dirty="0"/>
          </a:p>
        </p:txBody>
      </p:sp>
    </p:spTree>
    <p:extLst>
      <p:ext uri="{BB962C8B-B14F-4D97-AF65-F5344CB8AC3E}">
        <p14:creationId xmlns:p14="http://schemas.microsoft.com/office/powerpoint/2010/main" val="3697933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E88AC51-D933-785F-6FF3-0EAB785E7A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737387361"/>
              </p:ext>
            </p:extLst>
          </p:nvPr>
        </p:nvGraphicFramePr>
        <p:xfrm>
          <a:off x="829005" y="750878"/>
          <a:ext cx="9695387" cy="5625923"/>
        </p:xfrm>
        <a:graphic>
          <a:graphicData uri="http://schemas.openxmlformats.org/drawingml/2006/table">
            <a:tbl>
              <a:tblPr>
                <a:tableStyleId>{5C22544A-7EE6-4342-B048-85BDC9FD1C3A}</a:tableStyleId>
              </a:tblPr>
              <a:tblGrid>
                <a:gridCol w="2173292">
                  <a:extLst>
                    <a:ext uri="{9D8B030D-6E8A-4147-A177-3AD203B41FA5}">
                      <a16:colId xmlns:a16="http://schemas.microsoft.com/office/drawing/2014/main" val="2215923136"/>
                    </a:ext>
                  </a:extLst>
                </a:gridCol>
                <a:gridCol w="7522095">
                  <a:extLst>
                    <a:ext uri="{9D8B030D-6E8A-4147-A177-3AD203B41FA5}">
                      <a16:colId xmlns:a16="http://schemas.microsoft.com/office/drawing/2014/main" val="1923169113"/>
                    </a:ext>
                  </a:extLst>
                </a:gridCol>
              </a:tblGrid>
              <a:tr h="503215">
                <a:tc rowSpan="4">
                  <a:txBody>
                    <a:bodyPr/>
                    <a:lstStyle/>
                    <a:p>
                      <a:pPr algn="ctr" fontAlgn="ctr"/>
                      <a:r>
                        <a:rPr lang="es-CO" sz="1400" b="1" u="none" strike="noStrike" dirty="0">
                          <a:effectLst/>
                        </a:rPr>
                        <a:t>Fundamentación</a:t>
                      </a:r>
                      <a:endParaRPr lang="es-CO" sz="14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fontAlgn="ctr"/>
                      <a:endParaRPr lang="es-CO" sz="1400" u="none" strike="noStrike" dirty="0">
                        <a:effectLst/>
                      </a:endParaRPr>
                    </a:p>
                    <a:p>
                      <a:pPr algn="just" fontAlgn="ctr"/>
                      <a:endParaRPr lang="es-CO" sz="14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3714961306"/>
                  </a:ext>
                </a:extLst>
              </a:tr>
              <a:tr h="2506265">
                <a:tc vMerge="1">
                  <a:txBody>
                    <a:bodyPr/>
                    <a:lstStyle/>
                    <a:p>
                      <a:endParaRPr lang="es-CO"/>
                    </a:p>
                  </a:txBody>
                  <a:tcPr/>
                </a:tc>
                <a:tc>
                  <a:txBody>
                    <a:bodyPr/>
                    <a:lstStyle/>
                    <a:p>
                      <a:pPr algn="just" fontAlgn="ctr"/>
                      <a:r>
                        <a:rPr lang="es-CO" sz="1400" dirty="0"/>
                        <a:t>La experiencia significativa </a:t>
                      </a:r>
                      <a:r>
                        <a:rPr lang="es-CO" sz="1400" b="1" dirty="0"/>
                        <a:t>“El cojín de mis sueños literarios”</a:t>
                      </a:r>
                      <a:r>
                        <a:rPr lang="es-CO" sz="1400" dirty="0"/>
                        <a:t> surge como una estrategia pedagógica innovadora que busca fortalecer el gusto por la lectura, la imaginación creativa y la expresión escrita en los estudiantes, en coherencia con los propósitos formativos establecidos en el </a:t>
                      </a:r>
                      <a:r>
                        <a:rPr lang="es-CO" sz="1400" b="1" dirty="0"/>
                        <a:t>Proyecto Educativo Institucional (PEI) de la Institución Educativa Municipal Winnipeg</a:t>
                      </a:r>
                      <a:r>
                        <a:rPr lang="es-CO" sz="1400" dirty="0"/>
                        <a:t>. Este PEI, centrado en la formación integral, la autonomía, el desarrollo del pensamiento crítico y la construcción de proyectos de vida, reconoce la importancia de generar ambientes educativos donde la creatividad y la sensibilidad estética ocupen un lugar fundamental dentro del proceso de aprendizaje.</a:t>
                      </a:r>
                    </a:p>
                    <a:p>
                      <a:pPr algn="just" fontAlgn="ctr"/>
                      <a:r>
                        <a:rPr lang="es-ES" sz="1400" b="1" u="none" strike="noStrike" dirty="0">
                          <a:effectLst/>
                        </a:rPr>
                        <a:t>Puntos de articulación con misión, visión, valores y principios.</a:t>
                      </a:r>
                      <a:endParaRPr lang="es-ES" sz="1400" b="1"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3488044358"/>
                  </a:ext>
                </a:extLst>
              </a:tr>
              <a:tr h="2089333">
                <a:tc vMerge="1">
                  <a:txBody>
                    <a:bodyPr/>
                    <a:lstStyle/>
                    <a:p>
                      <a:endParaRPr lang="es-CO"/>
                    </a:p>
                  </a:txBody>
                  <a:tcPr/>
                </a:tc>
                <a:tc>
                  <a:txBody>
                    <a:bodyPr/>
                    <a:lstStyle/>
                    <a:p>
                      <a:pPr algn="just" fontAlgn="ctr"/>
                      <a:r>
                        <a:rPr lang="es-CO" sz="1400" dirty="0"/>
                        <a:t>En este marco, </a:t>
                      </a:r>
                      <a:r>
                        <a:rPr lang="es-CO" sz="1400" b="1" dirty="0"/>
                        <a:t>“El cojín de mis sueños literarios”</a:t>
                      </a:r>
                      <a:r>
                        <a:rPr lang="es-CO" sz="1400" dirty="0"/>
                        <a:t> se concibe como un escenario simbólico y afectivo que invita a los estudiantes a “reposar sus ideas”, “soñar con sus historias” y plasmar en él sus emociones, deseos, experiencias y mundos imaginados. A través del cojín como objeto pedagógico, se propicia una relación íntima con la literatura, entendida no solo como un contenido académico, sino como una herramienta de transformación personal y social. La experiencia promueve la lectura comprensiva, la escritura creativa y la oralidad expresiva, alineándose con los </a:t>
                      </a:r>
                      <a:r>
                        <a:rPr lang="es-CO" sz="1400" b="1" dirty="0"/>
                        <a:t>Estándares Básicos de Competencias en Lenguaje</a:t>
                      </a:r>
                      <a:r>
                        <a:rPr lang="es-CO" sz="1400" dirty="0"/>
                        <a:t> y los </a:t>
                      </a:r>
                      <a:r>
                        <a:rPr lang="es-CO" sz="1400" b="1" dirty="0"/>
                        <a:t>DBA propuestos por el Ministerio de Educación Nacional</a:t>
                      </a:r>
                      <a:r>
                        <a:rPr lang="es-CO" sz="1400" dirty="0"/>
                        <a:t>.</a:t>
                      </a:r>
                      <a:endParaRPr lang="es-ES" sz="14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2166883621"/>
                  </a:ext>
                </a:extLst>
              </a:tr>
              <a:tr h="419224">
                <a:tc vMerge="1">
                  <a:txBody>
                    <a:bodyPr/>
                    <a:lstStyle/>
                    <a:p>
                      <a:endParaRPr lang="es-CO"/>
                    </a:p>
                  </a:txBody>
                  <a:tcPr/>
                </a:tc>
                <a:tc>
                  <a:txBody>
                    <a:bodyPr/>
                    <a:lstStyle/>
                    <a:p>
                      <a:pPr algn="l" fontAlgn="ctr"/>
                      <a:endParaRPr lang="es-ES" sz="14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1062487577"/>
                  </a:ext>
                </a:extLst>
              </a:tr>
            </a:tbl>
          </a:graphicData>
        </a:graphic>
      </p:graphicFrame>
    </p:spTree>
    <p:extLst>
      <p:ext uri="{BB962C8B-B14F-4D97-AF65-F5344CB8AC3E}">
        <p14:creationId xmlns:p14="http://schemas.microsoft.com/office/powerpoint/2010/main" val="568321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5939C-80CD-70B9-326B-DF429C1FAB4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0BEAA79-727E-80B0-11BD-2375C19080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a:extLst>
              <a:ext uri="{FF2B5EF4-FFF2-40B4-BE49-F238E27FC236}">
                <a16:creationId xmlns:a16="http://schemas.microsoft.com/office/drawing/2014/main" id="{5C568E6F-9909-EADC-0751-82A7E5B3AA27}"/>
              </a:ext>
            </a:extLst>
          </p:cNvPr>
          <p:cNvGraphicFramePr>
            <a:graphicFrameLocks noGrp="1"/>
          </p:cNvGraphicFramePr>
          <p:nvPr>
            <p:extLst>
              <p:ext uri="{D42A27DB-BD31-4B8C-83A1-F6EECF244321}">
                <p14:modId xmlns:p14="http://schemas.microsoft.com/office/powerpoint/2010/main" val="2130459993"/>
              </p:ext>
            </p:extLst>
          </p:nvPr>
        </p:nvGraphicFramePr>
        <p:xfrm>
          <a:off x="1208867" y="726911"/>
          <a:ext cx="10538847" cy="5138928"/>
        </p:xfrm>
        <a:graphic>
          <a:graphicData uri="http://schemas.openxmlformats.org/drawingml/2006/table">
            <a:tbl>
              <a:tblPr>
                <a:tableStyleId>{5C22544A-7EE6-4342-B048-85BDC9FD1C3A}</a:tableStyleId>
              </a:tblPr>
              <a:tblGrid>
                <a:gridCol w="1424832">
                  <a:extLst>
                    <a:ext uri="{9D8B030D-6E8A-4147-A177-3AD203B41FA5}">
                      <a16:colId xmlns:a16="http://schemas.microsoft.com/office/drawing/2014/main" val="2215923136"/>
                    </a:ext>
                  </a:extLst>
                </a:gridCol>
                <a:gridCol w="9114015">
                  <a:extLst>
                    <a:ext uri="{9D8B030D-6E8A-4147-A177-3AD203B41FA5}">
                      <a16:colId xmlns:a16="http://schemas.microsoft.com/office/drawing/2014/main" val="1923169113"/>
                    </a:ext>
                  </a:extLst>
                </a:gridCol>
              </a:tblGrid>
              <a:tr h="1703471">
                <a:tc rowSpan="2">
                  <a:txBody>
                    <a:bodyPr/>
                    <a:lstStyle/>
                    <a:p>
                      <a:pPr algn="ctr" fontAlgn="ctr"/>
                      <a:r>
                        <a:rPr lang="es-CO" sz="1400" b="1" u="none" strike="noStrike" dirty="0">
                          <a:effectLst/>
                        </a:rPr>
                        <a:t>Fundamentación</a:t>
                      </a:r>
                      <a:endParaRPr lang="es-CO" sz="14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fontAlgn="ctr"/>
                      <a:endParaRPr lang="es-CO" sz="1400" u="none" strike="noStrike" dirty="0">
                        <a:effectLst/>
                      </a:endParaRPr>
                    </a:p>
                    <a:p>
                      <a:pPr marL="0" marR="0" lvl="0" indent="0" algn="just" defTabSz="914400" rtl="0" eaLnBrk="1" fontAlgn="ctr" latinLnBrk="0" hangingPunct="1">
                        <a:lnSpc>
                          <a:spcPct val="100000"/>
                        </a:lnSpc>
                        <a:spcBef>
                          <a:spcPts val="0"/>
                        </a:spcBef>
                        <a:spcAft>
                          <a:spcPts val="0"/>
                        </a:spcAft>
                        <a:buClrTx/>
                        <a:buSzTx/>
                        <a:buFontTx/>
                        <a:buNone/>
                        <a:tabLst/>
                        <a:defRPr/>
                      </a:pPr>
                      <a:r>
                        <a:rPr lang="es-ES" sz="1400" b="1" u="none" strike="noStrike" dirty="0">
                          <a:effectLst/>
                        </a:rPr>
                        <a:t>Reorientar acciones de mejoramiento en consonancia con el Plan de Mejoramiento Institucional.</a:t>
                      </a:r>
                      <a:endParaRPr lang="es-ES" sz="1400" b="1" i="0" u="none" strike="noStrike" dirty="0">
                        <a:solidFill>
                          <a:srgbClr val="000000"/>
                        </a:solidFill>
                        <a:effectLst/>
                        <a:latin typeface="Arial" panose="020B0604020202020204" pitchFamily="34" charset="0"/>
                      </a:endParaRPr>
                    </a:p>
                    <a:p>
                      <a:pPr algn="just" fontAlgn="ctr"/>
                      <a:r>
                        <a:rPr lang="es-CO" sz="1400" dirty="0"/>
                        <a:t>De acuerdo con el PEI de la institución, que propone rutas pedagógicas para el fortalecimiento de las competencias comunicativas, la experiencia fomenta procesos que permiten a los estudiantes </a:t>
                      </a:r>
                      <a:r>
                        <a:rPr lang="es-CO" sz="1400" b="1" dirty="0"/>
                        <a:t>reconstruir sentidos, interpretar su realidad, expresar su identidad y proyectar su visión de futuro</a:t>
                      </a:r>
                      <a:r>
                        <a:rPr lang="es-CO" sz="1400" dirty="0"/>
                        <a:t>. El cojín se convierte en un espacio de encuentro entre la literatura y las vivencias personales, integrando dimensiones cognitivas, comunicativas y socioemocionales del desarrollo humano.</a:t>
                      </a:r>
                      <a:endParaRPr lang="es-CO" sz="14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3714961306"/>
                  </a:ext>
                </a:extLst>
              </a:tr>
              <a:tr h="3213906">
                <a:tc vMerge="1">
                  <a:txBody>
                    <a:bodyPr/>
                    <a:lstStyle/>
                    <a:p>
                      <a:endParaRPr lang="es-CO"/>
                    </a:p>
                  </a:txBody>
                  <a:tcP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ES" sz="1400" b="1" u="none" strike="noStrike" dirty="0">
                          <a:effectLst/>
                        </a:rPr>
                        <a:t>Consolidar referencias teóricas, metodológicas y conceptuales con los líderes de la experiencia.</a:t>
                      </a:r>
                    </a:p>
                    <a:p>
                      <a:pPr algn="just"/>
                      <a:r>
                        <a:rPr lang="es-CO" sz="1400" dirty="0"/>
                        <a:t>Asimismo, esta experiencia se articula con los principios institucionales de </a:t>
                      </a:r>
                      <a:r>
                        <a:rPr lang="es-CO" sz="1400" b="1" dirty="0"/>
                        <a:t>convivencia, respeto, inclusión y participación activa</a:t>
                      </a:r>
                      <a:r>
                        <a:rPr lang="es-CO" sz="1400" dirty="0"/>
                        <a:t>, pues invita a los estudiantes a compartir sus producciones literarias, escuchar a sus compañeros y valorar la diversidad de ideas, historias y sensibilidades presentes en el aula. El acto de leer y escribir desde la comodidad simbólica del cojín fortalece la confianza, la autonomía y la autoexpresión, permitiendo que cada estudiante se descubra como sujeto creador y como lector crítico de su entorno.</a:t>
                      </a:r>
                    </a:p>
                    <a:p>
                      <a:pPr algn="just"/>
                      <a:r>
                        <a:rPr lang="es-CO" sz="1400" dirty="0"/>
                        <a:t>En síntesis, </a:t>
                      </a:r>
                      <a:r>
                        <a:rPr lang="es-CO" sz="1400" b="1" dirty="0"/>
                        <a:t>“El cojín de mis sueños literarios”</a:t>
                      </a:r>
                      <a:r>
                        <a:rPr lang="es-CO" sz="1400" dirty="0"/>
                        <a:t> se constituye en una experiencia significativa que nutre el proyecto educativo del IEM Winnipeg, al promover procesos de formación integral mediante el arte de la palabra, fortaleciendo la competencia comunicativa y consolidando un ambiente escolar que celebra la imaginación, la sensibilidad y la creación literaria como caminos para transformar la vida y el aprendizaje</a:t>
                      </a:r>
                      <a:r>
                        <a:rPr lang="es-CO" sz="1400" dirty="0" smtClean="0"/>
                        <a:t>.</a:t>
                      </a:r>
                      <a:endParaRPr lang="es-CO" sz="1400" dirty="0"/>
                    </a:p>
                  </a:txBody>
                  <a:tcPr marL="4782" marR="4782" marT="4782" marB="0" anchor="ctr"/>
                </a:tc>
                <a:extLst>
                  <a:ext uri="{0D108BD9-81ED-4DB2-BD59-A6C34878D82A}">
                    <a16:rowId xmlns:a16="http://schemas.microsoft.com/office/drawing/2014/main" val="3488044358"/>
                  </a:ext>
                </a:extLst>
              </a:tr>
            </a:tbl>
          </a:graphicData>
        </a:graphic>
      </p:graphicFrame>
    </p:spTree>
    <p:extLst>
      <p:ext uri="{BB962C8B-B14F-4D97-AF65-F5344CB8AC3E}">
        <p14:creationId xmlns:p14="http://schemas.microsoft.com/office/powerpoint/2010/main" val="802821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243549992"/>
              </p:ext>
            </p:extLst>
          </p:nvPr>
        </p:nvGraphicFramePr>
        <p:xfrm>
          <a:off x="970084" y="957729"/>
          <a:ext cx="10251832" cy="4942542"/>
        </p:xfrm>
        <a:graphic>
          <a:graphicData uri="http://schemas.openxmlformats.org/drawingml/2006/table">
            <a:tbl>
              <a:tblPr>
                <a:tableStyleId>{5C22544A-7EE6-4342-B048-85BDC9FD1C3A}</a:tableStyleId>
              </a:tblPr>
              <a:tblGrid>
                <a:gridCol w="2104295">
                  <a:extLst>
                    <a:ext uri="{9D8B030D-6E8A-4147-A177-3AD203B41FA5}">
                      <a16:colId xmlns:a16="http://schemas.microsoft.com/office/drawing/2014/main" val="2667395497"/>
                    </a:ext>
                  </a:extLst>
                </a:gridCol>
                <a:gridCol w="8147537">
                  <a:extLst>
                    <a:ext uri="{9D8B030D-6E8A-4147-A177-3AD203B41FA5}">
                      <a16:colId xmlns:a16="http://schemas.microsoft.com/office/drawing/2014/main" val="539675217"/>
                    </a:ext>
                  </a:extLst>
                </a:gridCol>
              </a:tblGrid>
              <a:tr h="2488467">
                <a:tc>
                  <a:txBody>
                    <a:bodyPr/>
                    <a:lstStyle/>
                    <a:p>
                      <a:pPr algn="l" fontAlgn="ctr"/>
                      <a:r>
                        <a:rPr lang="es-CO" sz="1800" u="none" strike="noStrike" dirty="0">
                          <a:effectLst/>
                        </a:rPr>
                        <a:t>Pertinencia</a:t>
                      </a:r>
                      <a:endParaRPr lang="es-CO" sz="1800" b="1" i="0" u="none" strike="noStrike" dirty="0">
                        <a:solidFill>
                          <a:srgbClr val="000000"/>
                        </a:solidFill>
                        <a:effectLst/>
                        <a:latin typeface="Arial" panose="020B0604020202020204" pitchFamily="34" charset="0"/>
                      </a:endParaRPr>
                    </a:p>
                  </a:txBody>
                  <a:tcPr marL="4782" marR="4782" marT="4782"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CO" dirty="0"/>
                        <a:t>La experiencia significativa </a:t>
                      </a:r>
                      <a:r>
                        <a:rPr lang="es-CO" b="1" dirty="0"/>
                        <a:t>“El cojín de mis sueños literarios”</a:t>
                      </a:r>
                      <a:r>
                        <a:rPr lang="es-CO" dirty="0"/>
                        <a:t> es pertinente para la Institución Educativa Municipal Winnipeg porque responde directamente a las necesidades formativas identificadas en el PEI, especialmente en lo relativo al fortalecimiento de las competencias comunicativas, el desarrollo de la creatividad y la consolidación de ambientes de aprendizaje sensibles, motivadores y </a:t>
                      </a:r>
                      <a:r>
                        <a:rPr lang="es-CO" dirty="0" err="1"/>
                        <a:t>humanizantes</a:t>
                      </a:r>
                      <a:r>
                        <a:rPr lang="es-CO" dirty="0"/>
                        <a:t>.</a:t>
                      </a:r>
                    </a:p>
                    <a:p>
                      <a:pPr algn="just" fontAlgn="ctr"/>
                      <a:r>
                        <a:rPr lang="es-CO" dirty="0"/>
                        <a:t>En primer lugar, la pertinencia se evidencia en su </a:t>
                      </a:r>
                      <a:r>
                        <a:rPr lang="es-CO" b="1" dirty="0"/>
                        <a:t>correspondencia con el enfoque pedagógico institucional</a:t>
                      </a:r>
                      <a:r>
                        <a:rPr lang="es-CO" dirty="0"/>
                        <a:t>, que reconoce al estudiante como un sujeto activo, capaz de construir significado a partir de su experiencia, sus emociones y su interacción con el entorno. El uso del cojín como recurso didáctico favorece un ambiente de confianza y bienestar emocional que permite al estudiante expresarse sin miedo al error, alineándose con la visión del PEI de promover espacios educativos flexibles, acogedores y centrados en la persona.</a:t>
                      </a:r>
                      <a:endParaRPr lang="es-ES" sz="18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782949291"/>
                  </a:ext>
                </a:extLst>
              </a:tr>
            </a:tbl>
          </a:graphicData>
        </a:graphic>
      </p:graphicFrame>
    </p:spTree>
    <p:extLst>
      <p:ext uri="{BB962C8B-B14F-4D97-AF65-F5344CB8AC3E}">
        <p14:creationId xmlns:p14="http://schemas.microsoft.com/office/powerpoint/2010/main" val="3731378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336AE-D4A5-1138-437A-152D6A84AAE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8F51EFA-7CE1-EB12-B141-2DAAAB5544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a:extLst>
              <a:ext uri="{FF2B5EF4-FFF2-40B4-BE49-F238E27FC236}">
                <a16:creationId xmlns:a16="http://schemas.microsoft.com/office/drawing/2014/main" id="{BB21F88B-0688-CB0A-C888-353658EDB5F2}"/>
              </a:ext>
            </a:extLst>
          </p:cNvPr>
          <p:cNvGraphicFramePr>
            <a:graphicFrameLocks noGrp="1"/>
          </p:cNvGraphicFramePr>
          <p:nvPr>
            <p:extLst>
              <p:ext uri="{D42A27DB-BD31-4B8C-83A1-F6EECF244321}">
                <p14:modId xmlns:p14="http://schemas.microsoft.com/office/powerpoint/2010/main" val="3211249674"/>
              </p:ext>
            </p:extLst>
          </p:nvPr>
        </p:nvGraphicFramePr>
        <p:xfrm>
          <a:off x="846098" y="809524"/>
          <a:ext cx="10251832" cy="5491182"/>
        </p:xfrm>
        <a:graphic>
          <a:graphicData uri="http://schemas.openxmlformats.org/drawingml/2006/table">
            <a:tbl>
              <a:tblPr>
                <a:tableStyleId>{5C22544A-7EE6-4342-B048-85BDC9FD1C3A}</a:tableStyleId>
              </a:tblPr>
              <a:tblGrid>
                <a:gridCol w="2104295">
                  <a:extLst>
                    <a:ext uri="{9D8B030D-6E8A-4147-A177-3AD203B41FA5}">
                      <a16:colId xmlns:a16="http://schemas.microsoft.com/office/drawing/2014/main" val="2667395497"/>
                    </a:ext>
                  </a:extLst>
                </a:gridCol>
                <a:gridCol w="8147537">
                  <a:extLst>
                    <a:ext uri="{9D8B030D-6E8A-4147-A177-3AD203B41FA5}">
                      <a16:colId xmlns:a16="http://schemas.microsoft.com/office/drawing/2014/main" val="539675217"/>
                    </a:ext>
                  </a:extLst>
                </a:gridCol>
              </a:tblGrid>
              <a:tr h="2488467">
                <a:tc>
                  <a:txBody>
                    <a:bodyPr/>
                    <a:lstStyle/>
                    <a:p>
                      <a:pPr algn="l" fontAlgn="ctr"/>
                      <a:r>
                        <a:rPr lang="es-CO" sz="1800" u="none" strike="noStrike" dirty="0">
                          <a:effectLst/>
                        </a:rPr>
                        <a:t>Pertinencia</a:t>
                      </a:r>
                      <a:endParaRPr lang="es-CO" sz="1800" b="1" i="0" u="none" strike="noStrike" dirty="0">
                        <a:solidFill>
                          <a:srgbClr val="000000"/>
                        </a:solidFill>
                        <a:effectLst/>
                        <a:latin typeface="Arial" panose="020B0604020202020204" pitchFamily="34" charset="0"/>
                      </a:endParaRPr>
                    </a:p>
                  </a:txBody>
                  <a:tcPr marL="4782" marR="4782" marT="4782"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CO" dirty="0"/>
                        <a:t>La experiencia responde a la necesidad de </a:t>
                      </a:r>
                      <a:r>
                        <a:rPr lang="es-CO" b="1" dirty="0"/>
                        <a:t>fortalecer la competencia lectora y escritora</a:t>
                      </a:r>
                      <a:r>
                        <a:rPr lang="es-CO" dirty="0"/>
                        <a:t>, una prioridad curricular tanto en los Estándares Básicos de Competencias en Lenguaje como en los DBA del Ministerio de Educación Nacional. En el contexto institucional, se reconoce que los estudiantes requieren estrategias innovadoras que despierten el interés por la lectura y la producción de textos, superando prácticas tradicionales que generan desmotivación. Este proyecto propone un vínculo significativo entre lo emocional y lo literario, haciendo que leer y escribir se conviertan en experiencias placenteras, personales y creativas.</a:t>
                      </a:r>
                    </a:p>
                    <a:p>
                      <a:pPr algn="just" fontAlgn="ctr"/>
                      <a:r>
                        <a:rPr lang="es-CO" dirty="0"/>
                        <a:t>Finalmente, la pertinencia se refleja en el aporte de la experiencia a la </a:t>
                      </a:r>
                      <a:r>
                        <a:rPr lang="es-CO" b="1" dirty="0"/>
                        <a:t>formación integral y al proyecto de vida</a:t>
                      </a:r>
                      <a:r>
                        <a:rPr lang="es-CO" dirty="0"/>
                        <a:t>, líneas fundamentales del PEI. Al estimular la imaginación, la proyección personal y la expresión de sueños, metas y emociones, la experiencia contribuye al desarrollo de habilidades blandas y competencias comunicativas esenciales para la vida académica, personal y futura de los estudiantes.</a:t>
                      </a:r>
                      <a:endParaRPr lang="es-ES" sz="18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782949291"/>
                  </a:ext>
                </a:extLst>
              </a:tr>
            </a:tbl>
          </a:graphicData>
        </a:graphic>
      </p:graphicFrame>
    </p:spTree>
    <p:extLst>
      <p:ext uri="{BB962C8B-B14F-4D97-AF65-F5344CB8AC3E}">
        <p14:creationId xmlns:p14="http://schemas.microsoft.com/office/powerpoint/2010/main" val="8453572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3927701268"/>
              </p:ext>
            </p:extLst>
          </p:nvPr>
        </p:nvGraphicFramePr>
        <p:xfrm>
          <a:off x="1346200" y="606424"/>
          <a:ext cx="10287000" cy="5057776"/>
        </p:xfrm>
        <a:graphic>
          <a:graphicData uri="http://schemas.openxmlformats.org/drawingml/2006/table">
            <a:tbl>
              <a:tblPr>
                <a:tableStyleId>{5C22544A-7EE6-4342-B048-85BDC9FD1C3A}</a:tableStyleId>
              </a:tblPr>
              <a:tblGrid>
                <a:gridCol w="1893277">
                  <a:extLst>
                    <a:ext uri="{9D8B030D-6E8A-4147-A177-3AD203B41FA5}">
                      <a16:colId xmlns:a16="http://schemas.microsoft.com/office/drawing/2014/main" val="2667395497"/>
                    </a:ext>
                  </a:extLst>
                </a:gridCol>
                <a:gridCol w="8393723">
                  <a:extLst>
                    <a:ext uri="{9D8B030D-6E8A-4147-A177-3AD203B41FA5}">
                      <a16:colId xmlns:a16="http://schemas.microsoft.com/office/drawing/2014/main" val="539675217"/>
                    </a:ext>
                  </a:extLst>
                </a:gridCol>
              </a:tblGrid>
              <a:tr h="5057776">
                <a:tc>
                  <a:txBody>
                    <a:bodyPr/>
                    <a:lstStyle/>
                    <a:p>
                      <a:pPr algn="l" fontAlgn="ctr"/>
                      <a:r>
                        <a:rPr lang="es-CO" sz="1400" u="none" strike="noStrike" dirty="0">
                          <a:effectLst/>
                        </a:rPr>
                        <a:t>Consistencia</a:t>
                      </a:r>
                      <a:endParaRPr lang="es-CO" sz="1400" b="1" i="0" u="none" strike="noStrike" dirty="0">
                        <a:solidFill>
                          <a:srgbClr val="000000"/>
                        </a:solidFill>
                        <a:effectLst/>
                        <a:latin typeface="Arial" panose="020B0604020202020204" pitchFamily="34" charset="0"/>
                      </a:endParaRPr>
                    </a:p>
                  </a:txBody>
                  <a:tcPr marL="4782" marR="4782" marT="4782" marB="0" anchor="ctr"/>
                </a:tc>
                <a:tc>
                  <a:txBody>
                    <a:bodyPr/>
                    <a:lstStyle/>
                    <a:p>
                      <a:pPr algn="l" fontAlgn="ctr"/>
                      <a:endParaRPr lang="es-ES" sz="1400" u="none" strike="noStrike" dirty="0">
                        <a:effectLst/>
                      </a:endParaRPr>
                    </a:p>
                    <a:p>
                      <a:pPr algn="just" fontAlgn="ctr"/>
                      <a:r>
                        <a:rPr lang="es-CO" sz="1400" dirty="0"/>
                        <a:t>La experiencia significativa </a:t>
                      </a:r>
                      <a:r>
                        <a:rPr lang="es-CO" sz="1400" b="1" dirty="0"/>
                        <a:t>“El cojín de mis sueños literarios”</a:t>
                      </a:r>
                      <a:r>
                        <a:rPr lang="es-CO" sz="1400" dirty="0"/>
                        <a:t> es consistente porque integra de manera coherente los propósitos del PEI de la Institución </a:t>
                      </a:r>
                      <a:r>
                        <a:rPr lang="es-CO" sz="1400" dirty="0" smtClean="0"/>
                        <a:t>Educativa</a:t>
                      </a:r>
                      <a:r>
                        <a:rPr lang="es-CO" sz="1400" baseline="0" dirty="0" smtClean="0"/>
                        <a:t> </a:t>
                      </a:r>
                      <a:r>
                        <a:rPr lang="es-CO" sz="1400" dirty="0" smtClean="0"/>
                        <a:t>con </a:t>
                      </a:r>
                      <a:r>
                        <a:rPr lang="es-CO" sz="1400" dirty="0"/>
                        <a:t>las competencias comunicativas establecidas en los Estándares Básicos y los DBA. La propuesta articula objetivos, actividades y recursos centrados en el desarrollo de la lectura, la escritura y la expresión oral, utilizando el cojín como mediador afectivo y pedagógico. Cada acción planteada responde a las necesidades reales de los estudiantes, promueve la participación, fortalece la motivación por la literatura y garantiza la continuidad pedagógica entre lo emocional, lo cognitivo y lo comunicativo. Esta coherencia interna asegura que la experiencia sea significativa, pertinente y alineada con la ruta formativa institucional.</a:t>
                      </a:r>
                    </a:p>
                    <a:p>
                      <a:pPr algn="just" fontAlgn="ctr"/>
                      <a:r>
                        <a:rPr lang="es-CO" sz="1400" dirty="0"/>
                        <a:t>La experiencia </a:t>
                      </a:r>
                      <a:r>
                        <a:rPr lang="es-CO" sz="1400" b="1" dirty="0"/>
                        <a:t>“El cojín de mis sueños literarios”</a:t>
                      </a:r>
                      <a:r>
                        <a:rPr lang="es-CO" sz="1400" dirty="0"/>
                        <a:t> permitió reconocer avances importantes en la motivación lectora y en la expresión creativa de los estudiantes; sin embargo, también invitó a reflexionar sobre aspectos que pueden mejorarse. Fue evidente que el recurso del cojín generó un ambiente emocional positivo, pero se identificó la necesidad de diversificar aún más las estrategias para involucrar a todos los estudiantes por igual. De igual manera, se reconoce que algunos momentos requerían una mejor gestión del tiempo y mayor claridad en las orientaciones para optimizar los procesos de lectura y escritura. Esta revisión honesta permite fortalecer la propuesta, ajustar sus dinámicas y continuar construyendo experiencias más inclusivas, significativas y coherentes con los objetivos del área y del PEI.</a:t>
                      </a:r>
                      <a:endParaRPr lang="es-ES" sz="14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782949291"/>
                  </a:ext>
                </a:extLst>
              </a:tr>
            </a:tbl>
          </a:graphicData>
        </a:graphic>
      </p:graphicFrame>
    </p:spTree>
    <p:extLst>
      <p:ext uri="{BB962C8B-B14F-4D97-AF65-F5344CB8AC3E}">
        <p14:creationId xmlns:p14="http://schemas.microsoft.com/office/powerpoint/2010/main" val="15238142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3437218804"/>
              </p:ext>
            </p:extLst>
          </p:nvPr>
        </p:nvGraphicFramePr>
        <p:xfrm>
          <a:off x="838200" y="1825624"/>
          <a:ext cx="10333892" cy="4119582"/>
        </p:xfrm>
        <a:graphic>
          <a:graphicData uri="http://schemas.openxmlformats.org/drawingml/2006/table">
            <a:tbl>
              <a:tblPr>
                <a:tableStyleId>{5C22544A-7EE6-4342-B048-85BDC9FD1C3A}</a:tableStyleId>
              </a:tblPr>
              <a:tblGrid>
                <a:gridCol w="2209800">
                  <a:extLst>
                    <a:ext uri="{9D8B030D-6E8A-4147-A177-3AD203B41FA5}">
                      <a16:colId xmlns:a16="http://schemas.microsoft.com/office/drawing/2014/main" val="2667395497"/>
                    </a:ext>
                  </a:extLst>
                </a:gridCol>
                <a:gridCol w="8124092">
                  <a:extLst>
                    <a:ext uri="{9D8B030D-6E8A-4147-A177-3AD203B41FA5}">
                      <a16:colId xmlns:a16="http://schemas.microsoft.com/office/drawing/2014/main" val="539675217"/>
                    </a:ext>
                  </a:extLst>
                </a:gridCol>
              </a:tblGrid>
              <a:tr h="3074621">
                <a:tc>
                  <a:txBody>
                    <a:bodyPr/>
                    <a:lstStyle/>
                    <a:p>
                      <a:pPr algn="l" fontAlgn="ctr"/>
                      <a:r>
                        <a:rPr lang="es-CO" sz="1800" u="none" strike="noStrike" dirty="0">
                          <a:effectLst/>
                        </a:rPr>
                        <a:t>Madurez</a:t>
                      </a:r>
                      <a:endParaRPr lang="es-CO" sz="18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fontAlgn="ctr"/>
                      <a:r>
                        <a:rPr lang="es-CO" dirty="0"/>
                        <a:t>La experiencia </a:t>
                      </a:r>
                      <a:r>
                        <a:rPr lang="es-CO" b="1" dirty="0"/>
                        <a:t>“El cojín de mis sueños literarios”</a:t>
                      </a:r>
                      <a:r>
                        <a:rPr lang="es-CO" dirty="0"/>
                        <a:t>, con 18 años de trayectoria, evidencia un alto nivel de madurez pedagógica. A lo largo de este tiempo, ha demostrado estabilidad, continuidad y capacidad de adaptación a diferentes grupos estudiantiles y contextos institucionales. Su permanencia confirma su impacto positivo en la motivación lectora, la creatividad y el fortalecimiento de las competencias comunicativas. La experiencia ha evolucionado, ajustando estrategias y recursos según las necesidades detectadas, lo que refleja un proceso reflexivo y sostenido de mejora. Gracias a su consistencia y consolidación, se ha convertido en una práctica reconocida, significativa y alineada de manera sólida con el PEI, consolidándose como un proyecto institucional confiable, pertinente y transformador.</a:t>
                      </a:r>
                      <a:endParaRPr lang="es-ES" sz="18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782949291"/>
                  </a:ext>
                </a:extLst>
              </a:tr>
            </a:tbl>
          </a:graphicData>
        </a:graphic>
      </p:graphicFrame>
    </p:spTree>
    <p:extLst>
      <p:ext uri="{BB962C8B-B14F-4D97-AF65-F5344CB8AC3E}">
        <p14:creationId xmlns:p14="http://schemas.microsoft.com/office/powerpoint/2010/main" val="35388487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1499405872"/>
              </p:ext>
            </p:extLst>
          </p:nvPr>
        </p:nvGraphicFramePr>
        <p:xfrm>
          <a:off x="838198" y="1825625"/>
          <a:ext cx="10451124" cy="3845262"/>
        </p:xfrm>
        <a:graphic>
          <a:graphicData uri="http://schemas.openxmlformats.org/drawingml/2006/table">
            <a:tbl>
              <a:tblPr>
                <a:tableStyleId>{5C22544A-7EE6-4342-B048-85BDC9FD1C3A}</a:tableStyleId>
              </a:tblPr>
              <a:tblGrid>
                <a:gridCol w="2420817">
                  <a:extLst>
                    <a:ext uri="{9D8B030D-6E8A-4147-A177-3AD203B41FA5}">
                      <a16:colId xmlns:a16="http://schemas.microsoft.com/office/drawing/2014/main" val="2667395497"/>
                    </a:ext>
                  </a:extLst>
                </a:gridCol>
                <a:gridCol w="8030307">
                  <a:extLst>
                    <a:ext uri="{9D8B030D-6E8A-4147-A177-3AD203B41FA5}">
                      <a16:colId xmlns:a16="http://schemas.microsoft.com/office/drawing/2014/main" val="539675217"/>
                    </a:ext>
                  </a:extLst>
                </a:gridCol>
              </a:tblGrid>
              <a:tr h="3215298">
                <a:tc>
                  <a:txBody>
                    <a:bodyPr/>
                    <a:lstStyle/>
                    <a:p>
                      <a:pPr algn="l" fontAlgn="ctr"/>
                      <a:r>
                        <a:rPr lang="es-CO" sz="1800" u="none" strike="noStrike" dirty="0">
                          <a:effectLst/>
                        </a:rPr>
                        <a:t>Empoderamiento</a:t>
                      </a:r>
                      <a:endParaRPr lang="es-CO" sz="18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fontAlgn="ctr"/>
                      <a:r>
                        <a:rPr lang="es-CO" dirty="0"/>
                        <a:t>La experiencia </a:t>
                      </a:r>
                      <a:r>
                        <a:rPr lang="es-CO" b="1" dirty="0"/>
                        <a:t>“El cojín de mis sueños literarios”</a:t>
                      </a:r>
                      <a:r>
                        <a:rPr lang="es-CO" dirty="0"/>
                        <a:t> involucra de manera articulada a maestros, directivos, estudiantes y al sector productivo, cada uno desde sus roles y necesidades. Los docentes aportan orientación pedagógica y acompañamiento; los directivos facilitan los espacios, recursos y respaldo institucional; los estudiantes participan activamente creando, leyendo y compartiendo sus producciones; y el sector productivo contribuye con materiales, apoyo logístico o alianzas culturales que enriquecen la propuesta. Esta colaboración conjunta fortalece el proyecto, promueve el mejoramiento continuo y garantiza que la experiencia se mantenga dinámica, sostenible e integrada al entorno social e institucional.</a:t>
                      </a:r>
                      <a:endParaRPr lang="es-ES" sz="18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1597408403"/>
                  </a:ext>
                </a:extLst>
              </a:tr>
            </a:tbl>
          </a:graphicData>
        </a:graphic>
      </p:graphicFrame>
    </p:spTree>
    <p:extLst>
      <p:ext uri="{BB962C8B-B14F-4D97-AF65-F5344CB8AC3E}">
        <p14:creationId xmlns:p14="http://schemas.microsoft.com/office/powerpoint/2010/main" val="943985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39537-5C59-A833-DECA-ABBA6DAFFA7B}"/>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1BCB20B-5656-150C-E62B-BE5343FE7E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a:extLst>
              <a:ext uri="{FF2B5EF4-FFF2-40B4-BE49-F238E27FC236}">
                <a16:creationId xmlns:a16="http://schemas.microsoft.com/office/drawing/2014/main" id="{81CBE5DE-6F58-4E03-66A8-1EE0E3E89A4A}"/>
              </a:ext>
            </a:extLst>
          </p:cNvPr>
          <p:cNvGraphicFramePr>
            <a:graphicFrameLocks noGrp="1"/>
          </p:cNvGraphicFramePr>
          <p:nvPr>
            <p:extLst>
              <p:ext uri="{D42A27DB-BD31-4B8C-83A1-F6EECF244321}">
                <p14:modId xmlns:p14="http://schemas.microsoft.com/office/powerpoint/2010/main" val="2072697455"/>
              </p:ext>
            </p:extLst>
          </p:nvPr>
        </p:nvGraphicFramePr>
        <p:xfrm>
          <a:off x="671147" y="912009"/>
          <a:ext cx="10181492" cy="5033982"/>
        </p:xfrm>
        <a:graphic>
          <a:graphicData uri="http://schemas.openxmlformats.org/drawingml/2006/table">
            <a:tbl>
              <a:tblPr>
                <a:tableStyleId>{5C22544A-7EE6-4342-B048-85BDC9FD1C3A}</a:tableStyleId>
              </a:tblPr>
              <a:tblGrid>
                <a:gridCol w="3112477">
                  <a:extLst>
                    <a:ext uri="{9D8B030D-6E8A-4147-A177-3AD203B41FA5}">
                      <a16:colId xmlns:a16="http://schemas.microsoft.com/office/drawing/2014/main" val="2667395497"/>
                    </a:ext>
                  </a:extLst>
                </a:gridCol>
                <a:gridCol w="7069015">
                  <a:extLst>
                    <a:ext uri="{9D8B030D-6E8A-4147-A177-3AD203B41FA5}">
                      <a16:colId xmlns:a16="http://schemas.microsoft.com/office/drawing/2014/main" val="539675217"/>
                    </a:ext>
                  </a:extLst>
                </a:gridCol>
              </a:tblGrid>
              <a:tr h="3578713">
                <a:tc>
                  <a:txBody>
                    <a:bodyPr/>
                    <a:lstStyle/>
                    <a:p>
                      <a:pPr algn="l" fontAlgn="ctr"/>
                      <a:r>
                        <a:rPr lang="es-CO" sz="2000" u="none" strike="noStrike" dirty="0">
                          <a:effectLst/>
                        </a:rPr>
                        <a:t>Evaluación y seguimiento</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a:r>
                        <a:rPr lang="es-CO" sz="1600" b="1" kern="1200" dirty="0">
                          <a:solidFill>
                            <a:schemeClr val="dk1"/>
                          </a:solidFill>
                          <a:effectLst/>
                          <a:latin typeface="+mn-lt"/>
                          <a:ea typeface="+mn-ea"/>
                          <a:cs typeface="+mn-cs"/>
                        </a:rPr>
                        <a:t>Seguimiento y Valoración de "El Cojín de Mis Sueños Literarios"</a:t>
                      </a:r>
                      <a:endParaRPr lang="es-CO" sz="1600" kern="1200" dirty="0">
                        <a:solidFill>
                          <a:schemeClr val="dk1"/>
                        </a:solidFill>
                        <a:effectLst/>
                        <a:latin typeface="+mn-lt"/>
                        <a:ea typeface="+mn-ea"/>
                        <a:cs typeface="+mn-cs"/>
                      </a:endParaRPr>
                    </a:p>
                    <a:p>
                      <a:pPr algn="just"/>
                      <a:r>
                        <a:rPr lang="es-CO" sz="1600" kern="1200" dirty="0">
                          <a:solidFill>
                            <a:schemeClr val="dk1"/>
                          </a:solidFill>
                          <a:effectLst/>
                          <a:latin typeface="+mn-lt"/>
                          <a:ea typeface="+mn-ea"/>
                          <a:cs typeface="+mn-cs"/>
                        </a:rPr>
                        <a:t>1</a:t>
                      </a:r>
                      <a:r>
                        <a:rPr lang="es-CO" sz="1400" kern="1200" dirty="0">
                          <a:solidFill>
                            <a:schemeClr val="dk1"/>
                          </a:solidFill>
                          <a:effectLst/>
                          <a:latin typeface="+mn-lt"/>
                          <a:ea typeface="+mn-ea"/>
                          <a:cs typeface="+mn-cs"/>
                        </a:rPr>
                        <a:t>. </a:t>
                      </a:r>
                      <a:r>
                        <a:rPr lang="es-CO" sz="1400" b="1" kern="1200" dirty="0">
                          <a:solidFill>
                            <a:schemeClr val="dk1"/>
                          </a:solidFill>
                          <a:effectLst/>
                          <a:latin typeface="+mn-lt"/>
                          <a:ea typeface="+mn-ea"/>
                          <a:cs typeface="+mn-cs"/>
                        </a:rPr>
                        <a:t>Metodología de seguimiento</a:t>
                      </a:r>
                      <a:endParaRPr lang="es-CO" sz="1400" kern="1200" dirty="0">
                        <a:solidFill>
                          <a:schemeClr val="dk1"/>
                        </a:solidFill>
                        <a:effectLst/>
                        <a:latin typeface="+mn-lt"/>
                        <a:ea typeface="+mn-ea"/>
                        <a:cs typeface="+mn-cs"/>
                      </a:endParaRPr>
                    </a:p>
                    <a:p>
                      <a:pPr algn="just"/>
                      <a:r>
                        <a:rPr lang="es-CO" sz="1400" kern="1200" dirty="0">
                          <a:solidFill>
                            <a:schemeClr val="dk1"/>
                          </a:solidFill>
                          <a:effectLst/>
                          <a:latin typeface="+mn-lt"/>
                          <a:ea typeface="+mn-ea"/>
                          <a:cs typeface="+mn-cs"/>
                        </a:rPr>
                        <a:t>- </a:t>
                      </a:r>
                      <a:r>
                        <a:rPr lang="es-CO" sz="1400" b="1" kern="1200" dirty="0">
                          <a:solidFill>
                            <a:schemeClr val="dk1"/>
                          </a:solidFill>
                          <a:effectLst/>
                          <a:latin typeface="+mn-lt"/>
                          <a:ea typeface="+mn-ea"/>
                          <a:cs typeface="+mn-cs"/>
                        </a:rPr>
                        <a:t>Evaluación continua:</a:t>
                      </a:r>
                      <a:r>
                        <a:rPr lang="es-CO" sz="1400" kern="1200" dirty="0">
                          <a:solidFill>
                            <a:schemeClr val="dk1"/>
                          </a:solidFill>
                          <a:effectLst/>
                          <a:latin typeface="+mn-lt"/>
                          <a:ea typeface="+mn-ea"/>
                          <a:cs typeface="+mn-cs"/>
                        </a:rPr>
                        <a:t> Se implementa un sistema de evaluación formativa que permite recoger información sobre el progreso de los estudiantes a lo largo de la experiencia. Esto incluye observaciones en clase, retroalimentación frecuente y autoevaluaciones.</a:t>
                      </a:r>
                    </a:p>
                    <a:p>
                      <a:pPr algn="just"/>
                      <a:r>
                        <a:rPr lang="es-CO" sz="1400" kern="1200" dirty="0">
                          <a:solidFill>
                            <a:schemeClr val="dk1"/>
                          </a:solidFill>
                          <a:effectLst/>
                          <a:latin typeface="+mn-lt"/>
                          <a:ea typeface="+mn-ea"/>
                          <a:cs typeface="+mn-cs"/>
                        </a:rPr>
                        <a:t>-</a:t>
                      </a:r>
                      <a:r>
                        <a:rPr lang="es-CO" sz="1400" b="1" kern="1200" dirty="0">
                          <a:solidFill>
                            <a:schemeClr val="dk1"/>
                          </a:solidFill>
                          <a:effectLst/>
                          <a:latin typeface="+mn-lt"/>
                          <a:ea typeface="+mn-ea"/>
                          <a:cs typeface="+mn-cs"/>
                        </a:rPr>
                        <a:t>Reuniones de Reflexión:</a:t>
                      </a:r>
                      <a:r>
                        <a:rPr lang="es-CO" sz="1400" kern="1200" dirty="0">
                          <a:solidFill>
                            <a:schemeClr val="dk1"/>
                          </a:solidFill>
                          <a:effectLst/>
                          <a:latin typeface="+mn-lt"/>
                          <a:ea typeface="+mn-ea"/>
                          <a:cs typeface="+mn-cs"/>
                        </a:rPr>
                        <a:t> Se realizan encuentros periódicos entre docentes y estudiantes para discutir avances, desafíos y sugerencias, promoviendo un ambiente de aprendizaje colaborativo.</a:t>
                      </a:r>
                    </a:p>
                    <a:p>
                      <a:pPr algn="just"/>
                      <a:r>
                        <a:rPr lang="es-CO" sz="1400" b="1" kern="1200" dirty="0">
                          <a:solidFill>
                            <a:schemeClr val="dk1"/>
                          </a:solidFill>
                          <a:effectLst/>
                          <a:latin typeface="+mn-lt"/>
                          <a:ea typeface="+mn-ea"/>
                          <a:cs typeface="+mn-cs"/>
                        </a:rPr>
                        <a:t>2. Mecanismos de Valoración</a:t>
                      </a:r>
                      <a:endParaRPr lang="es-CO" sz="1400" kern="1200" dirty="0">
                        <a:solidFill>
                          <a:schemeClr val="dk1"/>
                        </a:solidFill>
                        <a:effectLst/>
                        <a:latin typeface="+mn-lt"/>
                        <a:ea typeface="+mn-ea"/>
                        <a:cs typeface="+mn-cs"/>
                      </a:endParaRPr>
                    </a:p>
                    <a:p>
                      <a:pPr algn="just"/>
                      <a:r>
                        <a:rPr lang="es-CO" sz="1400" kern="1200" dirty="0">
                          <a:solidFill>
                            <a:schemeClr val="dk1"/>
                          </a:solidFill>
                          <a:effectLst/>
                          <a:latin typeface="+mn-lt"/>
                          <a:ea typeface="+mn-ea"/>
                          <a:cs typeface="+mn-cs"/>
                        </a:rPr>
                        <a:t>- </a:t>
                      </a:r>
                      <a:r>
                        <a:rPr lang="es-CO" sz="1400" b="1" kern="1200" dirty="0">
                          <a:solidFill>
                            <a:schemeClr val="dk1"/>
                          </a:solidFill>
                          <a:effectLst/>
                          <a:latin typeface="+mn-lt"/>
                          <a:ea typeface="+mn-ea"/>
                          <a:cs typeface="+mn-cs"/>
                        </a:rPr>
                        <a:t>Portafolios de Aprendizaje:</a:t>
                      </a:r>
                      <a:r>
                        <a:rPr lang="es-CO" sz="1400" kern="1200" dirty="0">
                          <a:solidFill>
                            <a:schemeClr val="dk1"/>
                          </a:solidFill>
                          <a:effectLst/>
                          <a:latin typeface="+mn-lt"/>
                          <a:ea typeface="+mn-ea"/>
                          <a:cs typeface="+mn-cs"/>
                        </a:rPr>
                        <a:t> Cada estudiante mantiene un portafolio donde recopila sus trabajos, reflexiones y logros, facilitando la autoevaluación y el seguimiento de su desarrollo personal y académico.</a:t>
                      </a:r>
                    </a:p>
                    <a:p>
                      <a:pPr algn="just"/>
                      <a:r>
                        <a:rPr lang="es-CO" sz="1400" kern="1200" dirty="0">
                          <a:solidFill>
                            <a:schemeClr val="dk1"/>
                          </a:solidFill>
                          <a:effectLst/>
                          <a:latin typeface="+mn-lt"/>
                          <a:ea typeface="+mn-ea"/>
                          <a:cs typeface="+mn-cs"/>
                        </a:rPr>
                        <a:t>-</a:t>
                      </a:r>
                      <a:r>
                        <a:rPr lang="es-CO" sz="1400" b="1" kern="1200" dirty="0">
                          <a:solidFill>
                            <a:schemeClr val="dk1"/>
                          </a:solidFill>
                          <a:effectLst/>
                          <a:latin typeface="+mn-lt"/>
                          <a:ea typeface="+mn-ea"/>
                          <a:cs typeface="+mn-cs"/>
                        </a:rPr>
                        <a:t>Encuestas de Satisfacción:</a:t>
                      </a:r>
                      <a:r>
                        <a:rPr lang="es-CO" sz="1400" kern="1200" dirty="0">
                          <a:solidFill>
                            <a:schemeClr val="dk1"/>
                          </a:solidFill>
                          <a:effectLst/>
                          <a:latin typeface="+mn-lt"/>
                          <a:ea typeface="+mn-ea"/>
                          <a:cs typeface="+mn-cs"/>
                        </a:rPr>
                        <a:t> Se aplican encuestas al finalizar cada periodo o actividad para recoger opiniones sobre la experiencia, la metodología utilizada y el impacto en su aprendizaje.</a:t>
                      </a:r>
                    </a:p>
                    <a:p>
                      <a:pPr algn="just"/>
                      <a:r>
                        <a:rPr lang="es-CO" sz="1400" kern="1200" dirty="0">
                          <a:solidFill>
                            <a:schemeClr val="dk1"/>
                          </a:solidFill>
                          <a:effectLst/>
                          <a:latin typeface="+mn-lt"/>
                          <a:ea typeface="+mn-ea"/>
                          <a:cs typeface="+mn-cs"/>
                        </a:rPr>
                        <a:t>-</a:t>
                      </a:r>
                      <a:r>
                        <a:rPr lang="es-CO" sz="1400" b="1" kern="1200" dirty="0">
                          <a:solidFill>
                            <a:schemeClr val="dk1"/>
                          </a:solidFill>
                          <a:effectLst/>
                          <a:latin typeface="+mn-lt"/>
                          <a:ea typeface="+mn-ea"/>
                          <a:cs typeface="+mn-cs"/>
                        </a:rPr>
                        <a:t>Evaluaciones entre compañeros</a:t>
                      </a:r>
                      <a:r>
                        <a:rPr lang="es-CO" sz="1400" kern="1200" dirty="0">
                          <a:solidFill>
                            <a:schemeClr val="dk1"/>
                          </a:solidFill>
                          <a:effectLst/>
                          <a:latin typeface="+mn-lt"/>
                          <a:ea typeface="+mn-ea"/>
                          <a:cs typeface="+mn-cs"/>
                        </a:rPr>
                        <a:t>: Los estudiantes participan en la valoración del trabajo de sus compañeros, lo que fomenta la crítica constructiva y el aprendizaje colaborativo</a:t>
                      </a:r>
                      <a:r>
                        <a:rPr lang="es-CO" sz="1400" dirty="0">
                          <a:effectLst/>
                        </a:rPr>
                        <a:t> </a:t>
                      </a:r>
                      <a:endParaRPr lang="es-CO" sz="1400" kern="1200" dirty="0">
                        <a:solidFill>
                          <a:schemeClr val="dk1"/>
                        </a:solidFill>
                        <a:effectLst/>
                        <a:latin typeface="+mn-lt"/>
                        <a:ea typeface="+mn-ea"/>
                        <a:cs typeface="+mn-cs"/>
                      </a:endParaRPr>
                    </a:p>
                    <a:p>
                      <a:pPr algn="just" fontAlgn="ctr"/>
                      <a:endParaRPr lang="es-ES" sz="16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1243005599"/>
                  </a:ext>
                </a:extLst>
              </a:tr>
            </a:tbl>
          </a:graphicData>
        </a:graphic>
      </p:graphicFrame>
    </p:spTree>
    <p:extLst>
      <p:ext uri="{BB962C8B-B14F-4D97-AF65-F5344CB8AC3E}">
        <p14:creationId xmlns:p14="http://schemas.microsoft.com/office/powerpoint/2010/main" val="4235597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15385-9C0D-BB66-71DD-96E95F7541C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8DB9512-8F2D-44A7-2865-2112B8DD34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a:extLst>
              <a:ext uri="{FF2B5EF4-FFF2-40B4-BE49-F238E27FC236}">
                <a16:creationId xmlns:a16="http://schemas.microsoft.com/office/drawing/2014/main" id="{4BDDF3FA-636E-FAE6-6369-5DC4FC8904D3}"/>
              </a:ext>
            </a:extLst>
          </p:cNvPr>
          <p:cNvGraphicFramePr>
            <a:graphicFrameLocks noGrp="1"/>
          </p:cNvGraphicFramePr>
          <p:nvPr>
            <p:extLst>
              <p:ext uri="{D42A27DB-BD31-4B8C-83A1-F6EECF244321}">
                <p14:modId xmlns:p14="http://schemas.microsoft.com/office/powerpoint/2010/main" val="1058267581"/>
              </p:ext>
            </p:extLst>
          </p:nvPr>
        </p:nvGraphicFramePr>
        <p:xfrm>
          <a:off x="767862" y="920016"/>
          <a:ext cx="10181492" cy="4881582"/>
        </p:xfrm>
        <a:graphic>
          <a:graphicData uri="http://schemas.openxmlformats.org/drawingml/2006/table">
            <a:tbl>
              <a:tblPr>
                <a:tableStyleId>{5C22544A-7EE6-4342-B048-85BDC9FD1C3A}</a:tableStyleId>
              </a:tblPr>
              <a:tblGrid>
                <a:gridCol w="3112477">
                  <a:extLst>
                    <a:ext uri="{9D8B030D-6E8A-4147-A177-3AD203B41FA5}">
                      <a16:colId xmlns:a16="http://schemas.microsoft.com/office/drawing/2014/main" val="2667395497"/>
                    </a:ext>
                  </a:extLst>
                </a:gridCol>
                <a:gridCol w="7069015">
                  <a:extLst>
                    <a:ext uri="{9D8B030D-6E8A-4147-A177-3AD203B41FA5}">
                      <a16:colId xmlns:a16="http://schemas.microsoft.com/office/drawing/2014/main" val="539675217"/>
                    </a:ext>
                  </a:extLst>
                </a:gridCol>
              </a:tblGrid>
              <a:tr h="3578713">
                <a:tc>
                  <a:txBody>
                    <a:bodyPr/>
                    <a:lstStyle/>
                    <a:p>
                      <a:pPr algn="l" fontAlgn="ctr"/>
                      <a:r>
                        <a:rPr lang="es-CO" sz="2000" u="none" strike="noStrike" dirty="0">
                          <a:effectLst/>
                        </a:rPr>
                        <a:t>Evaluación y seguimiento</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a:r>
                        <a:rPr lang="es-CO" sz="1600" b="1" kern="1200" dirty="0">
                          <a:solidFill>
                            <a:schemeClr val="dk1"/>
                          </a:solidFill>
                          <a:effectLst/>
                          <a:latin typeface="+mn-lt"/>
                          <a:ea typeface="+mn-ea"/>
                          <a:cs typeface="+mn-cs"/>
                        </a:rPr>
                        <a:t>Seguimiento y Valoración de "El Cojín de Mis Sueños Literarios"</a:t>
                      </a:r>
                      <a:endParaRPr lang="es-CO" sz="1600" kern="1200" dirty="0">
                        <a:solidFill>
                          <a:schemeClr val="dk1"/>
                        </a:solidFill>
                        <a:effectLst/>
                        <a:latin typeface="+mn-lt"/>
                        <a:ea typeface="+mn-ea"/>
                        <a:cs typeface="+mn-cs"/>
                      </a:endParaRPr>
                    </a:p>
                    <a:p>
                      <a:r>
                        <a:rPr lang="es-CO" sz="1800" b="1" kern="1200" dirty="0">
                          <a:solidFill>
                            <a:schemeClr val="dk1"/>
                          </a:solidFill>
                          <a:effectLst/>
                          <a:latin typeface="+mn-lt"/>
                          <a:ea typeface="+mn-ea"/>
                          <a:cs typeface="+mn-cs"/>
                        </a:rPr>
                        <a:t>3. Documentación de la Experiencia</a:t>
                      </a:r>
                      <a:endParaRPr lang="es-CO" sz="1800" kern="1200" dirty="0">
                        <a:solidFill>
                          <a:schemeClr val="dk1"/>
                        </a:solidFill>
                        <a:effectLst/>
                        <a:latin typeface="+mn-lt"/>
                        <a:ea typeface="+mn-ea"/>
                        <a:cs typeface="+mn-cs"/>
                      </a:endParaRPr>
                    </a:p>
                    <a:p>
                      <a:r>
                        <a:rPr lang="es-CO" sz="1800" kern="1200" dirty="0">
                          <a:solidFill>
                            <a:schemeClr val="dk1"/>
                          </a:solidFill>
                          <a:effectLst/>
                          <a:latin typeface="+mn-lt"/>
                          <a:ea typeface="+mn-ea"/>
                          <a:cs typeface="+mn-cs"/>
                        </a:rPr>
                        <a:t>- </a:t>
                      </a:r>
                      <a:r>
                        <a:rPr lang="es-CO" sz="1800" b="1" kern="1200" dirty="0">
                          <a:solidFill>
                            <a:schemeClr val="dk1"/>
                          </a:solidFill>
                          <a:effectLst/>
                          <a:latin typeface="+mn-lt"/>
                          <a:ea typeface="+mn-ea"/>
                          <a:cs typeface="+mn-cs"/>
                        </a:rPr>
                        <a:t>Registro Audiovisual</a:t>
                      </a:r>
                      <a:r>
                        <a:rPr lang="es-CO" sz="1800" kern="1200" dirty="0">
                          <a:solidFill>
                            <a:schemeClr val="dk1"/>
                          </a:solidFill>
                          <a:effectLst/>
                          <a:latin typeface="+mn-lt"/>
                          <a:ea typeface="+mn-ea"/>
                          <a:cs typeface="+mn-cs"/>
                        </a:rPr>
                        <a:t>: Se documentan las actividades mediante fotos y videos, creando un archivo visual que permite mostrar el proceso y los resultados obtenidos.</a:t>
                      </a:r>
                    </a:p>
                    <a:p>
                      <a:r>
                        <a:rPr lang="es-CO" sz="1800" b="1" kern="1200" dirty="0">
                          <a:solidFill>
                            <a:schemeClr val="dk1"/>
                          </a:solidFill>
                          <a:effectLst/>
                          <a:latin typeface="+mn-lt"/>
                          <a:ea typeface="+mn-ea"/>
                          <a:cs typeface="+mn-cs"/>
                        </a:rPr>
                        <a:t>- Informes de Progreso:</a:t>
                      </a:r>
                      <a:r>
                        <a:rPr lang="es-CO" sz="1800" kern="1200" dirty="0">
                          <a:solidFill>
                            <a:schemeClr val="dk1"/>
                          </a:solidFill>
                          <a:effectLst/>
                          <a:latin typeface="+mn-lt"/>
                          <a:ea typeface="+mn-ea"/>
                          <a:cs typeface="+mn-cs"/>
                        </a:rPr>
                        <a:t> Se elaboran informes periódicos que sintetizan las observaciones, resultados de las encuestas y reflexiones de los estudiantes, proporcionando una visión completa de la experiencia.</a:t>
                      </a:r>
                    </a:p>
                    <a:p>
                      <a:r>
                        <a:rPr lang="es-CO" sz="1800" b="1" kern="1200" dirty="0">
                          <a:solidFill>
                            <a:schemeClr val="dk1"/>
                          </a:solidFill>
                          <a:effectLst/>
                          <a:latin typeface="+mn-lt"/>
                          <a:ea typeface="+mn-ea"/>
                          <a:cs typeface="+mn-cs"/>
                        </a:rPr>
                        <a:t>- Difusión de Resultados:</a:t>
                      </a:r>
                      <a:r>
                        <a:rPr lang="es-CO" sz="1800" kern="1200" dirty="0">
                          <a:solidFill>
                            <a:schemeClr val="dk1"/>
                          </a:solidFill>
                          <a:effectLst/>
                          <a:latin typeface="+mn-lt"/>
                          <a:ea typeface="+mn-ea"/>
                          <a:cs typeface="+mn-cs"/>
                        </a:rPr>
                        <a:t> Se organizan eventos de presentación donde los estudiantes exhiben sus trabajos y se comparten los logros de la experiencia con la comunidad educativa, como los recitales.</a:t>
                      </a:r>
                    </a:p>
                    <a:p>
                      <a:r>
                        <a:rPr lang="es-CO" sz="1800" kern="1200" dirty="0">
                          <a:solidFill>
                            <a:schemeClr val="dk1"/>
                          </a:solidFill>
                          <a:effectLst/>
                          <a:latin typeface="+mn-lt"/>
                          <a:ea typeface="+mn-ea"/>
                          <a:cs typeface="+mn-cs"/>
                        </a:rPr>
                        <a:t> </a:t>
                      </a:r>
                      <a:endParaRPr lang="es-ES" sz="16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1243005599"/>
                  </a:ext>
                </a:extLst>
              </a:tr>
            </a:tbl>
          </a:graphicData>
        </a:graphic>
      </p:graphicFrame>
    </p:spTree>
    <p:extLst>
      <p:ext uri="{BB962C8B-B14F-4D97-AF65-F5344CB8AC3E}">
        <p14:creationId xmlns:p14="http://schemas.microsoft.com/office/powerpoint/2010/main" val="285331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2A3EF-13E6-1F89-D754-CDCD8F54B25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23094133-0199-0677-8BA9-055341F167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a:extLst>
              <a:ext uri="{FF2B5EF4-FFF2-40B4-BE49-F238E27FC236}">
                <a16:creationId xmlns:a16="http://schemas.microsoft.com/office/drawing/2014/main" id="{DC82AD4E-9C80-57AE-24E6-812269F1B315}"/>
              </a:ext>
            </a:extLst>
          </p:cNvPr>
          <p:cNvGraphicFramePr>
            <a:graphicFrameLocks noGrp="1"/>
          </p:cNvGraphicFramePr>
          <p:nvPr>
            <p:extLst>
              <p:ext uri="{D42A27DB-BD31-4B8C-83A1-F6EECF244321}">
                <p14:modId xmlns:p14="http://schemas.microsoft.com/office/powerpoint/2010/main" val="868128422"/>
              </p:ext>
            </p:extLst>
          </p:nvPr>
        </p:nvGraphicFramePr>
        <p:xfrm>
          <a:off x="855784" y="884847"/>
          <a:ext cx="10181492" cy="4668222"/>
        </p:xfrm>
        <a:graphic>
          <a:graphicData uri="http://schemas.openxmlformats.org/drawingml/2006/table">
            <a:tbl>
              <a:tblPr>
                <a:tableStyleId>{5C22544A-7EE6-4342-B048-85BDC9FD1C3A}</a:tableStyleId>
              </a:tblPr>
              <a:tblGrid>
                <a:gridCol w="3112477">
                  <a:extLst>
                    <a:ext uri="{9D8B030D-6E8A-4147-A177-3AD203B41FA5}">
                      <a16:colId xmlns:a16="http://schemas.microsoft.com/office/drawing/2014/main" val="2667395497"/>
                    </a:ext>
                  </a:extLst>
                </a:gridCol>
                <a:gridCol w="7069015">
                  <a:extLst>
                    <a:ext uri="{9D8B030D-6E8A-4147-A177-3AD203B41FA5}">
                      <a16:colId xmlns:a16="http://schemas.microsoft.com/office/drawing/2014/main" val="539675217"/>
                    </a:ext>
                  </a:extLst>
                </a:gridCol>
              </a:tblGrid>
              <a:tr h="3578713">
                <a:tc>
                  <a:txBody>
                    <a:bodyPr/>
                    <a:lstStyle/>
                    <a:p>
                      <a:pPr algn="l" fontAlgn="ctr"/>
                      <a:r>
                        <a:rPr lang="es-CO" sz="2000" u="none" strike="noStrike" dirty="0">
                          <a:effectLst/>
                        </a:rPr>
                        <a:t>Evaluación y seguimiento</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r>
                        <a:rPr lang="es-CO" sz="1800" b="1" kern="1200" dirty="0">
                          <a:solidFill>
                            <a:schemeClr val="dk1"/>
                          </a:solidFill>
                          <a:effectLst/>
                          <a:latin typeface="+mn-lt"/>
                          <a:ea typeface="+mn-ea"/>
                          <a:cs typeface="+mn-cs"/>
                        </a:rPr>
                        <a:t>"Para la experiencia “El Cojín de Mis Sueños Literarios", se realiza el análisis CUALITATIVO. Las razones son:</a:t>
                      </a:r>
                      <a:endParaRPr lang="es-CO" sz="1800" kern="1200" dirty="0">
                        <a:solidFill>
                          <a:schemeClr val="dk1"/>
                        </a:solidFill>
                        <a:effectLst/>
                        <a:latin typeface="+mn-lt"/>
                        <a:ea typeface="+mn-ea"/>
                        <a:cs typeface="+mn-cs"/>
                      </a:endParaRPr>
                    </a:p>
                    <a:p>
                      <a:r>
                        <a:rPr lang="es-CO" sz="1800" b="1" kern="1200" dirty="0">
                          <a:solidFill>
                            <a:schemeClr val="dk1"/>
                          </a:solidFill>
                          <a:effectLst/>
                          <a:latin typeface="+mn-lt"/>
                          <a:ea typeface="+mn-ea"/>
                          <a:cs typeface="+mn-cs"/>
                        </a:rPr>
                        <a:t>1. Profundidad de Comprensión:</a:t>
                      </a:r>
                      <a:endParaRPr lang="es-CO" sz="1800" kern="1200" dirty="0">
                        <a:solidFill>
                          <a:schemeClr val="dk1"/>
                        </a:solidFill>
                        <a:effectLst/>
                        <a:latin typeface="+mn-lt"/>
                        <a:ea typeface="+mn-ea"/>
                        <a:cs typeface="+mn-cs"/>
                      </a:endParaRPr>
                    </a:p>
                    <a:p>
                      <a:r>
                        <a:rPr lang="es-CO" sz="1800" kern="1200" dirty="0">
                          <a:solidFill>
                            <a:schemeClr val="dk1"/>
                          </a:solidFill>
                          <a:effectLst/>
                          <a:latin typeface="+mn-lt"/>
                          <a:ea typeface="+mn-ea"/>
                          <a:cs typeface="+mn-cs"/>
                        </a:rPr>
                        <a:t>- Permite captar las emociones, motivaciones y experiencias individuales de los estudiantes, aspectos clave en una experiencia creativa como la literaria.</a:t>
                      </a:r>
                    </a:p>
                    <a:p>
                      <a:r>
                        <a:rPr lang="es-CO" sz="1800" b="1" kern="1200" dirty="0">
                          <a:solidFill>
                            <a:schemeClr val="dk1"/>
                          </a:solidFill>
                          <a:effectLst/>
                          <a:latin typeface="+mn-lt"/>
                          <a:ea typeface="+mn-ea"/>
                          <a:cs typeface="+mn-cs"/>
                        </a:rPr>
                        <a:t>2. Contextualización:</a:t>
                      </a:r>
                      <a:endParaRPr lang="es-CO" sz="1800" kern="1200" dirty="0">
                        <a:solidFill>
                          <a:schemeClr val="dk1"/>
                        </a:solidFill>
                        <a:effectLst/>
                        <a:latin typeface="+mn-lt"/>
                        <a:ea typeface="+mn-ea"/>
                        <a:cs typeface="+mn-cs"/>
                      </a:endParaRPr>
                    </a:p>
                    <a:p>
                      <a:r>
                        <a:rPr lang="es-CO" sz="1800" kern="1200" dirty="0">
                          <a:solidFill>
                            <a:schemeClr val="dk1"/>
                          </a:solidFill>
                          <a:effectLst/>
                          <a:latin typeface="+mn-lt"/>
                          <a:ea typeface="+mn-ea"/>
                          <a:cs typeface="+mn-cs"/>
                        </a:rPr>
                        <a:t>-</a:t>
                      </a:r>
                      <a:r>
                        <a:rPr lang="es-CO" sz="1800" b="1" kern="1200" dirty="0">
                          <a:solidFill>
                            <a:schemeClr val="dk1"/>
                          </a:solidFill>
                          <a:effectLst/>
                          <a:latin typeface="+mn-lt"/>
                          <a:ea typeface="+mn-ea"/>
                          <a:cs typeface="+mn-cs"/>
                        </a:rPr>
                        <a:t>El análisis</a:t>
                      </a:r>
                      <a:r>
                        <a:rPr lang="es-CO" sz="1800" kern="1200" dirty="0">
                          <a:solidFill>
                            <a:schemeClr val="dk1"/>
                          </a:solidFill>
                          <a:effectLst/>
                          <a:latin typeface="+mn-lt"/>
                          <a:ea typeface="+mn-ea"/>
                          <a:cs typeface="+mn-cs"/>
                        </a:rPr>
                        <a:t> </a:t>
                      </a:r>
                      <a:r>
                        <a:rPr lang="es-CO" sz="1800" b="1" kern="1200" dirty="0">
                          <a:solidFill>
                            <a:schemeClr val="dk1"/>
                          </a:solidFill>
                          <a:effectLst/>
                          <a:latin typeface="+mn-lt"/>
                          <a:ea typeface="+mn-ea"/>
                          <a:cs typeface="+mn-cs"/>
                        </a:rPr>
                        <a:t>cualitativo</a:t>
                      </a:r>
                      <a:r>
                        <a:rPr lang="es-CO" sz="1800" kern="1200" dirty="0">
                          <a:solidFill>
                            <a:schemeClr val="dk1"/>
                          </a:solidFill>
                          <a:effectLst/>
                          <a:latin typeface="+mn-lt"/>
                          <a:ea typeface="+mn-ea"/>
                          <a:cs typeface="+mn-cs"/>
                        </a:rPr>
                        <a:t> ayuda a entender el contexto cultural y personal de cada participante, enriqueciendo la interpretación de los resultados.</a:t>
                      </a:r>
                    </a:p>
                    <a:p>
                      <a:r>
                        <a:rPr lang="es-CO" sz="1800" b="1" kern="1200" dirty="0">
                          <a:solidFill>
                            <a:schemeClr val="dk1"/>
                          </a:solidFill>
                          <a:effectLst/>
                          <a:latin typeface="+mn-lt"/>
                          <a:ea typeface="+mn-ea"/>
                          <a:cs typeface="+mn-cs"/>
                        </a:rPr>
                        <a:t>3. Desarrollo de Habilidades:</a:t>
                      </a:r>
                      <a:endParaRPr lang="es-CO" sz="1800" kern="1200" dirty="0">
                        <a:solidFill>
                          <a:schemeClr val="dk1"/>
                        </a:solidFill>
                        <a:effectLst/>
                        <a:latin typeface="+mn-lt"/>
                        <a:ea typeface="+mn-ea"/>
                        <a:cs typeface="+mn-cs"/>
                      </a:endParaRPr>
                    </a:p>
                    <a:p>
                      <a:r>
                        <a:rPr lang="es-CO" sz="1800" kern="1200" dirty="0">
                          <a:solidFill>
                            <a:schemeClr val="dk1"/>
                          </a:solidFill>
                          <a:effectLst/>
                          <a:latin typeface="+mn-lt"/>
                          <a:ea typeface="+mn-ea"/>
                          <a:cs typeface="+mn-cs"/>
                        </a:rPr>
                        <a:t> - Se enfoca en el proceso creativo, permitiendo evaluar cómo los estudiantes han crecido en sus habilidades de escritura y autoexpresión.</a:t>
                      </a:r>
                    </a:p>
                    <a:p>
                      <a:r>
                        <a:rPr lang="es-CO" sz="1800" kern="1200" dirty="0">
                          <a:solidFill>
                            <a:schemeClr val="dk1"/>
                          </a:solidFill>
                          <a:effectLst/>
                          <a:latin typeface="+mn-lt"/>
                          <a:ea typeface="+mn-ea"/>
                          <a:cs typeface="+mn-cs"/>
                        </a:rPr>
                        <a:t> </a:t>
                      </a:r>
                    </a:p>
                  </a:txBody>
                  <a:tcPr marL="4782" marR="4782" marT="4782" marB="0" anchor="ctr"/>
                </a:tc>
                <a:extLst>
                  <a:ext uri="{0D108BD9-81ED-4DB2-BD59-A6C34878D82A}">
                    <a16:rowId xmlns:a16="http://schemas.microsoft.com/office/drawing/2014/main" val="1243005599"/>
                  </a:ext>
                </a:extLst>
              </a:tr>
            </a:tbl>
          </a:graphicData>
        </a:graphic>
      </p:graphicFrame>
    </p:spTree>
    <p:extLst>
      <p:ext uri="{BB962C8B-B14F-4D97-AF65-F5344CB8AC3E}">
        <p14:creationId xmlns:p14="http://schemas.microsoft.com/office/powerpoint/2010/main" val="2802735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4BFFB-BDC2-FF1C-75F0-5B8F5E40AEF5}"/>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B667859-A04D-A8D1-91CA-C091EFBC5B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a:extLst>
              <a:ext uri="{FF2B5EF4-FFF2-40B4-BE49-F238E27FC236}">
                <a16:creationId xmlns:a16="http://schemas.microsoft.com/office/drawing/2014/main" id="{71C488C6-6377-299A-C868-11F97448D662}"/>
              </a:ext>
            </a:extLst>
          </p:cNvPr>
          <p:cNvGraphicFramePr>
            <a:graphicFrameLocks noGrp="1"/>
          </p:cNvGraphicFramePr>
          <p:nvPr>
            <p:extLst>
              <p:ext uri="{D42A27DB-BD31-4B8C-83A1-F6EECF244321}">
                <p14:modId xmlns:p14="http://schemas.microsoft.com/office/powerpoint/2010/main" val="2901439888"/>
              </p:ext>
            </p:extLst>
          </p:nvPr>
        </p:nvGraphicFramePr>
        <p:xfrm>
          <a:off x="908539" y="972770"/>
          <a:ext cx="10181492" cy="5216862"/>
        </p:xfrm>
        <a:graphic>
          <a:graphicData uri="http://schemas.openxmlformats.org/drawingml/2006/table">
            <a:tbl>
              <a:tblPr>
                <a:tableStyleId>{5C22544A-7EE6-4342-B048-85BDC9FD1C3A}</a:tableStyleId>
              </a:tblPr>
              <a:tblGrid>
                <a:gridCol w="3112477">
                  <a:extLst>
                    <a:ext uri="{9D8B030D-6E8A-4147-A177-3AD203B41FA5}">
                      <a16:colId xmlns:a16="http://schemas.microsoft.com/office/drawing/2014/main" val="2667395497"/>
                    </a:ext>
                  </a:extLst>
                </a:gridCol>
                <a:gridCol w="7069015">
                  <a:extLst>
                    <a:ext uri="{9D8B030D-6E8A-4147-A177-3AD203B41FA5}">
                      <a16:colId xmlns:a16="http://schemas.microsoft.com/office/drawing/2014/main" val="539675217"/>
                    </a:ext>
                  </a:extLst>
                </a:gridCol>
              </a:tblGrid>
              <a:tr h="3578713">
                <a:tc>
                  <a:txBody>
                    <a:bodyPr/>
                    <a:lstStyle/>
                    <a:p>
                      <a:pPr algn="l" fontAlgn="ctr"/>
                      <a:r>
                        <a:rPr lang="es-CO" sz="2000" u="none" strike="noStrike" dirty="0">
                          <a:effectLst/>
                        </a:rPr>
                        <a:t>Evaluación y seguimiento</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a:r>
                        <a:rPr lang="es-CO" sz="1800" b="1" kern="1200" dirty="0">
                          <a:solidFill>
                            <a:schemeClr val="dk1"/>
                          </a:solidFill>
                          <a:effectLst/>
                          <a:latin typeface="+mn-lt"/>
                          <a:ea typeface="+mn-ea"/>
                          <a:cs typeface="+mn-cs"/>
                        </a:rPr>
                        <a:t>4. </a:t>
                      </a:r>
                      <a:r>
                        <a:rPr lang="es-CO" sz="1600" b="1" kern="1200" dirty="0">
                          <a:solidFill>
                            <a:schemeClr val="dk1"/>
                          </a:solidFill>
                          <a:effectLst/>
                          <a:latin typeface="+mn-lt"/>
                          <a:ea typeface="+mn-ea"/>
                          <a:cs typeface="+mn-cs"/>
                        </a:rPr>
                        <a:t>Retroalimentación Constructiva:</a:t>
                      </a:r>
                      <a:endParaRPr lang="es-CO" sz="1600" kern="1200" dirty="0">
                        <a:solidFill>
                          <a:schemeClr val="dk1"/>
                        </a:solidFill>
                        <a:effectLst/>
                        <a:latin typeface="+mn-lt"/>
                        <a:ea typeface="+mn-ea"/>
                        <a:cs typeface="+mn-cs"/>
                      </a:endParaRPr>
                    </a:p>
                    <a:p>
                      <a:pPr algn="just"/>
                      <a:r>
                        <a:rPr lang="es-CO" sz="1600" kern="1200" dirty="0">
                          <a:solidFill>
                            <a:schemeClr val="dk1"/>
                          </a:solidFill>
                          <a:effectLst/>
                          <a:latin typeface="+mn-lt"/>
                          <a:ea typeface="+mn-ea"/>
                          <a:cs typeface="+mn-cs"/>
                        </a:rPr>
                        <a:t>-Facilita la recopilación de opiniones y sugerencias, lo que es vital para la mejora continua de la experiencia.</a:t>
                      </a:r>
                    </a:p>
                    <a:p>
                      <a:pPr algn="just"/>
                      <a:r>
                        <a:rPr lang="es-CO" sz="1600" b="1" kern="1200" dirty="0">
                          <a:solidFill>
                            <a:schemeClr val="dk1"/>
                          </a:solidFill>
                          <a:effectLst/>
                          <a:latin typeface="+mn-lt"/>
                          <a:ea typeface="+mn-ea"/>
                          <a:cs typeface="+mn-cs"/>
                        </a:rPr>
                        <a:t>5.Actividades desarrolladas:</a:t>
                      </a:r>
                      <a:endParaRPr lang="es-CO" sz="1600" kern="1200" dirty="0">
                        <a:solidFill>
                          <a:schemeClr val="dk1"/>
                        </a:solidFill>
                        <a:effectLst/>
                        <a:latin typeface="+mn-lt"/>
                        <a:ea typeface="+mn-ea"/>
                        <a:cs typeface="+mn-cs"/>
                      </a:endParaRPr>
                    </a:p>
                    <a:p>
                      <a:pPr algn="just"/>
                      <a:r>
                        <a:rPr lang="es-CO" sz="1600" kern="1200" dirty="0">
                          <a:solidFill>
                            <a:schemeClr val="dk1"/>
                          </a:solidFill>
                          <a:effectLst/>
                          <a:latin typeface="+mn-lt"/>
                          <a:ea typeface="+mn-ea"/>
                          <a:cs typeface="+mn-cs"/>
                        </a:rPr>
                        <a:t>- </a:t>
                      </a:r>
                      <a:r>
                        <a:rPr lang="es-CO" sz="1600" b="1" kern="1200" dirty="0">
                          <a:solidFill>
                            <a:schemeClr val="dk1"/>
                          </a:solidFill>
                          <a:effectLst/>
                          <a:latin typeface="+mn-lt"/>
                          <a:ea typeface="+mn-ea"/>
                          <a:cs typeface="+mn-cs"/>
                        </a:rPr>
                        <a:t>Entrevistas y Grupos Focales</a:t>
                      </a:r>
                      <a:r>
                        <a:rPr lang="es-CO" sz="1600" kern="1200" dirty="0">
                          <a:solidFill>
                            <a:schemeClr val="dk1"/>
                          </a:solidFill>
                          <a:effectLst/>
                          <a:latin typeface="+mn-lt"/>
                          <a:ea typeface="+mn-ea"/>
                          <a:cs typeface="+mn-cs"/>
                        </a:rPr>
                        <a:t>:</a:t>
                      </a:r>
                    </a:p>
                    <a:p>
                      <a:pPr algn="just"/>
                      <a:r>
                        <a:rPr lang="es-CO" sz="1600" kern="1200" dirty="0">
                          <a:solidFill>
                            <a:schemeClr val="dk1"/>
                          </a:solidFill>
                          <a:effectLst/>
                          <a:latin typeface="+mn-lt"/>
                          <a:ea typeface="+mn-ea"/>
                          <a:cs typeface="+mn-cs"/>
                        </a:rPr>
                        <a:t>  -Se llevaron a cabo entrevistas con estudiantes y docentes para obtener perspectivas profundas sobre la experiencia, sus emociones y aprendizajes. </a:t>
                      </a:r>
                    </a:p>
                    <a:p>
                      <a:pPr algn="just"/>
                      <a:r>
                        <a:rPr lang="es-CO" sz="1600" kern="1200" dirty="0">
                          <a:solidFill>
                            <a:schemeClr val="dk1"/>
                          </a:solidFill>
                          <a:effectLst/>
                          <a:latin typeface="+mn-lt"/>
                          <a:ea typeface="+mn-ea"/>
                          <a:cs typeface="+mn-cs"/>
                        </a:rPr>
                        <a:t>  - Los grupos focales permitieron discutir en detalle los aspectos que funcionaron bien y aquellos que podrían mejorar.</a:t>
                      </a:r>
                    </a:p>
                    <a:p>
                      <a:pPr algn="just"/>
                      <a:r>
                        <a:rPr lang="es-CO" sz="1600" kern="1200" dirty="0">
                          <a:solidFill>
                            <a:schemeClr val="dk1"/>
                          </a:solidFill>
                          <a:effectLst/>
                          <a:latin typeface="+mn-lt"/>
                          <a:ea typeface="+mn-ea"/>
                          <a:cs typeface="+mn-cs"/>
                        </a:rPr>
                        <a:t>- </a:t>
                      </a:r>
                      <a:r>
                        <a:rPr lang="es-CO" sz="1600" b="1" kern="1200" dirty="0">
                          <a:solidFill>
                            <a:schemeClr val="dk1"/>
                          </a:solidFill>
                          <a:effectLst/>
                          <a:latin typeface="+mn-lt"/>
                          <a:ea typeface="+mn-ea"/>
                          <a:cs typeface="+mn-cs"/>
                        </a:rPr>
                        <a:t>Análisis de Portafolios:</a:t>
                      </a:r>
                      <a:endParaRPr lang="es-CO" sz="1600" kern="1200" dirty="0">
                        <a:solidFill>
                          <a:schemeClr val="dk1"/>
                        </a:solidFill>
                        <a:effectLst/>
                        <a:latin typeface="+mn-lt"/>
                        <a:ea typeface="+mn-ea"/>
                        <a:cs typeface="+mn-cs"/>
                      </a:endParaRPr>
                    </a:p>
                    <a:p>
                      <a:pPr algn="just"/>
                      <a:r>
                        <a:rPr lang="es-CO" sz="1600" kern="1200" dirty="0">
                          <a:solidFill>
                            <a:schemeClr val="dk1"/>
                          </a:solidFill>
                          <a:effectLst/>
                          <a:latin typeface="+mn-lt"/>
                          <a:ea typeface="+mn-ea"/>
                          <a:cs typeface="+mn-cs"/>
                        </a:rPr>
                        <a:t>  -Se realizó un análisis cualitativo de los portafolios de los estudiantes, evaluando la calidad de las obras producidas, la creatividad y el desarrollo de habilidades a lo largo del tiempo.</a:t>
                      </a:r>
                    </a:p>
                    <a:p>
                      <a:pPr algn="just"/>
                      <a:r>
                        <a:rPr lang="es-CO" sz="1600" kern="1200" dirty="0">
                          <a:solidFill>
                            <a:schemeClr val="dk1"/>
                          </a:solidFill>
                          <a:effectLst/>
                          <a:latin typeface="+mn-lt"/>
                          <a:ea typeface="+mn-ea"/>
                          <a:cs typeface="+mn-cs"/>
                        </a:rPr>
                        <a:t>  - Se identificaron patrones en las temáticas abordadas y en el uso de técnicas literarias, ofreciendo una visión del crecimiento individual y colectivo.</a:t>
                      </a:r>
                    </a:p>
                    <a:p>
                      <a:pPr algn="just"/>
                      <a:endParaRPr lang="es-CO" sz="1800" kern="1200" dirty="0">
                        <a:solidFill>
                          <a:schemeClr val="dk1"/>
                        </a:solidFill>
                        <a:effectLst/>
                        <a:latin typeface="+mn-lt"/>
                        <a:ea typeface="+mn-ea"/>
                        <a:cs typeface="+mn-cs"/>
                      </a:endParaRPr>
                    </a:p>
                    <a:p>
                      <a:r>
                        <a:rPr lang="es-CO" sz="1800" kern="1200" dirty="0">
                          <a:solidFill>
                            <a:schemeClr val="dk1"/>
                          </a:solidFill>
                          <a:effectLst/>
                          <a:latin typeface="+mn-lt"/>
                          <a:ea typeface="+mn-ea"/>
                          <a:cs typeface="+mn-cs"/>
                        </a:rPr>
                        <a:t> </a:t>
                      </a:r>
                      <a:endParaRPr lang="es-ES" sz="16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1243005599"/>
                  </a:ext>
                </a:extLst>
              </a:tr>
            </a:tbl>
          </a:graphicData>
        </a:graphic>
      </p:graphicFrame>
    </p:spTree>
    <p:extLst>
      <p:ext uri="{BB962C8B-B14F-4D97-AF65-F5344CB8AC3E}">
        <p14:creationId xmlns:p14="http://schemas.microsoft.com/office/powerpoint/2010/main" val="391841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D52BD-7D8B-A163-864C-E2696A64FF3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25031C51-D092-349A-2668-60B43DE1A5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a:extLst>
              <a:ext uri="{FF2B5EF4-FFF2-40B4-BE49-F238E27FC236}">
                <a16:creationId xmlns:a16="http://schemas.microsoft.com/office/drawing/2014/main" id="{1CF9558D-14AC-A08A-143F-7790728465AB}"/>
              </a:ext>
            </a:extLst>
          </p:cNvPr>
          <p:cNvGraphicFramePr>
            <a:graphicFrameLocks noGrp="1"/>
          </p:cNvGraphicFramePr>
          <p:nvPr>
            <p:extLst>
              <p:ext uri="{D42A27DB-BD31-4B8C-83A1-F6EECF244321}">
                <p14:modId xmlns:p14="http://schemas.microsoft.com/office/powerpoint/2010/main" val="4016037030"/>
              </p:ext>
            </p:extLst>
          </p:nvPr>
        </p:nvGraphicFramePr>
        <p:xfrm>
          <a:off x="899746" y="849678"/>
          <a:ext cx="10181492" cy="5399742"/>
        </p:xfrm>
        <a:graphic>
          <a:graphicData uri="http://schemas.openxmlformats.org/drawingml/2006/table">
            <a:tbl>
              <a:tblPr>
                <a:tableStyleId>{5C22544A-7EE6-4342-B048-85BDC9FD1C3A}</a:tableStyleId>
              </a:tblPr>
              <a:tblGrid>
                <a:gridCol w="3112477">
                  <a:extLst>
                    <a:ext uri="{9D8B030D-6E8A-4147-A177-3AD203B41FA5}">
                      <a16:colId xmlns:a16="http://schemas.microsoft.com/office/drawing/2014/main" val="2667395497"/>
                    </a:ext>
                  </a:extLst>
                </a:gridCol>
                <a:gridCol w="7069015">
                  <a:extLst>
                    <a:ext uri="{9D8B030D-6E8A-4147-A177-3AD203B41FA5}">
                      <a16:colId xmlns:a16="http://schemas.microsoft.com/office/drawing/2014/main" val="539675217"/>
                    </a:ext>
                  </a:extLst>
                </a:gridCol>
              </a:tblGrid>
              <a:tr h="3578713">
                <a:tc>
                  <a:txBody>
                    <a:bodyPr/>
                    <a:lstStyle/>
                    <a:p>
                      <a:pPr algn="l" fontAlgn="ctr"/>
                      <a:r>
                        <a:rPr lang="es-CO" sz="2000" u="none" strike="noStrike" dirty="0">
                          <a:effectLst/>
                        </a:rPr>
                        <a:t>Evaluación y seguimiento</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a:r>
                        <a:rPr lang="es-CO" sz="1800" kern="1200" dirty="0">
                          <a:solidFill>
                            <a:schemeClr val="dk1"/>
                          </a:solidFill>
                          <a:effectLst/>
                          <a:latin typeface="+mn-lt"/>
                          <a:ea typeface="+mn-ea"/>
                          <a:cs typeface="+mn-cs"/>
                        </a:rPr>
                        <a:t> </a:t>
                      </a:r>
                      <a:r>
                        <a:rPr lang="es-CO" sz="1600" b="1" kern="1200" dirty="0">
                          <a:solidFill>
                            <a:schemeClr val="dk1"/>
                          </a:solidFill>
                          <a:effectLst/>
                          <a:latin typeface="+mn-lt"/>
                          <a:ea typeface="+mn-ea"/>
                          <a:cs typeface="+mn-cs"/>
                        </a:rPr>
                        <a:t>Transformación de la Experiencia "El Cojín de Mis Sueños Literarios" a lo Largo de 18 Años.</a:t>
                      </a:r>
                      <a:endParaRPr lang="es-CO" sz="1600" kern="1200" dirty="0">
                        <a:solidFill>
                          <a:schemeClr val="dk1"/>
                        </a:solidFill>
                        <a:effectLst/>
                        <a:latin typeface="+mn-lt"/>
                        <a:ea typeface="+mn-ea"/>
                        <a:cs typeface="+mn-cs"/>
                      </a:endParaRPr>
                    </a:p>
                    <a:p>
                      <a:pPr algn="just"/>
                      <a:r>
                        <a:rPr lang="es-CO" sz="1600" b="1" kern="1200" dirty="0">
                          <a:solidFill>
                            <a:schemeClr val="dk1"/>
                          </a:solidFill>
                          <a:effectLst/>
                          <a:latin typeface="+mn-lt"/>
                          <a:ea typeface="+mn-ea"/>
                          <a:cs typeface="+mn-cs"/>
                        </a:rPr>
                        <a:t>1. Evolución de metodologías</a:t>
                      </a:r>
                      <a:endParaRPr lang="es-CO" sz="1600" kern="1200" dirty="0">
                        <a:solidFill>
                          <a:schemeClr val="dk1"/>
                        </a:solidFill>
                        <a:effectLst/>
                        <a:latin typeface="+mn-lt"/>
                        <a:ea typeface="+mn-ea"/>
                        <a:cs typeface="+mn-cs"/>
                      </a:endParaRPr>
                    </a:p>
                    <a:p>
                      <a:pPr algn="just"/>
                      <a:r>
                        <a:rPr lang="es-CO" sz="1600" kern="1200" dirty="0">
                          <a:solidFill>
                            <a:schemeClr val="dk1"/>
                          </a:solidFill>
                          <a:effectLst/>
                          <a:latin typeface="+mn-lt"/>
                          <a:ea typeface="+mn-ea"/>
                          <a:cs typeface="+mn-cs"/>
                        </a:rPr>
                        <a:t>- </a:t>
                      </a:r>
                      <a:r>
                        <a:rPr lang="es-CO" sz="1600" b="1" kern="1200" dirty="0">
                          <a:solidFill>
                            <a:schemeClr val="dk1"/>
                          </a:solidFill>
                          <a:effectLst/>
                          <a:latin typeface="+mn-lt"/>
                          <a:ea typeface="+mn-ea"/>
                          <a:cs typeface="+mn-cs"/>
                        </a:rPr>
                        <a:t>Incorporación de nuevas estrategias</a:t>
                      </a:r>
                      <a:r>
                        <a:rPr lang="es-CO" sz="1600" kern="1200" dirty="0">
                          <a:solidFill>
                            <a:schemeClr val="dk1"/>
                          </a:solidFill>
                          <a:effectLst/>
                          <a:latin typeface="+mn-lt"/>
                          <a:ea typeface="+mn-ea"/>
                          <a:cs typeface="+mn-cs"/>
                        </a:rPr>
                        <a:t>: Con el tiempo, se han integrado metodologías activas como el aprendizaje basado en proyectos y la gamificación, haciendo el proceso más dinámico y participativo.</a:t>
                      </a:r>
                    </a:p>
                    <a:p>
                      <a:pPr algn="just"/>
                      <a:r>
                        <a:rPr lang="es-CO" sz="1600" kern="1200" dirty="0">
                          <a:solidFill>
                            <a:schemeClr val="dk1"/>
                          </a:solidFill>
                          <a:effectLst/>
                          <a:latin typeface="+mn-lt"/>
                          <a:ea typeface="+mn-ea"/>
                          <a:cs typeface="+mn-cs"/>
                        </a:rPr>
                        <a:t>- </a:t>
                      </a:r>
                      <a:r>
                        <a:rPr lang="es-CO" sz="1600" b="1" kern="1200" dirty="0">
                          <a:solidFill>
                            <a:schemeClr val="dk1"/>
                          </a:solidFill>
                          <a:effectLst/>
                          <a:latin typeface="+mn-lt"/>
                          <a:ea typeface="+mn-ea"/>
                          <a:cs typeface="+mn-cs"/>
                        </a:rPr>
                        <a:t>Enfoque en la creatividad:</a:t>
                      </a:r>
                      <a:r>
                        <a:rPr lang="es-CO" sz="1600" kern="1200" dirty="0">
                          <a:solidFill>
                            <a:schemeClr val="dk1"/>
                          </a:solidFill>
                          <a:effectLst/>
                          <a:latin typeface="+mn-lt"/>
                          <a:ea typeface="+mn-ea"/>
                          <a:cs typeface="+mn-cs"/>
                        </a:rPr>
                        <a:t> Se ha priorizado el desarrollo de la creatividad, permitiendo que los estudiantes exploren diversas formas de expresión literaria.</a:t>
                      </a:r>
                    </a:p>
                    <a:p>
                      <a:pPr algn="just"/>
                      <a:r>
                        <a:rPr lang="es-CO" sz="1600" b="1" kern="1200" dirty="0">
                          <a:solidFill>
                            <a:schemeClr val="dk1"/>
                          </a:solidFill>
                          <a:effectLst/>
                          <a:latin typeface="+mn-lt"/>
                          <a:ea typeface="+mn-ea"/>
                          <a:cs typeface="+mn-cs"/>
                        </a:rPr>
                        <a:t>2. Adaptación a las necesidades</a:t>
                      </a:r>
                      <a:endParaRPr lang="es-CO" sz="1600" kern="1200" dirty="0">
                        <a:solidFill>
                          <a:schemeClr val="dk1"/>
                        </a:solidFill>
                        <a:effectLst/>
                        <a:latin typeface="+mn-lt"/>
                        <a:ea typeface="+mn-ea"/>
                        <a:cs typeface="+mn-cs"/>
                      </a:endParaRPr>
                    </a:p>
                    <a:p>
                      <a:pPr algn="just"/>
                      <a:r>
                        <a:rPr lang="es-CO" sz="1600" b="1" kern="1200" dirty="0">
                          <a:solidFill>
                            <a:schemeClr val="dk1"/>
                          </a:solidFill>
                          <a:effectLst/>
                          <a:latin typeface="+mn-lt"/>
                          <a:ea typeface="+mn-ea"/>
                          <a:cs typeface="+mn-cs"/>
                        </a:rPr>
                        <a:t>- Respuestas a contextos cambiantes:</a:t>
                      </a:r>
                      <a:r>
                        <a:rPr lang="es-CO" sz="1600" kern="1200" dirty="0">
                          <a:solidFill>
                            <a:schemeClr val="dk1"/>
                          </a:solidFill>
                          <a:effectLst/>
                          <a:latin typeface="+mn-lt"/>
                          <a:ea typeface="+mn-ea"/>
                          <a:cs typeface="+mn-cs"/>
                        </a:rPr>
                        <a:t> La experiencia se ha ajustado a las necesidades de la comunidad, incorporando temas relevantes como la diversidad cultural y la sostenibilidad.</a:t>
                      </a:r>
                    </a:p>
                    <a:p>
                      <a:pPr algn="just"/>
                      <a:r>
                        <a:rPr lang="es-CO" sz="1600" kern="1200" dirty="0">
                          <a:solidFill>
                            <a:schemeClr val="dk1"/>
                          </a:solidFill>
                          <a:effectLst/>
                          <a:latin typeface="+mn-lt"/>
                          <a:ea typeface="+mn-ea"/>
                          <a:cs typeface="+mn-cs"/>
                        </a:rPr>
                        <a:t>-</a:t>
                      </a:r>
                      <a:r>
                        <a:rPr lang="es-CO" sz="1600" b="1" kern="1200" dirty="0">
                          <a:solidFill>
                            <a:schemeClr val="dk1"/>
                          </a:solidFill>
                          <a:effectLst/>
                          <a:latin typeface="+mn-lt"/>
                          <a:ea typeface="+mn-ea"/>
                          <a:cs typeface="+mn-cs"/>
                        </a:rPr>
                        <a:t>Inclusión de nuevos grupos:</a:t>
                      </a:r>
                      <a:r>
                        <a:rPr lang="es-CO" sz="1600" kern="1200" dirty="0">
                          <a:solidFill>
                            <a:schemeClr val="dk1"/>
                          </a:solidFill>
                          <a:effectLst/>
                          <a:latin typeface="+mn-lt"/>
                          <a:ea typeface="+mn-ea"/>
                          <a:cs typeface="+mn-cs"/>
                        </a:rPr>
                        <a:t> Se han implementado programas específicos para atender a grupos vulnerables, diferentes formas del aprendizaje; asegurando que todos tengan acceso a la literatura.</a:t>
                      </a:r>
                    </a:p>
                    <a:p>
                      <a:pPr algn="just"/>
                      <a:endParaRPr lang="es-CO" sz="1600" kern="1200" dirty="0">
                        <a:solidFill>
                          <a:schemeClr val="dk1"/>
                        </a:solidFill>
                        <a:effectLst/>
                        <a:latin typeface="+mn-lt"/>
                        <a:ea typeface="+mn-ea"/>
                        <a:cs typeface="+mn-cs"/>
                      </a:endParaRPr>
                    </a:p>
                    <a:p>
                      <a:pPr algn="just" fontAlgn="ctr"/>
                      <a:endParaRPr lang="es-ES" sz="16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1243005599"/>
                  </a:ext>
                </a:extLst>
              </a:tr>
            </a:tbl>
          </a:graphicData>
        </a:graphic>
      </p:graphicFrame>
    </p:spTree>
    <p:extLst>
      <p:ext uri="{BB962C8B-B14F-4D97-AF65-F5344CB8AC3E}">
        <p14:creationId xmlns:p14="http://schemas.microsoft.com/office/powerpoint/2010/main" val="3544804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092D3-4D52-DAE5-C767-745B772FF2F5}"/>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15F2027-2A8F-2E43-F6A2-28333DE2CA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a:extLst>
              <a:ext uri="{FF2B5EF4-FFF2-40B4-BE49-F238E27FC236}">
                <a16:creationId xmlns:a16="http://schemas.microsoft.com/office/drawing/2014/main" id="{8235C908-473E-00B9-AC6B-C19120756A06}"/>
              </a:ext>
            </a:extLst>
          </p:cNvPr>
          <p:cNvGraphicFramePr>
            <a:graphicFrameLocks noGrp="1"/>
          </p:cNvGraphicFramePr>
          <p:nvPr>
            <p:extLst>
              <p:ext uri="{D42A27DB-BD31-4B8C-83A1-F6EECF244321}">
                <p14:modId xmlns:p14="http://schemas.microsoft.com/office/powerpoint/2010/main" val="2199111556"/>
              </p:ext>
            </p:extLst>
          </p:nvPr>
        </p:nvGraphicFramePr>
        <p:xfrm>
          <a:off x="874346" y="724632"/>
          <a:ext cx="10181492" cy="5369262"/>
        </p:xfrm>
        <a:graphic>
          <a:graphicData uri="http://schemas.openxmlformats.org/drawingml/2006/table">
            <a:tbl>
              <a:tblPr>
                <a:tableStyleId>{5C22544A-7EE6-4342-B048-85BDC9FD1C3A}</a:tableStyleId>
              </a:tblPr>
              <a:tblGrid>
                <a:gridCol w="3112477">
                  <a:extLst>
                    <a:ext uri="{9D8B030D-6E8A-4147-A177-3AD203B41FA5}">
                      <a16:colId xmlns:a16="http://schemas.microsoft.com/office/drawing/2014/main" val="2667395497"/>
                    </a:ext>
                  </a:extLst>
                </a:gridCol>
                <a:gridCol w="7069015">
                  <a:extLst>
                    <a:ext uri="{9D8B030D-6E8A-4147-A177-3AD203B41FA5}">
                      <a16:colId xmlns:a16="http://schemas.microsoft.com/office/drawing/2014/main" val="539675217"/>
                    </a:ext>
                  </a:extLst>
                </a:gridCol>
              </a:tblGrid>
              <a:tr h="4803776">
                <a:tc>
                  <a:txBody>
                    <a:bodyPr/>
                    <a:lstStyle/>
                    <a:p>
                      <a:pPr algn="l" fontAlgn="ctr"/>
                      <a:r>
                        <a:rPr lang="es-CO" sz="2000" u="none" strike="noStrike" dirty="0">
                          <a:effectLst/>
                        </a:rPr>
                        <a:t>Evaluación y seguimiento</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a:r>
                        <a:rPr lang="es-CO" sz="1800" kern="1200" dirty="0">
                          <a:solidFill>
                            <a:schemeClr val="dk1"/>
                          </a:solidFill>
                          <a:effectLst/>
                          <a:latin typeface="+mn-lt"/>
                          <a:ea typeface="+mn-ea"/>
                          <a:cs typeface="+mn-cs"/>
                        </a:rPr>
                        <a:t> </a:t>
                      </a:r>
                      <a:r>
                        <a:rPr lang="es-CO" sz="1800" b="1" kern="1200" dirty="0">
                          <a:solidFill>
                            <a:schemeClr val="dk1"/>
                          </a:solidFill>
                          <a:effectLst/>
                          <a:latin typeface="+mn-lt"/>
                          <a:ea typeface="+mn-ea"/>
                          <a:cs typeface="+mn-cs"/>
                        </a:rPr>
                        <a:t>3. </a:t>
                      </a:r>
                      <a:r>
                        <a:rPr lang="es-CO" sz="1400" b="1" kern="1200" dirty="0">
                          <a:solidFill>
                            <a:schemeClr val="dk1"/>
                          </a:solidFill>
                          <a:effectLst/>
                          <a:latin typeface="+mn-lt"/>
                          <a:ea typeface="+mn-ea"/>
                          <a:cs typeface="+mn-cs"/>
                        </a:rPr>
                        <a:t>Fortalecimiento de la comunidad</a:t>
                      </a:r>
                      <a:endParaRPr lang="es-CO" sz="1400" kern="1200" dirty="0">
                        <a:solidFill>
                          <a:schemeClr val="dk1"/>
                        </a:solidFill>
                        <a:effectLst/>
                        <a:latin typeface="+mn-lt"/>
                        <a:ea typeface="+mn-ea"/>
                        <a:cs typeface="+mn-cs"/>
                      </a:endParaRPr>
                    </a:p>
                    <a:p>
                      <a:pPr algn="just"/>
                      <a:r>
                        <a:rPr lang="es-CO" sz="1400" kern="1200" dirty="0">
                          <a:solidFill>
                            <a:schemeClr val="dk1"/>
                          </a:solidFill>
                          <a:effectLst/>
                          <a:latin typeface="+mn-lt"/>
                          <a:ea typeface="+mn-ea"/>
                          <a:cs typeface="+mn-cs"/>
                        </a:rPr>
                        <a:t>-</a:t>
                      </a:r>
                      <a:r>
                        <a:rPr lang="es-CO" sz="1400" b="1" kern="1200" dirty="0">
                          <a:solidFill>
                            <a:schemeClr val="dk1"/>
                          </a:solidFill>
                          <a:effectLst/>
                          <a:latin typeface="+mn-lt"/>
                          <a:ea typeface="+mn-ea"/>
                          <a:cs typeface="+mn-cs"/>
                        </a:rPr>
                        <a:t>Colaboración interinstitucional:</a:t>
                      </a:r>
                      <a:r>
                        <a:rPr lang="es-CO" sz="1400" kern="1200" dirty="0">
                          <a:solidFill>
                            <a:schemeClr val="dk1"/>
                          </a:solidFill>
                          <a:effectLst/>
                          <a:latin typeface="+mn-lt"/>
                          <a:ea typeface="+mn-ea"/>
                          <a:cs typeface="+mn-cs"/>
                        </a:rPr>
                        <a:t> Se han establecido alianzas con bibliotecas, centros culturales y otras instituciones, ampliando las oportunidades de aprendizaje y enriqueciendo la experiencia.</a:t>
                      </a:r>
                    </a:p>
                    <a:p>
                      <a:pPr algn="just"/>
                      <a:r>
                        <a:rPr lang="es-CO" sz="1400" kern="1200" dirty="0">
                          <a:solidFill>
                            <a:schemeClr val="dk1"/>
                          </a:solidFill>
                          <a:effectLst/>
                          <a:latin typeface="+mn-lt"/>
                          <a:ea typeface="+mn-ea"/>
                          <a:cs typeface="+mn-cs"/>
                        </a:rPr>
                        <a:t>- </a:t>
                      </a:r>
                      <a:r>
                        <a:rPr lang="es-CO" sz="1400" b="1" kern="1200" dirty="0">
                          <a:solidFill>
                            <a:schemeClr val="dk1"/>
                          </a:solidFill>
                          <a:effectLst/>
                          <a:latin typeface="+mn-lt"/>
                          <a:ea typeface="+mn-ea"/>
                          <a:cs typeface="+mn-cs"/>
                        </a:rPr>
                        <a:t>Participación de Familias:</a:t>
                      </a:r>
                      <a:r>
                        <a:rPr lang="es-CO" sz="1400" kern="1200" dirty="0">
                          <a:solidFill>
                            <a:schemeClr val="dk1"/>
                          </a:solidFill>
                          <a:effectLst/>
                          <a:latin typeface="+mn-lt"/>
                          <a:ea typeface="+mn-ea"/>
                          <a:cs typeface="+mn-cs"/>
                        </a:rPr>
                        <a:t> La inclusión activa de padres y familias ha fortalecido el sentido de comunidad y apoyo en el proceso educativo.</a:t>
                      </a:r>
                    </a:p>
                    <a:p>
                      <a:pPr algn="just"/>
                      <a:r>
                        <a:rPr lang="es-CO" sz="1400" kern="1200" dirty="0">
                          <a:solidFill>
                            <a:schemeClr val="dk1"/>
                          </a:solidFill>
                          <a:effectLst/>
                          <a:latin typeface="+mn-lt"/>
                          <a:ea typeface="+mn-ea"/>
                          <a:cs typeface="+mn-cs"/>
                        </a:rPr>
                        <a:t> </a:t>
                      </a:r>
                    </a:p>
                    <a:p>
                      <a:pPr algn="just"/>
                      <a:r>
                        <a:rPr lang="es-CO" sz="1400" b="1" kern="1200" dirty="0">
                          <a:solidFill>
                            <a:schemeClr val="dk1"/>
                          </a:solidFill>
                          <a:effectLst/>
                          <a:latin typeface="+mn-lt"/>
                          <a:ea typeface="+mn-ea"/>
                          <a:cs typeface="+mn-cs"/>
                        </a:rPr>
                        <a:t>4. Resultados Auto-reflexivos y Evaluativos</a:t>
                      </a:r>
                      <a:endParaRPr lang="es-CO" sz="1400" kern="1200" dirty="0">
                        <a:solidFill>
                          <a:schemeClr val="dk1"/>
                        </a:solidFill>
                        <a:effectLst/>
                        <a:latin typeface="+mn-lt"/>
                        <a:ea typeface="+mn-ea"/>
                        <a:cs typeface="+mn-cs"/>
                      </a:endParaRPr>
                    </a:p>
                    <a:p>
                      <a:pPr algn="just"/>
                      <a:r>
                        <a:rPr lang="es-CO" sz="1400" b="1" kern="1200" dirty="0">
                          <a:solidFill>
                            <a:schemeClr val="dk1"/>
                          </a:solidFill>
                          <a:effectLst/>
                          <a:latin typeface="+mn-lt"/>
                          <a:ea typeface="+mn-ea"/>
                          <a:cs typeface="+mn-cs"/>
                        </a:rPr>
                        <a:t>- Mejora en la autoestima y confianza</a:t>
                      </a:r>
                      <a:r>
                        <a:rPr lang="es-CO" sz="1400" kern="1200" dirty="0">
                          <a:solidFill>
                            <a:schemeClr val="dk1"/>
                          </a:solidFill>
                          <a:effectLst/>
                          <a:latin typeface="+mn-lt"/>
                          <a:ea typeface="+mn-ea"/>
                          <a:cs typeface="+mn-cs"/>
                        </a:rPr>
                        <a:t>: Los estudiantes han reportado un aumento en su autoestima y habilidades comunicativas, evidenciado a través de autoevaluaciones y encuestas.</a:t>
                      </a:r>
                    </a:p>
                    <a:p>
                      <a:pPr algn="just"/>
                      <a:r>
                        <a:rPr lang="es-CO" sz="1400" b="1" kern="1200" dirty="0">
                          <a:solidFill>
                            <a:schemeClr val="dk1"/>
                          </a:solidFill>
                          <a:effectLst/>
                          <a:latin typeface="+mn-lt"/>
                          <a:ea typeface="+mn-ea"/>
                          <a:cs typeface="+mn-cs"/>
                        </a:rPr>
                        <a:t>- Crecimiento personal:</a:t>
                      </a:r>
                      <a:r>
                        <a:rPr lang="es-CO" sz="1400" kern="1200" dirty="0">
                          <a:solidFill>
                            <a:schemeClr val="dk1"/>
                          </a:solidFill>
                          <a:effectLst/>
                          <a:latin typeface="+mn-lt"/>
                          <a:ea typeface="+mn-ea"/>
                          <a:cs typeface="+mn-cs"/>
                        </a:rPr>
                        <a:t> Se ha observado un desarrollo integral en los participantes, no solo en habilidades literarias, sino también en competencias socioemocionales.</a:t>
                      </a:r>
                    </a:p>
                    <a:p>
                      <a:pPr algn="just"/>
                      <a:r>
                        <a:rPr lang="es-CO" sz="1400" b="1" kern="1200" dirty="0">
                          <a:solidFill>
                            <a:schemeClr val="dk1"/>
                          </a:solidFill>
                          <a:effectLst/>
                          <a:latin typeface="+mn-lt"/>
                          <a:ea typeface="+mn-ea"/>
                          <a:cs typeface="+mn-cs"/>
                        </a:rPr>
                        <a:t>5. Documentación y difusión de resultados</a:t>
                      </a:r>
                      <a:endParaRPr lang="es-CO" sz="1400" kern="1200" dirty="0">
                        <a:solidFill>
                          <a:schemeClr val="dk1"/>
                        </a:solidFill>
                        <a:effectLst/>
                        <a:latin typeface="+mn-lt"/>
                        <a:ea typeface="+mn-ea"/>
                        <a:cs typeface="+mn-cs"/>
                      </a:endParaRPr>
                    </a:p>
                    <a:p>
                      <a:pPr algn="just"/>
                      <a:r>
                        <a:rPr lang="es-CO" sz="1400" kern="1200" dirty="0">
                          <a:solidFill>
                            <a:schemeClr val="dk1"/>
                          </a:solidFill>
                          <a:effectLst/>
                          <a:latin typeface="+mn-lt"/>
                          <a:ea typeface="+mn-ea"/>
                          <a:cs typeface="+mn-cs"/>
                        </a:rPr>
                        <a:t>-</a:t>
                      </a:r>
                      <a:r>
                        <a:rPr lang="es-CO" sz="1400" b="1" kern="1200" dirty="0">
                          <a:solidFill>
                            <a:schemeClr val="dk1"/>
                          </a:solidFill>
                          <a:effectLst/>
                          <a:latin typeface="+mn-lt"/>
                          <a:ea typeface="+mn-ea"/>
                          <a:cs typeface="+mn-cs"/>
                        </a:rPr>
                        <a:t>Creación de Archivos Históricos:</a:t>
                      </a:r>
                      <a:r>
                        <a:rPr lang="es-CO" sz="1400" kern="1200" dirty="0">
                          <a:solidFill>
                            <a:schemeClr val="dk1"/>
                          </a:solidFill>
                          <a:effectLst/>
                          <a:latin typeface="+mn-lt"/>
                          <a:ea typeface="+mn-ea"/>
                          <a:cs typeface="+mn-cs"/>
                        </a:rPr>
                        <a:t> La documentación continua ha permitido registrar el progreso y los logros, sirviendo como referencia para futuras generaciones.</a:t>
                      </a:r>
                    </a:p>
                    <a:p>
                      <a:pPr algn="just"/>
                      <a:r>
                        <a:rPr lang="es-CO" sz="1400" kern="1200" dirty="0">
                          <a:solidFill>
                            <a:schemeClr val="dk1"/>
                          </a:solidFill>
                          <a:effectLst/>
                          <a:latin typeface="+mn-lt"/>
                          <a:ea typeface="+mn-ea"/>
                          <a:cs typeface="+mn-cs"/>
                        </a:rPr>
                        <a:t>-</a:t>
                      </a:r>
                      <a:r>
                        <a:rPr lang="es-CO" sz="1400" b="1" kern="1200" dirty="0">
                          <a:solidFill>
                            <a:schemeClr val="dk1"/>
                          </a:solidFill>
                          <a:effectLst/>
                          <a:latin typeface="+mn-lt"/>
                          <a:ea typeface="+mn-ea"/>
                          <a:cs typeface="+mn-cs"/>
                        </a:rPr>
                        <a:t>Difusión de Experiencias:</a:t>
                      </a:r>
                      <a:r>
                        <a:rPr lang="es-CO" sz="1400" kern="1200" dirty="0">
                          <a:solidFill>
                            <a:schemeClr val="dk1"/>
                          </a:solidFill>
                          <a:effectLst/>
                          <a:latin typeface="+mn-lt"/>
                          <a:ea typeface="+mn-ea"/>
                          <a:cs typeface="+mn-cs"/>
                        </a:rPr>
                        <a:t> Se han realizado eventos y publicaciones que comparten los aprendizajes y resultados, inspirando a otras instituciones a implementar experiencias similares.</a:t>
                      </a:r>
                    </a:p>
                    <a:p>
                      <a:endParaRPr lang="es-CO" sz="1000" kern="1200" dirty="0">
                        <a:solidFill>
                          <a:schemeClr val="dk1"/>
                        </a:solidFill>
                        <a:effectLst/>
                        <a:latin typeface="+mn-lt"/>
                        <a:ea typeface="+mn-ea"/>
                        <a:cs typeface="+mn-cs"/>
                      </a:endParaRPr>
                    </a:p>
                    <a:p>
                      <a:pPr algn="just" fontAlgn="ctr"/>
                      <a:endParaRPr lang="es-ES" sz="16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1243005599"/>
                  </a:ext>
                </a:extLst>
              </a:tr>
            </a:tbl>
          </a:graphicData>
        </a:graphic>
      </p:graphicFrame>
    </p:spTree>
    <p:extLst>
      <p:ext uri="{BB962C8B-B14F-4D97-AF65-F5344CB8AC3E}">
        <p14:creationId xmlns:p14="http://schemas.microsoft.com/office/powerpoint/2010/main" val="3784559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3270598899"/>
              </p:ext>
            </p:extLst>
          </p:nvPr>
        </p:nvGraphicFramePr>
        <p:xfrm>
          <a:off x="978875" y="1041400"/>
          <a:ext cx="10556632" cy="4698702"/>
        </p:xfrm>
        <a:graphic>
          <a:graphicData uri="http://schemas.openxmlformats.org/drawingml/2006/table">
            <a:tbl>
              <a:tblPr>
                <a:tableStyleId>{5C22544A-7EE6-4342-B048-85BDC9FD1C3A}</a:tableStyleId>
              </a:tblPr>
              <a:tblGrid>
                <a:gridCol w="1717433">
                  <a:extLst>
                    <a:ext uri="{9D8B030D-6E8A-4147-A177-3AD203B41FA5}">
                      <a16:colId xmlns:a16="http://schemas.microsoft.com/office/drawing/2014/main" val="2667395497"/>
                    </a:ext>
                  </a:extLst>
                </a:gridCol>
                <a:gridCol w="8839199">
                  <a:extLst>
                    <a:ext uri="{9D8B030D-6E8A-4147-A177-3AD203B41FA5}">
                      <a16:colId xmlns:a16="http://schemas.microsoft.com/office/drawing/2014/main" val="539675217"/>
                    </a:ext>
                  </a:extLst>
                </a:gridCol>
              </a:tblGrid>
              <a:tr h="3781218">
                <a:tc>
                  <a:txBody>
                    <a:bodyPr/>
                    <a:lstStyle/>
                    <a:p>
                      <a:pPr algn="l" fontAlgn="ctr"/>
                      <a:r>
                        <a:rPr lang="es-CO" sz="2000" u="none" strike="noStrike" dirty="0">
                          <a:effectLst/>
                        </a:rPr>
                        <a:t>Resultados</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fontAlgn="ctr"/>
                      <a:r>
                        <a:rPr lang="es-CO" sz="1600" dirty="0"/>
                        <a:t>A partir del análisis y la sistematización de la experiencia </a:t>
                      </a:r>
                      <a:r>
                        <a:rPr lang="es-CO" sz="1600" b="1" dirty="0"/>
                        <a:t>“El cojín de mis sueños literarios”</a:t>
                      </a:r>
                      <a:r>
                        <a:rPr lang="es-CO" sz="1600" dirty="0"/>
                        <a:t>, se han logrado resultados que se proyectan a corto, mediano y largo plazo. En el corto plazo, se fortalecen la motivación lectora, la participación activa y la expresión creativa de los estudiantes. A mediano plazo, se evidencian mejoras en las competencias comunicativas, la convivencia, la autonomía y la capacidad reflexiva. A largo plazo, la experiencia consolida hábitos lectores, identidad literaria y un mayor compromiso académico y personal.</a:t>
                      </a:r>
                    </a:p>
                    <a:p>
                      <a:pPr algn="just" fontAlgn="ctr"/>
                      <a:r>
                        <a:rPr lang="es-CO" sz="1600" dirty="0"/>
                        <a:t>Asimismo, la experiencia ha participado en convocatorias institucionales y externas como estrategia de fortalecimiento, </a:t>
                      </a:r>
                      <a:r>
                        <a:rPr lang="es-CO" sz="1600" dirty="0" err="1"/>
                        <a:t>visibilización</a:t>
                      </a:r>
                      <a:r>
                        <a:rPr lang="es-CO" sz="1600" dirty="0"/>
                        <a:t> y validación de su impacto pedagógico. Esto ha permitido retroalimentar el proceso y ampliar su alcance.</a:t>
                      </a:r>
                    </a:p>
                    <a:p>
                      <a:pPr algn="just" fontAlgn="ctr"/>
                      <a:r>
                        <a:rPr lang="es-CO" sz="1600" dirty="0"/>
                        <a:t>El análisis también ha permitido identificar avances en dimensiones </a:t>
                      </a:r>
                      <a:r>
                        <a:rPr lang="es-CO" sz="1600" b="1" dirty="0"/>
                        <a:t>cognitivas</a:t>
                      </a:r>
                      <a:r>
                        <a:rPr lang="es-CO" sz="1600" dirty="0"/>
                        <a:t> (comprensión lectora, producción escrita, pensamiento crítico), </a:t>
                      </a:r>
                      <a:r>
                        <a:rPr lang="es-CO" sz="1600" b="1" dirty="0"/>
                        <a:t>éticas</a:t>
                      </a:r>
                      <a:r>
                        <a:rPr lang="es-CO" sz="1600" dirty="0"/>
                        <a:t> (respeto, responsabilidad, empatía), </a:t>
                      </a:r>
                      <a:r>
                        <a:rPr lang="es-CO" sz="1600" b="1" dirty="0"/>
                        <a:t>comportamentales</a:t>
                      </a:r>
                      <a:r>
                        <a:rPr lang="es-CO" sz="1600" dirty="0"/>
                        <a:t> (disposición, participación, regulación emocional) y en el desarrollo de </a:t>
                      </a:r>
                      <a:r>
                        <a:rPr lang="es-CO" sz="1600" b="1" dirty="0"/>
                        <a:t>competencias comunicativas y socioemocionales</a:t>
                      </a:r>
                      <a:r>
                        <a:rPr lang="es-CO" sz="1600" dirty="0"/>
                        <a:t> que enriquecen la formación integral de los estudiantes.</a:t>
                      </a:r>
                      <a:endParaRPr lang="es-ES" sz="1600" b="0" i="0" u="none" strike="noStrike" dirty="0">
                        <a:solidFill>
                          <a:srgbClr val="000000"/>
                        </a:solidFill>
                        <a:effectLst/>
                        <a:latin typeface="Symbol" panose="05050102010706020507" pitchFamily="18" charset="2"/>
                      </a:endParaRPr>
                    </a:p>
                    <a:p>
                      <a:pPr algn="l" fontAlgn="ctr"/>
                      <a:endParaRPr lang="es-ES" sz="20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2517312088"/>
                  </a:ext>
                </a:extLst>
              </a:tr>
            </a:tbl>
          </a:graphicData>
        </a:graphic>
      </p:graphicFrame>
    </p:spTree>
    <p:extLst>
      <p:ext uri="{BB962C8B-B14F-4D97-AF65-F5344CB8AC3E}">
        <p14:creationId xmlns:p14="http://schemas.microsoft.com/office/powerpoint/2010/main" val="4134727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1574312434"/>
              </p:ext>
            </p:extLst>
          </p:nvPr>
        </p:nvGraphicFramePr>
        <p:xfrm>
          <a:off x="756138" y="881916"/>
          <a:ext cx="9454662" cy="4881582"/>
        </p:xfrm>
        <a:graphic>
          <a:graphicData uri="http://schemas.openxmlformats.org/drawingml/2006/table">
            <a:tbl>
              <a:tblPr>
                <a:tableStyleId>{5C22544A-7EE6-4342-B048-85BDC9FD1C3A}</a:tableStyleId>
              </a:tblPr>
              <a:tblGrid>
                <a:gridCol w="2327031">
                  <a:extLst>
                    <a:ext uri="{9D8B030D-6E8A-4147-A177-3AD203B41FA5}">
                      <a16:colId xmlns:a16="http://schemas.microsoft.com/office/drawing/2014/main" val="2667395497"/>
                    </a:ext>
                  </a:extLst>
                </a:gridCol>
                <a:gridCol w="7127631">
                  <a:extLst>
                    <a:ext uri="{9D8B030D-6E8A-4147-A177-3AD203B41FA5}">
                      <a16:colId xmlns:a16="http://schemas.microsoft.com/office/drawing/2014/main" val="539675217"/>
                    </a:ext>
                  </a:extLst>
                </a:gridCol>
              </a:tblGrid>
              <a:tr h="2617421">
                <a:tc>
                  <a:txBody>
                    <a:bodyPr/>
                    <a:lstStyle/>
                    <a:p>
                      <a:pPr algn="l" fontAlgn="ctr"/>
                      <a:r>
                        <a:rPr lang="es-CO" sz="2000" u="none" strike="noStrike" dirty="0">
                          <a:effectLst/>
                        </a:rPr>
                        <a:t>Transferencia</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CO" sz="2000" dirty="0"/>
                        <a:t>La experiencia </a:t>
                      </a:r>
                      <a:r>
                        <a:rPr lang="es-CO" sz="2000" b="1" dirty="0"/>
                        <a:t>“El cojín de mis sueños literarios”</a:t>
                      </a:r>
                      <a:r>
                        <a:rPr lang="es-CO" sz="2000" dirty="0"/>
                        <a:t> ha reorganizado sus instrumentos y mecanismos con el fin de facilitar su socialización en otros establecimientos educativos. Se estructuran de manera clara la </a:t>
                      </a:r>
                      <a:r>
                        <a:rPr lang="es-CO" sz="2000" b="1" dirty="0"/>
                        <a:t>propuesta</a:t>
                      </a:r>
                      <a:r>
                        <a:rPr lang="es-CO" sz="2000" dirty="0"/>
                        <a:t>, su </a:t>
                      </a:r>
                      <a:r>
                        <a:rPr lang="es-CO" sz="2000" b="1" dirty="0"/>
                        <a:t>desarrollo</a:t>
                      </a:r>
                      <a:r>
                        <a:rPr lang="es-CO" sz="2000" dirty="0"/>
                        <a:t>, la </a:t>
                      </a:r>
                      <a:r>
                        <a:rPr lang="es-CO" sz="2000" b="1" dirty="0"/>
                        <a:t>metodología aplicada</a:t>
                      </a:r>
                      <a:r>
                        <a:rPr lang="es-CO" sz="2000" dirty="0"/>
                        <a:t> y los </a:t>
                      </a:r>
                      <a:r>
                        <a:rPr lang="es-CO" sz="2000" b="1" dirty="0"/>
                        <a:t>resultados obtenidos</a:t>
                      </a:r>
                      <a:r>
                        <a:rPr lang="es-CO" sz="2000" dirty="0"/>
                        <a:t>, permitiendo que la información sea comprensible, replicable y adaptable. Esta reorganización incluye la sistematización de evidencias, el diseño de guías pedagógicas y la presentación de recursos utilizados, lo que fortalece la difusión de la experiencia y promueve que otras instituciones puedan conocerla, valorarla e implementarla según sus contextos y necesidades.</a:t>
                      </a:r>
                    </a:p>
                  </a:txBody>
                  <a:tcPr marL="4782" marR="4782" marT="4782" marB="0" anchor="ctr"/>
                </a:tc>
                <a:extLst>
                  <a:ext uri="{0D108BD9-81ED-4DB2-BD59-A6C34878D82A}">
                    <a16:rowId xmlns:a16="http://schemas.microsoft.com/office/drawing/2014/main" val="2878609262"/>
                  </a:ext>
                </a:extLst>
              </a:tr>
            </a:tbl>
          </a:graphicData>
        </a:graphic>
      </p:graphicFrame>
    </p:spTree>
    <p:extLst>
      <p:ext uri="{BB962C8B-B14F-4D97-AF65-F5344CB8AC3E}">
        <p14:creationId xmlns:p14="http://schemas.microsoft.com/office/powerpoint/2010/main" val="1338669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73C86-7A88-311F-FD89-DF40C6AC5C0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9878F11-D6DC-55C8-63C6-327A3131C5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a:extLst>
              <a:ext uri="{FF2B5EF4-FFF2-40B4-BE49-F238E27FC236}">
                <a16:creationId xmlns:a16="http://schemas.microsoft.com/office/drawing/2014/main" id="{AC70E041-4BD0-9801-5DAA-C9A9106BE756}"/>
              </a:ext>
            </a:extLst>
          </p:cNvPr>
          <p:cNvGraphicFramePr>
            <a:graphicFrameLocks noGrp="1"/>
          </p:cNvGraphicFramePr>
          <p:nvPr>
            <p:extLst>
              <p:ext uri="{D42A27DB-BD31-4B8C-83A1-F6EECF244321}">
                <p14:modId xmlns:p14="http://schemas.microsoft.com/office/powerpoint/2010/main" val="3111394005"/>
              </p:ext>
            </p:extLst>
          </p:nvPr>
        </p:nvGraphicFramePr>
        <p:xfrm>
          <a:off x="1046285" y="1031386"/>
          <a:ext cx="9454662" cy="4973022"/>
        </p:xfrm>
        <a:graphic>
          <a:graphicData uri="http://schemas.openxmlformats.org/drawingml/2006/table">
            <a:tbl>
              <a:tblPr>
                <a:tableStyleId>{5C22544A-7EE6-4342-B048-85BDC9FD1C3A}</a:tableStyleId>
              </a:tblPr>
              <a:tblGrid>
                <a:gridCol w="2327031">
                  <a:extLst>
                    <a:ext uri="{9D8B030D-6E8A-4147-A177-3AD203B41FA5}">
                      <a16:colId xmlns:a16="http://schemas.microsoft.com/office/drawing/2014/main" val="2667395497"/>
                    </a:ext>
                  </a:extLst>
                </a:gridCol>
                <a:gridCol w="7127631">
                  <a:extLst>
                    <a:ext uri="{9D8B030D-6E8A-4147-A177-3AD203B41FA5}">
                      <a16:colId xmlns:a16="http://schemas.microsoft.com/office/drawing/2014/main" val="539675217"/>
                    </a:ext>
                  </a:extLst>
                </a:gridCol>
              </a:tblGrid>
              <a:tr h="2617421">
                <a:tc>
                  <a:txBody>
                    <a:bodyPr/>
                    <a:lstStyle/>
                    <a:p>
                      <a:pPr algn="l" fontAlgn="ctr"/>
                      <a:r>
                        <a:rPr lang="es-CO" sz="2000" u="none" strike="noStrike" dirty="0">
                          <a:effectLst/>
                        </a:rPr>
                        <a:t>Transferencia</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CO" sz="1800" b="1" kern="1200" dirty="0">
                          <a:solidFill>
                            <a:schemeClr val="dk1"/>
                          </a:solidFill>
                          <a:effectLst/>
                          <a:latin typeface="+mn-lt"/>
                          <a:ea typeface="+mn-ea"/>
                          <a:cs typeface="+mn-cs"/>
                        </a:rPr>
                        <a:t>-Encuentro de experiencias:</a:t>
                      </a:r>
                      <a:r>
                        <a:rPr lang="es-CO" sz="1800" kern="1200" dirty="0">
                          <a:solidFill>
                            <a:schemeClr val="dk1"/>
                          </a:solidFill>
                          <a:effectLst/>
                          <a:latin typeface="+mn-lt"/>
                          <a:ea typeface="+mn-ea"/>
                          <a:cs typeface="+mn-cs"/>
                        </a:rPr>
                        <a:t> Se han organizado ferias literarias abiertas a la comunidad, donde se presentan los logros y actividades del proyecto, incentivando a otras instituciones a replicar la experiencia.</a:t>
                      </a:r>
                    </a:p>
                    <a:p>
                      <a:pPr marL="0" marR="0" lvl="0" indent="0" algn="just" defTabSz="914400" rtl="0" eaLnBrk="1" fontAlgn="ctr" latinLnBrk="0" hangingPunct="1">
                        <a:lnSpc>
                          <a:spcPct val="100000"/>
                        </a:lnSpc>
                        <a:spcBef>
                          <a:spcPts val="0"/>
                        </a:spcBef>
                        <a:spcAft>
                          <a:spcPts val="0"/>
                        </a:spcAft>
                        <a:buClrTx/>
                        <a:buSzTx/>
                        <a:buFontTx/>
                        <a:buNone/>
                        <a:tabLst/>
                        <a:defRPr/>
                      </a:pPr>
                      <a:r>
                        <a:rPr lang="es-CO" sz="1800" b="1" kern="1200" dirty="0">
                          <a:solidFill>
                            <a:schemeClr val="dk1"/>
                          </a:solidFill>
                          <a:effectLst/>
                          <a:latin typeface="+mn-lt"/>
                          <a:ea typeface="+mn-ea"/>
                          <a:cs typeface="+mn-cs"/>
                        </a:rPr>
                        <a:t>- Visitas Interinstitucionales:</a:t>
                      </a:r>
                      <a:r>
                        <a:rPr lang="es-CO" sz="1800" kern="1200" dirty="0">
                          <a:solidFill>
                            <a:schemeClr val="dk1"/>
                          </a:solidFill>
                          <a:effectLst/>
                          <a:latin typeface="+mn-lt"/>
                          <a:ea typeface="+mn-ea"/>
                          <a:cs typeface="+mn-cs"/>
                        </a:rPr>
                        <a:t> Facilitar visitas de docentes a la institución para observar de primera mano las actividades y procesos, promoviendo una transferencia práctica de la experiencia.</a:t>
                      </a:r>
                    </a:p>
                    <a:p>
                      <a:r>
                        <a:rPr lang="es-CO" sz="1800" b="1" kern="1200" dirty="0">
                          <a:solidFill>
                            <a:schemeClr val="dk1"/>
                          </a:solidFill>
                          <a:effectLst/>
                          <a:latin typeface="+mn-lt"/>
                          <a:ea typeface="+mn-ea"/>
                          <a:cs typeface="+mn-cs"/>
                        </a:rPr>
                        <a:t>3. Foros y Conversatorios</a:t>
                      </a:r>
                      <a:endParaRPr lang="es-CO" sz="1800" kern="1200" dirty="0">
                        <a:solidFill>
                          <a:schemeClr val="dk1"/>
                        </a:solidFill>
                        <a:effectLst/>
                        <a:latin typeface="+mn-lt"/>
                        <a:ea typeface="+mn-ea"/>
                        <a:cs typeface="+mn-cs"/>
                      </a:endParaRPr>
                    </a:p>
                    <a:p>
                      <a:r>
                        <a:rPr lang="es-CO" sz="1800" b="1" kern="1200" dirty="0">
                          <a:solidFill>
                            <a:schemeClr val="dk1"/>
                          </a:solidFill>
                          <a:effectLst/>
                          <a:latin typeface="+mn-lt"/>
                          <a:ea typeface="+mn-ea"/>
                          <a:cs typeface="+mn-cs"/>
                        </a:rPr>
                        <a:t>- Eventos de Diálogo:</a:t>
                      </a:r>
                      <a:r>
                        <a:rPr lang="es-CO" sz="1800" kern="1200" dirty="0">
                          <a:solidFill>
                            <a:schemeClr val="dk1"/>
                          </a:solidFill>
                          <a:effectLst/>
                          <a:latin typeface="+mn-lt"/>
                          <a:ea typeface="+mn-ea"/>
                          <a:cs typeface="+mn-cs"/>
                        </a:rPr>
                        <a:t> Se han organizado foros y conversatorios donde se discuten temas de paz y desarrollo, utilizando la literatura como medio para abordar problemáticas sociales y promover la reflexión colectiva; como por ejemplo el conversatorio con el escritor Edwar </a:t>
                      </a:r>
                      <a:r>
                        <a:rPr lang="es-CO" sz="1800" kern="1200" dirty="0" err="1">
                          <a:solidFill>
                            <a:schemeClr val="dk1"/>
                          </a:solidFill>
                          <a:effectLst/>
                          <a:latin typeface="+mn-lt"/>
                          <a:ea typeface="+mn-ea"/>
                          <a:cs typeface="+mn-cs"/>
                        </a:rPr>
                        <a:t>Ladimir</a:t>
                      </a:r>
                      <a:r>
                        <a:rPr lang="es-CO" sz="1800" kern="1200" dirty="0">
                          <a:solidFill>
                            <a:schemeClr val="dk1"/>
                          </a:solidFill>
                          <a:effectLst/>
                          <a:latin typeface="+mn-lt"/>
                          <a:ea typeface="+mn-ea"/>
                          <a:cs typeface="+mn-cs"/>
                        </a:rPr>
                        <a:t> Erazo, autor de “</a:t>
                      </a:r>
                      <a:r>
                        <a:rPr lang="es-CO" sz="1800" kern="1200" dirty="0" err="1">
                          <a:solidFill>
                            <a:schemeClr val="dk1"/>
                          </a:solidFill>
                          <a:effectLst/>
                          <a:latin typeface="+mn-lt"/>
                          <a:ea typeface="+mn-ea"/>
                          <a:cs typeface="+mn-cs"/>
                        </a:rPr>
                        <a:t>Italo</a:t>
                      </a:r>
                      <a:r>
                        <a:rPr lang="es-CO" sz="1800" kern="1200" dirty="0">
                          <a:solidFill>
                            <a:schemeClr val="dk1"/>
                          </a:solidFill>
                          <a:effectLst/>
                          <a:latin typeface="+mn-lt"/>
                          <a:ea typeface="+mn-ea"/>
                          <a:cs typeface="+mn-cs"/>
                        </a:rPr>
                        <a:t>, el negro que soñaba despierto”</a:t>
                      </a:r>
                    </a:p>
                    <a:p>
                      <a:pPr marL="0" marR="0" lvl="0" indent="0" algn="just" defTabSz="914400" rtl="0" eaLnBrk="1" fontAlgn="ctr" latinLnBrk="0" hangingPunct="1">
                        <a:lnSpc>
                          <a:spcPct val="100000"/>
                        </a:lnSpc>
                        <a:spcBef>
                          <a:spcPts val="0"/>
                        </a:spcBef>
                        <a:spcAft>
                          <a:spcPts val="0"/>
                        </a:spcAft>
                        <a:buClrTx/>
                        <a:buSzTx/>
                        <a:buFontTx/>
                        <a:buNone/>
                        <a:tabLst/>
                        <a:defRPr/>
                      </a:pPr>
                      <a:endParaRPr lang="es-CO" sz="2000" dirty="0"/>
                    </a:p>
                  </a:txBody>
                  <a:tcPr marL="4782" marR="4782" marT="4782" marB="0" anchor="ctr"/>
                </a:tc>
                <a:extLst>
                  <a:ext uri="{0D108BD9-81ED-4DB2-BD59-A6C34878D82A}">
                    <a16:rowId xmlns:a16="http://schemas.microsoft.com/office/drawing/2014/main" val="2878609262"/>
                  </a:ext>
                </a:extLst>
              </a:tr>
            </a:tbl>
          </a:graphicData>
        </a:graphic>
      </p:graphicFrame>
    </p:spTree>
    <p:extLst>
      <p:ext uri="{BB962C8B-B14F-4D97-AF65-F5344CB8AC3E}">
        <p14:creationId xmlns:p14="http://schemas.microsoft.com/office/powerpoint/2010/main" val="1470515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2129916572"/>
              </p:ext>
            </p:extLst>
          </p:nvPr>
        </p:nvGraphicFramePr>
        <p:xfrm>
          <a:off x="1257300" y="692201"/>
          <a:ext cx="8868507" cy="5216862"/>
        </p:xfrm>
        <a:graphic>
          <a:graphicData uri="http://schemas.openxmlformats.org/drawingml/2006/table">
            <a:tbl>
              <a:tblPr>
                <a:tableStyleId>{5C22544A-7EE6-4342-B048-85BDC9FD1C3A}</a:tableStyleId>
              </a:tblPr>
              <a:tblGrid>
                <a:gridCol w="2773401">
                  <a:extLst>
                    <a:ext uri="{9D8B030D-6E8A-4147-A177-3AD203B41FA5}">
                      <a16:colId xmlns:a16="http://schemas.microsoft.com/office/drawing/2014/main" val="2667395497"/>
                    </a:ext>
                  </a:extLst>
                </a:gridCol>
                <a:gridCol w="6095106">
                  <a:extLst>
                    <a:ext uri="{9D8B030D-6E8A-4147-A177-3AD203B41FA5}">
                      <a16:colId xmlns:a16="http://schemas.microsoft.com/office/drawing/2014/main" val="539675217"/>
                    </a:ext>
                  </a:extLst>
                </a:gridCol>
              </a:tblGrid>
              <a:tr h="2711205">
                <a:tc>
                  <a:txBody>
                    <a:bodyPr/>
                    <a:lstStyle/>
                    <a:p>
                      <a:pPr algn="l" fontAlgn="ctr"/>
                      <a:r>
                        <a:rPr lang="es-CO" sz="2000" u="none" strike="noStrike" dirty="0">
                          <a:effectLst/>
                        </a:rPr>
                        <a:t>Sostenibilidad</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fontAlgn="ctr"/>
                      <a:r>
                        <a:rPr lang="es-CO" sz="1800" dirty="0"/>
                        <a:t>La sostenibilidad de la experiencia </a:t>
                      </a:r>
                      <a:r>
                        <a:rPr lang="es-CO" sz="1800" b="1" dirty="0"/>
                        <a:t>“El cojín de mis sueños literarios”</a:t>
                      </a:r>
                      <a:r>
                        <a:rPr lang="es-CO" sz="1800" dirty="0"/>
                        <a:t> se fortalece gracias a la amplia participación de la comunidad educativa, que interviene activamente en espacios de retroalimentación, socialización y validación. Estos encuentros permiten ajustar la propuesta, reconocer sus logros y mantenerla vigente dentro del Proyecto Educativo Institucional. La participación de docentes, directivos, estudiantes y familias garantiza que la experiencia se consolide como una práctica institucional arraigada, capaz de mantenerse en el tiempo y adaptarse a nuevas necesidades. Así, los mecanismos de diálogo y construcción colectiva se convierten en la base que asegura su continuidad y su impacto formativo dentro de la institución.</a:t>
                      </a:r>
                      <a:endParaRPr lang="es-ES" sz="18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648028817"/>
                  </a:ext>
                </a:extLst>
              </a:tr>
            </a:tbl>
          </a:graphicData>
        </a:graphic>
      </p:graphicFrame>
    </p:spTree>
    <p:extLst>
      <p:ext uri="{BB962C8B-B14F-4D97-AF65-F5344CB8AC3E}">
        <p14:creationId xmlns:p14="http://schemas.microsoft.com/office/powerpoint/2010/main" val="2830353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AA3DA-2555-B473-98FF-8981810EC5AD}"/>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D2CBA07-028F-A097-2906-980FF4C05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a:extLst>
              <a:ext uri="{FF2B5EF4-FFF2-40B4-BE49-F238E27FC236}">
                <a16:creationId xmlns:a16="http://schemas.microsoft.com/office/drawing/2014/main" id="{AEE547E0-FCB5-B175-8FB2-5B997101C65D}"/>
              </a:ext>
            </a:extLst>
          </p:cNvPr>
          <p:cNvGraphicFramePr>
            <a:graphicFrameLocks noGrp="1"/>
          </p:cNvGraphicFramePr>
          <p:nvPr>
            <p:extLst>
              <p:ext uri="{D42A27DB-BD31-4B8C-83A1-F6EECF244321}">
                <p14:modId xmlns:p14="http://schemas.microsoft.com/office/powerpoint/2010/main" val="1621049722"/>
              </p:ext>
            </p:extLst>
          </p:nvPr>
        </p:nvGraphicFramePr>
        <p:xfrm>
          <a:off x="1292469" y="698063"/>
          <a:ext cx="8868507" cy="5491182"/>
        </p:xfrm>
        <a:graphic>
          <a:graphicData uri="http://schemas.openxmlformats.org/drawingml/2006/table">
            <a:tbl>
              <a:tblPr>
                <a:tableStyleId>{5C22544A-7EE6-4342-B048-85BDC9FD1C3A}</a:tableStyleId>
              </a:tblPr>
              <a:tblGrid>
                <a:gridCol w="2773401">
                  <a:extLst>
                    <a:ext uri="{9D8B030D-6E8A-4147-A177-3AD203B41FA5}">
                      <a16:colId xmlns:a16="http://schemas.microsoft.com/office/drawing/2014/main" val="2667395497"/>
                    </a:ext>
                  </a:extLst>
                </a:gridCol>
                <a:gridCol w="6095106">
                  <a:extLst>
                    <a:ext uri="{9D8B030D-6E8A-4147-A177-3AD203B41FA5}">
                      <a16:colId xmlns:a16="http://schemas.microsoft.com/office/drawing/2014/main" val="539675217"/>
                    </a:ext>
                  </a:extLst>
                </a:gridCol>
              </a:tblGrid>
              <a:tr h="2711205">
                <a:tc>
                  <a:txBody>
                    <a:bodyPr/>
                    <a:lstStyle/>
                    <a:p>
                      <a:pPr algn="l" fontAlgn="ctr"/>
                      <a:r>
                        <a:rPr lang="es-CO" sz="1800" u="none" strike="noStrike" dirty="0">
                          <a:effectLst/>
                        </a:rPr>
                        <a:t>Sostenibilidad</a:t>
                      </a:r>
                      <a:endParaRPr lang="es-CO" sz="18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fontAlgn="ctr"/>
                      <a:r>
                        <a:rPr lang="es-CO" sz="1800" dirty="0"/>
                        <a:t>La sostenibilidad de la experiencia </a:t>
                      </a:r>
                      <a:r>
                        <a:rPr lang="es-CO" sz="1800" b="1" dirty="0"/>
                        <a:t>“El cojín de mis sueños literarios”</a:t>
                      </a:r>
                      <a:r>
                        <a:rPr lang="es-CO" sz="1800" dirty="0"/>
                        <a:t> se garantiza mediante la participación activa de toda la comunidad educativa a través de diferentes espacios de interacción. Los docentes y estudiantes realizan jornadas periódicas de retroalimentación para evaluar avances y proponer mejoras; los directivos acompañan la socialización de resultados y apoyan la integración de la experiencia en los planes institucionales; y las familias y aliados externos validan el proceso mediante su participación en encuentros culturales y muestras literarias. Esta interacción constante permite actualizar la propuesta, mantener su pertinencia y asegurar que se convierta en una práctica estable y reconocida dentro de la institución, garantizando así su continuidad en el tiempo.</a:t>
                      </a:r>
                      <a:endParaRPr lang="es-ES" sz="18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648028817"/>
                  </a:ext>
                </a:extLst>
              </a:tr>
            </a:tbl>
          </a:graphicData>
        </a:graphic>
      </p:graphicFrame>
    </p:spTree>
    <p:extLst>
      <p:ext uri="{BB962C8B-B14F-4D97-AF65-F5344CB8AC3E}">
        <p14:creationId xmlns:p14="http://schemas.microsoft.com/office/powerpoint/2010/main" val="3274415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1A08A-9F22-0D9B-8FAC-03709EF2B44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BA6E41EF-9F17-698B-EE74-070F36F18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a:extLst>
              <a:ext uri="{FF2B5EF4-FFF2-40B4-BE49-F238E27FC236}">
                <a16:creationId xmlns:a16="http://schemas.microsoft.com/office/drawing/2014/main" id="{295F5D63-20DB-8386-ECEA-53558089C0FF}"/>
              </a:ext>
            </a:extLst>
          </p:cNvPr>
          <p:cNvGraphicFramePr>
            <a:graphicFrameLocks noGrp="1"/>
          </p:cNvGraphicFramePr>
          <p:nvPr>
            <p:extLst>
              <p:ext uri="{D42A27DB-BD31-4B8C-83A1-F6EECF244321}">
                <p14:modId xmlns:p14="http://schemas.microsoft.com/office/powerpoint/2010/main" val="905071226"/>
              </p:ext>
            </p:extLst>
          </p:nvPr>
        </p:nvGraphicFramePr>
        <p:xfrm>
          <a:off x="808893" y="721509"/>
          <a:ext cx="9204568" cy="5430222"/>
        </p:xfrm>
        <a:graphic>
          <a:graphicData uri="http://schemas.openxmlformats.org/drawingml/2006/table">
            <a:tbl>
              <a:tblPr>
                <a:tableStyleId>{5C22544A-7EE6-4342-B048-85BDC9FD1C3A}</a:tableStyleId>
              </a:tblPr>
              <a:tblGrid>
                <a:gridCol w="2878496">
                  <a:extLst>
                    <a:ext uri="{9D8B030D-6E8A-4147-A177-3AD203B41FA5}">
                      <a16:colId xmlns:a16="http://schemas.microsoft.com/office/drawing/2014/main" val="2667395497"/>
                    </a:ext>
                  </a:extLst>
                </a:gridCol>
                <a:gridCol w="6326072">
                  <a:extLst>
                    <a:ext uri="{9D8B030D-6E8A-4147-A177-3AD203B41FA5}">
                      <a16:colId xmlns:a16="http://schemas.microsoft.com/office/drawing/2014/main" val="539675217"/>
                    </a:ext>
                  </a:extLst>
                </a:gridCol>
              </a:tblGrid>
              <a:tr h="2711205">
                <a:tc>
                  <a:txBody>
                    <a:bodyPr/>
                    <a:lstStyle/>
                    <a:p>
                      <a:pPr algn="l" fontAlgn="ctr"/>
                      <a:r>
                        <a:rPr lang="es-CO" sz="2000" b="1" i="0" u="none" strike="noStrike" dirty="0">
                          <a:solidFill>
                            <a:srgbClr val="000000"/>
                          </a:solidFill>
                          <a:effectLst/>
                          <a:latin typeface="Arial" panose="020B0604020202020204" pitchFamily="34" charset="0"/>
                        </a:rPr>
                        <a:t>   INNOVACION</a:t>
                      </a:r>
                    </a:p>
                  </a:txBody>
                  <a:tcPr marL="4782" marR="4782" marT="4782" marB="0" anchor="ctr"/>
                </a:tc>
                <a:tc>
                  <a:txBody>
                    <a:bodyPr/>
                    <a:lstStyle/>
                    <a:p>
                      <a:pPr algn="just"/>
                      <a:r>
                        <a:rPr lang="es-CO" sz="1600" dirty="0"/>
                        <a:t>La experiencia </a:t>
                      </a:r>
                      <a:r>
                        <a:rPr lang="es-CO" sz="1600" b="1" dirty="0"/>
                        <a:t>“El cojín de mis sueños literarios”</a:t>
                      </a:r>
                      <a:r>
                        <a:rPr lang="es-CO" sz="1600" dirty="0"/>
                        <a:t> incorpora elementos conceptuales y metodológicos innovadores que fortalecen la gestión y la práctica pedagógica. Su enfoque combina lo emocional, lo creativo y lo literario, convirtiendo un objeto cotidiano —el cojín— en un mediador simbólico que transforma la manera en que los estudiantes leen, escriben y se relacionan con la literatura. Esta propuesta rompe con modelos tradicionales y abre espacios sensibles, participativos y personalizados de aprendizaje.</a:t>
                      </a:r>
                    </a:p>
                    <a:p>
                      <a:pPr algn="just"/>
                      <a:r>
                        <a:rPr lang="es-CO" sz="1600" dirty="0"/>
                        <a:t>Además, la experiencia trasciende como un </a:t>
                      </a:r>
                      <a:r>
                        <a:rPr lang="es-CO" sz="1600" b="1" dirty="0"/>
                        <a:t>proyecto de investigación–acción</a:t>
                      </a:r>
                      <a:r>
                        <a:rPr lang="es-CO" sz="1600" dirty="0"/>
                        <a:t>, pues permite observar, analizar y ajustar continuamente las prácticas del aula, generando conocimiento nuevo sobre motivación lectora, expresión creativa y metodologías centradas en el bienestar emocional. Sus resultados acumulados ofrecen insumos valiosos para la reflexión docente, la innovación institucional y la proyección de nuevas estrategias que impacten de manera significativa el desarrollo de competencias comunicativas</a:t>
                      </a:r>
                      <a:r>
                        <a:rPr lang="es-CO" sz="2000" dirty="0" smtClean="0"/>
                        <a:t>.</a:t>
                      </a:r>
                      <a:endParaRPr lang="es-CO" sz="2000" dirty="0"/>
                    </a:p>
                  </a:txBody>
                  <a:tcPr marL="4782" marR="4782" marT="4782" marB="0" anchor="ctr"/>
                </a:tc>
                <a:extLst>
                  <a:ext uri="{0D108BD9-81ED-4DB2-BD59-A6C34878D82A}">
                    <a16:rowId xmlns:a16="http://schemas.microsoft.com/office/drawing/2014/main" val="648028817"/>
                  </a:ext>
                </a:extLst>
              </a:tr>
            </a:tbl>
          </a:graphicData>
        </a:graphic>
      </p:graphicFrame>
    </p:spTree>
    <p:extLst>
      <p:ext uri="{BB962C8B-B14F-4D97-AF65-F5344CB8AC3E}">
        <p14:creationId xmlns:p14="http://schemas.microsoft.com/office/powerpoint/2010/main" val="7242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792CE-780F-0055-94DF-5534B4B54C3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AB88E9D-36B4-2E23-76F5-48271D3759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a:extLst>
              <a:ext uri="{FF2B5EF4-FFF2-40B4-BE49-F238E27FC236}">
                <a16:creationId xmlns:a16="http://schemas.microsoft.com/office/drawing/2014/main" id="{72C84466-7467-D002-0779-CE7D469F9F48}"/>
              </a:ext>
            </a:extLst>
          </p:cNvPr>
          <p:cNvGraphicFramePr>
            <a:graphicFrameLocks noGrp="1"/>
          </p:cNvGraphicFramePr>
          <p:nvPr>
            <p:extLst>
              <p:ext uri="{D42A27DB-BD31-4B8C-83A1-F6EECF244321}">
                <p14:modId xmlns:p14="http://schemas.microsoft.com/office/powerpoint/2010/main" val="2443161378"/>
              </p:ext>
            </p:extLst>
          </p:nvPr>
        </p:nvGraphicFramePr>
        <p:xfrm>
          <a:off x="1147886" y="773677"/>
          <a:ext cx="9204568" cy="5521662"/>
        </p:xfrm>
        <a:graphic>
          <a:graphicData uri="http://schemas.openxmlformats.org/drawingml/2006/table">
            <a:tbl>
              <a:tblPr>
                <a:tableStyleId>{5C22544A-7EE6-4342-B048-85BDC9FD1C3A}</a:tableStyleId>
              </a:tblPr>
              <a:tblGrid>
                <a:gridCol w="2878496">
                  <a:extLst>
                    <a:ext uri="{9D8B030D-6E8A-4147-A177-3AD203B41FA5}">
                      <a16:colId xmlns:a16="http://schemas.microsoft.com/office/drawing/2014/main" val="2667395497"/>
                    </a:ext>
                  </a:extLst>
                </a:gridCol>
                <a:gridCol w="6326072">
                  <a:extLst>
                    <a:ext uri="{9D8B030D-6E8A-4147-A177-3AD203B41FA5}">
                      <a16:colId xmlns:a16="http://schemas.microsoft.com/office/drawing/2014/main" val="539675217"/>
                    </a:ext>
                  </a:extLst>
                </a:gridCol>
              </a:tblGrid>
              <a:tr h="2711205">
                <a:tc>
                  <a:txBody>
                    <a:bodyPr/>
                    <a:lstStyle/>
                    <a:p>
                      <a:pPr algn="l" fontAlgn="ctr"/>
                      <a:r>
                        <a:rPr lang="es-CO" sz="2000" b="1" i="0" u="none" strike="noStrike" dirty="0">
                          <a:solidFill>
                            <a:srgbClr val="000000"/>
                          </a:solidFill>
                          <a:effectLst/>
                          <a:latin typeface="Arial" panose="020B0604020202020204" pitchFamily="34" charset="0"/>
                        </a:rPr>
                        <a:t>   INNOVACION</a:t>
                      </a:r>
                    </a:p>
                  </a:txBody>
                  <a:tcPr marL="4782" marR="4782" marT="4782" marB="0" anchor="ctr"/>
                </a:tc>
                <a:tc>
                  <a:txBody>
                    <a:bodyPr/>
                    <a:lstStyle/>
                    <a:p>
                      <a:r>
                        <a:rPr lang="es-CO" sz="1800" b="1" kern="1200" dirty="0">
                          <a:solidFill>
                            <a:schemeClr val="dk1"/>
                          </a:solidFill>
                          <a:effectLst/>
                          <a:latin typeface="+mn-lt"/>
                          <a:ea typeface="+mn-ea"/>
                          <a:cs typeface="+mn-cs"/>
                        </a:rPr>
                        <a:t>Innovaciones en la enseñanza y aprendizaje</a:t>
                      </a:r>
                      <a:endParaRPr lang="es-CO" sz="1800" kern="1200" dirty="0">
                        <a:solidFill>
                          <a:schemeClr val="dk1"/>
                        </a:solidFill>
                        <a:effectLst/>
                        <a:latin typeface="+mn-lt"/>
                        <a:ea typeface="+mn-ea"/>
                        <a:cs typeface="+mn-cs"/>
                      </a:endParaRPr>
                    </a:p>
                    <a:p>
                      <a:r>
                        <a:rPr lang="es-CO" sz="1800" kern="1200" dirty="0">
                          <a:solidFill>
                            <a:schemeClr val="dk1"/>
                          </a:solidFill>
                          <a:effectLst/>
                          <a:latin typeface="+mn-lt"/>
                          <a:ea typeface="+mn-ea"/>
                          <a:cs typeface="+mn-cs"/>
                        </a:rPr>
                        <a:t>1. </a:t>
                      </a:r>
                      <a:r>
                        <a:rPr lang="es-CO" sz="1800" b="1" kern="1200" dirty="0">
                          <a:solidFill>
                            <a:schemeClr val="dk1"/>
                          </a:solidFill>
                          <a:effectLst/>
                          <a:latin typeface="+mn-lt"/>
                          <a:ea typeface="+mn-ea"/>
                          <a:cs typeface="+mn-cs"/>
                        </a:rPr>
                        <a:t>Metodologías activas</a:t>
                      </a:r>
                      <a:endParaRPr lang="es-CO" sz="1800" kern="1200" dirty="0">
                        <a:solidFill>
                          <a:schemeClr val="dk1"/>
                        </a:solidFill>
                        <a:effectLst/>
                        <a:latin typeface="+mn-lt"/>
                        <a:ea typeface="+mn-ea"/>
                        <a:cs typeface="+mn-cs"/>
                      </a:endParaRPr>
                    </a:p>
                    <a:p>
                      <a:r>
                        <a:rPr lang="es-CO" sz="1800" kern="1200" dirty="0">
                          <a:solidFill>
                            <a:schemeClr val="dk1"/>
                          </a:solidFill>
                          <a:effectLst/>
                          <a:latin typeface="+mn-lt"/>
                          <a:ea typeface="+mn-ea"/>
                          <a:cs typeface="+mn-cs"/>
                        </a:rPr>
                        <a:t>- </a:t>
                      </a:r>
                      <a:r>
                        <a:rPr lang="es-CO" sz="1800" b="1" kern="1200" dirty="0">
                          <a:solidFill>
                            <a:schemeClr val="dk1"/>
                          </a:solidFill>
                          <a:effectLst/>
                          <a:latin typeface="+mn-lt"/>
                          <a:ea typeface="+mn-ea"/>
                          <a:cs typeface="+mn-cs"/>
                        </a:rPr>
                        <a:t>Aprendizaje basado en proyectos (ABP</a:t>
                      </a:r>
                      <a:r>
                        <a:rPr lang="es-CO" sz="1800" kern="1200" dirty="0">
                          <a:solidFill>
                            <a:schemeClr val="dk1"/>
                          </a:solidFill>
                          <a:effectLst/>
                          <a:latin typeface="+mn-lt"/>
                          <a:ea typeface="+mn-ea"/>
                          <a:cs typeface="+mn-cs"/>
                        </a:rPr>
                        <a:t>): Fomenta la participación activa de los estudiantes al trabajar en proyectos que abordan problemas reales, desarrollando habilidades críticas y creativas.</a:t>
                      </a:r>
                    </a:p>
                    <a:p>
                      <a:r>
                        <a:rPr lang="es-CO" sz="1800" kern="1200" dirty="0">
                          <a:solidFill>
                            <a:schemeClr val="dk1"/>
                          </a:solidFill>
                          <a:effectLst/>
                          <a:latin typeface="+mn-lt"/>
                          <a:ea typeface="+mn-ea"/>
                          <a:cs typeface="+mn-cs"/>
                        </a:rPr>
                        <a:t>-</a:t>
                      </a:r>
                      <a:r>
                        <a:rPr lang="es-CO" sz="1800" b="1" kern="1200" dirty="0">
                          <a:solidFill>
                            <a:schemeClr val="dk1"/>
                          </a:solidFill>
                          <a:effectLst/>
                          <a:latin typeface="+mn-lt"/>
                          <a:ea typeface="+mn-ea"/>
                          <a:cs typeface="+mn-cs"/>
                        </a:rPr>
                        <a:t>Aprendizaje colaborativo:</a:t>
                      </a:r>
                      <a:r>
                        <a:rPr lang="es-CO" sz="1800" kern="1200" dirty="0">
                          <a:solidFill>
                            <a:schemeClr val="dk1"/>
                          </a:solidFill>
                          <a:effectLst/>
                          <a:latin typeface="+mn-lt"/>
                          <a:ea typeface="+mn-ea"/>
                          <a:cs typeface="+mn-cs"/>
                        </a:rPr>
                        <a:t> Promueve el trabajo en equipo, permitiendo que los estudiantes aprendan unos de otros y construyan conocimiento de manera conjunta.</a:t>
                      </a:r>
                    </a:p>
                    <a:p>
                      <a:r>
                        <a:rPr lang="es-CO" sz="1800" b="1" kern="1200" dirty="0">
                          <a:solidFill>
                            <a:schemeClr val="dk1"/>
                          </a:solidFill>
                          <a:effectLst/>
                          <a:latin typeface="+mn-lt"/>
                          <a:ea typeface="+mn-ea"/>
                          <a:cs typeface="+mn-cs"/>
                        </a:rPr>
                        <a:t>2. Inclusión de tecnología</a:t>
                      </a:r>
                      <a:endParaRPr lang="es-CO" sz="1800" kern="1200" dirty="0">
                        <a:solidFill>
                          <a:schemeClr val="dk1"/>
                        </a:solidFill>
                        <a:effectLst/>
                        <a:latin typeface="+mn-lt"/>
                        <a:ea typeface="+mn-ea"/>
                        <a:cs typeface="+mn-cs"/>
                      </a:endParaRPr>
                    </a:p>
                    <a:p>
                      <a:r>
                        <a:rPr lang="es-CO" sz="1800" kern="1200" dirty="0">
                          <a:solidFill>
                            <a:schemeClr val="dk1"/>
                          </a:solidFill>
                          <a:effectLst/>
                          <a:latin typeface="+mn-lt"/>
                          <a:ea typeface="+mn-ea"/>
                          <a:cs typeface="+mn-cs"/>
                        </a:rPr>
                        <a:t>-</a:t>
                      </a:r>
                      <a:r>
                        <a:rPr lang="es-CO" sz="1800" b="1" kern="1200" dirty="0">
                          <a:solidFill>
                            <a:schemeClr val="dk1"/>
                          </a:solidFill>
                          <a:effectLst/>
                          <a:latin typeface="+mn-lt"/>
                          <a:ea typeface="+mn-ea"/>
                          <a:cs typeface="+mn-cs"/>
                        </a:rPr>
                        <a:t>Plataformas digitales:</a:t>
                      </a:r>
                      <a:r>
                        <a:rPr lang="es-CO" sz="1800" kern="1200" dirty="0">
                          <a:solidFill>
                            <a:schemeClr val="dk1"/>
                          </a:solidFill>
                          <a:effectLst/>
                          <a:latin typeface="+mn-lt"/>
                          <a:ea typeface="+mn-ea"/>
                          <a:cs typeface="+mn-cs"/>
                        </a:rPr>
                        <a:t> Integración de herramientas digitales y recursos en línea que facilitan el acceso a la información y permiten la creación de contenido multimedia.</a:t>
                      </a:r>
                    </a:p>
                    <a:p>
                      <a:r>
                        <a:rPr lang="es-CO" sz="1800" kern="1200" dirty="0">
                          <a:solidFill>
                            <a:schemeClr val="dk1"/>
                          </a:solidFill>
                          <a:effectLst/>
                          <a:latin typeface="+mn-lt"/>
                          <a:ea typeface="+mn-ea"/>
                          <a:cs typeface="+mn-cs"/>
                        </a:rPr>
                        <a:t>- </a:t>
                      </a:r>
                      <a:r>
                        <a:rPr lang="es-CO" sz="1800" b="1" kern="1200" dirty="0">
                          <a:solidFill>
                            <a:schemeClr val="dk1"/>
                          </a:solidFill>
                          <a:effectLst/>
                          <a:latin typeface="+mn-lt"/>
                          <a:ea typeface="+mn-ea"/>
                          <a:cs typeface="+mn-cs"/>
                        </a:rPr>
                        <a:t>Gamificación:</a:t>
                      </a:r>
                      <a:r>
                        <a:rPr lang="es-CO" sz="1800" kern="1200" dirty="0">
                          <a:solidFill>
                            <a:schemeClr val="dk1"/>
                          </a:solidFill>
                          <a:effectLst/>
                          <a:latin typeface="+mn-lt"/>
                          <a:ea typeface="+mn-ea"/>
                          <a:cs typeface="+mn-cs"/>
                        </a:rPr>
                        <a:t> Uso de elementos de juego en el aprendizaje para aumentar la motivación y el compromiso de los estudiantes.</a:t>
                      </a:r>
                    </a:p>
                    <a:p>
                      <a:pPr algn="just" fontAlgn="ctr"/>
                      <a:endParaRPr lang="es-ES" sz="20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648028817"/>
                  </a:ext>
                </a:extLst>
              </a:tr>
            </a:tbl>
          </a:graphicData>
        </a:graphic>
      </p:graphicFrame>
    </p:spTree>
    <p:extLst>
      <p:ext uri="{BB962C8B-B14F-4D97-AF65-F5344CB8AC3E}">
        <p14:creationId xmlns:p14="http://schemas.microsoft.com/office/powerpoint/2010/main" val="2189386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94D80-AC09-6555-8567-16CFDF7C566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04AD274-DF33-F511-D233-22BB8F2AE0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a:extLst>
              <a:ext uri="{FF2B5EF4-FFF2-40B4-BE49-F238E27FC236}">
                <a16:creationId xmlns:a16="http://schemas.microsoft.com/office/drawing/2014/main" id="{EE58A5FB-5773-A33B-5AA0-0B1872338BA9}"/>
              </a:ext>
            </a:extLst>
          </p:cNvPr>
          <p:cNvGraphicFramePr>
            <a:graphicFrameLocks noGrp="1"/>
          </p:cNvGraphicFramePr>
          <p:nvPr>
            <p:extLst>
              <p:ext uri="{D42A27DB-BD31-4B8C-83A1-F6EECF244321}">
                <p14:modId xmlns:p14="http://schemas.microsoft.com/office/powerpoint/2010/main" val="1760346565"/>
              </p:ext>
            </p:extLst>
          </p:nvPr>
        </p:nvGraphicFramePr>
        <p:xfrm>
          <a:off x="1295401" y="1353969"/>
          <a:ext cx="9204568" cy="4881582"/>
        </p:xfrm>
        <a:graphic>
          <a:graphicData uri="http://schemas.openxmlformats.org/drawingml/2006/table">
            <a:tbl>
              <a:tblPr>
                <a:tableStyleId>{5C22544A-7EE6-4342-B048-85BDC9FD1C3A}</a:tableStyleId>
              </a:tblPr>
              <a:tblGrid>
                <a:gridCol w="2878496">
                  <a:extLst>
                    <a:ext uri="{9D8B030D-6E8A-4147-A177-3AD203B41FA5}">
                      <a16:colId xmlns:a16="http://schemas.microsoft.com/office/drawing/2014/main" val="2667395497"/>
                    </a:ext>
                  </a:extLst>
                </a:gridCol>
                <a:gridCol w="6326072">
                  <a:extLst>
                    <a:ext uri="{9D8B030D-6E8A-4147-A177-3AD203B41FA5}">
                      <a16:colId xmlns:a16="http://schemas.microsoft.com/office/drawing/2014/main" val="539675217"/>
                    </a:ext>
                  </a:extLst>
                </a:gridCol>
              </a:tblGrid>
              <a:tr h="2711205">
                <a:tc>
                  <a:txBody>
                    <a:bodyPr/>
                    <a:lstStyle/>
                    <a:p>
                      <a:pPr algn="l" fontAlgn="ctr"/>
                      <a:r>
                        <a:rPr lang="es-CO" sz="2000" b="1" i="0" u="none" strike="noStrike" dirty="0">
                          <a:solidFill>
                            <a:srgbClr val="000000"/>
                          </a:solidFill>
                          <a:effectLst/>
                          <a:latin typeface="Arial" panose="020B0604020202020204" pitchFamily="34" charset="0"/>
                        </a:rPr>
                        <a:t>   INNOVACION</a:t>
                      </a:r>
                    </a:p>
                  </a:txBody>
                  <a:tcPr marL="4782" marR="4782" marT="4782" marB="0" anchor="ctr"/>
                </a:tc>
                <a:tc>
                  <a:txBody>
                    <a:bodyPr/>
                    <a:lstStyle/>
                    <a:p>
                      <a:pPr algn="just"/>
                      <a:r>
                        <a:rPr lang="es-CO" sz="1800" b="1" kern="1200" dirty="0">
                          <a:solidFill>
                            <a:schemeClr val="dk1"/>
                          </a:solidFill>
                          <a:effectLst/>
                          <a:latin typeface="+mn-lt"/>
                          <a:ea typeface="+mn-ea"/>
                          <a:cs typeface="+mn-cs"/>
                        </a:rPr>
                        <a:t>3.</a:t>
                      </a:r>
                      <a:r>
                        <a:rPr lang="es-CO" sz="1200" b="1" kern="1200" dirty="0">
                          <a:solidFill>
                            <a:schemeClr val="dk1"/>
                          </a:solidFill>
                          <a:effectLst/>
                          <a:latin typeface="+mn-lt"/>
                          <a:ea typeface="+mn-ea"/>
                          <a:cs typeface="+mn-cs"/>
                        </a:rPr>
                        <a:t>Currículo flexible y contextualizado</a:t>
                      </a:r>
                      <a:endParaRPr lang="es-CO" sz="1200" kern="1200" dirty="0">
                        <a:solidFill>
                          <a:schemeClr val="dk1"/>
                        </a:solidFill>
                        <a:effectLst/>
                        <a:latin typeface="+mn-lt"/>
                        <a:ea typeface="+mn-ea"/>
                        <a:cs typeface="+mn-cs"/>
                      </a:endParaRPr>
                    </a:p>
                    <a:p>
                      <a:pPr algn="just"/>
                      <a:r>
                        <a:rPr lang="es-CO" sz="1200" kern="1200" dirty="0">
                          <a:solidFill>
                            <a:schemeClr val="dk1"/>
                          </a:solidFill>
                          <a:effectLst/>
                          <a:latin typeface="+mn-lt"/>
                          <a:ea typeface="+mn-ea"/>
                          <a:cs typeface="+mn-cs"/>
                        </a:rPr>
                        <a:t>- </a:t>
                      </a:r>
                      <a:r>
                        <a:rPr lang="es-CO" sz="1200" b="1" kern="1200" dirty="0">
                          <a:solidFill>
                            <a:schemeClr val="dk1"/>
                          </a:solidFill>
                          <a:effectLst/>
                          <a:latin typeface="+mn-lt"/>
                          <a:ea typeface="+mn-ea"/>
                          <a:cs typeface="+mn-cs"/>
                        </a:rPr>
                        <a:t>Adaptación curricular</a:t>
                      </a:r>
                      <a:r>
                        <a:rPr lang="es-CO" sz="1200" kern="1200" dirty="0">
                          <a:solidFill>
                            <a:schemeClr val="dk1"/>
                          </a:solidFill>
                          <a:effectLst/>
                          <a:latin typeface="+mn-lt"/>
                          <a:ea typeface="+mn-ea"/>
                          <a:cs typeface="+mn-cs"/>
                        </a:rPr>
                        <a:t>: Ajustes en el currículo para reflejar las realidades y necesidades de la comunidad educativa, incluyendo temas relevantes como diversidad cultural, medio ambiente y salud.</a:t>
                      </a:r>
                    </a:p>
                    <a:p>
                      <a:pPr algn="just"/>
                      <a:r>
                        <a:rPr lang="es-CO" sz="1200" kern="1200" dirty="0">
                          <a:solidFill>
                            <a:schemeClr val="dk1"/>
                          </a:solidFill>
                          <a:effectLst/>
                          <a:latin typeface="+mn-lt"/>
                          <a:ea typeface="+mn-ea"/>
                          <a:cs typeface="+mn-cs"/>
                        </a:rPr>
                        <a:t>-</a:t>
                      </a:r>
                      <a:r>
                        <a:rPr lang="es-CO" sz="1200" b="1" kern="1200" dirty="0">
                          <a:solidFill>
                            <a:schemeClr val="dk1"/>
                          </a:solidFill>
                          <a:effectLst/>
                          <a:latin typeface="+mn-lt"/>
                          <a:ea typeface="+mn-ea"/>
                          <a:cs typeface="+mn-cs"/>
                        </a:rPr>
                        <a:t>Enfoque interdisciplinario: </a:t>
                      </a:r>
                      <a:r>
                        <a:rPr lang="es-CO" sz="1200" kern="1200" dirty="0">
                          <a:solidFill>
                            <a:schemeClr val="dk1"/>
                          </a:solidFill>
                          <a:effectLst/>
                          <a:latin typeface="+mn-lt"/>
                          <a:ea typeface="+mn-ea"/>
                          <a:cs typeface="+mn-cs"/>
                        </a:rPr>
                        <a:t>Conexión entre diferentes áreas del conocimiento, facilitando un aprendizaje más integral y significativo.</a:t>
                      </a:r>
                    </a:p>
                    <a:p>
                      <a:pPr algn="just"/>
                      <a:r>
                        <a:rPr lang="es-CO" sz="1200" b="1" kern="1200" dirty="0">
                          <a:solidFill>
                            <a:schemeClr val="dk1"/>
                          </a:solidFill>
                          <a:effectLst/>
                          <a:latin typeface="+mn-lt"/>
                          <a:ea typeface="+mn-ea"/>
                          <a:cs typeface="+mn-cs"/>
                        </a:rPr>
                        <a:t>4. Atención a la diversidad</a:t>
                      </a:r>
                      <a:endParaRPr lang="es-CO" sz="1200" kern="1200" dirty="0">
                        <a:solidFill>
                          <a:schemeClr val="dk1"/>
                        </a:solidFill>
                        <a:effectLst/>
                        <a:latin typeface="+mn-lt"/>
                        <a:ea typeface="+mn-ea"/>
                        <a:cs typeface="+mn-cs"/>
                      </a:endParaRPr>
                    </a:p>
                    <a:p>
                      <a:pPr algn="just"/>
                      <a:r>
                        <a:rPr lang="es-CO" sz="1200" kern="1200" dirty="0">
                          <a:solidFill>
                            <a:schemeClr val="dk1"/>
                          </a:solidFill>
                          <a:effectLst/>
                          <a:latin typeface="+mn-lt"/>
                          <a:ea typeface="+mn-ea"/>
                          <a:cs typeface="+mn-cs"/>
                        </a:rPr>
                        <a:t>-</a:t>
                      </a:r>
                      <a:r>
                        <a:rPr lang="es-CO" sz="1200" b="1" kern="1200" dirty="0">
                          <a:solidFill>
                            <a:schemeClr val="dk1"/>
                          </a:solidFill>
                          <a:effectLst/>
                          <a:latin typeface="+mn-lt"/>
                          <a:ea typeface="+mn-ea"/>
                          <a:cs typeface="+mn-cs"/>
                        </a:rPr>
                        <a:t>Estrategias diferenciadas:</a:t>
                      </a:r>
                      <a:r>
                        <a:rPr lang="es-CO" sz="1200" kern="1200" dirty="0">
                          <a:solidFill>
                            <a:schemeClr val="dk1"/>
                          </a:solidFill>
                          <a:effectLst/>
                          <a:latin typeface="+mn-lt"/>
                          <a:ea typeface="+mn-ea"/>
                          <a:cs typeface="+mn-cs"/>
                        </a:rPr>
                        <a:t> Implementación de métodos de enseñanza que consideran las diferentes capacidades y estilos de aprendizaje de los estudiantes, asegurando que todos tengan oportunidades de éxito.</a:t>
                      </a:r>
                    </a:p>
                    <a:p>
                      <a:pPr algn="just"/>
                      <a:r>
                        <a:rPr lang="es-CO" sz="1200" kern="1200" dirty="0">
                          <a:solidFill>
                            <a:schemeClr val="dk1"/>
                          </a:solidFill>
                          <a:effectLst/>
                          <a:latin typeface="+mn-lt"/>
                          <a:ea typeface="+mn-ea"/>
                          <a:cs typeface="+mn-cs"/>
                        </a:rPr>
                        <a:t>-</a:t>
                      </a:r>
                      <a:r>
                        <a:rPr lang="es-CO" sz="1200" b="1" kern="1200" dirty="0">
                          <a:solidFill>
                            <a:schemeClr val="dk1"/>
                          </a:solidFill>
                          <a:effectLst/>
                          <a:latin typeface="+mn-lt"/>
                          <a:ea typeface="+mn-ea"/>
                          <a:cs typeface="+mn-cs"/>
                        </a:rPr>
                        <a:t>Programas de Apoyo</a:t>
                      </a:r>
                      <a:r>
                        <a:rPr lang="es-CO" sz="1200" kern="1200" dirty="0">
                          <a:solidFill>
                            <a:schemeClr val="dk1"/>
                          </a:solidFill>
                          <a:effectLst/>
                          <a:latin typeface="+mn-lt"/>
                          <a:ea typeface="+mn-ea"/>
                          <a:cs typeface="+mn-cs"/>
                        </a:rPr>
                        <a:t>: Creación de recursos y programas específicos para atender las necesidades de grupos vulnerables, incluyendo adultos mayores y poblaciones en riesgo.</a:t>
                      </a:r>
                    </a:p>
                    <a:p>
                      <a:pPr algn="just"/>
                      <a:r>
                        <a:rPr lang="es-CO" sz="1200" kern="1200" dirty="0">
                          <a:solidFill>
                            <a:schemeClr val="dk1"/>
                          </a:solidFill>
                          <a:effectLst/>
                          <a:latin typeface="+mn-lt"/>
                          <a:ea typeface="+mn-ea"/>
                          <a:cs typeface="+mn-cs"/>
                        </a:rPr>
                        <a:t> </a:t>
                      </a:r>
                    </a:p>
                    <a:p>
                      <a:pPr algn="just"/>
                      <a:r>
                        <a:rPr lang="es-CO" sz="1200" b="1" kern="1200" dirty="0">
                          <a:solidFill>
                            <a:schemeClr val="dk1"/>
                          </a:solidFill>
                          <a:effectLst/>
                          <a:latin typeface="+mn-lt"/>
                          <a:ea typeface="+mn-ea"/>
                          <a:cs typeface="+mn-cs"/>
                        </a:rPr>
                        <a:t>5. Formación y Capacitación Continua</a:t>
                      </a:r>
                      <a:endParaRPr lang="es-CO" sz="1200" kern="1200" dirty="0">
                        <a:solidFill>
                          <a:schemeClr val="dk1"/>
                        </a:solidFill>
                        <a:effectLst/>
                        <a:latin typeface="+mn-lt"/>
                        <a:ea typeface="+mn-ea"/>
                        <a:cs typeface="+mn-cs"/>
                      </a:endParaRPr>
                    </a:p>
                    <a:p>
                      <a:pPr algn="just"/>
                      <a:r>
                        <a:rPr lang="es-CO" sz="1200" kern="1200" dirty="0">
                          <a:solidFill>
                            <a:schemeClr val="dk1"/>
                          </a:solidFill>
                          <a:effectLst/>
                          <a:latin typeface="+mn-lt"/>
                          <a:ea typeface="+mn-ea"/>
                          <a:cs typeface="+mn-cs"/>
                        </a:rPr>
                        <a:t>-</a:t>
                      </a:r>
                      <a:r>
                        <a:rPr lang="es-CO" sz="1200" b="1" kern="1200" dirty="0">
                          <a:solidFill>
                            <a:schemeClr val="dk1"/>
                          </a:solidFill>
                          <a:effectLst/>
                          <a:latin typeface="+mn-lt"/>
                          <a:ea typeface="+mn-ea"/>
                          <a:cs typeface="+mn-cs"/>
                        </a:rPr>
                        <a:t>Desarrollo profesional docente: </a:t>
                      </a:r>
                      <a:r>
                        <a:rPr lang="es-CO" sz="1200" kern="1200" dirty="0">
                          <a:solidFill>
                            <a:schemeClr val="dk1"/>
                          </a:solidFill>
                          <a:effectLst/>
                          <a:latin typeface="+mn-lt"/>
                          <a:ea typeface="+mn-ea"/>
                          <a:cs typeface="+mn-cs"/>
                        </a:rPr>
                        <a:t>Capacitación constante para los educadores en nuevas metodologías, tecnologías y enfoques inclusivos, asegurando un aprendizaje de alta calidad.</a:t>
                      </a:r>
                    </a:p>
                    <a:p>
                      <a:pPr algn="just"/>
                      <a:r>
                        <a:rPr lang="es-CO" sz="1200" kern="1200" dirty="0">
                          <a:solidFill>
                            <a:schemeClr val="dk1"/>
                          </a:solidFill>
                          <a:effectLst/>
                          <a:latin typeface="+mn-lt"/>
                          <a:ea typeface="+mn-ea"/>
                          <a:cs typeface="+mn-cs"/>
                        </a:rPr>
                        <a:t>-</a:t>
                      </a:r>
                      <a:r>
                        <a:rPr lang="es-CO" sz="1200" b="1" kern="1200" dirty="0">
                          <a:solidFill>
                            <a:schemeClr val="dk1"/>
                          </a:solidFill>
                          <a:effectLst/>
                          <a:latin typeface="+mn-lt"/>
                          <a:ea typeface="+mn-ea"/>
                          <a:cs typeface="+mn-cs"/>
                        </a:rPr>
                        <a:t>Redes de Aprendizaje:</a:t>
                      </a:r>
                      <a:r>
                        <a:rPr lang="es-CO" sz="1200" kern="1200" dirty="0">
                          <a:solidFill>
                            <a:schemeClr val="dk1"/>
                          </a:solidFill>
                          <a:effectLst/>
                          <a:latin typeface="+mn-lt"/>
                          <a:ea typeface="+mn-ea"/>
                          <a:cs typeface="+mn-cs"/>
                        </a:rPr>
                        <a:t> Fomento de comunidades de práctica entre docentes para compartir experiencias y mejores prácticas.</a:t>
                      </a:r>
                    </a:p>
                    <a:p>
                      <a:r>
                        <a:rPr lang="es-CO" sz="1800" kern="1200" dirty="0">
                          <a:solidFill>
                            <a:schemeClr val="dk1"/>
                          </a:solidFill>
                          <a:effectLst/>
                          <a:latin typeface="+mn-lt"/>
                          <a:ea typeface="+mn-ea"/>
                          <a:cs typeface="+mn-cs"/>
                        </a:rPr>
                        <a:t> </a:t>
                      </a:r>
                    </a:p>
                    <a:p>
                      <a:r>
                        <a:rPr lang="es-CO" sz="1800" kern="1200" dirty="0">
                          <a:solidFill>
                            <a:schemeClr val="dk1"/>
                          </a:solidFill>
                          <a:effectLst/>
                          <a:latin typeface="+mn-lt"/>
                          <a:ea typeface="+mn-ea"/>
                          <a:cs typeface="+mn-cs"/>
                        </a:rPr>
                        <a:t> </a:t>
                      </a:r>
                    </a:p>
                    <a:p>
                      <a:pPr algn="just"/>
                      <a:endParaRPr lang="es-ES" sz="14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648028817"/>
                  </a:ext>
                </a:extLst>
              </a:tr>
            </a:tbl>
          </a:graphicData>
        </a:graphic>
      </p:graphicFrame>
    </p:spTree>
    <p:extLst>
      <p:ext uri="{BB962C8B-B14F-4D97-AF65-F5344CB8AC3E}">
        <p14:creationId xmlns:p14="http://schemas.microsoft.com/office/powerpoint/2010/main" val="338065612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TotalTime>
  <Words>2951</Words>
  <Application>Microsoft Office PowerPoint</Application>
  <PresentationFormat>Panorámica</PresentationFormat>
  <Paragraphs>123</Paragraphs>
  <Slides>22</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22</vt:i4>
      </vt:variant>
    </vt:vector>
  </HeadingPairs>
  <TitlesOfParts>
    <vt:vector size="28" baseType="lpstr">
      <vt:lpstr>Aptos</vt:lpstr>
      <vt:lpstr>Aptos Display</vt:lpstr>
      <vt:lpstr>Arial</vt:lpstr>
      <vt:lpstr>Calibri</vt:lpstr>
      <vt:lpstr>Symbol</vt:lpstr>
      <vt:lpstr>Tema de Office</vt:lpstr>
      <vt:lpstr>EL COJIN DE MIS SUEÑOS LITERARIOS DOCENTE LÍDER NANCY JANETH HERRERA CANO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Nombre de la Experiencia Significativa</dc:title>
  <dc:creator>Sebastian Santamaria</dc:creator>
  <cp:lastModifiedBy>CALIDAD-MEJORAMIENTO</cp:lastModifiedBy>
  <cp:revision>18</cp:revision>
  <dcterms:created xsi:type="dcterms:W3CDTF">2025-07-23T15:35:07Z</dcterms:created>
  <dcterms:modified xsi:type="dcterms:W3CDTF">2026-06-17T19:15:19Z</dcterms:modified>
</cp:coreProperties>
</file>