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78" r:id="rId4"/>
    <p:sldId id="280" r:id="rId5"/>
    <p:sldId id="281" r:id="rId6"/>
    <p:sldId id="282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8" r:id="rId16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24" autoAdjust="0"/>
    <p:restoredTop sz="94660"/>
  </p:normalViewPr>
  <p:slideViewPr>
    <p:cSldViewPr snapToGrid="0">
      <p:cViewPr varScale="1">
        <p:scale>
          <a:sx n="63" d="100"/>
          <a:sy n="63" d="100"/>
        </p:scale>
        <p:origin x="6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FB98F3-56D0-4537-8D3D-FAC1701FF1EF}" type="datetimeFigureOut">
              <a:rPr lang="es-CO" smtClean="0"/>
              <a:t>17/06/2026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F4AE3B-701C-4D32-9651-D9F85E128F1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14423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F4AE3B-701C-4D32-9651-D9F85E128F13}" type="slidenum">
              <a:rPr lang="es-CO" smtClean="0"/>
              <a:t>15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313199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3B46F3-BD87-1244-C518-539103D7FD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1DB866E-528A-E7A1-888D-047A34E554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E838C8-B107-769B-CA23-0886E2F73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17/06/2026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DF867A-4E8F-A03F-A929-7DA6ACDDB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D2D83F-DADF-BCE9-05D8-3A899D9B1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70897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CE0EBB-9626-1753-03B1-50B133A5A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BFEC1A-5FED-A861-DCEA-C205BB94B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4A9250-4773-1F58-BB28-B7EABC3DD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17/06/2026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0FA128-B7B8-B0EF-D31D-231A72A30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0F846C-CD29-FC4E-6C35-B35E945D2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0401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3948D9-1D84-100B-E086-763A0B5A1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F1287FC-DE40-5FEE-99C0-5E106C5E60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EB6DCD-998D-79C6-A391-68F2326B2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17/06/2026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42B1B5-98B4-F2C6-D48C-D99160642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FF1E9B-C3BA-795B-EDC3-183AD7427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89741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EF2BB7-E88B-5479-E88F-1FF94E101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0D1765-B4DF-B8A8-267B-23D3D8FC0C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A175493-7780-2FBB-7845-55FB500A68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15E3D2A-5DA3-B8EE-6513-1EE2D2F16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17/06/2026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85006BB-22EF-6C17-9AC9-8BC0A6CFE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6ED5FB5-C590-9217-D3CB-C4EBF32E9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38476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384527-F461-E0E3-CBD4-91A3E821E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1B32A59-9727-6758-5DA4-C470274EC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265B3E9-34E1-6718-763E-F143E9540C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4176C83-F680-A73B-26CC-0CF5D7F590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F9EBE45-361A-12BD-E0BF-240F81DE58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7D40406-BB14-9140-A36E-57E06C84B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17/06/2026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8A04C30-EDA6-E8D8-17E5-6FFC31775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C15371C-606E-D71B-7E87-18750CB7B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86970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786D20-6E3E-3281-0F95-BBF3C95D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CFA1186-6ED9-F6E4-97BA-3A4F960A7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17/06/2026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00C95CA-1239-B99E-77D3-7A6FDE082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376426A-9ABC-5EF1-AEB1-C0CFC2215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15364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CA8B009-C69D-1D5D-2898-3FAB86356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17/06/2026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14A400F-EF69-18E2-03A6-884F1D73A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CBCE93-02A5-2D01-14B0-951F79F14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87554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CE0CD9-7BCB-2025-6D74-C27F3B345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0EA8B7-9869-5158-E183-19819CDE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41FCE9D-FC78-3797-E9CE-C3F4DD2CF3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2142166-3168-72E8-7E91-C1FC8816A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17/06/2026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B384531-13AD-3876-2B69-E6BF5C86C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F634F09-C68B-DFE7-CDD2-5D12307D1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79997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F0B0B6-178A-2DE2-9D4C-1EA48B40C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FED4931-6DD5-8470-00B4-4AD729FB19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0390BD-29BD-3EF3-3F42-30FB741D80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1F85192-11DA-8CCF-60ED-9C2E23CB8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17/06/2026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0B09ACD-B38C-A414-7D9B-22F6970DF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864F253-73AE-4A50-5D78-FA299CF7D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08398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CD14DF-6133-7225-5208-6F1F8F738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F9A2C64-4BCF-8878-42A2-2B7E30B62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B21BBE-E8B9-71AD-99D2-9280106CF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17/06/2026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04BB80-30DC-4522-9F3A-F376EF2E4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D9122F-2D63-7AAC-D358-2F25E455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23708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8AD4C63-322B-9289-95FE-95F8B78D34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3DCC26B-B15B-4664-3A32-C1A29ADA18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1FA146-87B7-F736-BB5A-46426D064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17/06/2026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9FD83E-D958-4ABA-64A4-1CD41203C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2301AD-C2B3-B9CB-1E65-9B2DA6E56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0970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2C9864D-1483-2AE5-0FEA-488555370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FD254BB-B860-F144-7BF3-315B8786E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F5BED5-0585-53C3-A724-BE9242651E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32DC3D-3364-4B98-B737-2FEA8DB4EEB9}" type="datetimeFigureOut">
              <a:rPr lang="es-CO" smtClean="0"/>
              <a:t>17/06/2026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0016D93-5AFA-DE80-D034-217A49DEC6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8A8A3A-02BF-B19A-B382-EB9221EEB8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28135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18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B6E52C1-8F25-43A2-A42C-8C2178DA9B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01774" y="740385"/>
            <a:ext cx="5671129" cy="1470025"/>
          </a:xfrm>
        </p:spPr>
        <p:txBody>
          <a:bodyPr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s-ES" sz="4800" b="1" dirty="0">
                <a:ln/>
                <a:solidFill>
                  <a:schemeClr val="accent3"/>
                </a:solidFill>
              </a:rPr>
              <a:t>CAFÉ PACHAVIFA </a:t>
            </a:r>
            <a:endParaRPr lang="es-CO" sz="4800" b="1" dirty="0">
              <a:ln/>
              <a:solidFill>
                <a:schemeClr val="accent3"/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DE34ED1-BCC0-4AF1-A861-7F36994212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8971" y="3338285"/>
            <a:ext cx="6828413" cy="2015671"/>
          </a:xfrm>
        </p:spPr>
        <p:txBody>
          <a:bodyPr>
            <a:normAutofit fontScale="92500" lnSpcReduction="10000"/>
          </a:bodyPr>
          <a:lstStyle/>
          <a:p>
            <a:pPr marL="571500" indent="-571500">
              <a:buAutoNum type="romanUcPeriod"/>
            </a:pPr>
            <a:r>
              <a:rPr lang="es-CO" sz="3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Arial Black" panose="020B0A04020102020204" pitchFamily="34" charset="0"/>
                <a:cs typeface="Aharoni" panose="02010803020104030203" pitchFamily="2" charset="-79"/>
              </a:rPr>
              <a:t>E. M. VILLA FATIMA </a:t>
            </a:r>
          </a:p>
          <a:p>
            <a:endParaRPr lang="es-CO" sz="36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Arial Black" panose="020B0A04020102020204" pitchFamily="34" charset="0"/>
              <a:cs typeface="Aharoni" panose="02010803020104030203" pitchFamily="2" charset="-79"/>
            </a:endParaRPr>
          </a:p>
          <a:p>
            <a:r>
              <a:rPr lang="es-CO" sz="3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Docente: Engelberto Rodríguez Burgos</a:t>
            </a:r>
          </a:p>
          <a:p>
            <a:endParaRPr lang="es-CO" sz="36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D704A81-8504-06C1-93D8-6B4BE51CF2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845" y="972003"/>
            <a:ext cx="2947966" cy="5454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933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9FFE91E-0D69-4CCE-B441-9C930DA42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3200" y="731837"/>
            <a:ext cx="8229600" cy="1143000"/>
          </a:xfrm>
        </p:spPr>
        <p:txBody>
          <a:bodyPr/>
          <a:lstStyle/>
          <a:p>
            <a:pPr algn="ctr"/>
            <a:r>
              <a:rPr lang="es-CO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CONTEXTO Y PROBLEMA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63FB67C-4A6A-40A3-95B0-604891C9F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0"/>
            <a:ext cx="10761786" cy="452596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s-ES" sz="2200" dirty="0"/>
              <a:t>Se desarrolla en la zona rural del corregimiento de Bruselas, al sur del casco urbano del municipio de Pitalito Huila. </a:t>
            </a:r>
            <a:endParaRPr lang="es-CO" sz="2200" dirty="0"/>
          </a:p>
          <a:p>
            <a:pPr>
              <a:lnSpc>
                <a:spcPct val="150000"/>
              </a:lnSpc>
            </a:pPr>
            <a:r>
              <a:rPr lang="es-ES" sz="2200" dirty="0"/>
              <a:t>En esta zona, el principal renglón económico es la producción de café verde y pergamino seco es el producto que se genera. </a:t>
            </a:r>
          </a:p>
          <a:p>
            <a:pPr>
              <a:lnSpc>
                <a:spcPct val="150000"/>
              </a:lnSpc>
            </a:pPr>
            <a:r>
              <a:rPr lang="es-ES" sz="2200" dirty="0"/>
              <a:t>La mayor rentabilidad de la cadena productiva del café es la trasformación y comercialización del grano</a:t>
            </a:r>
            <a:endParaRPr sz="2200" dirty="0"/>
          </a:p>
          <a:p>
            <a:pPr>
              <a:lnSpc>
                <a:spcPct val="150000"/>
              </a:lnSpc>
            </a:pPr>
            <a:r>
              <a:rPr lang="es-ES" sz="2200" dirty="0"/>
              <a:t>El café de calidad y su comercialización </a:t>
            </a:r>
            <a:r>
              <a:rPr sz="2200" dirty="0"/>
              <a:t>surge como </a:t>
            </a:r>
            <a:r>
              <a:rPr sz="2200" dirty="0" err="1"/>
              <a:t>alternativa</a:t>
            </a:r>
            <a:r>
              <a:rPr sz="2200" dirty="0"/>
              <a:t> </a:t>
            </a:r>
            <a:r>
              <a:rPr lang="es-ES" sz="2200" dirty="0"/>
              <a:t>emprendedora.</a:t>
            </a:r>
            <a:endParaRPr sz="22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708EE88-B06A-2D07-FA0E-24FD9C3985E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8800" y="-42561"/>
            <a:ext cx="1642761" cy="1642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321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14393078-6811-3BFA-1A5B-D9E0F44712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00971"/>
            <a:ext cx="12192000" cy="531301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4175EBA-59F8-15BC-E223-C2F377BEF961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7745" y="16716"/>
            <a:ext cx="884255" cy="884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144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>
            <a:extLst>
              <a:ext uri="{FF2B5EF4-FFF2-40B4-BE49-F238E27FC236}">
                <a16:creationId xmlns:a16="http://schemas.microsoft.com/office/drawing/2014/main" id="{411583B1-23E0-ED25-0035-DAD35992CC1E}"/>
              </a:ext>
            </a:extLst>
          </p:cNvPr>
          <p:cNvGrpSpPr/>
          <p:nvPr/>
        </p:nvGrpSpPr>
        <p:grpSpPr>
          <a:xfrm>
            <a:off x="0" y="1012722"/>
            <a:ext cx="12192000" cy="5132439"/>
            <a:chOff x="0" y="1012722"/>
            <a:chExt cx="12192000" cy="5132439"/>
          </a:xfrm>
        </p:grpSpPr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B25CDC3B-8D53-F67B-62C2-ADD1DB71F8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012722"/>
              <a:ext cx="12192000" cy="5132439"/>
            </a:xfrm>
            <a:prstGeom prst="rect">
              <a:avLst/>
            </a:prstGeom>
          </p:spPr>
        </p:pic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67A999EC-3F72-E663-49EB-0D41EC9EDC3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13890"/>
            <a:stretch/>
          </p:blipFill>
          <p:spPr>
            <a:xfrm>
              <a:off x="717192" y="2202424"/>
              <a:ext cx="3776149" cy="1907459"/>
            </a:xfrm>
            <a:prstGeom prst="rect">
              <a:avLst/>
            </a:prstGeom>
          </p:spPr>
        </p:pic>
      </p:grpSp>
      <p:pic>
        <p:nvPicPr>
          <p:cNvPr id="14" name="Imagen 13">
            <a:extLst>
              <a:ext uri="{FF2B5EF4-FFF2-40B4-BE49-F238E27FC236}">
                <a16:creationId xmlns:a16="http://schemas.microsoft.com/office/drawing/2014/main" id="{3C2E0600-1FB8-5F07-6025-77CB29C96FFB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7745" y="16716"/>
            <a:ext cx="884255" cy="884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626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26F8E0BC-97EA-1FA4-FF48-4BA43A028C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00971"/>
            <a:ext cx="12192000" cy="5142431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3E075926-6EAC-FF3A-AD79-C11B292114A3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7745" y="16716"/>
            <a:ext cx="884255" cy="884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733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EFF0620-E2E1-6C75-DB03-EF1C303ACF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16132"/>
            <a:ext cx="12192000" cy="5317521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8E79BD41-4565-B5F8-03A8-3BC2920CD362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7745" y="16716"/>
            <a:ext cx="884255" cy="884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9123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4E9AB34-16C6-4707-858D-90919A4FF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7485" y="347209"/>
            <a:ext cx="8229600" cy="1143000"/>
          </a:xfrm>
        </p:spPr>
        <p:txBody>
          <a:bodyPr/>
          <a:lstStyle/>
          <a:p>
            <a:r>
              <a:rPr lang="es-CO" dirty="0">
                <a:latin typeface="Arial Black" panose="020B0A04020102020204" pitchFamily="34" charset="0"/>
                <a:cs typeface="Aharoni" panose="02010803020104030203" pitchFamily="2" charset="-79"/>
              </a:rPr>
              <a:t>ARTICULACIÓN AL PEI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D214E82-BD01-4285-AF8E-A1DE8865A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0762" y="2096180"/>
            <a:ext cx="11517086" cy="4761820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Misión: 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om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entar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competencias de emprendimiento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200000"/>
              </a:lnSpc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Visión: 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Impactar el desarrollo humano-social y económico de la región </a:t>
            </a:r>
          </a:p>
          <a:p>
            <a:pPr>
              <a:lnSpc>
                <a:spcPct val="200000"/>
              </a:lnSpc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Valores: 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esponsabilidad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cooperación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respeto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200000"/>
              </a:lnSpc>
            </a:pP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Acciones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Capacitación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formación, emprendimiento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6EB6A5E3-CDEB-05BF-9D8A-5B4E2637C6C2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7745" y="16716"/>
            <a:ext cx="884255" cy="884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378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D68E9C0-6CC5-4BBC-951F-46F1BFDA8190}"/>
              </a:ext>
            </a:extLst>
          </p:cNvPr>
          <p:cNvSpPr txBox="1">
            <a:spLocks/>
          </p:cNvSpPr>
          <p:nvPr/>
        </p:nvSpPr>
        <p:spPr>
          <a:xfrm>
            <a:off x="1836057" y="50686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4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Black" panose="020B0A04020102020204" pitchFamily="34" charset="0"/>
                <a:cs typeface="Aharoni" panose="02010803020104030203" pitchFamily="2" charset="-79"/>
              </a:rPr>
              <a:t>FUNDAMENTACIÓN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21906F9-ECEA-416F-9D02-5D64A5060B92}"/>
              </a:ext>
            </a:extLst>
          </p:cNvPr>
          <p:cNvSpPr txBox="1">
            <a:spLocks/>
          </p:cNvSpPr>
          <p:nvPr/>
        </p:nvSpPr>
        <p:spPr>
          <a:xfrm>
            <a:off x="457199" y="1600200"/>
            <a:ext cx="11459029" cy="4525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50000"/>
              </a:lnSpc>
              <a:defRPr/>
            </a:pPr>
            <a:r>
              <a:rPr lang="es-ES" sz="2200" dirty="0">
                <a:latin typeface="Arial" panose="020B0604020202020204" pitchFamily="34" charset="0"/>
                <a:cs typeface="Arial" panose="020B0604020202020204" pitchFamily="34" charset="0"/>
              </a:rPr>
              <a:t>Jóvenes de la I.E.M. Villa Fátima dinamizando el negocio del café en la zona en nuevos campos como lo son la transformación y comercialización del producto terminado obteniendo con ello mayores beneficios de un negocio del cual ya son parte directa o indirectamente. </a:t>
            </a:r>
          </a:p>
          <a:p>
            <a:pPr lvl="0">
              <a:lnSpc>
                <a:spcPct val="150000"/>
              </a:lnSpc>
              <a:defRPr/>
            </a:pPr>
            <a:r>
              <a:rPr kumimoji="0" lang="es-CO" sz="2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Metodología: Modelo pedagógico constructivista con enfoque activista ( donde el estudiante aprende haciendo)</a:t>
            </a:r>
          </a:p>
          <a:p>
            <a:pPr lvl="0">
              <a:lnSpc>
                <a:spcPct val="150000"/>
              </a:lnSpc>
              <a:defRPr/>
            </a:pPr>
            <a:endParaRPr kumimoji="0" lang="es-CO" sz="2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CO" sz="2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Integración curricular: Ciencias, Matemáticas, Lengua, Artística.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712D33B1-8D65-21CF-E7BC-7566C141EDA4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7745" y="16716"/>
            <a:ext cx="884255" cy="884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048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5F6C803-FA3C-43BE-BBAA-B93F1F430E5B}"/>
              </a:ext>
            </a:extLst>
          </p:cNvPr>
          <p:cNvSpPr txBox="1">
            <a:spLocks/>
          </p:cNvSpPr>
          <p:nvPr/>
        </p:nvSpPr>
        <p:spPr>
          <a:xfrm>
            <a:off x="1981200" y="318181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4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Black" panose="020B0A04020102020204" pitchFamily="34" charset="0"/>
                <a:cs typeface="Aharoni" panose="02010803020104030203" pitchFamily="2" charset="-79"/>
              </a:rPr>
              <a:t>DISEÑO METODOLÓGICO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93FA38C-D0F8-4B31-B5F4-D5B7862DC2FA}"/>
              </a:ext>
            </a:extLst>
          </p:cNvPr>
          <p:cNvSpPr txBox="1">
            <a:spLocks/>
          </p:cNvSpPr>
          <p:nvPr/>
        </p:nvSpPr>
        <p:spPr>
          <a:xfrm>
            <a:off x="457199" y="1600200"/>
            <a:ext cx="10980057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4572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CO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Fase 1: Conformación anual de semillero</a:t>
            </a:r>
          </a:p>
          <a:p>
            <a:pPr marL="342900" marR="0" lvl="0" indent="-342900" algn="l" defTabSz="4572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CO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Fase 2: Capacitación en catación y barismo </a:t>
            </a:r>
          </a:p>
          <a:p>
            <a:pPr marL="342900" marR="0" lvl="0" indent="-342900" algn="l" defTabSz="4572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CO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Fase 3: </a:t>
            </a:r>
            <a:r>
              <a:rPr lang="es-CO" sz="24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Visitas al sector productivo de la región</a:t>
            </a:r>
          </a:p>
          <a:p>
            <a:pPr marL="342900" marR="0" lvl="0" indent="-342900" algn="l" defTabSz="4572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CO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Fase 4: Procesos de comercialización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37FF033-4FE5-DC96-5987-53FC634F13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5263" y="1944479"/>
            <a:ext cx="2879725" cy="215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DD8A453-1824-B9DB-5F0A-5470FEBA09A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9248" y="4835951"/>
            <a:ext cx="3182982" cy="1789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9408B535-F46E-E14E-0C77-41B41A2F8EEE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7745" y="16716"/>
            <a:ext cx="884255" cy="884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6105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3D50CB7-71DC-4A48-9814-BFD4F9A9EEFD}"/>
              </a:ext>
            </a:extLst>
          </p:cNvPr>
          <p:cNvSpPr txBox="1">
            <a:spLocks/>
          </p:cNvSpPr>
          <p:nvPr/>
        </p:nvSpPr>
        <p:spPr>
          <a:xfrm>
            <a:off x="1865086" y="24561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4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Black" panose="020B0A04020102020204" pitchFamily="34" charset="0"/>
                <a:cs typeface="Aharoni" panose="02010803020104030203" pitchFamily="2" charset="-79"/>
              </a:rPr>
              <a:t>EMPODERAMIENTO DE LA COMUNIDAD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8A066F0-9A5E-4219-87D5-D4095772110B}"/>
              </a:ext>
            </a:extLst>
          </p:cNvPr>
          <p:cNvSpPr txBox="1">
            <a:spLocks/>
          </p:cNvSpPr>
          <p:nvPr/>
        </p:nvSpPr>
        <p:spPr>
          <a:xfrm>
            <a:off x="457199" y="1388610"/>
            <a:ext cx="11400972" cy="511379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4572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CO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Docentes: lideran actividades.</a:t>
            </a:r>
          </a:p>
          <a:p>
            <a:pPr marL="342900" marR="0" lvl="0" indent="-342900" algn="l" defTabSz="4572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CO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Estudiantes: partícipes activos en procesos de formación en catación y barismo. </a:t>
            </a:r>
          </a:p>
          <a:p>
            <a:pPr marL="342900" marR="0" lvl="0" indent="-342900" algn="l" defTabSz="4572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CO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Padres: Apoyo en comercialización </a:t>
            </a:r>
          </a:p>
          <a:p>
            <a:pPr marL="342900" marR="0" lvl="0" indent="-342900" algn="l" defTabSz="4572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CO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Aliados: Institución educativa, S.E.M. y SENA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858FD05-F946-359C-C4B4-0916D4077792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7745" y="16716"/>
            <a:ext cx="884255" cy="884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03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1BBAB04-4F34-4C8C-A029-AF3C48F98866}"/>
              </a:ext>
            </a:extLst>
          </p:cNvPr>
          <p:cNvSpPr txBox="1">
            <a:spLocks/>
          </p:cNvSpPr>
          <p:nvPr/>
        </p:nvSpPr>
        <p:spPr>
          <a:xfrm>
            <a:off x="1981199" y="463324"/>
            <a:ext cx="902063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4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Black" panose="020B0A04020102020204" pitchFamily="34" charset="0"/>
                <a:cs typeface="Aharoni" panose="02010803020104030203" pitchFamily="2" charset="-79"/>
              </a:rPr>
              <a:t>EVALUACIÓN Y SEGUIMIENTO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ECF9B40-A57D-4E7E-90E9-313A213D6859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11633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4572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CO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Indicadores:</a:t>
            </a:r>
          </a:p>
          <a:p>
            <a:pPr marL="342900" marR="0" lvl="0" indent="-342900" algn="l" defTabSz="4572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CO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- Capacitación</a:t>
            </a:r>
            <a:r>
              <a:rPr lang="es-CO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en calidad de café, catación y barismo </a:t>
            </a:r>
          </a:p>
          <a:p>
            <a:pPr marL="342900" marR="0" lvl="0" indent="-342900" algn="l" defTabSz="4572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CO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- Conformación anual de semillero de investigación </a:t>
            </a:r>
          </a:p>
          <a:p>
            <a:pPr marL="342900" marR="0" lvl="0" indent="-342900" algn="l" defTabSz="4572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CO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Instrumentos: Equipos de laboratorio, registro fotográfico, participación en eventos.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11B946C-7C72-D883-4FE8-2F0A90756703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7745" y="16716"/>
            <a:ext cx="884255" cy="884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1224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95399E76-6840-3A83-B50F-DD00FCD9D9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212698"/>
            <a:ext cx="12192000" cy="4922631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F03343EA-6FE8-4A8A-58F3-01C2D46FBABC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4843" y="85542"/>
            <a:ext cx="1127156" cy="1127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7709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4F961E59-FE56-5EDE-5A69-B02AFC309F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93058"/>
            <a:ext cx="12192000" cy="509311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40994A09-0882-62EC-CEE0-3DB57FD60BFA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7745" y="16716"/>
            <a:ext cx="884255" cy="884255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148557A5-0555-A6AC-9E32-AD60A9E33D8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29" t="3976" r="11875" b="5799"/>
          <a:stretch>
            <a:fillRect/>
          </a:stretch>
        </p:blipFill>
        <p:spPr bwMode="auto">
          <a:xfrm>
            <a:off x="7875639" y="167149"/>
            <a:ext cx="2943242" cy="187796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3033160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378A913-A00B-494C-9D7A-10F5298DFB4A}"/>
              </a:ext>
            </a:extLst>
          </p:cNvPr>
          <p:cNvSpPr txBox="1">
            <a:spLocks/>
          </p:cNvSpPr>
          <p:nvPr/>
        </p:nvSpPr>
        <p:spPr>
          <a:xfrm>
            <a:off x="457198" y="663046"/>
            <a:ext cx="10965543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4400" b="1" i="0" u="none" strike="noStrike" kern="1200" normalizeH="0" baseline="0" noProof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uLnTx/>
                <a:uFillTx/>
                <a:latin typeface="Arial Black" panose="020B0A04020102020204" pitchFamily="34" charset="0"/>
              </a:rPr>
              <a:t>TRANSFERENCIA Y SOSTENIBILIDAD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4E3B0A0-62EF-45B1-9153-AAFD465B6DDC}"/>
              </a:ext>
            </a:extLst>
          </p:cNvPr>
          <p:cNvSpPr txBox="1">
            <a:spLocks/>
          </p:cNvSpPr>
          <p:nvPr/>
        </p:nvSpPr>
        <p:spPr>
          <a:xfrm>
            <a:off x="54427" y="1643886"/>
            <a:ext cx="11771086" cy="452596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CO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Transferencia: Liderazgo en la ejecución de concursos infantiles de catación en espacios como semana cultural. 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s-CO" sz="3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lang="es-CO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s-CO" sz="3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s-CO" sz="3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CO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Sostenibilidad: recursos materiales, humanos y alianzas.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s-CO" sz="3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s-CO" sz="3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Estrategia: mantenimiento, capacitaciones, socialización.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AB135C92-8843-D32D-42ED-A08175B1FFA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382" y="2529000"/>
            <a:ext cx="2459808" cy="18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88390B72-1B25-8E89-A617-6A186371CF7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4008" y="2529000"/>
            <a:ext cx="2572717" cy="192979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A890458-A4B6-E3EB-B053-060EE44BE9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58" t="6554" r="17022"/>
          <a:stretch>
            <a:fillRect/>
          </a:stretch>
        </p:blipFill>
        <p:spPr bwMode="auto">
          <a:xfrm>
            <a:off x="7318343" y="2503895"/>
            <a:ext cx="2937358" cy="19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F0F590A2-503F-5ED5-4725-F3A7AE90DA21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7745" y="16716"/>
            <a:ext cx="884255" cy="884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7941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4AAAD1AF-EB61-B569-07F4-5835B010A3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918413"/>
            <a:ext cx="12192000" cy="5231178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3F044475-94C9-6250-93DC-FC0CAC61BBE6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7745" y="16716"/>
            <a:ext cx="884255" cy="884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95857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1515</TotalTime>
  <Words>342</Words>
  <Application>Microsoft Office PowerPoint</Application>
  <PresentationFormat>Panorámica</PresentationFormat>
  <Paragraphs>44</Paragraphs>
  <Slides>15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2" baseType="lpstr">
      <vt:lpstr>Aharoni</vt:lpstr>
      <vt:lpstr>Aptos</vt:lpstr>
      <vt:lpstr>Aptos Display</vt:lpstr>
      <vt:lpstr>Arial</vt:lpstr>
      <vt:lpstr>Arial Black</vt:lpstr>
      <vt:lpstr>Calibri</vt:lpstr>
      <vt:lpstr>Tema de Office</vt:lpstr>
      <vt:lpstr>CAFÉ PACHAVIFA </vt:lpstr>
      <vt:lpstr>CONTEXTO Y PROBLEMA</vt:lpstr>
      <vt:lpstr>Presentación de PowerPoint</vt:lpstr>
      <vt:lpstr>Presentación de PowerPoint</vt:lpstr>
      <vt:lpstr>Presentación de PowerPoint</vt:lpstr>
      <vt:lpstr>Presentación de PowerPoint</vt:lpstr>
      <vt:lpstr>ARTICULACIÓN AL PEI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Sebastian Santamaria</dc:creator>
  <cp:lastModifiedBy>CALIDAD-MEJORAMIENTO</cp:lastModifiedBy>
  <cp:revision>28</cp:revision>
  <dcterms:created xsi:type="dcterms:W3CDTF">2025-07-23T15:35:07Z</dcterms:created>
  <dcterms:modified xsi:type="dcterms:W3CDTF">2026-06-17T18:55:00Z</dcterms:modified>
</cp:coreProperties>
</file>