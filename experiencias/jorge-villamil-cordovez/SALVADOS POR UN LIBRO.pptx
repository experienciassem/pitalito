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0" autoAdjust="0"/>
    <p:restoredTop sz="94660"/>
  </p:normalViewPr>
  <p:slideViewPr>
    <p:cSldViewPr snapToGrid="0">
      <p:cViewPr>
        <p:scale>
          <a:sx n="91" d="100"/>
          <a:sy n="91" d="100"/>
        </p:scale>
        <p:origin x="136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EFE84-0D54-4D38-8D31-5726048C54C3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F5F9B6EB-4629-434C-A3EC-FB6943122C6B}">
      <dgm:prSet phldrT="[Texto]" phldr="0" custT="1"/>
      <dgm:spPr/>
      <dgm:t>
        <a:bodyPr/>
        <a:lstStyle/>
        <a:p>
          <a:r>
            <a:rPr lang="es-ES" sz="1200" b="1" dirty="0"/>
            <a:t>FUNDAMENTACIÓN</a:t>
          </a:r>
          <a:r>
            <a:rPr lang="es-ES" sz="1050" dirty="0"/>
            <a:t> </a:t>
          </a:r>
        </a:p>
        <a:p>
          <a:r>
            <a:rPr lang="es-CO" sz="1100" i="1" dirty="0"/>
            <a:t>(¿En qué nos apoyamos?)</a:t>
          </a:r>
          <a:endParaRPr lang="es-CO" sz="1100" dirty="0"/>
        </a:p>
      </dgm:t>
    </dgm:pt>
    <dgm:pt modelId="{C1026C87-3199-4101-A6FC-DE02484271E7}" type="parTrans" cxnId="{45C3815A-58DC-4615-ADC1-BC361CE8A2E0}">
      <dgm:prSet/>
      <dgm:spPr/>
      <dgm:t>
        <a:bodyPr/>
        <a:lstStyle/>
        <a:p>
          <a:endParaRPr lang="es-CO"/>
        </a:p>
      </dgm:t>
    </dgm:pt>
    <dgm:pt modelId="{4EA75754-9B42-47B5-B8DC-328082E9F7E9}" type="sibTrans" cxnId="{45C3815A-58DC-4615-ADC1-BC361CE8A2E0}">
      <dgm:prSet/>
      <dgm:spPr/>
      <dgm:t>
        <a:bodyPr/>
        <a:lstStyle/>
        <a:p>
          <a:endParaRPr lang="es-CO"/>
        </a:p>
      </dgm:t>
    </dgm:pt>
    <dgm:pt modelId="{2DBC05F4-B389-4747-9D01-09A1807CA9E1}">
      <dgm:prSet phldrT="[Texto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s-ES" sz="1400" dirty="0"/>
            <a:t>Modelo pedagógico sociocrítico y enfoque de formación integral</a:t>
          </a:r>
          <a:endParaRPr lang="es-CO" sz="1400" dirty="0"/>
        </a:p>
      </dgm:t>
    </dgm:pt>
    <dgm:pt modelId="{3891E355-31C6-4945-BBB1-215CC4A3096E}" type="parTrans" cxnId="{B1B41F78-D5A4-43B3-B2A3-45D6E319C70D}">
      <dgm:prSet/>
      <dgm:spPr/>
      <dgm:t>
        <a:bodyPr/>
        <a:lstStyle/>
        <a:p>
          <a:endParaRPr lang="es-CO"/>
        </a:p>
      </dgm:t>
    </dgm:pt>
    <dgm:pt modelId="{8A2516D9-E23F-42B1-858B-45F469D39B3A}" type="sibTrans" cxnId="{B1B41F78-D5A4-43B3-B2A3-45D6E319C70D}">
      <dgm:prSet/>
      <dgm:spPr/>
      <dgm:t>
        <a:bodyPr/>
        <a:lstStyle/>
        <a:p>
          <a:endParaRPr lang="es-CO"/>
        </a:p>
      </dgm:t>
    </dgm:pt>
    <dgm:pt modelId="{D124E471-8142-4C36-9D9E-1DE1640D2244}">
      <dgm:prSet phldrT="[Texto]" phldr="0" custT="1"/>
      <dgm:spPr/>
      <dgm:t>
        <a:bodyPr/>
        <a:lstStyle/>
        <a:p>
          <a:r>
            <a:rPr lang="es-ES" sz="1400" b="1" dirty="0"/>
            <a:t>CONTEXTO</a:t>
          </a:r>
          <a:r>
            <a:rPr lang="es-ES" sz="1800" dirty="0"/>
            <a:t> </a:t>
          </a:r>
        </a:p>
        <a:p>
          <a:r>
            <a:rPr lang="es-ES" sz="1200" dirty="0"/>
            <a:t>(¿Dónde y con quién lo hacemos?)</a:t>
          </a:r>
          <a:endParaRPr lang="es-CO" sz="1200" dirty="0"/>
        </a:p>
      </dgm:t>
    </dgm:pt>
    <dgm:pt modelId="{705E132A-23CA-49DA-9FCB-596D8D69FBA8}" type="parTrans" cxnId="{19F311CF-7927-475B-B0FC-685EB071362B}">
      <dgm:prSet/>
      <dgm:spPr/>
      <dgm:t>
        <a:bodyPr/>
        <a:lstStyle/>
        <a:p>
          <a:endParaRPr lang="es-CO"/>
        </a:p>
      </dgm:t>
    </dgm:pt>
    <dgm:pt modelId="{0E52E924-F7C4-4E22-92B0-588FD35D0D8E}" type="sibTrans" cxnId="{19F311CF-7927-475B-B0FC-685EB071362B}">
      <dgm:prSet/>
      <dgm:spPr/>
      <dgm:t>
        <a:bodyPr/>
        <a:lstStyle/>
        <a:p>
          <a:endParaRPr lang="es-CO"/>
        </a:p>
      </dgm:t>
    </dgm:pt>
    <dgm:pt modelId="{9D553D79-7187-430A-A43E-EDBA789AF12E}">
      <dgm:prSet phldrT="[Texto]" custT="1"/>
      <dgm:spPr/>
      <dgm:t>
        <a:bodyPr/>
        <a:lstStyle/>
        <a:p>
          <a:r>
            <a:rPr lang="es-CO" sz="1600" dirty="0"/>
            <a:t>Zona rural de Chillurco: 10 sedes, limitaciones de recursos, identidad campesina.</a:t>
          </a:r>
        </a:p>
      </dgm:t>
    </dgm:pt>
    <dgm:pt modelId="{5F605B95-A4F0-4A16-953E-8DE2276A7E76}" type="parTrans" cxnId="{6B85EC52-6BC6-4881-9646-7D899563BF09}">
      <dgm:prSet/>
      <dgm:spPr/>
      <dgm:t>
        <a:bodyPr/>
        <a:lstStyle/>
        <a:p>
          <a:endParaRPr lang="es-CO"/>
        </a:p>
      </dgm:t>
    </dgm:pt>
    <dgm:pt modelId="{C777AF58-29D0-44C8-8520-2C5F49BBCE20}" type="sibTrans" cxnId="{6B85EC52-6BC6-4881-9646-7D899563BF09}">
      <dgm:prSet/>
      <dgm:spPr/>
      <dgm:t>
        <a:bodyPr/>
        <a:lstStyle/>
        <a:p>
          <a:endParaRPr lang="es-CO"/>
        </a:p>
      </dgm:t>
    </dgm:pt>
    <dgm:pt modelId="{B340F588-EF38-4203-84A3-961975863347}">
      <dgm:prSet phldrT="[Texto]" phldr="0"/>
      <dgm:spPr/>
      <dgm:t>
        <a:bodyPr/>
        <a:lstStyle/>
        <a:p>
          <a:r>
            <a:rPr lang="es-ES" b="1" dirty="0"/>
            <a:t>METODOLOGÍA</a:t>
          </a:r>
        </a:p>
        <a:p>
          <a:r>
            <a:rPr lang="es-CO" dirty="0"/>
            <a:t>(¿Cómo lo hacemos?)</a:t>
          </a:r>
        </a:p>
      </dgm:t>
    </dgm:pt>
    <dgm:pt modelId="{61A8F617-10DD-4BAD-84D0-A2A193DF5FE5}" type="parTrans" cxnId="{EB6C3446-6B70-4216-8A00-2A2B9DBF84B4}">
      <dgm:prSet/>
      <dgm:spPr/>
      <dgm:t>
        <a:bodyPr/>
        <a:lstStyle/>
        <a:p>
          <a:endParaRPr lang="es-CO"/>
        </a:p>
      </dgm:t>
    </dgm:pt>
    <dgm:pt modelId="{ACF94341-AF02-4AB7-908D-FC9E615D9DC8}" type="sibTrans" cxnId="{EB6C3446-6B70-4216-8A00-2A2B9DBF84B4}">
      <dgm:prSet/>
      <dgm:spPr/>
      <dgm:t>
        <a:bodyPr/>
        <a:lstStyle/>
        <a:p>
          <a:endParaRPr lang="es-CO"/>
        </a:p>
      </dgm:t>
    </dgm:pt>
    <dgm:pt modelId="{B3FB9C6C-0AD0-4E95-81E3-E907C741589F}">
      <dgm:prSet phldrT="[Texto]" custT="1"/>
      <dgm:spPr/>
      <dgm:t>
        <a:bodyPr/>
        <a:lstStyle/>
        <a:p>
          <a:r>
            <a:rPr lang="es-ES" sz="1400" dirty="0"/>
            <a:t>Club de lectura, </a:t>
          </a:r>
          <a:r>
            <a:rPr lang="es-ES" sz="1400" dirty="0" err="1"/>
            <a:t>cuenter</a:t>
          </a:r>
          <a:r>
            <a:rPr lang="es-ES" sz="1400" dirty="0"/>
            <a:t>@ estrella, producción de audiolibros, Bazar de Libros. </a:t>
          </a:r>
          <a:endParaRPr lang="es-CO" sz="1400" dirty="0"/>
        </a:p>
      </dgm:t>
    </dgm:pt>
    <dgm:pt modelId="{78DBB305-04D7-477A-B575-320C9D40C3E7}" type="parTrans" cxnId="{E30883EA-3EEC-42B7-91DB-EE0C68EDDE30}">
      <dgm:prSet/>
      <dgm:spPr/>
      <dgm:t>
        <a:bodyPr/>
        <a:lstStyle/>
        <a:p>
          <a:endParaRPr lang="es-CO"/>
        </a:p>
      </dgm:t>
    </dgm:pt>
    <dgm:pt modelId="{22469C4E-6B65-4846-A611-1ACC577106C3}" type="sibTrans" cxnId="{E30883EA-3EEC-42B7-91DB-EE0C68EDDE30}">
      <dgm:prSet/>
      <dgm:spPr/>
      <dgm:t>
        <a:bodyPr/>
        <a:lstStyle/>
        <a:p>
          <a:endParaRPr lang="es-CO"/>
        </a:p>
      </dgm:t>
    </dgm:pt>
    <dgm:pt modelId="{256A104C-1FE8-46B9-B3DF-FDB1A5F1F852}">
      <dgm:prSet phldrT="[Texto]" phldr="0"/>
      <dgm:spPr/>
      <dgm:t>
        <a:bodyPr/>
        <a:lstStyle/>
        <a:p>
          <a:r>
            <a:rPr lang="es-ES" b="1" dirty="0"/>
            <a:t>RESULTADOS ESPERADOS</a:t>
          </a:r>
        </a:p>
        <a:p>
          <a:r>
            <a:rPr lang="es-CO" dirty="0"/>
            <a:t>(¿Qué buscamos lograr?)</a:t>
          </a:r>
        </a:p>
      </dgm:t>
    </dgm:pt>
    <dgm:pt modelId="{564BA8A1-C755-474A-80F6-A9E5CAC19A47}" type="parTrans" cxnId="{46A4A447-F1AC-4CC8-81E3-B1EC102E7E66}">
      <dgm:prSet/>
      <dgm:spPr/>
      <dgm:t>
        <a:bodyPr/>
        <a:lstStyle/>
        <a:p>
          <a:endParaRPr lang="es-CO"/>
        </a:p>
      </dgm:t>
    </dgm:pt>
    <dgm:pt modelId="{DC8033BA-0FD0-4DD7-B3A8-31BC4E76AC68}" type="sibTrans" cxnId="{46A4A447-F1AC-4CC8-81E3-B1EC102E7E66}">
      <dgm:prSet/>
      <dgm:spPr/>
      <dgm:t>
        <a:bodyPr/>
        <a:lstStyle/>
        <a:p>
          <a:endParaRPr lang="es-CO"/>
        </a:p>
      </dgm:t>
    </dgm:pt>
    <dgm:pt modelId="{7280FFB9-A10D-4AEC-93EC-0600369797C8}">
      <dgm:prSet phldrT="[Texto]" custT="1"/>
      <dgm:spPr/>
      <dgm:t>
        <a:bodyPr/>
        <a:lstStyle/>
        <a:p>
          <a:r>
            <a:rPr lang="es-ES" sz="1400" dirty="0"/>
            <a:t>Mayor hábito lector, fortalecimiento socioemocional, participación familiar, equidad en acceso</a:t>
          </a:r>
          <a:r>
            <a:rPr lang="es-ES" sz="1100" dirty="0"/>
            <a:t>.</a:t>
          </a:r>
          <a:endParaRPr lang="es-CO" sz="1100" dirty="0"/>
        </a:p>
      </dgm:t>
    </dgm:pt>
    <dgm:pt modelId="{6055E929-7314-40A8-A838-4437B5F60A38}" type="parTrans" cxnId="{86EC38E6-B378-43EF-8901-9E3E3002C374}">
      <dgm:prSet/>
      <dgm:spPr/>
      <dgm:t>
        <a:bodyPr/>
        <a:lstStyle/>
        <a:p>
          <a:endParaRPr lang="es-CO"/>
        </a:p>
      </dgm:t>
    </dgm:pt>
    <dgm:pt modelId="{D4FEA91E-C349-43A5-8BB0-1792208583D0}" type="sibTrans" cxnId="{86EC38E6-B378-43EF-8901-9E3E3002C374}">
      <dgm:prSet/>
      <dgm:spPr/>
      <dgm:t>
        <a:bodyPr/>
        <a:lstStyle/>
        <a:p>
          <a:endParaRPr lang="es-CO"/>
        </a:p>
      </dgm:t>
    </dgm:pt>
    <dgm:pt modelId="{B3071385-3A73-40DD-BF0A-ADE6B2966544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s-ES" sz="1400" dirty="0"/>
            <a:t>Fomento de lectura, escritura y oralidad como competencias para la vida.</a:t>
          </a:r>
          <a:endParaRPr lang="es-CO" sz="1400" dirty="0"/>
        </a:p>
      </dgm:t>
    </dgm:pt>
    <dgm:pt modelId="{8E704795-9A95-49CE-8C55-21A3EE0E0A0B}" type="parTrans" cxnId="{33546CB3-9C7C-485F-AB5A-7AFE0358BC3C}">
      <dgm:prSet/>
      <dgm:spPr/>
      <dgm:t>
        <a:bodyPr/>
        <a:lstStyle/>
        <a:p>
          <a:endParaRPr lang="es-CO"/>
        </a:p>
      </dgm:t>
    </dgm:pt>
    <dgm:pt modelId="{B54BE635-2006-4445-AC50-F3034FE97F70}" type="sibTrans" cxnId="{33546CB3-9C7C-485F-AB5A-7AFE0358BC3C}">
      <dgm:prSet/>
      <dgm:spPr/>
      <dgm:t>
        <a:bodyPr/>
        <a:lstStyle/>
        <a:p>
          <a:endParaRPr lang="es-CO"/>
        </a:p>
      </dgm:t>
    </dgm:pt>
    <dgm:pt modelId="{84185391-273E-408C-AAF3-4F0639A50A2F}" type="pres">
      <dgm:prSet presAssocID="{357EFE84-0D54-4D38-8D31-5726048C54C3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BCD37B48-DA4E-44DE-B42F-879CB7720C43}" type="pres">
      <dgm:prSet presAssocID="{357EFE84-0D54-4D38-8D31-5726048C54C3}" presName="children" presStyleCnt="0"/>
      <dgm:spPr/>
    </dgm:pt>
    <dgm:pt modelId="{028B8C6B-9B8B-45CA-A451-9FC28560F114}" type="pres">
      <dgm:prSet presAssocID="{357EFE84-0D54-4D38-8D31-5726048C54C3}" presName="child1group" presStyleCnt="0"/>
      <dgm:spPr/>
    </dgm:pt>
    <dgm:pt modelId="{5E0D504E-7423-4F9F-979E-84FE823E9E3C}" type="pres">
      <dgm:prSet presAssocID="{357EFE84-0D54-4D38-8D31-5726048C54C3}" presName="child1" presStyleLbl="bgAcc1" presStyleIdx="0" presStyleCnt="4" custScaleX="124158" custLinFactNeighborX="-33041" custLinFactNeighborY="4401"/>
      <dgm:spPr/>
      <dgm:t>
        <a:bodyPr/>
        <a:lstStyle/>
        <a:p>
          <a:endParaRPr lang="es-CO"/>
        </a:p>
      </dgm:t>
    </dgm:pt>
    <dgm:pt modelId="{160CDDD2-EA2F-4BA3-AF50-773B04516D5A}" type="pres">
      <dgm:prSet presAssocID="{357EFE84-0D54-4D38-8D31-5726048C54C3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40DE3D6-9CF8-4BD4-9404-9548EB41FD3B}" type="pres">
      <dgm:prSet presAssocID="{357EFE84-0D54-4D38-8D31-5726048C54C3}" presName="child2group" presStyleCnt="0"/>
      <dgm:spPr/>
    </dgm:pt>
    <dgm:pt modelId="{758870EE-8955-4DA0-9300-F3DA1AEE37C8}" type="pres">
      <dgm:prSet presAssocID="{357EFE84-0D54-4D38-8D31-5726048C54C3}" presName="child2" presStyleLbl="bgAcc1" presStyleIdx="1" presStyleCnt="4" custScaleX="128516" custLinFactNeighborX="11281" custLinFactNeighborY="4402"/>
      <dgm:spPr/>
      <dgm:t>
        <a:bodyPr/>
        <a:lstStyle/>
        <a:p>
          <a:endParaRPr lang="es-CO"/>
        </a:p>
      </dgm:t>
    </dgm:pt>
    <dgm:pt modelId="{84E40643-0AD3-480F-8C6D-5E55B31990B8}" type="pres">
      <dgm:prSet presAssocID="{357EFE84-0D54-4D38-8D31-5726048C54C3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7FB67708-89E3-4271-837A-B0DD0A9AD0D5}" type="pres">
      <dgm:prSet presAssocID="{357EFE84-0D54-4D38-8D31-5726048C54C3}" presName="child3group" presStyleCnt="0"/>
      <dgm:spPr/>
    </dgm:pt>
    <dgm:pt modelId="{B8A3C007-6E6F-4B08-BF8D-4E11B485BDCE}" type="pres">
      <dgm:prSet presAssocID="{357EFE84-0D54-4D38-8D31-5726048C54C3}" presName="child3" presStyleLbl="bgAcc1" presStyleIdx="2" presStyleCnt="4" custScaleX="123869" custLinFactNeighborX="9790" custLinFactNeighborY="945"/>
      <dgm:spPr/>
      <dgm:t>
        <a:bodyPr/>
        <a:lstStyle/>
        <a:p>
          <a:endParaRPr lang="es-CO"/>
        </a:p>
      </dgm:t>
    </dgm:pt>
    <dgm:pt modelId="{6F8746D7-3C6B-4DE4-9E8B-D474A49C3D9A}" type="pres">
      <dgm:prSet presAssocID="{357EFE84-0D54-4D38-8D31-5726048C54C3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A805FB07-D0AA-4AE3-AD70-381847A65156}" type="pres">
      <dgm:prSet presAssocID="{357EFE84-0D54-4D38-8D31-5726048C54C3}" presName="child4group" presStyleCnt="0"/>
      <dgm:spPr/>
    </dgm:pt>
    <dgm:pt modelId="{B6D3A5E1-70BB-4D40-9E97-C068D878514E}" type="pres">
      <dgm:prSet presAssocID="{357EFE84-0D54-4D38-8D31-5726048C54C3}" presName="child4" presStyleLbl="bgAcc1" presStyleIdx="3" presStyleCnt="4" custScaleX="161692" custLinFactNeighborX="-13461" custLinFactNeighborY="-1889"/>
      <dgm:spPr/>
      <dgm:t>
        <a:bodyPr/>
        <a:lstStyle/>
        <a:p>
          <a:endParaRPr lang="es-CO"/>
        </a:p>
      </dgm:t>
    </dgm:pt>
    <dgm:pt modelId="{054493FE-2E4E-4FB8-869D-BB96BE06A09A}" type="pres">
      <dgm:prSet presAssocID="{357EFE84-0D54-4D38-8D31-5726048C54C3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0297C3D-FDFF-4D31-B87B-EFC188E07769}" type="pres">
      <dgm:prSet presAssocID="{357EFE84-0D54-4D38-8D31-5726048C54C3}" presName="childPlaceholder" presStyleCnt="0"/>
      <dgm:spPr/>
    </dgm:pt>
    <dgm:pt modelId="{0934551E-6428-4F3D-8A6E-3709D08891E0}" type="pres">
      <dgm:prSet presAssocID="{357EFE84-0D54-4D38-8D31-5726048C54C3}" presName="circle" presStyleCnt="0"/>
      <dgm:spPr/>
    </dgm:pt>
    <dgm:pt modelId="{41244DB1-75D3-4ECD-9D12-ADAE50302370}" type="pres">
      <dgm:prSet presAssocID="{357EFE84-0D54-4D38-8D31-5726048C54C3}" presName="quadrant1" presStyleLbl="node1" presStyleIdx="0" presStyleCnt="4" custScaleX="103735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29E5E9DD-0C62-4429-B9E7-36E022443E32}" type="pres">
      <dgm:prSet presAssocID="{357EFE84-0D54-4D38-8D31-5726048C54C3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786BBDE-9510-4D6A-8C70-44C1C84AC96A}" type="pres">
      <dgm:prSet presAssocID="{357EFE84-0D54-4D38-8D31-5726048C54C3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856F1ED-D74A-47EF-856C-0D85E46984CF}" type="pres">
      <dgm:prSet presAssocID="{357EFE84-0D54-4D38-8D31-5726048C54C3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7E9F9F38-0F51-4F58-937E-BBD7E0E6F8A7}" type="pres">
      <dgm:prSet presAssocID="{357EFE84-0D54-4D38-8D31-5726048C54C3}" presName="quadrantPlaceholder" presStyleCnt="0"/>
      <dgm:spPr/>
    </dgm:pt>
    <dgm:pt modelId="{8D3AAADC-4DE2-4F55-A4A1-EB90D6FF9697}" type="pres">
      <dgm:prSet presAssocID="{357EFE84-0D54-4D38-8D31-5726048C54C3}" presName="center1" presStyleLbl="fgShp" presStyleIdx="0" presStyleCnt="2"/>
      <dgm:spPr/>
    </dgm:pt>
    <dgm:pt modelId="{ECC3C180-B634-4C71-8897-41B2B4ED4D22}" type="pres">
      <dgm:prSet presAssocID="{357EFE84-0D54-4D38-8D31-5726048C54C3}" presName="center2" presStyleLbl="fgShp" presStyleIdx="1" presStyleCnt="2"/>
      <dgm:spPr/>
    </dgm:pt>
  </dgm:ptLst>
  <dgm:cxnLst>
    <dgm:cxn modelId="{AC193518-1D73-4ABF-A202-2C818D6C0B02}" type="presOf" srcId="{B3071385-3A73-40DD-BF0A-ADE6B2966544}" destId="{5E0D504E-7423-4F9F-979E-84FE823E9E3C}" srcOrd="0" destOrd="1" presId="urn:microsoft.com/office/officeart/2005/8/layout/cycle4"/>
    <dgm:cxn modelId="{45C3815A-58DC-4615-ADC1-BC361CE8A2E0}" srcId="{357EFE84-0D54-4D38-8D31-5726048C54C3}" destId="{F5F9B6EB-4629-434C-A3EC-FB6943122C6B}" srcOrd="0" destOrd="0" parTransId="{C1026C87-3199-4101-A6FC-DE02484271E7}" sibTransId="{4EA75754-9B42-47B5-B8DC-328082E9F7E9}"/>
    <dgm:cxn modelId="{EB6C3446-6B70-4216-8A00-2A2B9DBF84B4}" srcId="{357EFE84-0D54-4D38-8D31-5726048C54C3}" destId="{B340F588-EF38-4203-84A3-961975863347}" srcOrd="2" destOrd="0" parTransId="{61A8F617-10DD-4BAD-84D0-A2A193DF5FE5}" sibTransId="{ACF94341-AF02-4AB7-908D-FC9E615D9DC8}"/>
    <dgm:cxn modelId="{585860A8-2FE5-4209-9C8E-70213544CC50}" type="presOf" srcId="{256A104C-1FE8-46B9-B3DF-FDB1A5F1F852}" destId="{C856F1ED-D74A-47EF-856C-0D85E46984CF}" srcOrd="0" destOrd="0" presId="urn:microsoft.com/office/officeart/2005/8/layout/cycle4"/>
    <dgm:cxn modelId="{6B85EC52-6BC6-4881-9646-7D899563BF09}" srcId="{D124E471-8142-4C36-9D9E-1DE1640D2244}" destId="{9D553D79-7187-430A-A43E-EDBA789AF12E}" srcOrd="0" destOrd="0" parTransId="{5F605B95-A4F0-4A16-953E-8DE2276A7E76}" sibTransId="{C777AF58-29D0-44C8-8520-2C5F49BBCE20}"/>
    <dgm:cxn modelId="{33546CB3-9C7C-485F-AB5A-7AFE0358BC3C}" srcId="{F5F9B6EB-4629-434C-A3EC-FB6943122C6B}" destId="{B3071385-3A73-40DD-BF0A-ADE6B2966544}" srcOrd="1" destOrd="0" parTransId="{8E704795-9A95-49CE-8C55-21A3EE0E0A0B}" sibTransId="{B54BE635-2006-4445-AC50-F3034FE97F70}"/>
    <dgm:cxn modelId="{D143EACC-5547-4C07-B241-6303E2C07B02}" type="presOf" srcId="{B3071385-3A73-40DD-BF0A-ADE6B2966544}" destId="{160CDDD2-EA2F-4BA3-AF50-773B04516D5A}" srcOrd="1" destOrd="1" presId="urn:microsoft.com/office/officeart/2005/8/layout/cycle4"/>
    <dgm:cxn modelId="{5E72F59C-5DDD-4D5D-A71A-790283CE4F36}" type="presOf" srcId="{B340F588-EF38-4203-84A3-961975863347}" destId="{C786BBDE-9510-4D6A-8C70-44C1C84AC96A}" srcOrd="0" destOrd="0" presId="urn:microsoft.com/office/officeart/2005/8/layout/cycle4"/>
    <dgm:cxn modelId="{010ACD3D-8170-409B-93CE-70C66DB40C82}" type="presOf" srcId="{B3FB9C6C-0AD0-4E95-81E3-E907C741589F}" destId="{B8A3C007-6E6F-4B08-BF8D-4E11B485BDCE}" srcOrd="0" destOrd="0" presId="urn:microsoft.com/office/officeart/2005/8/layout/cycle4"/>
    <dgm:cxn modelId="{4F0823E5-8381-47F9-BD7B-055891CCC3F4}" type="presOf" srcId="{7280FFB9-A10D-4AEC-93EC-0600369797C8}" destId="{054493FE-2E4E-4FB8-869D-BB96BE06A09A}" srcOrd="1" destOrd="0" presId="urn:microsoft.com/office/officeart/2005/8/layout/cycle4"/>
    <dgm:cxn modelId="{08B031C4-4B62-4E17-863E-6E61440F048A}" type="presOf" srcId="{2DBC05F4-B389-4747-9D01-09A1807CA9E1}" destId="{5E0D504E-7423-4F9F-979E-84FE823E9E3C}" srcOrd="0" destOrd="0" presId="urn:microsoft.com/office/officeart/2005/8/layout/cycle4"/>
    <dgm:cxn modelId="{E30883EA-3EEC-42B7-91DB-EE0C68EDDE30}" srcId="{B340F588-EF38-4203-84A3-961975863347}" destId="{B3FB9C6C-0AD0-4E95-81E3-E907C741589F}" srcOrd="0" destOrd="0" parTransId="{78DBB305-04D7-477A-B575-320C9D40C3E7}" sibTransId="{22469C4E-6B65-4846-A611-1ACC577106C3}"/>
    <dgm:cxn modelId="{4B2FB2A8-D558-44C1-9951-2635A8EEBEC6}" type="presOf" srcId="{9D553D79-7187-430A-A43E-EDBA789AF12E}" destId="{758870EE-8955-4DA0-9300-F3DA1AEE37C8}" srcOrd="0" destOrd="0" presId="urn:microsoft.com/office/officeart/2005/8/layout/cycle4"/>
    <dgm:cxn modelId="{46A4A447-F1AC-4CC8-81E3-B1EC102E7E66}" srcId="{357EFE84-0D54-4D38-8D31-5726048C54C3}" destId="{256A104C-1FE8-46B9-B3DF-FDB1A5F1F852}" srcOrd="3" destOrd="0" parTransId="{564BA8A1-C755-474A-80F6-A9E5CAC19A47}" sibTransId="{DC8033BA-0FD0-4DD7-B3A8-31BC4E76AC68}"/>
    <dgm:cxn modelId="{F9EB34B9-5FA8-495E-A2A1-1CA04CA958BA}" type="presOf" srcId="{357EFE84-0D54-4D38-8D31-5726048C54C3}" destId="{84185391-273E-408C-AAF3-4F0639A50A2F}" srcOrd="0" destOrd="0" presId="urn:microsoft.com/office/officeart/2005/8/layout/cycle4"/>
    <dgm:cxn modelId="{6F317853-AB9B-46AC-BAD5-E7592EE3324B}" type="presOf" srcId="{2DBC05F4-B389-4747-9D01-09A1807CA9E1}" destId="{160CDDD2-EA2F-4BA3-AF50-773B04516D5A}" srcOrd="1" destOrd="0" presId="urn:microsoft.com/office/officeart/2005/8/layout/cycle4"/>
    <dgm:cxn modelId="{86EC38E6-B378-43EF-8901-9E3E3002C374}" srcId="{256A104C-1FE8-46B9-B3DF-FDB1A5F1F852}" destId="{7280FFB9-A10D-4AEC-93EC-0600369797C8}" srcOrd="0" destOrd="0" parTransId="{6055E929-7314-40A8-A838-4437B5F60A38}" sibTransId="{D4FEA91E-C349-43A5-8BB0-1792208583D0}"/>
    <dgm:cxn modelId="{C7B25475-8E4F-4F49-AE66-BE134FBE07E1}" type="presOf" srcId="{9D553D79-7187-430A-A43E-EDBA789AF12E}" destId="{84E40643-0AD3-480F-8C6D-5E55B31990B8}" srcOrd="1" destOrd="0" presId="urn:microsoft.com/office/officeart/2005/8/layout/cycle4"/>
    <dgm:cxn modelId="{7088C430-FDC9-4E7A-A1F8-BC80BAC316EF}" type="presOf" srcId="{B3FB9C6C-0AD0-4E95-81E3-E907C741589F}" destId="{6F8746D7-3C6B-4DE4-9E8B-D474A49C3D9A}" srcOrd="1" destOrd="0" presId="urn:microsoft.com/office/officeart/2005/8/layout/cycle4"/>
    <dgm:cxn modelId="{B1B41F78-D5A4-43B3-B2A3-45D6E319C70D}" srcId="{F5F9B6EB-4629-434C-A3EC-FB6943122C6B}" destId="{2DBC05F4-B389-4747-9D01-09A1807CA9E1}" srcOrd="0" destOrd="0" parTransId="{3891E355-31C6-4945-BBB1-215CC4A3096E}" sibTransId="{8A2516D9-E23F-42B1-858B-45F469D39B3A}"/>
    <dgm:cxn modelId="{41D30767-B769-48DD-AEF3-4F3D5C4B1487}" type="presOf" srcId="{F5F9B6EB-4629-434C-A3EC-FB6943122C6B}" destId="{41244DB1-75D3-4ECD-9D12-ADAE50302370}" srcOrd="0" destOrd="0" presId="urn:microsoft.com/office/officeart/2005/8/layout/cycle4"/>
    <dgm:cxn modelId="{6FA99727-7703-4FF7-AA6E-49EC425CC30E}" type="presOf" srcId="{D124E471-8142-4C36-9D9E-1DE1640D2244}" destId="{29E5E9DD-0C62-4429-B9E7-36E022443E32}" srcOrd="0" destOrd="0" presId="urn:microsoft.com/office/officeart/2005/8/layout/cycle4"/>
    <dgm:cxn modelId="{19F311CF-7927-475B-B0FC-685EB071362B}" srcId="{357EFE84-0D54-4D38-8D31-5726048C54C3}" destId="{D124E471-8142-4C36-9D9E-1DE1640D2244}" srcOrd="1" destOrd="0" parTransId="{705E132A-23CA-49DA-9FCB-596D8D69FBA8}" sibTransId="{0E52E924-F7C4-4E22-92B0-588FD35D0D8E}"/>
    <dgm:cxn modelId="{3015B31E-BA82-4B4F-B370-D57649A4C08A}" type="presOf" srcId="{7280FFB9-A10D-4AEC-93EC-0600369797C8}" destId="{B6D3A5E1-70BB-4D40-9E97-C068D878514E}" srcOrd="0" destOrd="0" presId="urn:microsoft.com/office/officeart/2005/8/layout/cycle4"/>
    <dgm:cxn modelId="{8ABFDAA0-ACCA-4703-B102-368537D31A4A}" type="presParOf" srcId="{84185391-273E-408C-AAF3-4F0639A50A2F}" destId="{BCD37B48-DA4E-44DE-B42F-879CB7720C43}" srcOrd="0" destOrd="0" presId="urn:microsoft.com/office/officeart/2005/8/layout/cycle4"/>
    <dgm:cxn modelId="{3C828C3E-C7C3-4ADF-A523-2BA527916BB1}" type="presParOf" srcId="{BCD37B48-DA4E-44DE-B42F-879CB7720C43}" destId="{028B8C6B-9B8B-45CA-A451-9FC28560F114}" srcOrd="0" destOrd="0" presId="urn:microsoft.com/office/officeart/2005/8/layout/cycle4"/>
    <dgm:cxn modelId="{38CBAF22-5CAF-4A7B-A4B7-AEA3D49B4C6A}" type="presParOf" srcId="{028B8C6B-9B8B-45CA-A451-9FC28560F114}" destId="{5E0D504E-7423-4F9F-979E-84FE823E9E3C}" srcOrd="0" destOrd="0" presId="urn:microsoft.com/office/officeart/2005/8/layout/cycle4"/>
    <dgm:cxn modelId="{E47E8113-712F-454B-918D-7B6A0BED1B52}" type="presParOf" srcId="{028B8C6B-9B8B-45CA-A451-9FC28560F114}" destId="{160CDDD2-EA2F-4BA3-AF50-773B04516D5A}" srcOrd="1" destOrd="0" presId="urn:microsoft.com/office/officeart/2005/8/layout/cycle4"/>
    <dgm:cxn modelId="{DB2FF403-45A0-4903-9F48-7EE2E7EFAB91}" type="presParOf" srcId="{BCD37B48-DA4E-44DE-B42F-879CB7720C43}" destId="{B40DE3D6-9CF8-4BD4-9404-9548EB41FD3B}" srcOrd="1" destOrd="0" presId="urn:microsoft.com/office/officeart/2005/8/layout/cycle4"/>
    <dgm:cxn modelId="{0644B9F9-C233-418D-AC8A-AF01732CE85B}" type="presParOf" srcId="{B40DE3D6-9CF8-4BD4-9404-9548EB41FD3B}" destId="{758870EE-8955-4DA0-9300-F3DA1AEE37C8}" srcOrd="0" destOrd="0" presId="urn:microsoft.com/office/officeart/2005/8/layout/cycle4"/>
    <dgm:cxn modelId="{338C1BBE-B8CB-4D76-855C-38BBCBB4EDD2}" type="presParOf" srcId="{B40DE3D6-9CF8-4BD4-9404-9548EB41FD3B}" destId="{84E40643-0AD3-480F-8C6D-5E55B31990B8}" srcOrd="1" destOrd="0" presId="urn:microsoft.com/office/officeart/2005/8/layout/cycle4"/>
    <dgm:cxn modelId="{41A77062-DAE3-4EB4-8692-12FE724709DB}" type="presParOf" srcId="{BCD37B48-DA4E-44DE-B42F-879CB7720C43}" destId="{7FB67708-89E3-4271-837A-B0DD0A9AD0D5}" srcOrd="2" destOrd="0" presId="urn:microsoft.com/office/officeart/2005/8/layout/cycle4"/>
    <dgm:cxn modelId="{78C2037E-7947-4BB5-B704-9155D7F8C9CF}" type="presParOf" srcId="{7FB67708-89E3-4271-837A-B0DD0A9AD0D5}" destId="{B8A3C007-6E6F-4B08-BF8D-4E11B485BDCE}" srcOrd="0" destOrd="0" presId="urn:microsoft.com/office/officeart/2005/8/layout/cycle4"/>
    <dgm:cxn modelId="{B95A7A54-C536-4B68-93A4-D14EBE76DDDE}" type="presParOf" srcId="{7FB67708-89E3-4271-837A-B0DD0A9AD0D5}" destId="{6F8746D7-3C6B-4DE4-9E8B-D474A49C3D9A}" srcOrd="1" destOrd="0" presId="urn:microsoft.com/office/officeart/2005/8/layout/cycle4"/>
    <dgm:cxn modelId="{7B3D8AFD-865E-4513-A3D8-C0599271B911}" type="presParOf" srcId="{BCD37B48-DA4E-44DE-B42F-879CB7720C43}" destId="{A805FB07-D0AA-4AE3-AD70-381847A65156}" srcOrd="3" destOrd="0" presId="urn:microsoft.com/office/officeart/2005/8/layout/cycle4"/>
    <dgm:cxn modelId="{B1858EF3-6E81-4A4F-859B-CDB0EE929445}" type="presParOf" srcId="{A805FB07-D0AA-4AE3-AD70-381847A65156}" destId="{B6D3A5E1-70BB-4D40-9E97-C068D878514E}" srcOrd="0" destOrd="0" presId="urn:microsoft.com/office/officeart/2005/8/layout/cycle4"/>
    <dgm:cxn modelId="{415AEF2F-BAB9-45EE-810D-66087495D9AA}" type="presParOf" srcId="{A805FB07-D0AA-4AE3-AD70-381847A65156}" destId="{054493FE-2E4E-4FB8-869D-BB96BE06A09A}" srcOrd="1" destOrd="0" presId="urn:microsoft.com/office/officeart/2005/8/layout/cycle4"/>
    <dgm:cxn modelId="{2ECF3C92-2369-418D-939F-2040321DCF87}" type="presParOf" srcId="{BCD37B48-DA4E-44DE-B42F-879CB7720C43}" destId="{B0297C3D-FDFF-4D31-B87B-EFC188E07769}" srcOrd="4" destOrd="0" presId="urn:microsoft.com/office/officeart/2005/8/layout/cycle4"/>
    <dgm:cxn modelId="{7A751CF2-3BAA-450B-BBF5-B039D8F3C749}" type="presParOf" srcId="{84185391-273E-408C-AAF3-4F0639A50A2F}" destId="{0934551E-6428-4F3D-8A6E-3709D08891E0}" srcOrd="1" destOrd="0" presId="urn:microsoft.com/office/officeart/2005/8/layout/cycle4"/>
    <dgm:cxn modelId="{5B47D8A5-7656-471C-855B-A1E02BAE9426}" type="presParOf" srcId="{0934551E-6428-4F3D-8A6E-3709D08891E0}" destId="{41244DB1-75D3-4ECD-9D12-ADAE50302370}" srcOrd="0" destOrd="0" presId="urn:microsoft.com/office/officeart/2005/8/layout/cycle4"/>
    <dgm:cxn modelId="{C2066CEA-EF9F-4524-B692-B9E9D3799BDE}" type="presParOf" srcId="{0934551E-6428-4F3D-8A6E-3709D08891E0}" destId="{29E5E9DD-0C62-4429-B9E7-36E022443E32}" srcOrd="1" destOrd="0" presId="urn:microsoft.com/office/officeart/2005/8/layout/cycle4"/>
    <dgm:cxn modelId="{AADF4DA5-E4EB-41F9-9343-2694F94D1B2F}" type="presParOf" srcId="{0934551E-6428-4F3D-8A6E-3709D08891E0}" destId="{C786BBDE-9510-4D6A-8C70-44C1C84AC96A}" srcOrd="2" destOrd="0" presId="urn:microsoft.com/office/officeart/2005/8/layout/cycle4"/>
    <dgm:cxn modelId="{995397CC-7092-423A-B9A4-D6832FBEB374}" type="presParOf" srcId="{0934551E-6428-4F3D-8A6E-3709D08891E0}" destId="{C856F1ED-D74A-47EF-856C-0D85E46984CF}" srcOrd="3" destOrd="0" presId="urn:microsoft.com/office/officeart/2005/8/layout/cycle4"/>
    <dgm:cxn modelId="{10A0AF90-2B70-4D9E-B6A9-69C4682CCCF1}" type="presParOf" srcId="{0934551E-6428-4F3D-8A6E-3709D08891E0}" destId="{7E9F9F38-0F51-4F58-937E-BBD7E0E6F8A7}" srcOrd="4" destOrd="0" presId="urn:microsoft.com/office/officeart/2005/8/layout/cycle4"/>
    <dgm:cxn modelId="{002DE322-553C-405A-B57C-86EE9FBEB49D}" type="presParOf" srcId="{84185391-273E-408C-AAF3-4F0639A50A2F}" destId="{8D3AAADC-4DE2-4F55-A4A1-EB90D6FF9697}" srcOrd="2" destOrd="0" presId="urn:microsoft.com/office/officeart/2005/8/layout/cycle4"/>
    <dgm:cxn modelId="{31C57139-DD83-4EC3-B5FF-2074685F1E56}" type="presParOf" srcId="{84185391-273E-408C-AAF3-4F0639A50A2F}" destId="{ECC3C180-B634-4C71-8897-41B2B4ED4D22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DB7A12-C0D6-4C92-95CB-952DBC3AC366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B08F849-933A-4C31-81A5-65C46723B6C6}">
      <dgm:prSet phldrT="[Texto]" phldr="0"/>
      <dgm:spPr/>
      <dgm:t>
        <a:bodyPr/>
        <a:lstStyle/>
        <a:p>
          <a:r>
            <a:rPr lang="es-ES" dirty="0"/>
            <a:t>2020 Nivel de Transición. </a:t>
          </a:r>
          <a:endParaRPr lang="es-CO" dirty="0"/>
        </a:p>
      </dgm:t>
    </dgm:pt>
    <dgm:pt modelId="{054CF533-BF6F-4E42-8848-2812F577DF03}" type="parTrans" cxnId="{7807A628-EFF7-4BF0-9AE8-369D88B37A74}">
      <dgm:prSet/>
      <dgm:spPr/>
      <dgm:t>
        <a:bodyPr/>
        <a:lstStyle/>
        <a:p>
          <a:endParaRPr lang="es-CO"/>
        </a:p>
      </dgm:t>
    </dgm:pt>
    <dgm:pt modelId="{BEF94349-1658-4A1A-A739-73AE82187B02}" type="sibTrans" cxnId="{7807A628-EFF7-4BF0-9AE8-369D88B37A74}">
      <dgm:prSet/>
      <dgm:spPr/>
      <dgm:t>
        <a:bodyPr/>
        <a:lstStyle/>
        <a:p>
          <a:endParaRPr lang="es-CO"/>
        </a:p>
      </dgm:t>
    </dgm:pt>
    <dgm:pt modelId="{657D5C22-13C1-464C-9492-D8406ED77207}">
      <dgm:prSet phldrT="[Texto]" phldr="0"/>
      <dgm:spPr/>
      <dgm:t>
        <a:bodyPr/>
        <a:lstStyle/>
        <a:p>
          <a:r>
            <a:rPr lang="es-ES" dirty="0"/>
            <a:t>Inicio de la experiencia con un grupo piloto, fortaleciendo hábitos lectores en la primera infancia.</a:t>
          </a:r>
          <a:endParaRPr lang="es-CO" dirty="0"/>
        </a:p>
      </dgm:t>
    </dgm:pt>
    <dgm:pt modelId="{2988BCE1-EB59-4528-B119-2D268EC5F4CF}" type="parTrans" cxnId="{60E76806-5424-4903-ADB9-B5718DACE0DD}">
      <dgm:prSet/>
      <dgm:spPr/>
      <dgm:t>
        <a:bodyPr/>
        <a:lstStyle/>
        <a:p>
          <a:endParaRPr lang="es-CO"/>
        </a:p>
      </dgm:t>
    </dgm:pt>
    <dgm:pt modelId="{8E7F11BC-7E06-4641-A52F-7A0117F40F16}" type="sibTrans" cxnId="{60E76806-5424-4903-ADB9-B5718DACE0DD}">
      <dgm:prSet/>
      <dgm:spPr/>
      <dgm:t>
        <a:bodyPr/>
        <a:lstStyle/>
        <a:p>
          <a:endParaRPr lang="es-CO"/>
        </a:p>
      </dgm:t>
    </dgm:pt>
    <dgm:pt modelId="{57C779D5-A29C-4819-ACD8-682583B12D3F}">
      <dgm:prSet phldrT="[Texto]" phldr="0"/>
      <dgm:spPr/>
      <dgm:t>
        <a:bodyPr/>
        <a:lstStyle/>
        <a:p>
          <a:r>
            <a:rPr lang="es-ES" dirty="0"/>
            <a:t>2023 Nivel de Primaria. </a:t>
          </a:r>
          <a:endParaRPr lang="es-CO" dirty="0"/>
        </a:p>
      </dgm:t>
    </dgm:pt>
    <dgm:pt modelId="{11E5BA0D-C3A6-47CC-93C6-26B9A93ACAAE}" type="parTrans" cxnId="{A5572DE2-9A29-4773-ADC9-6D2A680974CC}">
      <dgm:prSet/>
      <dgm:spPr/>
      <dgm:t>
        <a:bodyPr/>
        <a:lstStyle/>
        <a:p>
          <a:endParaRPr lang="es-CO"/>
        </a:p>
      </dgm:t>
    </dgm:pt>
    <dgm:pt modelId="{B3705145-52B3-4B13-932A-F0C60B6F9557}" type="sibTrans" cxnId="{A5572DE2-9A29-4773-ADC9-6D2A680974CC}">
      <dgm:prSet/>
      <dgm:spPr/>
      <dgm:t>
        <a:bodyPr/>
        <a:lstStyle/>
        <a:p>
          <a:endParaRPr lang="es-CO"/>
        </a:p>
      </dgm:t>
    </dgm:pt>
    <dgm:pt modelId="{B8BF916F-9F9D-46E6-BCA5-2CE76CA96866}">
      <dgm:prSet phldrT="[Texto]" phldr="0"/>
      <dgm:spPr/>
      <dgm:t>
        <a:bodyPr/>
        <a:lstStyle/>
        <a:p>
          <a:r>
            <a:rPr lang="es-ES" dirty="0"/>
            <a:t>Replanteamiento metodológico para impactar desde 1.º a 5.º, integrando actividades como </a:t>
          </a:r>
          <a:r>
            <a:rPr lang="es-ES" dirty="0" err="1"/>
            <a:t>cuenter</a:t>
          </a:r>
          <a:r>
            <a:rPr lang="es-ES" dirty="0"/>
            <a:t>@ estrella, producción con materiales reciclados y rotación de libros. </a:t>
          </a:r>
          <a:endParaRPr lang="es-CO" dirty="0"/>
        </a:p>
      </dgm:t>
    </dgm:pt>
    <dgm:pt modelId="{9FB3BDBC-EA24-49A5-A820-E503D5AEA0B5}" type="parTrans" cxnId="{AD7C6E5F-2C92-4BC9-9286-FD09895C7A24}">
      <dgm:prSet/>
      <dgm:spPr/>
      <dgm:t>
        <a:bodyPr/>
        <a:lstStyle/>
        <a:p>
          <a:endParaRPr lang="es-CO"/>
        </a:p>
      </dgm:t>
    </dgm:pt>
    <dgm:pt modelId="{6CDAC55A-3977-4B70-9A5F-5431E8F57C6D}" type="sibTrans" cxnId="{AD7C6E5F-2C92-4BC9-9286-FD09895C7A24}">
      <dgm:prSet/>
      <dgm:spPr/>
      <dgm:t>
        <a:bodyPr/>
        <a:lstStyle/>
        <a:p>
          <a:endParaRPr lang="es-CO"/>
        </a:p>
      </dgm:t>
    </dgm:pt>
    <dgm:pt modelId="{03F553D5-DFA8-40B3-B539-11144F4FF3A8}">
      <dgm:prSet phldrT="[Texto]" phldr="0"/>
      <dgm:spPr/>
      <dgm:t>
        <a:bodyPr/>
        <a:lstStyle/>
        <a:p>
          <a:r>
            <a:rPr lang="es-ES" dirty="0"/>
            <a:t>2025 Nivel de Secundaria.</a:t>
          </a:r>
          <a:endParaRPr lang="es-CO" dirty="0"/>
        </a:p>
      </dgm:t>
    </dgm:pt>
    <dgm:pt modelId="{9DFC9198-D36E-4802-815A-25456724C851}" type="parTrans" cxnId="{AE2846CB-C1AC-4EC6-B015-57F21AF0C2AA}">
      <dgm:prSet/>
      <dgm:spPr/>
      <dgm:t>
        <a:bodyPr/>
        <a:lstStyle/>
        <a:p>
          <a:endParaRPr lang="es-CO"/>
        </a:p>
      </dgm:t>
    </dgm:pt>
    <dgm:pt modelId="{2FB1BC70-0461-4641-B256-1D73011CD11C}" type="sibTrans" cxnId="{AE2846CB-C1AC-4EC6-B015-57F21AF0C2AA}">
      <dgm:prSet/>
      <dgm:spPr/>
      <dgm:t>
        <a:bodyPr/>
        <a:lstStyle/>
        <a:p>
          <a:endParaRPr lang="es-CO"/>
        </a:p>
      </dgm:t>
    </dgm:pt>
    <dgm:pt modelId="{76A3B020-33AC-401F-AED0-A04D11AA78C8}">
      <dgm:prSet phldrT="[Texto]" phldr="0"/>
      <dgm:spPr/>
      <dgm:t>
        <a:bodyPr/>
        <a:lstStyle/>
        <a:p>
          <a:r>
            <a:rPr lang="es-ES" dirty="0"/>
            <a:t>Inclusión de secundaria (6.º a 11.º) con club de lectura, podcast y proyectos interdisciplinares. Articulación de la experiencia significativa con los Planes de Área y con el C.I. de LEO Explora. </a:t>
          </a:r>
          <a:endParaRPr lang="es-CO" dirty="0"/>
        </a:p>
      </dgm:t>
    </dgm:pt>
    <dgm:pt modelId="{FC029C99-0592-415A-A6F9-5E7EF507A4D7}" type="parTrans" cxnId="{7642B7DF-B818-44BF-A3E1-DE34E656658F}">
      <dgm:prSet/>
      <dgm:spPr/>
      <dgm:t>
        <a:bodyPr/>
        <a:lstStyle/>
        <a:p>
          <a:endParaRPr lang="es-CO"/>
        </a:p>
      </dgm:t>
    </dgm:pt>
    <dgm:pt modelId="{7260DF2B-4924-4CD2-8B9F-4E1FA367D175}" type="sibTrans" cxnId="{7642B7DF-B818-44BF-A3E1-DE34E656658F}">
      <dgm:prSet/>
      <dgm:spPr/>
      <dgm:t>
        <a:bodyPr/>
        <a:lstStyle/>
        <a:p>
          <a:endParaRPr lang="es-CO"/>
        </a:p>
      </dgm:t>
    </dgm:pt>
    <dgm:pt modelId="{0CEA3FF0-292C-480A-98BC-49BE3ABBC68C}" type="pres">
      <dgm:prSet presAssocID="{21DB7A12-C0D6-4C92-95CB-952DBC3AC366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es-CO"/>
        </a:p>
      </dgm:t>
    </dgm:pt>
    <dgm:pt modelId="{B7036445-1918-4621-A4BD-48E025819EE9}" type="pres">
      <dgm:prSet presAssocID="{2B08F849-933A-4C31-81A5-65C46723B6C6}" presName="parentText1" presStyleLbl="node1" presStyleIdx="0" presStyleCnt="3" custLinFactNeighborY="-2017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D76506B3-F2A6-4522-8DD1-BF1D574B258D}" type="pres">
      <dgm:prSet presAssocID="{2B08F849-933A-4C31-81A5-65C46723B6C6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C2C70CE-2BF5-4C8C-BF57-051160CAB3BC}" type="pres">
      <dgm:prSet presAssocID="{57C779D5-A29C-4819-ACD8-682583B12D3F}" presName="parentText2" presStyleLbl="node1" presStyleIdx="1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6C5A141-E752-442C-9F9A-9E22C0980708}" type="pres">
      <dgm:prSet presAssocID="{57C779D5-A29C-4819-ACD8-682583B12D3F}" presName="childText2" presStyleLbl="solidAlignAcc1" presStyleIdx="1" presStyleCnt="3" custLinFactNeighborX="-580" custLinFactNeighborY="-127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26A37D6-0A73-4BB6-A141-39EF682640B9}" type="pres">
      <dgm:prSet presAssocID="{03F553D5-DFA8-40B3-B539-11144F4FF3A8}" presName="parentText3" presStyleLbl="node1" presStyleIdx="2" presStyleCnt="3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45DD5616-D7FA-4864-BD50-E4E5AD70DE9A}" type="pres">
      <dgm:prSet presAssocID="{03F553D5-DFA8-40B3-B539-11144F4FF3A8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126362A8-5DE8-4031-AD0F-316FB3D32946}" type="presOf" srcId="{76A3B020-33AC-401F-AED0-A04D11AA78C8}" destId="{45DD5616-D7FA-4864-BD50-E4E5AD70DE9A}" srcOrd="0" destOrd="0" presId="urn:microsoft.com/office/officeart/2009/3/layout/IncreasingArrowsProcess"/>
    <dgm:cxn modelId="{AD7C6E5F-2C92-4BC9-9286-FD09895C7A24}" srcId="{57C779D5-A29C-4819-ACD8-682583B12D3F}" destId="{B8BF916F-9F9D-46E6-BCA5-2CE76CA96866}" srcOrd="0" destOrd="0" parTransId="{9FB3BDBC-EA24-49A5-A820-E503D5AEA0B5}" sibTransId="{6CDAC55A-3977-4B70-9A5F-5431E8F57C6D}"/>
    <dgm:cxn modelId="{14434BC2-722E-4FD3-90B6-5E752FFFB908}" type="presOf" srcId="{21DB7A12-C0D6-4C92-95CB-952DBC3AC366}" destId="{0CEA3FF0-292C-480A-98BC-49BE3ABBC68C}" srcOrd="0" destOrd="0" presId="urn:microsoft.com/office/officeart/2009/3/layout/IncreasingArrowsProcess"/>
    <dgm:cxn modelId="{C91798FC-7D0F-4C84-BA95-ECD878A8F1AA}" type="presOf" srcId="{B8BF916F-9F9D-46E6-BCA5-2CE76CA96866}" destId="{56C5A141-E752-442C-9F9A-9E22C0980708}" srcOrd="0" destOrd="0" presId="urn:microsoft.com/office/officeart/2009/3/layout/IncreasingArrowsProcess"/>
    <dgm:cxn modelId="{7807A628-EFF7-4BF0-9AE8-369D88B37A74}" srcId="{21DB7A12-C0D6-4C92-95CB-952DBC3AC366}" destId="{2B08F849-933A-4C31-81A5-65C46723B6C6}" srcOrd="0" destOrd="0" parTransId="{054CF533-BF6F-4E42-8848-2812F577DF03}" sibTransId="{BEF94349-1658-4A1A-A739-73AE82187B02}"/>
    <dgm:cxn modelId="{A5572DE2-9A29-4773-ADC9-6D2A680974CC}" srcId="{21DB7A12-C0D6-4C92-95CB-952DBC3AC366}" destId="{57C779D5-A29C-4819-ACD8-682583B12D3F}" srcOrd="1" destOrd="0" parTransId="{11E5BA0D-C3A6-47CC-93C6-26B9A93ACAAE}" sibTransId="{B3705145-52B3-4B13-932A-F0C60B6F9557}"/>
    <dgm:cxn modelId="{6C216F22-C1F1-4D4E-B303-A31089F3C2A0}" type="presOf" srcId="{03F553D5-DFA8-40B3-B539-11144F4FF3A8}" destId="{C26A37D6-0A73-4BB6-A141-39EF682640B9}" srcOrd="0" destOrd="0" presId="urn:microsoft.com/office/officeart/2009/3/layout/IncreasingArrowsProcess"/>
    <dgm:cxn modelId="{466CDD57-E29A-4129-9299-1045C2010850}" type="presOf" srcId="{2B08F849-933A-4C31-81A5-65C46723B6C6}" destId="{B7036445-1918-4621-A4BD-48E025819EE9}" srcOrd="0" destOrd="0" presId="urn:microsoft.com/office/officeart/2009/3/layout/IncreasingArrowsProcess"/>
    <dgm:cxn modelId="{AE6B32C4-AAAE-4869-99A4-E601CABB735E}" type="presOf" srcId="{57C779D5-A29C-4819-ACD8-682583B12D3F}" destId="{CC2C70CE-2BF5-4C8C-BF57-051160CAB3BC}" srcOrd="0" destOrd="0" presId="urn:microsoft.com/office/officeart/2009/3/layout/IncreasingArrowsProcess"/>
    <dgm:cxn modelId="{AE2846CB-C1AC-4EC6-B015-57F21AF0C2AA}" srcId="{21DB7A12-C0D6-4C92-95CB-952DBC3AC366}" destId="{03F553D5-DFA8-40B3-B539-11144F4FF3A8}" srcOrd="2" destOrd="0" parTransId="{9DFC9198-D36E-4802-815A-25456724C851}" sibTransId="{2FB1BC70-0461-4641-B256-1D73011CD11C}"/>
    <dgm:cxn modelId="{7642B7DF-B818-44BF-A3E1-DE34E656658F}" srcId="{03F553D5-DFA8-40B3-B539-11144F4FF3A8}" destId="{76A3B020-33AC-401F-AED0-A04D11AA78C8}" srcOrd="0" destOrd="0" parTransId="{FC029C99-0592-415A-A6F9-5E7EF507A4D7}" sibTransId="{7260DF2B-4924-4CD2-8B9F-4E1FA367D175}"/>
    <dgm:cxn modelId="{60E76806-5424-4903-ADB9-B5718DACE0DD}" srcId="{2B08F849-933A-4C31-81A5-65C46723B6C6}" destId="{657D5C22-13C1-464C-9492-D8406ED77207}" srcOrd="0" destOrd="0" parTransId="{2988BCE1-EB59-4528-B119-2D268EC5F4CF}" sibTransId="{8E7F11BC-7E06-4641-A52F-7A0117F40F16}"/>
    <dgm:cxn modelId="{CE620C9F-021F-40ED-81A1-09B2388637E0}" type="presOf" srcId="{657D5C22-13C1-464C-9492-D8406ED77207}" destId="{D76506B3-F2A6-4522-8DD1-BF1D574B258D}" srcOrd="0" destOrd="0" presId="urn:microsoft.com/office/officeart/2009/3/layout/IncreasingArrowsProcess"/>
    <dgm:cxn modelId="{62F6EB92-9775-416D-B710-FEA7FA8DCBF6}" type="presParOf" srcId="{0CEA3FF0-292C-480A-98BC-49BE3ABBC68C}" destId="{B7036445-1918-4621-A4BD-48E025819EE9}" srcOrd="0" destOrd="0" presId="urn:microsoft.com/office/officeart/2009/3/layout/IncreasingArrowsProcess"/>
    <dgm:cxn modelId="{5D1E887E-6630-43D8-B8E4-9FC7FE5E1C33}" type="presParOf" srcId="{0CEA3FF0-292C-480A-98BC-49BE3ABBC68C}" destId="{D76506B3-F2A6-4522-8DD1-BF1D574B258D}" srcOrd="1" destOrd="0" presId="urn:microsoft.com/office/officeart/2009/3/layout/IncreasingArrowsProcess"/>
    <dgm:cxn modelId="{D8332D6A-0578-40A5-9E82-472E8E429863}" type="presParOf" srcId="{0CEA3FF0-292C-480A-98BC-49BE3ABBC68C}" destId="{CC2C70CE-2BF5-4C8C-BF57-051160CAB3BC}" srcOrd="2" destOrd="0" presId="urn:microsoft.com/office/officeart/2009/3/layout/IncreasingArrowsProcess"/>
    <dgm:cxn modelId="{6D844EE1-CAFB-4BD7-B27E-7916BBCE11A9}" type="presParOf" srcId="{0CEA3FF0-292C-480A-98BC-49BE3ABBC68C}" destId="{56C5A141-E752-442C-9F9A-9E22C0980708}" srcOrd="3" destOrd="0" presId="urn:microsoft.com/office/officeart/2009/3/layout/IncreasingArrowsProcess"/>
    <dgm:cxn modelId="{CE968C78-2F1E-4D21-BA51-A2D01A3582E5}" type="presParOf" srcId="{0CEA3FF0-292C-480A-98BC-49BE3ABBC68C}" destId="{C26A37D6-0A73-4BB6-A141-39EF682640B9}" srcOrd="4" destOrd="0" presId="urn:microsoft.com/office/officeart/2009/3/layout/IncreasingArrowsProcess"/>
    <dgm:cxn modelId="{BA6991D9-73E3-4E06-A98C-77FD926933FD}" type="presParOf" srcId="{0CEA3FF0-292C-480A-98BC-49BE3ABBC68C}" destId="{45DD5616-D7FA-4864-BD50-E4E5AD70DE9A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6682A2-04B2-4946-B2B3-3E11AA18F8F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66DF45FD-8854-4573-B5F6-577A91A36CE3}">
      <dgm:prSet phldrT="[Texto]"/>
      <dgm:spPr/>
      <dgm:t>
        <a:bodyPr/>
        <a:lstStyle/>
        <a:p>
          <a:pPr>
            <a:buNone/>
          </a:pPr>
          <a:r>
            <a:rPr lang="es-CO" b="1" dirty="0"/>
            <a:t>Propuesta: </a:t>
          </a:r>
        </a:p>
        <a:p>
          <a:pPr>
            <a:buNone/>
          </a:pPr>
          <a:r>
            <a:rPr lang="es-ES" b="0" dirty="0"/>
            <a:t>objetivos, justificación y articulación al PEI</a:t>
          </a:r>
          <a:endParaRPr lang="es-CO" b="0" dirty="0"/>
        </a:p>
      </dgm:t>
    </dgm:pt>
    <dgm:pt modelId="{D79786F1-822D-42D0-BB70-B805AA7271B5}" type="parTrans" cxnId="{CD53BF88-96F0-40D9-8898-7B6D96A8FAEC}">
      <dgm:prSet/>
      <dgm:spPr/>
      <dgm:t>
        <a:bodyPr/>
        <a:lstStyle/>
        <a:p>
          <a:endParaRPr lang="es-CO"/>
        </a:p>
      </dgm:t>
    </dgm:pt>
    <dgm:pt modelId="{C22D529D-17A4-4534-A503-B94F1BE5DFA3}" type="sibTrans" cxnId="{CD53BF88-96F0-40D9-8898-7B6D96A8FAEC}">
      <dgm:prSet/>
      <dgm:spPr/>
      <dgm:t>
        <a:bodyPr/>
        <a:lstStyle/>
        <a:p>
          <a:endParaRPr lang="es-CO"/>
        </a:p>
      </dgm:t>
    </dgm:pt>
    <dgm:pt modelId="{50799B2F-4D01-4F66-9831-B71C5702C43D}">
      <dgm:prSet phldrT="[Texto]" phldr="0"/>
      <dgm:spPr/>
      <dgm:t>
        <a:bodyPr/>
        <a:lstStyle/>
        <a:p>
          <a:r>
            <a:rPr lang="es-ES" b="1" dirty="0"/>
            <a:t>Desarrollo: </a:t>
          </a:r>
        </a:p>
        <a:p>
          <a:r>
            <a:rPr lang="es-ES" b="0" dirty="0"/>
            <a:t>actividades clave (Club de lectura, </a:t>
          </a:r>
          <a:r>
            <a:rPr lang="es-ES" b="0" dirty="0" err="1"/>
            <a:t>Cuenter</a:t>
          </a:r>
          <a:r>
            <a:rPr lang="es-ES" b="0" dirty="0"/>
            <a:t>@ estrella, Bazar de Libros, Audiolibros)</a:t>
          </a:r>
        </a:p>
        <a:p>
          <a:endParaRPr lang="es-CO" dirty="0"/>
        </a:p>
      </dgm:t>
    </dgm:pt>
    <dgm:pt modelId="{250C85A2-EC6C-4A0B-BF82-6A18428F06A6}" type="parTrans" cxnId="{714C6CC7-0B05-4BFA-9112-56BBCAAEBCE3}">
      <dgm:prSet/>
      <dgm:spPr/>
      <dgm:t>
        <a:bodyPr/>
        <a:lstStyle/>
        <a:p>
          <a:endParaRPr lang="es-CO"/>
        </a:p>
      </dgm:t>
    </dgm:pt>
    <dgm:pt modelId="{189208D4-8F17-4F33-B141-15D9CB2F58D3}" type="sibTrans" cxnId="{714C6CC7-0B05-4BFA-9112-56BBCAAEBCE3}">
      <dgm:prSet/>
      <dgm:spPr/>
      <dgm:t>
        <a:bodyPr/>
        <a:lstStyle/>
        <a:p>
          <a:endParaRPr lang="es-CO"/>
        </a:p>
      </dgm:t>
    </dgm:pt>
    <dgm:pt modelId="{C791728D-8D63-408D-8BDA-56278D1E82EE}">
      <dgm:prSet phldrT="[Texto]"/>
      <dgm:spPr/>
      <dgm:t>
        <a:bodyPr/>
        <a:lstStyle/>
        <a:p>
          <a:r>
            <a:rPr lang="es-CO" b="1" dirty="0"/>
            <a:t>Metodología:</a:t>
          </a:r>
        </a:p>
        <a:p>
          <a:r>
            <a:rPr lang="es-ES" b="0" dirty="0"/>
            <a:t>trabajo por periodos, rotación de libros, participación familiar</a:t>
          </a:r>
          <a:endParaRPr lang="es-CO" b="0" dirty="0"/>
        </a:p>
      </dgm:t>
    </dgm:pt>
    <dgm:pt modelId="{C2ECC91A-49D1-4CF6-891C-8895E17543B8}" type="parTrans" cxnId="{252C0ED6-D493-4D11-A613-F4A0C81F5232}">
      <dgm:prSet/>
      <dgm:spPr/>
      <dgm:t>
        <a:bodyPr/>
        <a:lstStyle/>
        <a:p>
          <a:endParaRPr lang="es-CO"/>
        </a:p>
      </dgm:t>
    </dgm:pt>
    <dgm:pt modelId="{B395E811-8330-4C8B-8078-C8A03EFF82B0}" type="sibTrans" cxnId="{252C0ED6-D493-4D11-A613-F4A0C81F5232}">
      <dgm:prSet/>
      <dgm:spPr/>
      <dgm:t>
        <a:bodyPr/>
        <a:lstStyle/>
        <a:p>
          <a:endParaRPr lang="es-CO"/>
        </a:p>
      </dgm:t>
    </dgm:pt>
    <dgm:pt modelId="{E153A044-8D32-425A-BD31-C9C665288DB0}">
      <dgm:prSet/>
      <dgm:spPr/>
      <dgm:t>
        <a:bodyPr/>
        <a:lstStyle/>
        <a:p>
          <a:r>
            <a:rPr lang="es-CO" b="1" dirty="0"/>
            <a:t>Resultados:</a:t>
          </a:r>
        </a:p>
        <a:p>
          <a:r>
            <a:rPr lang="es-ES" b="0" dirty="0"/>
            <a:t>productos finales, indicadores y competencias desarrolladas</a:t>
          </a:r>
          <a:endParaRPr lang="es-CO" b="0" dirty="0"/>
        </a:p>
      </dgm:t>
    </dgm:pt>
    <dgm:pt modelId="{A2477263-0C2F-427D-BB1A-8D13DF285B0C}" type="parTrans" cxnId="{8EC8F00B-86FE-43AA-B8CF-329731B51FFF}">
      <dgm:prSet/>
      <dgm:spPr/>
      <dgm:t>
        <a:bodyPr/>
        <a:lstStyle/>
        <a:p>
          <a:endParaRPr lang="es-CO"/>
        </a:p>
      </dgm:t>
    </dgm:pt>
    <dgm:pt modelId="{837964B4-0EF2-442E-AA68-1A8EF9D9CB43}" type="sibTrans" cxnId="{8EC8F00B-86FE-43AA-B8CF-329731B51FFF}">
      <dgm:prSet/>
      <dgm:spPr/>
      <dgm:t>
        <a:bodyPr/>
        <a:lstStyle/>
        <a:p>
          <a:endParaRPr lang="es-CO"/>
        </a:p>
      </dgm:t>
    </dgm:pt>
    <dgm:pt modelId="{3B85DD24-C82D-4AE8-892E-93B06D301257}" type="pres">
      <dgm:prSet presAssocID="{FB6682A2-04B2-4946-B2B3-3E11AA18F8FE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346FF741-987F-4F43-8685-178D66A2137E}" type="pres">
      <dgm:prSet presAssocID="{FB6682A2-04B2-4946-B2B3-3E11AA18F8FE}" presName="arrow" presStyleLbl="bgShp" presStyleIdx="0" presStyleCnt="1" custLinFactNeighborX="0" custLinFactNeighborY="10562"/>
      <dgm:spPr/>
    </dgm:pt>
    <dgm:pt modelId="{1D9965E1-71BB-4464-8B5A-C5870BC59CB8}" type="pres">
      <dgm:prSet presAssocID="{FB6682A2-04B2-4946-B2B3-3E11AA18F8FE}" presName="linearProcess" presStyleCnt="0"/>
      <dgm:spPr/>
    </dgm:pt>
    <dgm:pt modelId="{85F58C4D-61E0-40CA-B831-966B8E475340}" type="pres">
      <dgm:prSet presAssocID="{66DF45FD-8854-4573-B5F6-577A91A36CE3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6F7143C0-4E00-4B90-A9BF-8E42E6C7EFB0}" type="pres">
      <dgm:prSet presAssocID="{C22D529D-17A4-4534-A503-B94F1BE5DFA3}" presName="sibTrans" presStyleCnt="0"/>
      <dgm:spPr/>
    </dgm:pt>
    <dgm:pt modelId="{C9B5C3B4-1F6C-4777-9640-DB0221EEE898}" type="pres">
      <dgm:prSet presAssocID="{50799B2F-4D01-4F66-9831-B71C5702C43D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8B57DAE-D72B-4D25-B97C-C7FF0D8C5983}" type="pres">
      <dgm:prSet presAssocID="{189208D4-8F17-4F33-B141-15D9CB2F58D3}" presName="sibTrans" presStyleCnt="0"/>
      <dgm:spPr/>
    </dgm:pt>
    <dgm:pt modelId="{16EDECBE-C76A-45C1-9D59-BF38E4287D4C}" type="pres">
      <dgm:prSet presAssocID="{C791728D-8D63-408D-8BDA-56278D1E82EE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25384EBF-8A3C-43A8-A924-F5ED911E4337}" type="pres">
      <dgm:prSet presAssocID="{B395E811-8330-4C8B-8078-C8A03EFF82B0}" presName="sibTrans" presStyleCnt="0"/>
      <dgm:spPr/>
    </dgm:pt>
    <dgm:pt modelId="{EE379C51-E6ED-4164-9949-1EACB788449C}" type="pres">
      <dgm:prSet presAssocID="{E153A044-8D32-425A-BD31-C9C665288DB0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E8CF1DBE-C4DA-42A4-930E-5FACA9D077D3}" type="presOf" srcId="{C791728D-8D63-408D-8BDA-56278D1E82EE}" destId="{16EDECBE-C76A-45C1-9D59-BF38E4287D4C}" srcOrd="0" destOrd="0" presId="urn:microsoft.com/office/officeart/2005/8/layout/hProcess9"/>
    <dgm:cxn modelId="{8EC8F00B-86FE-43AA-B8CF-329731B51FFF}" srcId="{FB6682A2-04B2-4946-B2B3-3E11AA18F8FE}" destId="{E153A044-8D32-425A-BD31-C9C665288DB0}" srcOrd="3" destOrd="0" parTransId="{A2477263-0C2F-427D-BB1A-8D13DF285B0C}" sibTransId="{837964B4-0EF2-442E-AA68-1A8EF9D9CB43}"/>
    <dgm:cxn modelId="{BE8ED263-1216-44B4-A031-AB5EB74E0454}" type="presOf" srcId="{66DF45FD-8854-4573-B5F6-577A91A36CE3}" destId="{85F58C4D-61E0-40CA-B831-966B8E475340}" srcOrd="0" destOrd="0" presId="urn:microsoft.com/office/officeart/2005/8/layout/hProcess9"/>
    <dgm:cxn modelId="{252C0ED6-D493-4D11-A613-F4A0C81F5232}" srcId="{FB6682A2-04B2-4946-B2B3-3E11AA18F8FE}" destId="{C791728D-8D63-408D-8BDA-56278D1E82EE}" srcOrd="2" destOrd="0" parTransId="{C2ECC91A-49D1-4CF6-891C-8895E17543B8}" sibTransId="{B395E811-8330-4C8B-8078-C8A03EFF82B0}"/>
    <dgm:cxn modelId="{09FBF05C-5CA1-47E5-9318-019F465FF553}" type="presOf" srcId="{E153A044-8D32-425A-BD31-C9C665288DB0}" destId="{EE379C51-E6ED-4164-9949-1EACB788449C}" srcOrd="0" destOrd="0" presId="urn:microsoft.com/office/officeart/2005/8/layout/hProcess9"/>
    <dgm:cxn modelId="{9FB33E14-EF55-41E3-990F-A2DA80E8300E}" type="presOf" srcId="{FB6682A2-04B2-4946-B2B3-3E11AA18F8FE}" destId="{3B85DD24-C82D-4AE8-892E-93B06D301257}" srcOrd="0" destOrd="0" presId="urn:microsoft.com/office/officeart/2005/8/layout/hProcess9"/>
    <dgm:cxn modelId="{714C6CC7-0B05-4BFA-9112-56BBCAAEBCE3}" srcId="{FB6682A2-04B2-4946-B2B3-3E11AA18F8FE}" destId="{50799B2F-4D01-4F66-9831-B71C5702C43D}" srcOrd="1" destOrd="0" parTransId="{250C85A2-EC6C-4A0B-BF82-6A18428F06A6}" sibTransId="{189208D4-8F17-4F33-B141-15D9CB2F58D3}"/>
    <dgm:cxn modelId="{CD53BF88-96F0-40D9-8898-7B6D96A8FAEC}" srcId="{FB6682A2-04B2-4946-B2B3-3E11AA18F8FE}" destId="{66DF45FD-8854-4573-B5F6-577A91A36CE3}" srcOrd="0" destOrd="0" parTransId="{D79786F1-822D-42D0-BB70-B805AA7271B5}" sibTransId="{C22D529D-17A4-4534-A503-B94F1BE5DFA3}"/>
    <dgm:cxn modelId="{2C0D4358-BC88-421A-B7D4-AF2745D2730F}" type="presOf" srcId="{50799B2F-4D01-4F66-9831-B71C5702C43D}" destId="{C9B5C3B4-1F6C-4777-9640-DB0221EEE898}" srcOrd="0" destOrd="0" presId="urn:microsoft.com/office/officeart/2005/8/layout/hProcess9"/>
    <dgm:cxn modelId="{1E343A3F-8286-428F-AE6C-585ABB981D69}" type="presParOf" srcId="{3B85DD24-C82D-4AE8-892E-93B06D301257}" destId="{346FF741-987F-4F43-8685-178D66A2137E}" srcOrd="0" destOrd="0" presId="urn:microsoft.com/office/officeart/2005/8/layout/hProcess9"/>
    <dgm:cxn modelId="{8EE3A97F-EEF2-4C49-9ABE-5E2EDBBDC5A6}" type="presParOf" srcId="{3B85DD24-C82D-4AE8-892E-93B06D301257}" destId="{1D9965E1-71BB-4464-8B5A-C5870BC59CB8}" srcOrd="1" destOrd="0" presId="urn:microsoft.com/office/officeart/2005/8/layout/hProcess9"/>
    <dgm:cxn modelId="{3750C29F-1CA0-4953-BED4-4CA702A9E30B}" type="presParOf" srcId="{1D9965E1-71BB-4464-8B5A-C5870BC59CB8}" destId="{85F58C4D-61E0-40CA-B831-966B8E475340}" srcOrd="0" destOrd="0" presId="urn:microsoft.com/office/officeart/2005/8/layout/hProcess9"/>
    <dgm:cxn modelId="{8C0E3FAF-B8AB-41C2-91DB-B3820F8A3AD5}" type="presParOf" srcId="{1D9965E1-71BB-4464-8B5A-C5870BC59CB8}" destId="{6F7143C0-4E00-4B90-A9BF-8E42E6C7EFB0}" srcOrd="1" destOrd="0" presId="urn:microsoft.com/office/officeart/2005/8/layout/hProcess9"/>
    <dgm:cxn modelId="{417F0FD6-B5AB-4458-AC3A-6FFF6317BF62}" type="presParOf" srcId="{1D9965E1-71BB-4464-8B5A-C5870BC59CB8}" destId="{C9B5C3B4-1F6C-4777-9640-DB0221EEE898}" srcOrd="2" destOrd="0" presId="urn:microsoft.com/office/officeart/2005/8/layout/hProcess9"/>
    <dgm:cxn modelId="{29CCCF5C-3F6D-4952-8CBF-005B3F5DB55A}" type="presParOf" srcId="{1D9965E1-71BB-4464-8B5A-C5870BC59CB8}" destId="{58B57DAE-D72B-4D25-B97C-C7FF0D8C5983}" srcOrd="3" destOrd="0" presId="urn:microsoft.com/office/officeart/2005/8/layout/hProcess9"/>
    <dgm:cxn modelId="{F12F9D3F-DCEC-4311-BC8C-06C462B5FEFC}" type="presParOf" srcId="{1D9965E1-71BB-4464-8B5A-C5870BC59CB8}" destId="{16EDECBE-C76A-45C1-9D59-BF38E4287D4C}" srcOrd="4" destOrd="0" presId="urn:microsoft.com/office/officeart/2005/8/layout/hProcess9"/>
    <dgm:cxn modelId="{11FBE2FF-3C02-4644-9CE9-7E4EA3EFD5F5}" type="presParOf" srcId="{1D9965E1-71BB-4464-8B5A-C5870BC59CB8}" destId="{25384EBF-8A3C-43A8-A924-F5ED911E4337}" srcOrd="5" destOrd="0" presId="urn:microsoft.com/office/officeart/2005/8/layout/hProcess9"/>
    <dgm:cxn modelId="{1F6F84CD-8B9E-4505-8BFB-D1FE4E7AFC00}" type="presParOf" srcId="{1D9965E1-71BB-4464-8B5A-C5870BC59CB8}" destId="{EE379C51-E6ED-4164-9949-1EACB788449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DB5085-13F8-463B-ACB6-3866C4ECD9E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0E35EBD4-1A15-4381-9E1E-4DF55EADA53D}">
      <dgm:prSet phldrT="[Texto]" custT="1"/>
      <dgm:spPr/>
      <dgm:t>
        <a:bodyPr/>
        <a:lstStyle/>
        <a:p>
          <a:pPr>
            <a:buNone/>
          </a:pPr>
          <a:r>
            <a:rPr lang="es-CO" sz="2800" b="1" dirty="0"/>
            <a:t>Elementos conceptuales</a:t>
          </a:r>
          <a:endParaRPr lang="es-CO" sz="2800" dirty="0"/>
        </a:p>
      </dgm:t>
    </dgm:pt>
    <dgm:pt modelId="{146562CC-2BBB-4530-A742-8EF0AB19A0A3}" type="parTrans" cxnId="{DE31BD80-4931-4BBA-8DC2-5FDA62924C2A}">
      <dgm:prSet/>
      <dgm:spPr/>
      <dgm:t>
        <a:bodyPr/>
        <a:lstStyle/>
        <a:p>
          <a:endParaRPr lang="es-CO"/>
        </a:p>
      </dgm:t>
    </dgm:pt>
    <dgm:pt modelId="{A798DC1B-8C70-4DA3-A253-0234EF5045D3}" type="sibTrans" cxnId="{DE31BD80-4931-4BBA-8DC2-5FDA62924C2A}">
      <dgm:prSet/>
      <dgm:spPr/>
      <dgm:t>
        <a:bodyPr/>
        <a:lstStyle/>
        <a:p>
          <a:endParaRPr lang="es-CO"/>
        </a:p>
      </dgm:t>
    </dgm:pt>
    <dgm:pt modelId="{8C18CE4F-2C55-4696-9FB3-9B74A9C608A1}">
      <dgm:prSet/>
      <dgm:spPr/>
      <dgm:t>
        <a:bodyPr/>
        <a:lstStyle/>
        <a:p>
          <a:r>
            <a:rPr lang="es-CO" b="1" dirty="0"/>
            <a:t>Elementos metodológicos</a:t>
          </a:r>
        </a:p>
      </dgm:t>
    </dgm:pt>
    <dgm:pt modelId="{F0142A4E-9747-4B9D-B959-C66641364FB0}" type="parTrans" cxnId="{89330B5A-E90F-4730-8FDA-C19EE9C3D6E9}">
      <dgm:prSet/>
      <dgm:spPr/>
      <dgm:t>
        <a:bodyPr/>
        <a:lstStyle/>
        <a:p>
          <a:endParaRPr lang="es-CO"/>
        </a:p>
      </dgm:t>
    </dgm:pt>
    <dgm:pt modelId="{0CBDEB10-9E93-4791-80C5-E94ECF763EFE}" type="sibTrans" cxnId="{89330B5A-E90F-4730-8FDA-C19EE9C3D6E9}">
      <dgm:prSet/>
      <dgm:spPr/>
      <dgm:t>
        <a:bodyPr/>
        <a:lstStyle/>
        <a:p>
          <a:endParaRPr lang="es-CO"/>
        </a:p>
      </dgm:t>
    </dgm:pt>
    <dgm:pt modelId="{36BA467F-54E9-46B6-BB30-AC20A75110E0}">
      <dgm:prSet/>
      <dgm:spPr/>
      <dgm:t>
        <a:bodyPr/>
        <a:lstStyle/>
        <a:p>
          <a:r>
            <a:rPr lang="es-CO" b="1" dirty="0"/>
            <a:t>Trascendencia e investigación</a:t>
          </a:r>
        </a:p>
      </dgm:t>
    </dgm:pt>
    <dgm:pt modelId="{28DE7019-0943-4CEE-8B09-E14A03E6DE39}" type="parTrans" cxnId="{C345A235-EFA0-42B0-AE84-4AEED2223EBE}">
      <dgm:prSet/>
      <dgm:spPr/>
      <dgm:t>
        <a:bodyPr/>
        <a:lstStyle/>
        <a:p>
          <a:endParaRPr lang="es-CO"/>
        </a:p>
      </dgm:t>
    </dgm:pt>
    <dgm:pt modelId="{EB7AD91C-8880-4F72-B50E-FCD1CE90233C}" type="sibTrans" cxnId="{C345A235-EFA0-42B0-AE84-4AEED2223EBE}">
      <dgm:prSet/>
      <dgm:spPr/>
      <dgm:t>
        <a:bodyPr/>
        <a:lstStyle/>
        <a:p>
          <a:endParaRPr lang="es-CO"/>
        </a:p>
      </dgm:t>
    </dgm:pt>
    <dgm:pt modelId="{A1CADED9-1063-4A9D-A545-E01120DCE971}" type="pres">
      <dgm:prSet presAssocID="{9BDB5085-13F8-463B-ACB6-3866C4ECD9E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B592F330-30BE-4193-8778-5B25E42A3AB2}" type="pres">
      <dgm:prSet presAssocID="{0E35EBD4-1A15-4381-9E1E-4DF55EADA53D}" presName="node" presStyleLbl="node1" presStyleIdx="0" presStyleCnt="3" custScaleX="40190" custScaleY="22370" custLinFactNeighborX="868" custLinFactNeighborY="-687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A3513DB9-F1CC-466A-99D8-7BA4FA871FBA}" type="pres">
      <dgm:prSet presAssocID="{A798DC1B-8C70-4DA3-A253-0234EF5045D3}" presName="sibTrans" presStyleCnt="0"/>
      <dgm:spPr/>
    </dgm:pt>
    <dgm:pt modelId="{D251D2EE-6799-4DA6-B2D6-6ABCF8513CB1}" type="pres">
      <dgm:prSet presAssocID="{8C18CE4F-2C55-4696-9FB3-9B74A9C608A1}" presName="node" presStyleLbl="node1" presStyleIdx="1" presStyleCnt="3" custScaleX="24840" custScaleY="26425" custLinFactNeighborX="-2875" custLinFactNeighborY="-3527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2D68DE2-87CA-4182-BAA9-51425AA54ABD}" type="pres">
      <dgm:prSet presAssocID="{0CBDEB10-9E93-4791-80C5-E94ECF763EFE}" presName="sibTrans" presStyleCnt="0"/>
      <dgm:spPr/>
    </dgm:pt>
    <dgm:pt modelId="{AF5CE704-53F4-4A6C-8F93-660F1F39C457}" type="pres">
      <dgm:prSet presAssocID="{36BA467F-54E9-46B6-BB30-AC20A75110E0}" presName="node" presStyleLbl="node1" presStyleIdx="2" presStyleCnt="3" custScaleX="32347" custScaleY="22146" custLinFactNeighborX="794" custLinFactNeighborY="-23882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1BE11453-37C1-4496-A581-01C9BE7818A9}" type="presOf" srcId="{36BA467F-54E9-46B6-BB30-AC20A75110E0}" destId="{AF5CE704-53F4-4A6C-8F93-660F1F39C457}" srcOrd="0" destOrd="0" presId="urn:microsoft.com/office/officeart/2005/8/layout/default"/>
    <dgm:cxn modelId="{DE31BD80-4931-4BBA-8DC2-5FDA62924C2A}" srcId="{9BDB5085-13F8-463B-ACB6-3866C4ECD9ED}" destId="{0E35EBD4-1A15-4381-9E1E-4DF55EADA53D}" srcOrd="0" destOrd="0" parTransId="{146562CC-2BBB-4530-A742-8EF0AB19A0A3}" sibTransId="{A798DC1B-8C70-4DA3-A253-0234EF5045D3}"/>
    <dgm:cxn modelId="{04DC6D85-FFA1-426D-9672-FC9100DA3582}" type="presOf" srcId="{9BDB5085-13F8-463B-ACB6-3866C4ECD9ED}" destId="{A1CADED9-1063-4A9D-A545-E01120DCE971}" srcOrd="0" destOrd="0" presId="urn:microsoft.com/office/officeart/2005/8/layout/default"/>
    <dgm:cxn modelId="{89330B5A-E90F-4730-8FDA-C19EE9C3D6E9}" srcId="{9BDB5085-13F8-463B-ACB6-3866C4ECD9ED}" destId="{8C18CE4F-2C55-4696-9FB3-9B74A9C608A1}" srcOrd="1" destOrd="0" parTransId="{F0142A4E-9747-4B9D-B959-C66641364FB0}" sibTransId="{0CBDEB10-9E93-4791-80C5-E94ECF763EFE}"/>
    <dgm:cxn modelId="{3B856AA3-53ED-4581-AABB-26C1D553573F}" type="presOf" srcId="{0E35EBD4-1A15-4381-9E1E-4DF55EADA53D}" destId="{B592F330-30BE-4193-8778-5B25E42A3AB2}" srcOrd="0" destOrd="0" presId="urn:microsoft.com/office/officeart/2005/8/layout/default"/>
    <dgm:cxn modelId="{C345A235-EFA0-42B0-AE84-4AEED2223EBE}" srcId="{9BDB5085-13F8-463B-ACB6-3866C4ECD9ED}" destId="{36BA467F-54E9-46B6-BB30-AC20A75110E0}" srcOrd="2" destOrd="0" parTransId="{28DE7019-0943-4CEE-8B09-E14A03E6DE39}" sibTransId="{EB7AD91C-8880-4F72-B50E-FCD1CE90233C}"/>
    <dgm:cxn modelId="{516AA8DF-5D13-4029-9FD8-AB5607C81DB9}" type="presOf" srcId="{8C18CE4F-2C55-4696-9FB3-9B74A9C608A1}" destId="{D251D2EE-6799-4DA6-B2D6-6ABCF8513CB1}" srcOrd="0" destOrd="0" presId="urn:microsoft.com/office/officeart/2005/8/layout/default"/>
    <dgm:cxn modelId="{98CEAC5E-802F-4D6E-99F8-F3963CB96776}" type="presParOf" srcId="{A1CADED9-1063-4A9D-A545-E01120DCE971}" destId="{B592F330-30BE-4193-8778-5B25E42A3AB2}" srcOrd="0" destOrd="0" presId="urn:microsoft.com/office/officeart/2005/8/layout/default"/>
    <dgm:cxn modelId="{F62379BC-E039-425D-9613-8D28A306F1AB}" type="presParOf" srcId="{A1CADED9-1063-4A9D-A545-E01120DCE971}" destId="{A3513DB9-F1CC-466A-99D8-7BA4FA871FBA}" srcOrd="1" destOrd="0" presId="urn:microsoft.com/office/officeart/2005/8/layout/default"/>
    <dgm:cxn modelId="{2A002303-4982-45E3-A933-E1D7D7863AEA}" type="presParOf" srcId="{A1CADED9-1063-4A9D-A545-E01120DCE971}" destId="{D251D2EE-6799-4DA6-B2D6-6ABCF8513CB1}" srcOrd="2" destOrd="0" presId="urn:microsoft.com/office/officeart/2005/8/layout/default"/>
    <dgm:cxn modelId="{AB2809DC-84F7-47A1-BFA6-AF9BA9F6A5B0}" type="presParOf" srcId="{A1CADED9-1063-4A9D-A545-E01120DCE971}" destId="{B2D68DE2-87CA-4182-BAA9-51425AA54ABD}" srcOrd="3" destOrd="0" presId="urn:microsoft.com/office/officeart/2005/8/layout/default"/>
    <dgm:cxn modelId="{4E201B16-CA6F-48AE-BB6E-F3E82C48CA82}" type="presParOf" srcId="{A1CADED9-1063-4A9D-A545-E01120DCE971}" destId="{AF5CE704-53F4-4A6C-8F93-660F1F39C45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3C007-6E6F-4B08-BF8D-4E11B485BDCE}">
      <dsp:nvSpPr>
        <dsp:cNvPr id="0" name=""/>
        <dsp:cNvSpPr/>
      </dsp:nvSpPr>
      <dsp:spPr>
        <a:xfrm>
          <a:off x="4889784" y="3265230"/>
          <a:ext cx="2938289" cy="15365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Club de lectura, </a:t>
          </a:r>
          <a:r>
            <a:rPr lang="es-ES" sz="1400" kern="1200" dirty="0" err="1"/>
            <a:t>cuenter</a:t>
          </a:r>
          <a:r>
            <a:rPr lang="es-ES" sz="1400" kern="1200" dirty="0"/>
            <a:t>@ estrella, producción de audiolibros, Bazar de Libros. </a:t>
          </a:r>
          <a:endParaRPr lang="es-CO" sz="1400" kern="1200" dirty="0"/>
        </a:p>
      </dsp:txBody>
      <dsp:txXfrm>
        <a:off x="5805025" y="3683129"/>
        <a:ext cx="1989294" cy="1084926"/>
      </dsp:txXfrm>
    </dsp:sp>
    <dsp:sp modelId="{B6D3A5E1-70BB-4D40-9E97-C068D878514E}">
      <dsp:nvSpPr>
        <dsp:cNvPr id="0" name=""/>
        <dsp:cNvSpPr/>
      </dsp:nvSpPr>
      <dsp:spPr>
        <a:xfrm>
          <a:off x="19391" y="3236204"/>
          <a:ext cx="3835486" cy="15365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Mayor hábito lector, fortalecimiento socioemocional, participación familiar, equidad en acceso</a:t>
          </a:r>
          <a:r>
            <a:rPr lang="es-ES" sz="1100" kern="1200" dirty="0"/>
            <a:t>.</a:t>
          </a:r>
          <a:endParaRPr lang="es-CO" sz="1100" kern="1200" dirty="0"/>
        </a:p>
      </dsp:txBody>
      <dsp:txXfrm>
        <a:off x="53145" y="3654103"/>
        <a:ext cx="2617332" cy="1084926"/>
      </dsp:txXfrm>
    </dsp:sp>
    <dsp:sp modelId="{758870EE-8955-4DA0-9300-F3DA1AEE37C8}">
      <dsp:nvSpPr>
        <dsp:cNvPr id="0" name=""/>
        <dsp:cNvSpPr/>
      </dsp:nvSpPr>
      <dsp:spPr>
        <a:xfrm>
          <a:off x="4870037" y="67640"/>
          <a:ext cx="3048520" cy="15365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600" kern="1200" dirty="0"/>
            <a:t>Zona rural de Chillurco: 10 sedes, limitaciones de recursos, identidad campesina.</a:t>
          </a:r>
        </a:p>
      </dsp:txBody>
      <dsp:txXfrm>
        <a:off x="5818347" y="101394"/>
        <a:ext cx="2066456" cy="1084926"/>
      </dsp:txXfrm>
    </dsp:sp>
    <dsp:sp modelId="{5E0D504E-7423-4F9F-979E-84FE823E9E3C}">
      <dsp:nvSpPr>
        <dsp:cNvPr id="0" name=""/>
        <dsp:cNvSpPr/>
      </dsp:nvSpPr>
      <dsp:spPr>
        <a:xfrm>
          <a:off x="106" y="67624"/>
          <a:ext cx="2945144" cy="15365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s-ES" sz="1400" kern="1200" dirty="0"/>
            <a:t>Modelo pedagógico sociocrítico y enfoque de formación integral</a:t>
          </a:r>
          <a:endParaRPr lang="es-CO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s-ES" sz="1400" kern="1200" dirty="0"/>
            <a:t>Fomento de lectura, escritura y oralidad como competencias para la vida.</a:t>
          </a:r>
          <a:endParaRPr lang="es-CO" sz="1400" kern="1200" dirty="0"/>
        </a:p>
      </dsp:txBody>
      <dsp:txXfrm>
        <a:off x="33860" y="101378"/>
        <a:ext cx="1994093" cy="1084926"/>
      </dsp:txXfrm>
    </dsp:sp>
    <dsp:sp modelId="{41244DB1-75D3-4ECD-9D12-ADAE50302370}">
      <dsp:nvSpPr>
        <dsp:cNvPr id="0" name=""/>
        <dsp:cNvSpPr/>
      </dsp:nvSpPr>
      <dsp:spPr>
        <a:xfrm>
          <a:off x="1828799" y="273703"/>
          <a:ext cx="2156841" cy="2079183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b="1" kern="1200" dirty="0"/>
            <a:t>FUNDAMENTACIÓN</a:t>
          </a:r>
          <a:r>
            <a:rPr lang="es-ES" sz="1050" kern="1200" dirty="0"/>
            <a:t>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100" i="1" kern="1200" dirty="0"/>
            <a:t>(¿En qué nos apoyamos?)</a:t>
          </a:r>
          <a:endParaRPr lang="es-CO" sz="1100" kern="1200" dirty="0"/>
        </a:p>
      </dsp:txBody>
      <dsp:txXfrm>
        <a:off x="2460523" y="882682"/>
        <a:ext cx="1525117" cy="1470204"/>
      </dsp:txXfrm>
    </dsp:sp>
    <dsp:sp modelId="{29E5E9DD-0C62-4429-B9E7-36E022443E32}">
      <dsp:nvSpPr>
        <dsp:cNvPr id="0" name=""/>
        <dsp:cNvSpPr/>
      </dsp:nvSpPr>
      <dsp:spPr>
        <a:xfrm rot="5400000">
          <a:off x="4042848" y="273703"/>
          <a:ext cx="2079183" cy="2079183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/>
            <a:t>CONTEXTO</a:t>
          </a:r>
          <a:r>
            <a:rPr lang="es-ES" sz="1800" kern="1200" dirty="0"/>
            <a:t>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kern="1200" dirty="0"/>
            <a:t>(¿Dónde y con quién lo hacemos?)</a:t>
          </a:r>
          <a:endParaRPr lang="es-CO" sz="1200" kern="1200" dirty="0"/>
        </a:p>
      </dsp:txBody>
      <dsp:txXfrm rot="-5400000">
        <a:off x="4042848" y="882682"/>
        <a:ext cx="1470204" cy="1470204"/>
      </dsp:txXfrm>
    </dsp:sp>
    <dsp:sp modelId="{C786BBDE-9510-4D6A-8C70-44C1C84AC96A}">
      <dsp:nvSpPr>
        <dsp:cNvPr id="0" name=""/>
        <dsp:cNvSpPr/>
      </dsp:nvSpPr>
      <dsp:spPr>
        <a:xfrm rot="10800000">
          <a:off x="4042848" y="2448923"/>
          <a:ext cx="2079183" cy="2079183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/>
            <a:t>METODOLOGÍA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400" kern="1200" dirty="0"/>
            <a:t>(¿Cómo lo hacemos?)</a:t>
          </a:r>
        </a:p>
      </dsp:txBody>
      <dsp:txXfrm rot="10800000">
        <a:off x="4042848" y="2448923"/>
        <a:ext cx="1470204" cy="1470204"/>
      </dsp:txXfrm>
    </dsp:sp>
    <dsp:sp modelId="{C856F1ED-D74A-47EF-856C-0D85E46984CF}">
      <dsp:nvSpPr>
        <dsp:cNvPr id="0" name=""/>
        <dsp:cNvSpPr/>
      </dsp:nvSpPr>
      <dsp:spPr>
        <a:xfrm rot="16200000">
          <a:off x="1867628" y="2448923"/>
          <a:ext cx="2079183" cy="2079183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/>
            <a:t>RESULTADOS ESPERADOS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400" kern="1200" dirty="0"/>
            <a:t>(¿Qué buscamos lograr?)</a:t>
          </a:r>
        </a:p>
      </dsp:txBody>
      <dsp:txXfrm rot="5400000">
        <a:off x="2476607" y="2448923"/>
        <a:ext cx="1470204" cy="1470204"/>
      </dsp:txXfrm>
    </dsp:sp>
    <dsp:sp modelId="{8D3AAADC-4DE2-4F55-A4A1-EB90D6FF9697}">
      <dsp:nvSpPr>
        <dsp:cNvPr id="0" name=""/>
        <dsp:cNvSpPr/>
      </dsp:nvSpPr>
      <dsp:spPr>
        <a:xfrm>
          <a:off x="3635895" y="1968742"/>
          <a:ext cx="717870" cy="62423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3C180-B634-4C71-8897-41B2B4ED4D22}">
      <dsp:nvSpPr>
        <dsp:cNvPr id="0" name=""/>
        <dsp:cNvSpPr/>
      </dsp:nvSpPr>
      <dsp:spPr>
        <a:xfrm rot="10800000">
          <a:off x="3635895" y="2208832"/>
          <a:ext cx="717870" cy="624235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36445-1918-4621-A4BD-48E025819EE9}">
      <dsp:nvSpPr>
        <dsp:cNvPr id="0" name=""/>
        <dsp:cNvSpPr/>
      </dsp:nvSpPr>
      <dsp:spPr>
        <a:xfrm>
          <a:off x="0" y="710976"/>
          <a:ext cx="8128000" cy="1183746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879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2020 Nivel de Transición. </a:t>
          </a:r>
          <a:endParaRPr lang="es-CO" sz="1300" kern="1200" dirty="0"/>
        </a:p>
      </dsp:txBody>
      <dsp:txXfrm>
        <a:off x="0" y="1006913"/>
        <a:ext cx="7832064" cy="591873"/>
      </dsp:txXfrm>
    </dsp:sp>
    <dsp:sp modelId="{D76506B3-F2A6-4522-8DD1-BF1D574B258D}">
      <dsp:nvSpPr>
        <dsp:cNvPr id="0" name=""/>
        <dsp:cNvSpPr/>
      </dsp:nvSpPr>
      <dsp:spPr>
        <a:xfrm>
          <a:off x="0" y="1647691"/>
          <a:ext cx="2503424" cy="2280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Inicio de la experiencia con un grupo piloto, fortaleciendo hábitos lectores en la primera infancia.</a:t>
          </a:r>
          <a:endParaRPr lang="es-CO" sz="1300" kern="1200" dirty="0"/>
        </a:p>
      </dsp:txBody>
      <dsp:txXfrm>
        <a:off x="0" y="1647691"/>
        <a:ext cx="2503424" cy="2280331"/>
      </dsp:txXfrm>
    </dsp:sp>
    <dsp:sp modelId="{CC2C70CE-2BF5-4C8C-BF57-051160CAB3BC}">
      <dsp:nvSpPr>
        <dsp:cNvPr id="0" name=""/>
        <dsp:cNvSpPr/>
      </dsp:nvSpPr>
      <dsp:spPr>
        <a:xfrm>
          <a:off x="2503423" y="1129434"/>
          <a:ext cx="5624576" cy="1183746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879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2023 Nivel de Primaria. </a:t>
          </a:r>
          <a:endParaRPr lang="es-CO" sz="1300" kern="1200" dirty="0"/>
        </a:p>
      </dsp:txBody>
      <dsp:txXfrm>
        <a:off x="2503423" y="1425371"/>
        <a:ext cx="5328640" cy="591873"/>
      </dsp:txXfrm>
    </dsp:sp>
    <dsp:sp modelId="{56C5A141-E752-442C-9F9A-9E22C0980708}">
      <dsp:nvSpPr>
        <dsp:cNvPr id="0" name=""/>
        <dsp:cNvSpPr/>
      </dsp:nvSpPr>
      <dsp:spPr>
        <a:xfrm>
          <a:off x="2488904" y="2013245"/>
          <a:ext cx="2503424" cy="2280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Replanteamiento metodológico para impactar desde 1.º a 5.º, integrando actividades como </a:t>
          </a:r>
          <a:r>
            <a:rPr lang="es-ES" sz="1300" kern="1200" dirty="0" err="1"/>
            <a:t>cuenter</a:t>
          </a:r>
          <a:r>
            <a:rPr lang="es-ES" sz="1300" kern="1200" dirty="0"/>
            <a:t>@ estrella, producción con materiales reciclados y rotación de libros. </a:t>
          </a:r>
          <a:endParaRPr lang="es-CO" sz="1300" kern="1200" dirty="0"/>
        </a:p>
      </dsp:txBody>
      <dsp:txXfrm>
        <a:off x="2488904" y="2013245"/>
        <a:ext cx="2503424" cy="2280331"/>
      </dsp:txXfrm>
    </dsp:sp>
    <dsp:sp modelId="{C26A37D6-0A73-4BB6-A141-39EF682640B9}">
      <dsp:nvSpPr>
        <dsp:cNvPr id="0" name=""/>
        <dsp:cNvSpPr/>
      </dsp:nvSpPr>
      <dsp:spPr>
        <a:xfrm>
          <a:off x="5006848" y="1524016"/>
          <a:ext cx="3121152" cy="1183746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254000" bIns="1879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2025 Nivel de Secundaria.</a:t>
          </a:r>
          <a:endParaRPr lang="es-CO" sz="1300" kern="1200" dirty="0"/>
        </a:p>
      </dsp:txBody>
      <dsp:txXfrm>
        <a:off x="5006848" y="1819953"/>
        <a:ext cx="2825216" cy="591873"/>
      </dsp:txXfrm>
    </dsp:sp>
    <dsp:sp modelId="{45DD5616-D7FA-4864-BD50-E4E5AD70DE9A}">
      <dsp:nvSpPr>
        <dsp:cNvPr id="0" name=""/>
        <dsp:cNvSpPr/>
      </dsp:nvSpPr>
      <dsp:spPr>
        <a:xfrm>
          <a:off x="5006848" y="2436855"/>
          <a:ext cx="2503424" cy="22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300" kern="1200" dirty="0"/>
            <a:t>Inclusión de secundaria (6.º a 11.º) con club de lectura, podcast y proyectos interdisciplinares. Articulación de la experiencia significativa con los Planes de Área y con el C.I. de LEO Explora. </a:t>
          </a:r>
          <a:endParaRPr lang="es-CO" sz="1300" kern="1200" dirty="0"/>
        </a:p>
      </dsp:txBody>
      <dsp:txXfrm>
        <a:off x="5006848" y="2436855"/>
        <a:ext cx="2503424" cy="22469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FF741-987F-4F43-8685-178D66A2137E}">
      <dsp:nvSpPr>
        <dsp:cNvPr id="0" name=""/>
        <dsp:cNvSpPr/>
      </dsp:nvSpPr>
      <dsp:spPr>
        <a:xfrm>
          <a:off x="609599" y="0"/>
          <a:ext cx="6908800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58C4D-61E0-40CA-B831-966B8E475340}">
      <dsp:nvSpPr>
        <dsp:cNvPr id="0" name=""/>
        <dsp:cNvSpPr/>
      </dsp:nvSpPr>
      <dsp:spPr>
        <a:xfrm>
          <a:off x="4067" y="1625600"/>
          <a:ext cx="195659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b="1" kern="1200" dirty="0"/>
            <a:t>Propuesta: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objetivos, justificación y articulación al PEI</a:t>
          </a:r>
          <a:endParaRPr lang="es-CO" sz="1400" b="0" kern="1200" dirty="0"/>
        </a:p>
      </dsp:txBody>
      <dsp:txXfrm>
        <a:off x="99580" y="1721113"/>
        <a:ext cx="1765567" cy="1976440"/>
      </dsp:txXfrm>
    </dsp:sp>
    <dsp:sp modelId="{C9B5C3B4-1F6C-4777-9640-DB0221EEE898}">
      <dsp:nvSpPr>
        <dsp:cNvPr id="0" name=""/>
        <dsp:cNvSpPr/>
      </dsp:nvSpPr>
      <dsp:spPr>
        <a:xfrm>
          <a:off x="2058491" y="1625600"/>
          <a:ext cx="195659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1" kern="1200" dirty="0"/>
            <a:t>Desarrollo: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0" kern="1200" dirty="0"/>
            <a:t>actividades clave (Club de lectura, </a:t>
          </a:r>
          <a:r>
            <a:rPr lang="es-ES" sz="1400" b="0" kern="1200" dirty="0" err="1"/>
            <a:t>Cuenter</a:t>
          </a:r>
          <a:r>
            <a:rPr lang="es-ES" sz="1400" b="0" kern="1200" dirty="0"/>
            <a:t>@ estrella, Bazar de Libros, Audiolibros)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1400" kern="1200" dirty="0"/>
        </a:p>
      </dsp:txBody>
      <dsp:txXfrm>
        <a:off x="2154004" y="1721113"/>
        <a:ext cx="1765567" cy="1976440"/>
      </dsp:txXfrm>
    </dsp:sp>
    <dsp:sp modelId="{16EDECBE-C76A-45C1-9D59-BF38E4287D4C}">
      <dsp:nvSpPr>
        <dsp:cNvPr id="0" name=""/>
        <dsp:cNvSpPr/>
      </dsp:nvSpPr>
      <dsp:spPr>
        <a:xfrm>
          <a:off x="4112914" y="1625600"/>
          <a:ext cx="195659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400" b="1" kern="1200" dirty="0"/>
            <a:t>Metodología: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0" kern="1200" dirty="0"/>
            <a:t>trabajo por periodos, rotación de libros, participación familiar</a:t>
          </a:r>
          <a:endParaRPr lang="es-CO" sz="1400" b="0" kern="1200" dirty="0"/>
        </a:p>
      </dsp:txBody>
      <dsp:txXfrm>
        <a:off x="4208427" y="1721113"/>
        <a:ext cx="1765567" cy="1976440"/>
      </dsp:txXfrm>
    </dsp:sp>
    <dsp:sp modelId="{EE379C51-E6ED-4164-9949-1EACB788449C}">
      <dsp:nvSpPr>
        <dsp:cNvPr id="0" name=""/>
        <dsp:cNvSpPr/>
      </dsp:nvSpPr>
      <dsp:spPr>
        <a:xfrm>
          <a:off x="6167338" y="1625600"/>
          <a:ext cx="1956593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400" b="1" kern="1200" dirty="0"/>
            <a:t>Resultados: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b="0" kern="1200" dirty="0"/>
            <a:t>productos finales, indicadores y competencias desarrolladas</a:t>
          </a:r>
          <a:endParaRPr lang="es-CO" sz="1400" b="0" kern="1200" dirty="0"/>
        </a:p>
      </dsp:txBody>
      <dsp:txXfrm>
        <a:off x="6262851" y="1721113"/>
        <a:ext cx="1765567" cy="19764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2F330-30BE-4193-8778-5B25E42A3AB2}">
      <dsp:nvSpPr>
        <dsp:cNvPr id="0" name=""/>
        <dsp:cNvSpPr/>
      </dsp:nvSpPr>
      <dsp:spPr>
        <a:xfrm>
          <a:off x="1404148" y="0"/>
          <a:ext cx="4226219" cy="14114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b="1" kern="1200" dirty="0"/>
            <a:t>Elementos conceptuales</a:t>
          </a:r>
          <a:endParaRPr lang="es-CO" sz="2800" kern="1200" dirty="0"/>
        </a:p>
      </dsp:txBody>
      <dsp:txXfrm>
        <a:off x="1404148" y="0"/>
        <a:ext cx="4226219" cy="1411403"/>
      </dsp:txXfrm>
    </dsp:sp>
    <dsp:sp modelId="{D251D2EE-6799-4DA6-B2D6-6ABCF8513CB1}">
      <dsp:nvSpPr>
        <dsp:cNvPr id="0" name=""/>
        <dsp:cNvSpPr/>
      </dsp:nvSpPr>
      <dsp:spPr>
        <a:xfrm>
          <a:off x="6288328" y="0"/>
          <a:ext cx="2612075" cy="16672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400" b="1" kern="1200" dirty="0"/>
            <a:t>Elementos metodológicos</a:t>
          </a:r>
        </a:p>
      </dsp:txBody>
      <dsp:txXfrm>
        <a:off x="6288328" y="0"/>
        <a:ext cx="2612075" cy="1667248"/>
      </dsp:txXfrm>
    </dsp:sp>
    <dsp:sp modelId="{AF5CE704-53F4-4A6C-8F93-660F1F39C457}">
      <dsp:nvSpPr>
        <dsp:cNvPr id="0" name=""/>
        <dsp:cNvSpPr/>
      </dsp:nvSpPr>
      <dsp:spPr>
        <a:xfrm>
          <a:off x="3640553" y="1329636"/>
          <a:ext cx="3401481" cy="13972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400" b="1" kern="1200" dirty="0"/>
            <a:t>Trascendencia e investigación</a:t>
          </a:r>
        </a:p>
      </dsp:txBody>
      <dsp:txXfrm>
        <a:off x="3640553" y="1329636"/>
        <a:ext cx="3401481" cy="1397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mu6wQkE8pHwQHs4-aWE4hIFhPb_RFQ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0D25413-4424-66C4-A842-73A6885B9BCA}"/>
              </a:ext>
            </a:extLst>
          </p:cNvPr>
          <p:cNvSpPr/>
          <p:nvPr/>
        </p:nvSpPr>
        <p:spPr>
          <a:xfrm>
            <a:off x="2002603" y="741253"/>
            <a:ext cx="8503920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EXPERIENCIA SIGNIFICATIVA </a:t>
            </a:r>
          </a:p>
          <a:p>
            <a:pPr algn="ctr"/>
            <a:r>
              <a:rPr lang="es-E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SALVADOS POR UN LIBRO (Vincular, imaginar, crear, expresar)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E71F0CDC-CFAE-0E13-3136-556B1E0AA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39" y="2941320"/>
            <a:ext cx="3582408" cy="34528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9E4751E-A22F-8A26-CB4F-8CDDF14B41D6}"/>
              </a:ext>
            </a:extLst>
          </p:cNvPr>
          <p:cNvSpPr txBox="1"/>
          <p:nvPr/>
        </p:nvSpPr>
        <p:spPr>
          <a:xfrm>
            <a:off x="4373880" y="4283273"/>
            <a:ext cx="4510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HENRY MURCIA ZAMBRANO </a:t>
            </a:r>
          </a:p>
          <a:p>
            <a:r>
              <a:rPr lang="es-ES" dirty="0"/>
              <a:t>Líder de la Experiencia </a:t>
            </a:r>
          </a:p>
          <a:p>
            <a:r>
              <a:rPr lang="es-ES" dirty="0"/>
              <a:t>CLAUDIA CIRLEY LOPEZ CAMACHO </a:t>
            </a:r>
          </a:p>
          <a:p>
            <a:r>
              <a:rPr lang="es-ES" dirty="0"/>
              <a:t>Tutora PTA FI 3.0 </a:t>
            </a:r>
          </a:p>
          <a:p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2390734-F032-E249-05D0-D858C3754838}"/>
              </a:ext>
            </a:extLst>
          </p:cNvPr>
          <p:cNvSpPr txBox="1"/>
          <p:nvPr/>
        </p:nvSpPr>
        <p:spPr>
          <a:xfrm>
            <a:off x="4373880" y="560671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smtClean="0"/>
              <a:t> </a:t>
            </a:r>
            <a:endParaRPr lang="es-CO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ED0D540-0C7E-D6D0-8D05-2C17BAFA1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075" y="3858363"/>
            <a:ext cx="3414064" cy="20561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CC5AEB0-7942-54C5-FDFF-B0A19B45E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93" y="90201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3570866-6ED2-44C5-6AC0-722029968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ES" sz="7200" b="1" dirty="0"/>
              <a:t>FUNDAMENTACIÓN</a:t>
            </a:r>
            <a:endParaRPr lang="es-CO" sz="72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6ECCF9-11BE-AFA3-0E43-7E0AD9487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31219A-0DCC-D2A5-5E80-F19E9757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3200" b="1" dirty="0"/>
              <a:t>Articulación al Proyecto Educativo Institucional (PEI) – Experiencia Significativa “Salvados por un Libro”</a:t>
            </a:r>
            <a:endParaRPr lang="es-CO" sz="3200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291CB67-42AE-0F54-12BB-AB9133C58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137149"/>
              </p:ext>
            </p:extLst>
          </p:nvPr>
        </p:nvGraphicFramePr>
        <p:xfrm>
          <a:off x="1116622" y="1821991"/>
          <a:ext cx="10237178" cy="4868272"/>
        </p:xfrm>
        <a:graphic>
          <a:graphicData uri="http://schemas.openxmlformats.org/drawingml/2006/table">
            <a:tbl>
              <a:tblPr/>
              <a:tblGrid>
                <a:gridCol w="4863764">
                  <a:extLst>
                    <a:ext uri="{9D8B030D-6E8A-4147-A177-3AD203B41FA5}">
                      <a16:colId xmlns:a16="http://schemas.microsoft.com/office/drawing/2014/main" val="3159380944"/>
                    </a:ext>
                  </a:extLst>
                </a:gridCol>
                <a:gridCol w="5373414">
                  <a:extLst>
                    <a:ext uri="{9D8B030D-6E8A-4147-A177-3AD203B41FA5}">
                      <a16:colId xmlns:a16="http://schemas.microsoft.com/office/drawing/2014/main" val="116034821"/>
                    </a:ext>
                  </a:extLst>
                </a:gridCol>
              </a:tblGrid>
              <a:tr h="564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600" b="1" dirty="0"/>
                        <a:t>Elemento del PEI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 dirty="0"/>
                        <a:t>Acción concreta de la experiencia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058863"/>
                  </a:ext>
                </a:extLst>
              </a:tr>
              <a:tr h="896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dirty="0"/>
                        <a:t>Misión</a:t>
                      </a:r>
                      <a:r>
                        <a:rPr lang="es-ES" sz="1600" dirty="0"/>
                        <a:t> (Formar integralmente con calidad e inclusión en contexto rural)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Actividades de lectura, escritura y oralidad en todas las sedes rurales, integrando a la familia.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657383"/>
                  </a:ext>
                </a:extLst>
              </a:tr>
              <a:tr h="896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dirty="0"/>
                        <a:t>Visión</a:t>
                      </a:r>
                      <a:r>
                        <a:rPr lang="es-ES" sz="1600" dirty="0"/>
                        <a:t> (Ser referente rural en educación integral)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Bazar de Libros con participación de toda la comunidad y producción de audiolibros.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182681"/>
                  </a:ext>
                </a:extLst>
              </a:tr>
              <a:tr h="627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 dirty="0"/>
                        <a:t>Valores y principios</a:t>
                      </a:r>
                      <a:r>
                        <a:rPr lang="es-ES" sz="1600" dirty="0"/>
                        <a:t> (Respeto, solidaridad, participación)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Reconocimiento del </a:t>
                      </a:r>
                      <a:r>
                        <a:rPr lang="es-ES" sz="1600" dirty="0" err="1"/>
                        <a:t>cuenter</a:t>
                      </a:r>
                      <a:r>
                        <a:rPr lang="es-ES" sz="1600" dirty="0"/>
                        <a:t>@ estrella y trabajo en equipo </a:t>
                      </a:r>
                      <a:r>
                        <a:rPr lang="es-ES" sz="1600" dirty="0" err="1"/>
                        <a:t>intersedes</a:t>
                      </a:r>
                      <a:r>
                        <a:rPr lang="es-ES" sz="16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592202"/>
                  </a:ext>
                </a:extLst>
              </a:tr>
              <a:tr h="627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 dirty="0"/>
                        <a:t>Modelo sociocrítico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Club de lectura y creación literaria con enfoque crítico y transformador.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83013"/>
                  </a:ext>
                </a:extLst>
              </a:tr>
              <a:tr h="627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/>
                        <a:t>Inclusión y equidad</a:t>
                      </a:r>
                      <a:endParaRPr lang="es-CO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Rotación de libros, materiales reciclados, adaptaciones para NEE.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355341"/>
                  </a:ext>
                </a:extLst>
              </a:tr>
              <a:tr h="627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600" b="1"/>
                        <a:t>Contexto rural de Chillurco</a:t>
                      </a:r>
                      <a:endParaRPr lang="es-CO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dirty="0"/>
                        <a:t>Producciones que rescatan identidad campesina y tradición oral.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882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DA6206D-BE13-0A51-5AA7-35D1BF0AB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788" y="325891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968F-9EE3-85EE-50C2-DEFE4ED8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DE84BF1-D77E-AD26-0A2B-FDBF74747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A07616F-4803-0656-C585-4E5588474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368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2000" dirty="0"/>
              <a:t>“Esta experiencia materializa la misión de nuestra institución: formar integralmente desde la ruralidad. Llevamos lectura y expresión a todas las sedes, fortaleciendo identidad campesina y lazos comunitarios, en coherencia con el modelo sociocrítico del PEI.”</a:t>
            </a:r>
            <a:endParaRPr lang="es-CO" sz="2000" b="1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3AEF33C-EEBF-608E-3A5A-4816F7029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794" y="1559921"/>
            <a:ext cx="3685646" cy="2764234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69F41A7-88E7-7057-E9AD-3763FF7061C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325" y="604141"/>
            <a:ext cx="2069871" cy="36815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A339460-FF83-482F-0773-B69357A240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619" y="1481570"/>
            <a:ext cx="2195821" cy="291803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00E9561-C7E1-A7BB-5370-12732229B0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66" y="1057386"/>
            <a:ext cx="2117178" cy="28135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7CC84E6-C94E-A92D-0B44-A0C9AFB0A1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399" y="156007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5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B671-C0BE-2F3A-D295-BCA6FAC1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FEE642-DA37-64C0-20FF-6DFB30B6E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EA094E-F9AA-53DE-52AB-DC62BDE7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39" y="63731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/>
              <a:t>Aplicación del modelo sociocrítico en la experiencia</a:t>
            </a:r>
            <a:endParaRPr lang="es-CO" sz="3600" b="1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D5C57D7-22DD-EC37-5551-8ECEA494C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289106"/>
              </p:ext>
            </p:extLst>
          </p:nvPr>
        </p:nvGraphicFramePr>
        <p:xfrm>
          <a:off x="1091961" y="1825625"/>
          <a:ext cx="10008078" cy="4699858"/>
        </p:xfrm>
        <a:graphic>
          <a:graphicData uri="http://schemas.openxmlformats.org/drawingml/2006/table">
            <a:tbl>
              <a:tblPr/>
              <a:tblGrid>
                <a:gridCol w="3336026">
                  <a:extLst>
                    <a:ext uri="{9D8B030D-6E8A-4147-A177-3AD203B41FA5}">
                      <a16:colId xmlns:a16="http://schemas.microsoft.com/office/drawing/2014/main" val="1125069369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2521375833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2614969003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Principio del PEI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/>
                        <a:t>Acción en la experiencia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Evidencia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311023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/>
                        <a:t>Aprendizaje significativo y participación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/>
                        <a:t>Club de lectura y debates literarios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Productos: podcast y audiolibros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67708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/>
                        <a:t>Diálogo escuela-familia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Reconocimiento “</a:t>
                      </a:r>
                      <a:r>
                        <a:rPr lang="es-ES" sz="1700" dirty="0" err="1"/>
                        <a:t>Cuenter</a:t>
                      </a:r>
                      <a:r>
                        <a:rPr lang="es-ES" sz="1700" dirty="0"/>
                        <a:t>@ estrella” y creación familiar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Registro en cuaderno </a:t>
                      </a:r>
                      <a:r>
                        <a:rPr lang="es-ES" sz="1700" i="1" dirty="0"/>
                        <a:t>Érase una vez</a:t>
                      </a:r>
                      <a:endParaRPr lang="es-ES" sz="170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032395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/>
                        <a:t>Integralidad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 dirty="0"/>
                        <a:t>Bazar de Libros (lectura, escritura, oralidad)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Evento institucional con todas las sedes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6568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700"/>
                        <a:t>Equidad en acceso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/>
                        <a:t>Rotación de libros cada 2 semanas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/>
                        <a:t>Control y seguimiento de lectura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127728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5D5B1C5A-0803-CFB5-34FA-D7C5C3FD0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8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C430-AFEB-33F8-708B-C8730D36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B11000-F3E4-4CEA-A023-B5C43A07A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8F22706-35B5-BFEF-C978-5DC12E34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O" sz="2800" dirty="0"/>
              <a:t>Una Experiencia Significativa… Para todos</a:t>
            </a:r>
            <a:endParaRPr lang="es-CO" sz="28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934C1C-2385-3EC1-0A63-D7C228D08C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3565"/>
            <a:ext cx="676728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Inclusión: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Uso de materiales reciclados, adaptaciones creativas para NEE, actividades accesibles para todas las sedes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Equidad: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Rotación de libros, acceso igualitario a recursos y experiencias.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Socioemocional: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Reconocimiento público del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cuenter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 estrella, expresión de virtudes y habilidades, fortalecimiento del sentido de pertenencia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Indicadores: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de estudiantes con ≥1 producto por periodo.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 las familias involucradas por sede.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Aproximadamente 120 producciones inclusivas (cuentos escritos, audiolibros, adaptaciones).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2DBA2E-E4E3-EC0D-48B9-458A9EEDB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979" y="365125"/>
            <a:ext cx="1158875" cy="13255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5EB24BA-174A-1702-8CD4-90876B7849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61" y="3797223"/>
            <a:ext cx="4010539" cy="22539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8EAC8D7-BCB7-71E2-FBCA-90529DB71F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612756" y="1843267"/>
            <a:ext cx="2516659" cy="188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68B5-79C1-E8FC-292C-E8000ECC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51490D-EC1A-BE76-5620-8E74DA53E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14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32BC91-1BB6-5E75-4F97-2EA5CD961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39" y="63731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/>
              <a:t>Respuesta a la realidad del Corregimiento de  Chillurco</a:t>
            </a:r>
            <a:endParaRPr lang="es-CO" sz="3600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2FAA3C-5F0B-9EF3-5A9D-F2BE428AF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1D7704D-F3B3-E2FA-0CA0-CA003B51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101779"/>
              </p:ext>
            </p:extLst>
          </p:nvPr>
        </p:nvGraphicFramePr>
        <p:xfrm>
          <a:off x="838200" y="2144283"/>
          <a:ext cx="10515600" cy="329544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123430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815055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20371213"/>
                    </a:ext>
                  </a:extLst>
                </a:gridCol>
              </a:tblGrid>
              <a:tr h="480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/>
                        <a:t>Problemática PEI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/>
                        <a:t>Respuesta del proyecto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Potencialidad activada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134941"/>
                  </a:ext>
                </a:extLst>
              </a:tr>
              <a:tr h="840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Limitación de recursos y conectividad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Materiales reciclados, cuadernos colectivos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Creatividad y aprovechamiento de recursos locales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82533"/>
                  </a:ext>
                </a:extLst>
              </a:tr>
              <a:tr h="840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Desigualdad de acceso a libros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Rotación de obras y bazar itinerante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Lazos intersedes y circulación cultural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13102"/>
                  </a:ext>
                </a:extLst>
              </a:tr>
              <a:tr h="840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Riesgo de baja continuidad escolar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Actividades motivadoras y familiares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Identidad campesina y tradición 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6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018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C335-8E3E-3096-57D8-0AEB198D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58BC106-C2F3-B5BC-9866-F9A5B3746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8E4A12-B4C1-4F83-FADE-E1412029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ES" sz="7200" b="1" dirty="0"/>
              <a:t>PERTINENCIA</a:t>
            </a:r>
            <a:endParaRPr lang="es-CO" sz="72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07C456-DBC0-3228-A3EE-A69CE0C84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9080-559B-B24F-7FA9-C29567B0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FD8C68-DDCC-487C-7908-DB8EF6674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F636D5D-08C8-18B6-9EEC-A1D8DE0A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39" y="63731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/>
              <a:t>Pertinencia de la Experiencia Significativa</a:t>
            </a:r>
            <a:endParaRPr lang="es-CO" sz="3600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5FE4CAA-6360-5F62-F910-A0C897C16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879A482-BAD8-53F2-4F99-A448CE00B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367852"/>
              </p:ext>
            </p:extLst>
          </p:nvPr>
        </p:nvGraphicFramePr>
        <p:xfrm>
          <a:off x="995816" y="1962880"/>
          <a:ext cx="10515600" cy="4114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018589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184061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1518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b="1" dirty="0"/>
                        <a:t>Problemática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b="1"/>
                        <a:t>Causas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b="1" dirty="0"/>
                        <a:t>Respuesta del Proyecto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37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Bajo hábito lector y poca motivación en estudiantes rurales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Escasa disponibilidad de libros, conectividad limitada, actividades poco atractivas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Club de lectura, Bazar de Libros, cuenter@ estrella, producción de audiolibros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733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Poca participación de familias en procesos escolares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Jornadas laborales extensas, distancia entre sedes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Actividades familiares (creación de cuentos, representaciones, mochilas recicladas)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96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Desigual acceso a recursos educativos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Limitaciones económicas y geográficas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Rotación de libros cada 2 semanas, uso de materiales reciclados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53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15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34F2C-1AF9-4140-DC31-64D63FDB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9BFF5B-7F0D-B6B4-BE85-E64651F82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797FB8-459F-C3D7-D6AE-C11E1692A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ES" sz="7200" b="1" dirty="0"/>
              <a:t>CONSISTENCIA</a:t>
            </a:r>
            <a:endParaRPr lang="es-CO" sz="72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01D621-D24B-C941-F953-496144F74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3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3BAD-A73D-EF49-970C-3006FCD1C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879271-F20E-0EBC-EBEF-4D1F445F2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0B7C52-CE54-18DB-019B-54D230E2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Coherencia entre lo que pensamos, hacemos y logramos</a:t>
            </a:r>
            <a:endParaRPr lang="es-CO" sz="3600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F8F1B3-2A07-D00D-E461-79FD215A0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F4248D03-0E45-BB23-7F70-D9653BBF7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816001"/>
              </p:ext>
            </p:extLst>
          </p:nvPr>
        </p:nvGraphicFramePr>
        <p:xfrm>
          <a:off x="1959428" y="1439334"/>
          <a:ext cx="7989661" cy="4801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66225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E1077-805C-B34B-3A8D-E22F0B5C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AD7F44-897B-4DDA-CE18-7A0E186C2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9CE767-A423-D0EB-71AA-18E68997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ES" sz="7200" b="1" dirty="0"/>
              <a:t>MADUREZ</a:t>
            </a:r>
            <a:endParaRPr lang="es-CO" sz="72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33416D-D263-91D9-D7AB-9285D658C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1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2437-D4BC-AC87-8E55-9595D63A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6EC204-812C-3D2F-7755-870360748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C037377-343D-D913-B133-E12DA71B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8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ES" sz="3600" b="1" dirty="0"/>
              <a:t>Madurez de la experiencia: de un aula a toda la institución</a:t>
            </a:r>
            <a:endParaRPr lang="es-CO" sz="3600" b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4520B51-A133-B31E-9596-975788B55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60039CC-C08A-5677-2C4A-00A2DE5042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662559"/>
              </p:ext>
            </p:extLst>
          </p:nvPr>
        </p:nvGraphicFramePr>
        <p:xfrm>
          <a:off x="2032000" y="103898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38296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3890-D2DD-73BE-1BEF-DB755BFB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1264EC-B7AF-3AD3-6C4E-EA55DDFA4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992CD6C-9CCB-4BB1-CC20-0350447D7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EVALUACIÓN Y SEGUIMIENTO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1DB25C-E931-2C7C-993E-E86115872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5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7694-89CC-2872-FC0F-03D329BC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9CB0D9-16A1-98E7-AA97-AB2B1AC39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29353E-CFB1-948B-3A31-CA6660C8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Evaluación y seguimiento para el fortalecimiento de la experiencia</a:t>
            </a:r>
            <a:endParaRPr lang="es-CO" sz="36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926503-84B2-3636-C88B-8A9CD8B4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1. Implementación:</a:t>
            </a:r>
          </a:p>
          <a:p>
            <a:r>
              <a:rPr lang="es-ES" dirty="0"/>
              <a:t> Seguimiento en curso Observación sistemática en aulas y eventos (Bazar, Club de lectura).</a:t>
            </a:r>
          </a:p>
          <a:p>
            <a:r>
              <a:rPr lang="es-ES" dirty="0"/>
              <a:t>Control quincenal de lectura en todas las sedes, con rotación de libros. </a:t>
            </a:r>
          </a:p>
          <a:p>
            <a:r>
              <a:rPr lang="es-ES" dirty="0"/>
              <a:t>Revisión de productos por periodo (cuentos, mochilas recicladas, audiolibros).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B3D066D-9F12-188F-856E-0D9F945D7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356" y="181404"/>
            <a:ext cx="1021498" cy="11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7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2BE29-D6E5-3157-EAA8-9B47E328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7A31DDB-87F9-1EC6-3F27-2475CE76B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4B8B35-5E69-FD7E-EDA8-89FB5B53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Evaluación y seguimiento para el fortalecimiento de la experiencia</a:t>
            </a:r>
            <a:endParaRPr lang="es-CO" sz="36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DA5A9-8391-15C7-40F1-056F40B14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2. Resultados: </a:t>
            </a:r>
          </a:p>
          <a:p>
            <a:r>
              <a:rPr lang="es-ES" dirty="0"/>
              <a:t>Evaluación y análisis: Uso de rúbricas, listas de control y cuadernos de registro (Lectura Crítica, Érase una vez) </a:t>
            </a:r>
          </a:p>
          <a:p>
            <a:r>
              <a:rPr lang="es-ES" dirty="0"/>
              <a:t>Evidencias audiovisuales: fotografías, grabaciones y videos recopilatorios. </a:t>
            </a:r>
          </a:p>
          <a:p>
            <a:r>
              <a:rPr lang="es-ES" dirty="0"/>
              <a:t>Análisis inter sedes para identificar logros, retos y ajustar estrategias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597743E-B9E0-76EF-07E9-93A2E54BE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356" y="181404"/>
            <a:ext cx="1021498" cy="11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81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6D43-6A4C-F3D3-7B0A-1F39A87C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4086B2-461B-7A23-8EE4-D2A04EF6A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7A8B38-7997-3EF1-B555-1E4CD96A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Evaluación y seguimiento para el fortalecimiento de la experiencia</a:t>
            </a:r>
            <a:endParaRPr lang="es-CO" sz="36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98D070-2F25-AFBD-2BE6-65304FAA5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3. Fortalecimiento: </a:t>
            </a:r>
          </a:p>
          <a:p>
            <a:r>
              <a:rPr lang="es-ES" dirty="0"/>
              <a:t>Organización de aprendizajes. </a:t>
            </a:r>
          </a:p>
          <a:p>
            <a:r>
              <a:rPr lang="es-ES" dirty="0"/>
              <a:t>Selección de mejores producciones y socialización (Te regalo un cuento)</a:t>
            </a:r>
          </a:p>
          <a:p>
            <a:r>
              <a:rPr lang="es-ES" dirty="0"/>
              <a:t>Sistematización de resultados para planificación del año siguiente. </a:t>
            </a:r>
          </a:p>
          <a:p>
            <a:r>
              <a:rPr lang="es-ES" dirty="0"/>
              <a:t>Incorporación de aprendizajes en todas las áreas y niveles educativos.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D08F52D-0AEA-DD32-2D81-C9E78398F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356" y="181404"/>
            <a:ext cx="1021498" cy="11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5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DB3D-B12E-8148-F3F1-A892ABE0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C8519B-E5BD-C591-7B65-E0B70E14D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CD4312-87BE-A6C9-1584-17FC801D0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RESULTADOS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D579CF-289E-FE2E-2B86-96315338E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529D-51B5-7D12-F279-B568DB4B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3C37D3-A9BC-99F3-D46F-9927D18C3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7A0C31-E98A-EF61-B0C6-8B263DC3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Logros y proyección de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64AA74-8C64-0422-E3C7-A9BE12D82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1. Resultados a partir del análisis y sistematización: 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E5BD6EB-BE87-4708-F285-C1B44E38B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78639A0-92C7-0985-3856-F8836B727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049810"/>
              </p:ext>
            </p:extLst>
          </p:nvPr>
        </p:nvGraphicFramePr>
        <p:xfrm>
          <a:off x="838200" y="2858294"/>
          <a:ext cx="10515600" cy="3139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506918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09294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1431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/>
                        <a:t>Plazo</a:t>
                      </a:r>
                      <a:endParaRPr lang="es-CO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Resultado</a:t>
                      </a:r>
                      <a:endParaRPr lang="es-CO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Acción de mejora</a:t>
                      </a:r>
                      <a:endParaRPr lang="es-CO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700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Corto (anual)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Mayor hábito lector y producción de cuentos/audiolibros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Mantener control quincenal y bazar 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93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Mediano (2–3 años)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Consolidación de la experiencia en todas las sedes y niveles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Ampliar productos digitales y su difusión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56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Largo (4+ años)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Posicionamiento institucional en redes y convocatorias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Documentar y postular en programas de fortalecimiento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43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741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C2D8-1489-295E-5AE3-7E367CA7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23CC9A5-3F63-0746-16AC-A7E035320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1C00A0-03CA-D332-8A89-73D250E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Logros y proyección de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F539B3-AD29-391C-D3AF-F327CB390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2. Participación en convocatorias: </a:t>
            </a:r>
          </a:p>
          <a:p>
            <a:r>
              <a:rPr lang="es-ES" dirty="0"/>
              <a:t>Postulación a </a:t>
            </a:r>
            <a:r>
              <a:rPr lang="es-ES" b="1" dirty="0"/>
              <a:t>eventos municipales y departamentales</a:t>
            </a:r>
            <a:r>
              <a:rPr lang="es-ES" dirty="0"/>
              <a:t> de experiencias significativas.</a:t>
            </a:r>
          </a:p>
          <a:p>
            <a:r>
              <a:rPr lang="es-ES" dirty="0"/>
              <a:t>Uso de </a:t>
            </a:r>
            <a:r>
              <a:rPr lang="es-ES" b="1" dirty="0"/>
              <a:t>productos y evidencias</a:t>
            </a:r>
            <a:r>
              <a:rPr lang="es-ES" dirty="0"/>
              <a:t> (cuentos, videos, audiolibros) como material de postulación.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3847A0A-C836-0426-1C37-40AADCF15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00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45D5-09ED-6CA2-39CB-E0B2106F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ED3498-4440-1DCC-7D72-441EBAE27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632908-1A5A-6BE9-7F92-62D6AACD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Logros y proyección de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F953C-1894-F32E-D4B2-0B0D311DB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3. Competencias Desarrolladas: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Cognitivas: comprensión lectora, pensamiento crítico, creatividad. </a:t>
            </a:r>
          </a:p>
          <a:p>
            <a:r>
              <a:rPr lang="es-ES" dirty="0"/>
              <a:t>Éticas: respeto, responsabilidad, compromiso comunitario.</a:t>
            </a:r>
          </a:p>
          <a:p>
            <a:r>
              <a:rPr lang="es-ES" dirty="0"/>
              <a:t>Comportamentales: trabajo en equipo, perseverancia, autonomía.</a:t>
            </a:r>
          </a:p>
          <a:p>
            <a:r>
              <a:rPr lang="es-ES" dirty="0"/>
              <a:t>Socioemocionales: autoestima, empatía, sentido de pertenencia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BC0921-4C38-A192-7F86-9103181D8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94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97938-8FCD-DC56-6961-3584C90D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87FB11D-D5B2-90AC-4DC5-60778B425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E2D18A-CABE-1C84-4F01-4B2FCD6A3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TRANSFERENCIA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4272A3-7980-A1DA-19DD-B539BFA6D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43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4EDD-7611-063F-6B37-3DD2B603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70DF247-745E-098D-8F82-67F521CC5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C6B873-B393-C4BF-C3D4-C731BB9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Compartir y proyectar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13638E-9A88-5913-DA37-29BBF624E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CO" i="1" dirty="0"/>
              <a:t>¿Qué transferimos? : </a:t>
            </a:r>
          </a:p>
          <a:p>
            <a:pPr marL="0" indent="0">
              <a:buNone/>
            </a:pPr>
            <a:endParaRPr lang="es-ES" i="1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0FE2669-65AB-FA2E-9623-6C579AE45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8CDA79C-2C21-D97F-10D2-82B8E0F71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214907"/>
              </p:ext>
            </p:extLst>
          </p:nvPr>
        </p:nvGraphicFramePr>
        <p:xfrm>
          <a:off x="1965779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0668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D34F-1379-760C-DBBB-0DE84E38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596CEF-F650-A10D-92F7-2048CD703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DF51D1-5A73-E8DE-1B33-76E1B15A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Compartir y proyectar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0A480-613C-4363-9478-B4C8A868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2. Instrumentos y mecanismos reorganizados para transferencia: 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D3AF9E-BC5F-D5B1-DD89-A2D010CD2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AD79C7-674B-7EA0-ED9D-8D28C45F9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85078"/>
              </p:ext>
            </p:extLst>
          </p:nvPr>
        </p:nvGraphicFramePr>
        <p:xfrm>
          <a:off x="838200" y="2609374"/>
          <a:ext cx="10515600" cy="2316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527282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00140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Instrumento</a:t>
                      </a:r>
                      <a:endParaRPr lang="es-CO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000" b="1" dirty="0"/>
                        <a:t>Uso en la transferencia</a:t>
                      </a:r>
                      <a:endParaRPr lang="es-CO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37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Guía metodológica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Instrucciones paso a paso para replicar la experiencia.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39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Portafolio de evidencias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Fotografías, videos, cuentos, audiolibros.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6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Presentación institucional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Diapositivas con propuesta, desarrollo y resultados.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02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200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E8AB-5B8B-7BC2-A9E6-2F96EFEC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07723A3-2848-1521-6204-1B698D7D3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83B4BA7-6177-9F88-EBF8-98EAE8CE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Compartir y proyectar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478B3-D329-0F94-E8EE-C24916FB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3. Estrategias de difusión:</a:t>
            </a:r>
          </a:p>
          <a:p>
            <a:r>
              <a:rPr lang="es-ES" dirty="0"/>
              <a:t>Presentaciones en eventos municipales y departamentales de experiencias significativas.</a:t>
            </a:r>
          </a:p>
          <a:p>
            <a:r>
              <a:rPr lang="es-ES" dirty="0"/>
              <a:t>Intercambio pedagógico en espacios acompañados por PTA FI 3.0. </a:t>
            </a:r>
          </a:p>
          <a:p>
            <a:r>
              <a:rPr lang="es-ES" dirty="0"/>
              <a:t>Publicación de productos y testimonios en medios institucionales y redes sociales.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163CD6-558E-767A-4D83-06A7C6076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22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9E95F-1477-C933-7ABB-B8490A96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C8D2BD-BC49-75B0-1122-B4FD49AF1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16C87-7ECF-B276-D315-42F72F987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SOSTENIBILIDAD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75A1C6-8A29-8172-69FF-81D950AB7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25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5814-16C5-8BCF-05CF-4E313577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DDC787-E341-75E9-8BB4-699E70A7D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BBBA56-DF6E-D2DE-02F7-8384F422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Sostenibilidad institucional de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C6E14-C9E6-7A7A-B9F2-A30943AC0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1. Participación de la comunidad educativa: </a:t>
            </a:r>
          </a:p>
          <a:p>
            <a:r>
              <a:rPr lang="es-ES" dirty="0"/>
              <a:t>Estudiantes: creación de cuentos, audiolibros, participación en Bazar y club de lectura</a:t>
            </a:r>
          </a:p>
          <a:p>
            <a:r>
              <a:rPr lang="es-ES" dirty="0"/>
              <a:t>Familias: apoyo en actividades creativas (</a:t>
            </a:r>
            <a:r>
              <a:rPr lang="es-ES" dirty="0" err="1"/>
              <a:t>cuenter</a:t>
            </a:r>
            <a:r>
              <a:rPr lang="es-ES" dirty="0"/>
              <a:t>@ estrella), representación de historias, donación de libros. </a:t>
            </a:r>
          </a:p>
          <a:p>
            <a:r>
              <a:rPr lang="es-ES" dirty="0"/>
              <a:t>Docentes: planificación, seguimiento y socialización de resultados. </a:t>
            </a:r>
          </a:p>
          <a:p>
            <a:r>
              <a:rPr lang="es-ES" dirty="0"/>
              <a:t>Directivos y aliados externos: gestión de recursos y validación de la experiencia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AB5980D-AADF-FA3F-604F-E1FB9AC66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46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6F20A-D76A-843D-76FA-70F88BA71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D75734A-2595-11A7-DCDA-0B3CA9E80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BAEA170-CBC4-E197-C55B-74BE9E12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Sostenibilidad institucional de la experiencia</a:t>
            </a:r>
            <a:endParaRPr lang="es-CO" sz="36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55BD3F-C5C4-46D0-A084-B604A3705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2. Mecanismo de sostenibilidad: </a:t>
            </a:r>
          </a:p>
          <a:p>
            <a:r>
              <a:rPr lang="es-ES" dirty="0"/>
              <a:t>Integración de la experiencia en el PEI y la planeación institucional anual. </a:t>
            </a:r>
          </a:p>
          <a:p>
            <a:r>
              <a:rPr lang="es-ES" dirty="0"/>
              <a:t>Participación continua de todos los actores en cada periodo.</a:t>
            </a:r>
          </a:p>
          <a:p>
            <a:r>
              <a:rPr lang="es-ES" dirty="0"/>
              <a:t>Uso de la retroalimentación para mejorar y fortalecer actividades año tras año.</a:t>
            </a:r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C623687-7EAB-CE0B-7946-B33143A71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79" y="181403"/>
            <a:ext cx="1158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86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7A82-1E35-47E3-A981-20FEBFB2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9D108E-A532-E782-6955-2E930DA4D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ABD77CF-FA46-C31C-21BB-A145F3F39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INNOVACIÓN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E62745-2F5D-D1B6-092C-6562991ED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43FF-0940-F589-1C35-2D6F25A3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CE257D1-FDF9-D560-CF44-094D4058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CED653-B7D2-F872-A8FB-8909C90E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600" b="1" dirty="0"/>
              <a:t>Innovación en la gestión y práctica pedagógica</a:t>
            </a:r>
            <a:endParaRPr lang="es-CO" sz="3600" b="1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B0CA8D0D-A9CB-675C-B3C3-D7F116129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9694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9B3577A8-4196-39E5-722B-AB21E30C91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031" y="110116"/>
            <a:ext cx="998256" cy="1141841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4DBBA04-7B5E-1403-DAC8-0D78DA620666}"/>
              </a:ext>
            </a:extLst>
          </p:cNvPr>
          <p:cNvSpPr/>
          <p:nvPr/>
        </p:nvSpPr>
        <p:spPr>
          <a:xfrm>
            <a:off x="430439" y="1376108"/>
            <a:ext cx="2336800" cy="406651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Articulación de lectura, escritura y oralidad con el modelo pedagógico sociocrítico.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Enfoque de formación integral con participación activa de familias y la comunidad.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Aprovechamiento del contexto rural de Chillurco como recurso pedagógico y cultural</a:t>
            </a:r>
            <a:endParaRPr lang="es-CO" sz="14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1B8B663-8FF4-E41B-8E01-7AE591E573F6}"/>
              </a:ext>
            </a:extLst>
          </p:cNvPr>
          <p:cNvSpPr/>
          <p:nvPr/>
        </p:nvSpPr>
        <p:spPr>
          <a:xfrm>
            <a:off x="9756631" y="1386894"/>
            <a:ext cx="2336800" cy="4066519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Rotación quincenal de libros con control de lectura en todas las sedes.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Estrategia “</a:t>
            </a:r>
            <a:r>
              <a:rPr lang="es-ES" sz="1400" b="1" dirty="0" err="1"/>
              <a:t>Cuenter</a:t>
            </a:r>
            <a:r>
              <a:rPr lang="es-ES" sz="1400" b="1" dirty="0"/>
              <a:t>@ estrella” para motivar y reconocer el talento narrativo.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/>
              <a:t>Producción de audiocuentos y videos usando recursos accesibles y tecnología disponible</a:t>
            </a:r>
            <a:endParaRPr lang="es-CO" sz="1400" b="1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F642CAA-4C8D-25AC-F9A0-57C1D7A123EF}"/>
              </a:ext>
            </a:extLst>
          </p:cNvPr>
          <p:cNvSpPr/>
          <p:nvPr/>
        </p:nvSpPr>
        <p:spPr>
          <a:xfrm>
            <a:off x="3715657" y="4558053"/>
            <a:ext cx="5035478" cy="175384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/>
              <a:t>Sistematización de resultados y productos por periodo.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/>
              <a:t>Análisis de hábitos lectores y competencias desarrolladas.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/>
              <a:t>Proyección a redes de investigación educativa y convocatorias de innovación.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/>
              <a:t>Generación de nuevo conocimiento sobre fomento de lectura en contextos rurales.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724744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E2B9-F3B8-1E79-4B72-71962117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13CC231-9E99-3028-46A5-ECACD7A9A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7F973B6-CAFD-CCD8-61B8-38EE667D5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r>
              <a:rPr lang="es-CO" sz="7200" b="1" dirty="0"/>
              <a:t>GRACIAS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C08A79-1CF9-F3BC-0D23-0FAC8744E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479" y="192497"/>
            <a:ext cx="13906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0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1484</Words>
  <Application>Microsoft Office PowerPoint</Application>
  <PresentationFormat>Panorámica</PresentationFormat>
  <Paragraphs>197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Tema de Office</vt:lpstr>
      <vt:lpstr>Presentación de PowerPoint</vt:lpstr>
      <vt:lpstr>FUNDAMENTACIÓN</vt:lpstr>
      <vt:lpstr>Articulación al Proyecto Educativo Institucional (PEI) – Experiencia Significativa “Salvados por un Libro”</vt:lpstr>
      <vt:lpstr>“Esta experiencia materializa la misión de nuestra institución: formar integralmente desde la ruralidad. Llevamos lectura y expresión a todas las sedes, fortaleciendo identidad campesina y lazos comunitarios, en coherencia con el modelo sociocrítico del PEI.”</vt:lpstr>
      <vt:lpstr>Aplicación del modelo sociocrítico en la experiencia</vt:lpstr>
      <vt:lpstr>Una Experiencia Significativa… Para todos</vt:lpstr>
      <vt:lpstr>Respuesta a la realidad del Corregimiento de  Chillurco</vt:lpstr>
      <vt:lpstr>PERTINENCIA</vt:lpstr>
      <vt:lpstr>Pertinencia de la Experiencia Significativa</vt:lpstr>
      <vt:lpstr>CONSISTENCIA</vt:lpstr>
      <vt:lpstr>Coherencia entre lo que pensamos, hacemos y logramos</vt:lpstr>
      <vt:lpstr>MADUREZ</vt:lpstr>
      <vt:lpstr>Madurez de la experiencia: de un aula a toda la institución</vt:lpstr>
      <vt:lpstr>EVALUACIÓN Y SEGUIMIENTO</vt:lpstr>
      <vt:lpstr>Evaluación y seguimiento para el fortalecimiento de la experiencia</vt:lpstr>
      <vt:lpstr>Evaluación y seguimiento para el fortalecimiento de la experiencia</vt:lpstr>
      <vt:lpstr>Evaluación y seguimiento para el fortalecimiento de la experiencia</vt:lpstr>
      <vt:lpstr>RESULTADOS</vt:lpstr>
      <vt:lpstr>Logros y proyección de la experiencia</vt:lpstr>
      <vt:lpstr>Logros y proyección de la experiencia</vt:lpstr>
      <vt:lpstr>Logros y proyección de la experiencia</vt:lpstr>
      <vt:lpstr>TRANSFERENCIA</vt:lpstr>
      <vt:lpstr>Compartir y proyectar la experiencia</vt:lpstr>
      <vt:lpstr>Compartir y proyectar la experiencia</vt:lpstr>
      <vt:lpstr>Compartir y proyectar la experiencia</vt:lpstr>
      <vt:lpstr>SOSTENIBILIDAD</vt:lpstr>
      <vt:lpstr>Sostenibilidad institucional de la experiencia</vt:lpstr>
      <vt:lpstr>Sostenibilidad institucional de la experiencia</vt:lpstr>
      <vt:lpstr>INNOVACIÓN</vt:lpstr>
      <vt:lpstr>Innovación en la gestión y práctica pedagógica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7</cp:revision>
  <dcterms:created xsi:type="dcterms:W3CDTF">2025-07-23T15:35:07Z</dcterms:created>
  <dcterms:modified xsi:type="dcterms:W3CDTF">2026-06-10T19:12:49Z</dcterms:modified>
</cp:coreProperties>
</file>