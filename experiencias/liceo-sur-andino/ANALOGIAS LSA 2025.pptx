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avif" ContentType="image/av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rnán Darío González Trujillo" initials="HG" lastIdx="1" clrIdx="0">
    <p:extLst>
      <p:ext uri="{19B8F6BF-5375-455C-9EA6-DF929625EA0E}">
        <p15:presenceInfo xmlns:p15="http://schemas.microsoft.com/office/powerpoint/2012/main" userId="571049b0d8f685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avif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avif"/><Relationship Id="rId5" Type="http://schemas.openxmlformats.org/officeDocument/2006/relationships/image" Target="../media/image3.jpeg"/><Relationship Id="rId4" Type="http://schemas.openxmlformats.org/officeDocument/2006/relationships/hyperlink" Target="https://web.facebook.com/profile.php?id=6157670945553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avif"/><Relationship Id="rId5" Type="http://schemas.openxmlformats.org/officeDocument/2006/relationships/image" Target="../media/image13.jpeg"/><Relationship Id="rId4" Type="http://schemas.openxmlformats.org/officeDocument/2006/relationships/image" Target="../media/image4.av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avif"/><Relationship Id="rId3" Type="http://schemas.openxmlformats.org/officeDocument/2006/relationships/image" Target="../media/image21.png"/><Relationship Id="rId7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avif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A044E6C-7CF8-F73F-503E-9D1972F3EA5D}"/>
              </a:ext>
            </a:extLst>
          </p:cNvPr>
          <p:cNvSpPr txBox="1"/>
          <p:nvPr/>
        </p:nvSpPr>
        <p:spPr>
          <a:xfrm>
            <a:off x="1005526" y="3767692"/>
            <a:ext cx="10180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/>
              <a:t>EXPERIENCIA SIGNIFICATIVA: REVISTA CULTURAL Y LITERARIA ANALOGÍAS</a:t>
            </a:r>
          </a:p>
          <a:p>
            <a:pPr algn="ctr"/>
            <a:endParaRPr lang="es-ES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F8F2C-6B67-2573-C20A-19448B9FBE11}"/>
              </a:ext>
            </a:extLst>
          </p:cNvPr>
          <p:cNvSpPr txBox="1"/>
          <p:nvPr/>
        </p:nvSpPr>
        <p:spPr>
          <a:xfrm>
            <a:off x="1594700" y="629582"/>
            <a:ext cx="9191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/>
              <a:t>INSTITUCIÓN EDUCATIVA MUNICIPAL LICEO SUR ANDINO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30B651-8754-62CB-791F-EFADC557D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174" y="1325943"/>
            <a:ext cx="2287563" cy="23340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423E503-FE52-22CE-53E4-427966A9CDD6}"/>
              </a:ext>
            </a:extLst>
          </p:cNvPr>
          <p:cNvSpPr txBox="1"/>
          <p:nvPr/>
        </p:nvSpPr>
        <p:spPr>
          <a:xfrm>
            <a:off x="1500433" y="4492842"/>
            <a:ext cx="9191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ES" sz="2000" dirty="0" smtClean="0"/>
          </a:p>
          <a:p>
            <a:pPr algn="ctr"/>
            <a:r>
              <a:rPr lang="es-ES" sz="2000" dirty="0" smtClean="0">
                <a:hlinkClick r:id="rId4"/>
              </a:rPr>
              <a:t>https</a:t>
            </a:r>
            <a:r>
              <a:rPr lang="es-ES" sz="2000" dirty="0">
                <a:hlinkClick r:id="rId4"/>
              </a:rPr>
              <a:t>://web.facebook.com/profile.php?id=61576709455536</a:t>
            </a:r>
            <a:r>
              <a:rPr lang="es-ES" sz="2000" dirty="0"/>
              <a:t> 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D214828-C9C2-D0E0-46CE-27A544FB602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994" y="1079752"/>
            <a:ext cx="2177592" cy="26532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000DF54-4B2B-F71D-EE7E-D4F568B13D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92" y="5789468"/>
            <a:ext cx="594871" cy="60049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E9088B6-8C82-9297-6E9D-E8954FAFAE19}"/>
              </a:ext>
            </a:extLst>
          </p:cNvPr>
          <p:cNvSpPr txBox="1"/>
          <p:nvPr/>
        </p:nvSpPr>
        <p:spPr>
          <a:xfrm>
            <a:off x="1414028" y="5935828"/>
            <a:ext cx="130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Analogias LSA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5654337-7EE7-6245-EC55-5A727C9D593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609" y="5760900"/>
            <a:ext cx="942611" cy="81966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9ABE34B-A470-5995-D53D-F2E7AB7C8096}"/>
              </a:ext>
            </a:extLst>
          </p:cNvPr>
          <p:cNvSpPr txBox="1"/>
          <p:nvPr/>
        </p:nvSpPr>
        <p:spPr>
          <a:xfrm>
            <a:off x="4360260" y="5828106"/>
            <a:ext cx="130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Analogías Revista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C4CE2EF-7AE9-BD27-FBD5-98C05E76C60C}"/>
              </a:ext>
            </a:extLst>
          </p:cNvPr>
          <p:cNvSpPr txBox="1"/>
          <p:nvPr/>
        </p:nvSpPr>
        <p:spPr>
          <a:xfrm>
            <a:off x="7202085" y="5935828"/>
            <a:ext cx="145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analogias25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EAC90CA-52DA-9E54-A54F-CDC0F9AF0C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61266" y="5752696"/>
            <a:ext cx="768236" cy="76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95F2A8F-D195-2625-80DD-7D91FE35EFCB}"/>
              </a:ext>
            </a:extLst>
          </p:cNvPr>
          <p:cNvSpPr txBox="1"/>
          <p:nvPr/>
        </p:nvSpPr>
        <p:spPr>
          <a:xfrm>
            <a:off x="520236" y="1088498"/>
            <a:ext cx="111515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/>
              <a:t>Analogías promueve la </a:t>
            </a:r>
            <a:r>
              <a:rPr lang="es-CO" sz="2000" b="1" dirty="0"/>
              <a:t>participación activa de los estudiantes</a:t>
            </a:r>
            <a:r>
              <a:rPr lang="es-CO" sz="2000" dirty="0"/>
              <a:t>, fomentando su </a:t>
            </a:r>
            <a:r>
              <a:rPr lang="es-CO" sz="2000" b="1" dirty="0"/>
              <a:t>creatividad y expresión literaria</a:t>
            </a:r>
            <a:r>
              <a:rPr lang="es-CO" sz="2000" dirty="0"/>
              <a:t>. Al utilizar textos producidos en las clases de </a:t>
            </a:r>
            <a:r>
              <a:rPr lang="es-CO" sz="2000" b="1" dirty="0"/>
              <a:t>Lengua Castellana, inglés, Artística y Matemáticas</a:t>
            </a:r>
            <a:r>
              <a:rPr lang="es-CO" sz="2000" dirty="0"/>
              <a:t>, entre otras, se vincula directamente con la </a:t>
            </a:r>
            <a:r>
              <a:rPr lang="es-CO" sz="2000" b="1" dirty="0"/>
              <a:t>fundamentación pedagógica</a:t>
            </a:r>
            <a:r>
              <a:rPr lang="es-CO" sz="2000" dirty="0"/>
              <a:t> del PEI, que promueve un aprendizaje </a:t>
            </a:r>
            <a:r>
              <a:rPr lang="es-CO" sz="2000" b="1" dirty="0"/>
              <a:t>holístico e innovador</a:t>
            </a:r>
            <a:r>
              <a:rPr lang="es-CO" sz="2000" dirty="0"/>
              <a:t>. Además, el enfoque del proyecto en la </a:t>
            </a:r>
            <a:r>
              <a:rPr lang="es-CO" sz="2000" b="1" dirty="0"/>
              <a:t>comunicación escrita y visual</a:t>
            </a:r>
            <a:r>
              <a:rPr lang="es-CO" sz="2000" dirty="0"/>
              <a:t> complementa la </a:t>
            </a:r>
            <a:r>
              <a:rPr lang="es-CO" sz="2000" b="1" dirty="0"/>
              <a:t>visión integral</a:t>
            </a:r>
            <a:r>
              <a:rPr lang="es-CO" sz="2000" dirty="0"/>
              <a:t> que propone dicho documento para los estudiantes, fortaleciendo tanto su </a:t>
            </a:r>
            <a:r>
              <a:rPr lang="es-CO" sz="2000" b="1" dirty="0"/>
              <a:t>competencia comunicativa</a:t>
            </a:r>
            <a:r>
              <a:rPr lang="es-CO" sz="2000" dirty="0"/>
              <a:t> como su capacidad crítica y creativa.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85AD08-D07C-9FD3-DD06-4F55FCAFC0B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388" y="4639585"/>
            <a:ext cx="1564468" cy="159624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3859BEB-8113-36DA-39A5-FADF8F303CF8}"/>
              </a:ext>
            </a:extLst>
          </p:cNvPr>
          <p:cNvSpPr txBox="1"/>
          <p:nvPr/>
        </p:nvSpPr>
        <p:spPr>
          <a:xfrm>
            <a:off x="5274299" y="3522734"/>
            <a:ext cx="6169842" cy="139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CO" sz="20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Ejemplo</a:t>
            </a:r>
            <a:r>
              <a:rPr lang="es-CO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: Cada texto publicado es el resultado de un ejercicio pedagógico acompañado por el docente, lo que conecta la experiencia con los principios, valores y misión institucional.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59035D-A8FA-153B-B0AD-407000A0F0B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28" y="3395296"/>
            <a:ext cx="4054527" cy="3040895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B69FD8A8-064E-36BC-C548-0C262F03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022" y="336459"/>
            <a:ext cx="4912151" cy="1325563"/>
          </a:xfrm>
        </p:spPr>
        <p:txBody>
          <a:bodyPr>
            <a:normAutofit fontScale="90000"/>
          </a:bodyPr>
          <a:lstStyle/>
          <a:p>
            <a:r>
              <a:rPr lang="es-CO" b="1" dirty="0" smtClean="0"/>
              <a:t> </a:t>
            </a:r>
            <a:r>
              <a:rPr lang="es-CO" b="1" dirty="0"/>
              <a:t>Fundamentación</a:t>
            </a:r>
            <a:r>
              <a:rPr lang="es-CO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s-CO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9B0EDFE-B9B6-6558-AC8D-4A09D381B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484EA48-EE93-81BC-3269-D3A88EC84155}"/>
              </a:ext>
            </a:extLst>
          </p:cNvPr>
          <p:cNvSpPr txBox="1"/>
          <p:nvPr/>
        </p:nvSpPr>
        <p:spPr>
          <a:xfrm>
            <a:off x="4044099" y="712420"/>
            <a:ext cx="7701699" cy="6096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s-CO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 revista responde de manera eficaz a las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necesidades contextuales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de la comunidad educativa, ya que permite que los estudiantes expresen sus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realidades culturales, sociales y educativas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 través de la escritura y el arte. En este sentido, el proyecto refleja las preocupaciones y problemas del entorno educativo, alineándose con el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objetivo del PEI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de atender las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realidades locales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y fortalecer el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sentido de pertenencia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identidad cultural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de los estudiantes. El hecho de que la revista tenga un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código ISBN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y sea distribuida a nivel nacional, permite también conectar a la institución con </a:t>
            </a:r>
            <a:r>
              <a:rPr lang="es-CO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otros contextos educativos</a:t>
            </a:r>
            <a:r>
              <a:rPr lang="es-CO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generando un intercambio cultural y educativo.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Ejemplo:</a:t>
            </a:r>
            <a:r>
              <a:rPr lang="es-CO" kern="100" dirty="0">
                <a:ea typeface="Calibri" panose="020F0502020204030204" pitchFamily="34" charset="0"/>
                <a:cs typeface="Times New Roman" panose="02020603050405020304" pitchFamily="18" charset="0"/>
              </a:rPr>
              <a:t> Al incluir producciones originales, la revista documenta y visibiliza problemáticas locales y percepciones juveniles, alineadas con la apuesta del PEI por atender el contexto social y cultural.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s-CO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85A3D4B-FACC-BA90-BBE4-82A15ED84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23" y="1188946"/>
            <a:ext cx="3633867" cy="4665100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8F5409A2-6D3F-CE2A-6D17-253A84FD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5297" y="319153"/>
            <a:ext cx="4912151" cy="1325563"/>
          </a:xfrm>
        </p:spPr>
        <p:txBody>
          <a:bodyPr>
            <a:normAutofit/>
          </a:bodyPr>
          <a:lstStyle/>
          <a:p>
            <a:r>
              <a:rPr lang="es-CO" sz="4000" b="1" kern="1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CO" sz="40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Pertinencia</a:t>
            </a:r>
            <a:br>
              <a:rPr lang="es-CO" sz="4000" b="1" kern="1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O" sz="40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EE33F06-D330-BEF6-CE50-8B2B52508C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093" y="99722"/>
            <a:ext cx="968414" cy="98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6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F2A9AE7-9CF5-9546-E9E4-CDD896B2D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340FFE-0048-7C2A-D9AA-6BA08A68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687" y="828191"/>
            <a:ext cx="4176860" cy="802648"/>
          </a:xfrm>
        </p:spPr>
        <p:txBody>
          <a:bodyPr>
            <a:normAutofit fontScale="90000"/>
          </a:bodyPr>
          <a:lstStyle/>
          <a:p>
            <a:r>
              <a:rPr lang="es-CO" b="1" dirty="0" smtClean="0"/>
              <a:t>Consistencia</a:t>
            </a:r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54855EB-7610-F9AA-3A80-FC134223687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814" y="5514914"/>
            <a:ext cx="1182147" cy="120615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E2C551-B7D8-8089-D47B-D46E9854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170" y="1498864"/>
            <a:ext cx="7381189" cy="4769960"/>
          </a:xfrm>
        </p:spPr>
        <p:txBody>
          <a:bodyPr>
            <a:normAutofit lnSpcReduction="10000"/>
          </a:bodyPr>
          <a:lstStyle/>
          <a:p>
            <a:pPr algn="just"/>
            <a:r>
              <a:rPr lang="es-CO" sz="2000" dirty="0"/>
              <a:t>El proceso de </a:t>
            </a:r>
            <a:r>
              <a:rPr lang="es-CO" sz="2000" b="1" dirty="0"/>
              <a:t>recopilación, edición y publicación</a:t>
            </a:r>
            <a:r>
              <a:rPr lang="es-CO" sz="2000" dirty="0"/>
              <a:t> sigue una estructura </a:t>
            </a:r>
            <a:r>
              <a:rPr lang="es-CO" sz="2000" b="1" dirty="0"/>
              <a:t>organizada y coherente</a:t>
            </a:r>
            <a:r>
              <a:rPr lang="es-CO" sz="2000" dirty="0"/>
              <a:t>, en la que la </a:t>
            </a:r>
            <a:r>
              <a:rPr lang="es-CO" sz="2000" b="1" dirty="0"/>
              <a:t>creatividad de los estudiantes</a:t>
            </a:r>
            <a:r>
              <a:rPr lang="es-CO" sz="2000" dirty="0"/>
              <a:t> se canaliza hacia un resultado tangible: la publicación de una revista literaria. Este enfoque sigue la </a:t>
            </a:r>
            <a:r>
              <a:rPr lang="es-CO" sz="2000" b="1" dirty="0"/>
              <a:t>metodología del PEI</a:t>
            </a:r>
            <a:r>
              <a:rPr lang="es-CO" sz="2000" dirty="0"/>
              <a:t>, que aboga por la </a:t>
            </a:r>
            <a:r>
              <a:rPr lang="es-CO" sz="2000" b="1" dirty="0"/>
              <a:t>flexibilidad pedagógica</a:t>
            </a:r>
            <a:r>
              <a:rPr lang="es-CO" sz="2000" dirty="0"/>
              <a:t> y el </a:t>
            </a:r>
            <a:r>
              <a:rPr lang="es-CO" sz="2000" b="1" dirty="0"/>
              <a:t>aprendizaje significativo</a:t>
            </a:r>
            <a:r>
              <a:rPr lang="es-CO" sz="2000" dirty="0"/>
              <a:t>. </a:t>
            </a:r>
            <a:r>
              <a:rPr lang="es-ES" sz="2000" dirty="0"/>
              <a:t>Existe coherencia entre la fundamentación (expresión cultural y literaria), la metodología (convocatoria, comité editorial, retroalimentación), y los resultados (publicación anual con ISBN).</a:t>
            </a:r>
            <a:endParaRPr lang="es-CO" sz="2000" dirty="0"/>
          </a:p>
          <a:p>
            <a:pPr algn="just"/>
            <a:r>
              <a:rPr lang="es-CO" sz="2000" b="1" dirty="0"/>
              <a:t>Ejemplo:</a:t>
            </a:r>
            <a:r>
              <a:rPr lang="es-CO" sz="2000" dirty="0"/>
              <a:t> El proceso editorial asegura que lo trabajado en clase se traduzca en un producto cultural de calidad, en consonancia con la coherencia pedagógica que promueve el PEI.</a:t>
            </a:r>
          </a:p>
          <a:p>
            <a:pPr algn="just"/>
            <a:endParaRPr lang="es-CO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AFFE595-C1C7-612E-5DBE-715DD42D6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81" y="1348034"/>
            <a:ext cx="3716779" cy="476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0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CC80-C946-D0D6-FABC-68212DF2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F693B83-08C5-84D0-0115-37D27E4A4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4A29C8-4329-5D6B-277E-ED9F6116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405" y="504336"/>
            <a:ext cx="3790360" cy="802648"/>
          </a:xfrm>
        </p:spPr>
        <p:txBody>
          <a:bodyPr>
            <a:normAutofit/>
          </a:bodyPr>
          <a:lstStyle/>
          <a:p>
            <a:r>
              <a:rPr lang="es-CO" b="1" dirty="0" smtClean="0"/>
              <a:t>Madurez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457FA1-8162-934A-ED62-BD9C7469D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170" y="1347747"/>
            <a:ext cx="7381189" cy="3619891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CO" sz="2000" dirty="0"/>
              <a:t>El proyecto de la revista se ha desarrollado de manera </a:t>
            </a:r>
            <a:r>
              <a:rPr lang="es-CO" sz="2000" b="1" dirty="0"/>
              <a:t>madura y consolidada</a:t>
            </a:r>
            <a:r>
              <a:rPr lang="es-CO" sz="2000" dirty="0"/>
              <a:t> a lo largo de los años. Cada edición de la revista es una </a:t>
            </a:r>
            <a:r>
              <a:rPr lang="es-CO" sz="2000" b="1" dirty="0"/>
              <a:t>evaluación crítica</a:t>
            </a:r>
            <a:r>
              <a:rPr lang="es-CO" sz="2000" dirty="0"/>
              <a:t> del </a:t>
            </a:r>
            <a:r>
              <a:rPr lang="es-CO" sz="2000" b="1" dirty="0"/>
              <a:t>proceso educativo</a:t>
            </a:r>
            <a:r>
              <a:rPr lang="es-CO" sz="2000" dirty="0"/>
              <a:t>, en la que los estudiantes tienen la oportunidad de </a:t>
            </a:r>
            <a:r>
              <a:rPr lang="es-CO" sz="2000" b="1" dirty="0"/>
              <a:t>mejorar sus producciones</a:t>
            </a:r>
            <a:r>
              <a:rPr lang="es-CO" sz="2000" dirty="0"/>
              <a:t> literarias y artísticas, en función de la retroalimentación recibida. Este proceso de </a:t>
            </a:r>
            <a:r>
              <a:rPr lang="es-CO" sz="2000" b="1" dirty="0"/>
              <a:t>ajuste y mejora continua</a:t>
            </a:r>
            <a:r>
              <a:rPr lang="es-CO" sz="2000" dirty="0"/>
              <a:t> es parte de la </a:t>
            </a:r>
            <a:r>
              <a:rPr lang="es-CO" sz="2000" b="1" dirty="0"/>
              <a:t>madurez</a:t>
            </a:r>
            <a:r>
              <a:rPr lang="es-CO" sz="2000" dirty="0"/>
              <a:t> pedagógica promovida por el PEI, donde se fomenta una evaluación constante para </a:t>
            </a:r>
            <a:r>
              <a:rPr lang="es-CO" sz="2000" b="1" dirty="0"/>
              <a:t>fortalecer</a:t>
            </a:r>
            <a:r>
              <a:rPr lang="es-CO" sz="2000" dirty="0"/>
              <a:t> los proyectos educativos.</a:t>
            </a:r>
          </a:p>
          <a:p>
            <a:pPr algn="just"/>
            <a:r>
              <a:rPr lang="es-CO" sz="2000" b="1" dirty="0"/>
              <a:t>Ejemplo: </a:t>
            </a:r>
            <a:r>
              <a:rPr lang="es-ES" sz="2000" dirty="0"/>
              <a:t>La evaluación anual de la revista en las clases, como parte del plan lector, garantiza la reflexión crítica y el fortalecimiento en el tiempo, tal como lo promueve el PEI.</a:t>
            </a:r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marL="0" indent="0" algn="just">
              <a:buNone/>
            </a:pPr>
            <a:endParaRPr lang="es-CO" sz="2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CC0506D-44AC-8E6C-555A-0F5717685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73" y="1108336"/>
            <a:ext cx="3970197" cy="514566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D28E0F-392B-CFB3-874B-CBA856F0A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365" y="5465157"/>
            <a:ext cx="518316" cy="52322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5289ED5-C430-0568-308C-36FBF726C3D7}"/>
              </a:ext>
            </a:extLst>
          </p:cNvPr>
          <p:cNvSpPr txBox="1"/>
          <p:nvPr/>
        </p:nvSpPr>
        <p:spPr>
          <a:xfrm>
            <a:off x="5421514" y="5592334"/>
            <a:ext cx="130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Analogias LSA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4B08A3C-A3D6-9C7B-5CC6-F36B0C2FDFE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071" y="5468519"/>
            <a:ext cx="794892" cy="69121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EBB083A-F3A3-72AB-86C5-EF184AE18A1B}"/>
              </a:ext>
            </a:extLst>
          </p:cNvPr>
          <p:cNvSpPr txBox="1"/>
          <p:nvPr/>
        </p:nvSpPr>
        <p:spPr>
          <a:xfrm>
            <a:off x="8196963" y="5509282"/>
            <a:ext cx="130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Analogías Revista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FE6E64-734F-73EA-74DE-9C9B3E804427}"/>
              </a:ext>
            </a:extLst>
          </p:cNvPr>
          <p:cNvSpPr txBox="1"/>
          <p:nvPr/>
        </p:nvSpPr>
        <p:spPr>
          <a:xfrm>
            <a:off x="10633435" y="5610068"/>
            <a:ext cx="145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analogias25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2D53E06-21C1-5030-5685-5E769D21A1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10215" y="5523386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2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50B6-54CC-CE1F-69B5-DAFCDBAF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1BAFC2D-364B-1225-D559-82B2D30D8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B48E94B-593E-4C48-9D18-2C7FC24D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489" y="593204"/>
            <a:ext cx="4694550" cy="802648"/>
          </a:xfrm>
        </p:spPr>
        <p:txBody>
          <a:bodyPr>
            <a:normAutofit fontScale="90000"/>
          </a:bodyPr>
          <a:lstStyle/>
          <a:p>
            <a:r>
              <a:rPr lang="es-CO" b="1" dirty="0" smtClean="0"/>
              <a:t>Empoderamiento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1AC0BA-F7D5-F7FE-6084-C2762A3B1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169" y="1395852"/>
            <a:ext cx="7381189" cy="436460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CO" sz="2000" dirty="0"/>
              <a:t>Analogías </a:t>
            </a:r>
            <a:r>
              <a:rPr lang="es-CO" sz="2000" b="1" dirty="0"/>
              <a:t>empodera a los estudiantes</a:t>
            </a:r>
            <a:r>
              <a:rPr lang="es-CO" sz="2000" dirty="0"/>
              <a:t> al involucrarlos activamente en todas las etapas del proceso: desde la </a:t>
            </a:r>
            <a:r>
              <a:rPr lang="es-CO" sz="2000" b="1" dirty="0"/>
              <a:t>creación de textos</a:t>
            </a:r>
            <a:r>
              <a:rPr lang="es-CO" sz="2000" dirty="0"/>
              <a:t> hasta la </a:t>
            </a:r>
            <a:r>
              <a:rPr lang="es-CO" sz="2000" b="1" dirty="0"/>
              <a:t>publicación y promoción</a:t>
            </a:r>
            <a:r>
              <a:rPr lang="es-CO" sz="2000" dirty="0"/>
              <a:t>. Este enfoque de </a:t>
            </a:r>
            <a:r>
              <a:rPr lang="es-CO" sz="2000" b="1" dirty="0"/>
              <a:t>participación activa</a:t>
            </a:r>
            <a:r>
              <a:rPr lang="es-CO" sz="2000" dirty="0"/>
              <a:t> es un reflejo del compromiso del PEI con la </a:t>
            </a:r>
            <a:r>
              <a:rPr lang="es-CO" sz="2000" b="1" dirty="0"/>
              <a:t>inclusión y equidad</a:t>
            </a:r>
            <a:r>
              <a:rPr lang="es-CO" sz="2000" dirty="0"/>
              <a:t>. Los estudiantes tienen la oportunidad de </a:t>
            </a:r>
            <a:r>
              <a:rPr lang="es-CO" sz="2000" b="1" dirty="0"/>
              <a:t>expresar sus pensamientos, sentimientos y opiniones</a:t>
            </a:r>
            <a:r>
              <a:rPr lang="es-CO" sz="2000" dirty="0"/>
              <a:t> a través de la escritura y el arte, lo que les permite fortalecer su </a:t>
            </a:r>
            <a:r>
              <a:rPr lang="es-CO" sz="2000" b="1" dirty="0"/>
              <a:t>autonomía y confianza</a:t>
            </a:r>
            <a:r>
              <a:rPr lang="es-CO" sz="2000" dirty="0"/>
              <a:t>. Además, el proyecto involucra a </a:t>
            </a:r>
            <a:r>
              <a:rPr lang="es-CO" sz="2000" b="1" dirty="0"/>
              <a:t>docentes, padres y egresados</a:t>
            </a:r>
            <a:r>
              <a:rPr lang="es-CO" sz="2000" dirty="0"/>
              <a:t>, promoviendo una </a:t>
            </a:r>
            <a:r>
              <a:rPr lang="es-CO" sz="2000" b="1" dirty="0"/>
              <a:t>comunidad educativa participativa</a:t>
            </a:r>
            <a:r>
              <a:rPr lang="es-CO" sz="2000" dirty="0"/>
              <a:t>.</a:t>
            </a:r>
          </a:p>
          <a:p>
            <a:pPr algn="just"/>
            <a:r>
              <a:rPr lang="es-ES" sz="2000" b="1" dirty="0"/>
              <a:t>Ejemplo:</a:t>
            </a:r>
            <a:r>
              <a:rPr lang="es-ES" sz="2000" dirty="0"/>
              <a:t> Los concursos de fotografía para la portada y la participación del servicio social permiten a los estudiantes sentirse protagonistas del proyecto, en sintonía con la visión participativa del PEI.</a:t>
            </a:r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algn="just"/>
            <a:endParaRPr lang="es-CO" sz="2000" dirty="0"/>
          </a:p>
          <a:p>
            <a:pPr marL="0" indent="0" algn="just">
              <a:buNone/>
            </a:pPr>
            <a:endParaRPr lang="es-CO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A1CA7F-9EBC-FFA7-2601-D7759D3358C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825" y="298312"/>
            <a:ext cx="1036948" cy="10580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6D9EEA-32DD-E899-72FD-9C79DF087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57" y="1179035"/>
            <a:ext cx="3829603" cy="492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1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F5E7-FC49-9D87-EB19-69FD1EB7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6EEF4B6-EA6B-5223-D6F4-48E76555F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433103-2461-6F0D-6E75-33FCC7DC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065" y="593204"/>
            <a:ext cx="6259396" cy="802648"/>
          </a:xfrm>
        </p:spPr>
        <p:txBody>
          <a:bodyPr>
            <a:normAutofit fontScale="90000"/>
          </a:bodyPr>
          <a:lstStyle/>
          <a:p>
            <a:r>
              <a:rPr lang="es-CO" b="1" dirty="0" smtClean="0"/>
              <a:t>Evaluación </a:t>
            </a:r>
            <a:r>
              <a:rPr lang="es-CO" b="1" dirty="0"/>
              <a:t>y Seguimiento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54B0E-4F67-3C13-EFBD-8F25CA20E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075" y="1395852"/>
            <a:ext cx="7626284" cy="3760610"/>
          </a:xfrm>
        </p:spPr>
        <p:txBody>
          <a:bodyPr>
            <a:normAutofit lnSpcReduction="10000"/>
          </a:bodyPr>
          <a:lstStyle/>
          <a:p>
            <a:pPr algn="just"/>
            <a:r>
              <a:rPr lang="es-CO" sz="2000" dirty="0"/>
              <a:t>Nuestro proyecto cuenta con un sistema de </a:t>
            </a:r>
            <a:r>
              <a:rPr lang="es-CO" sz="2000" b="1" dirty="0"/>
              <a:t>evaluación continua</a:t>
            </a:r>
            <a:r>
              <a:rPr lang="es-CO" sz="2000" dirty="0"/>
              <a:t>. Tras cada edición, se realiza un proceso de </a:t>
            </a:r>
            <a:r>
              <a:rPr lang="es-CO" sz="2000" b="1" dirty="0"/>
              <a:t>retroalimentación y reflexión</a:t>
            </a:r>
            <a:r>
              <a:rPr lang="es-CO" sz="2000" dirty="0"/>
              <a:t> tanto por parte de los </a:t>
            </a:r>
            <a:r>
              <a:rPr lang="es-CO" sz="2000" b="1" dirty="0"/>
              <a:t>docentes</a:t>
            </a:r>
            <a:r>
              <a:rPr lang="es-CO" sz="2000" dirty="0"/>
              <a:t> como de los </a:t>
            </a:r>
            <a:r>
              <a:rPr lang="es-CO" sz="2000" b="1" dirty="0"/>
              <a:t>estudiantes</a:t>
            </a:r>
            <a:r>
              <a:rPr lang="es-CO" sz="2000" dirty="0"/>
              <a:t>, permitiendo que el proyecto evolucione con cada ciclo académico. Este proceso de </a:t>
            </a:r>
            <a:r>
              <a:rPr lang="es-CO" sz="2000" b="1" dirty="0"/>
              <a:t>seguimiento y análisis</a:t>
            </a:r>
            <a:r>
              <a:rPr lang="es-CO" sz="2000" dirty="0"/>
              <a:t> de los resultados está alineado con el enfoque de </a:t>
            </a:r>
            <a:r>
              <a:rPr lang="es-CO" sz="2000" b="1" dirty="0"/>
              <a:t>evaluación formativa</a:t>
            </a:r>
            <a:r>
              <a:rPr lang="es-CO" sz="2000" dirty="0"/>
              <a:t> del PEI, que prioriza la </a:t>
            </a:r>
            <a:r>
              <a:rPr lang="es-CO" sz="2000" b="1" dirty="0"/>
              <a:t>retroalimentación</a:t>
            </a:r>
            <a:r>
              <a:rPr lang="es-CO" sz="2000" dirty="0"/>
              <a:t> constante y la </a:t>
            </a:r>
            <a:r>
              <a:rPr lang="es-CO" sz="2000" b="1" dirty="0"/>
              <a:t>mejora continua</a:t>
            </a:r>
            <a:r>
              <a:rPr lang="es-CO" sz="2000" dirty="0"/>
              <a:t> de los procesos pedagógicos.</a:t>
            </a:r>
          </a:p>
          <a:p>
            <a:pPr algn="just"/>
            <a:r>
              <a:rPr lang="es-ES" sz="2000" b="1" dirty="0"/>
              <a:t>Ejemplo: </a:t>
            </a:r>
            <a:r>
              <a:rPr lang="es-ES" sz="2000" dirty="0"/>
              <a:t>Analogías se revisa como material académico dentro de las clases, lo que permite medir su impacto pedagógico y ajustarlo.</a:t>
            </a:r>
            <a:endParaRPr lang="es-CO" sz="2000" dirty="0"/>
          </a:p>
          <a:p>
            <a:pPr algn="just"/>
            <a:endParaRPr lang="es-CO" sz="2000" dirty="0"/>
          </a:p>
          <a:p>
            <a:pPr marL="0" indent="0" algn="just">
              <a:buNone/>
            </a:pPr>
            <a:endParaRPr lang="es-CO" sz="2000" dirty="0"/>
          </a:p>
          <a:p>
            <a:pPr marL="0" indent="0" algn="just">
              <a:buNone/>
            </a:pPr>
            <a:endParaRPr lang="es-CO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144B50-C675-FADF-0F3D-27AC053D15F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121" y="4898153"/>
            <a:ext cx="1339436" cy="13666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A7CC353-0538-E786-0041-C82B07E7E7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41" y="1157013"/>
            <a:ext cx="3571385" cy="476184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3880BDB-5230-56EC-0158-4FAAB46A069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15" y="4710916"/>
            <a:ext cx="1439992" cy="17545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1532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FA27-9557-8C44-9976-5D8984AF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997B896-DE6E-4CF9-E34C-764DC7B86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2EEDF2-D9D3-62AE-70A0-8481DB2CF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5194" y="498936"/>
            <a:ext cx="3568046" cy="802648"/>
          </a:xfrm>
        </p:spPr>
        <p:txBody>
          <a:bodyPr>
            <a:normAutofit/>
          </a:bodyPr>
          <a:lstStyle/>
          <a:p>
            <a:r>
              <a:rPr lang="es-CO" b="1" dirty="0" smtClean="0"/>
              <a:t>Resultados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359D60-AE9F-60C4-8CE9-2E6AF0401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075" y="1395852"/>
            <a:ext cx="7626284" cy="324213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ES" sz="2000" dirty="0"/>
              <a:t>Los resultados del proyecto de la revista se evalúan tanto a corto como a largo plazo. A corto plazo, se obtiene una publicación anual, lo que permite evaluar la calidad literaria y artística de los estudiantes. A largo plazo, la revista contribuye al fortalecimiento de la competencia comunicativa de los estudiantes y al sentido de pertenencia a la comunidad educativa. Esta visión de largo plazo refleja el enfoque en la formación integral y cívica de los estudiantes.</a:t>
            </a:r>
          </a:p>
          <a:p>
            <a:pPr algn="just"/>
            <a:r>
              <a:rPr lang="es-ES" sz="2000" b="1" dirty="0"/>
              <a:t>Ejemplo: </a:t>
            </a:r>
            <a:r>
              <a:rPr lang="es-ES" sz="2000" dirty="0"/>
              <a:t>Cada edición es evidencia del impacto en la formación integral de los estudiantes, contribuyendo a los fines de la educación del PEI.</a:t>
            </a:r>
            <a:endParaRPr lang="es-CO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B052F46-8749-FD3B-01DA-9C582BED4A0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536" y="4693121"/>
            <a:ext cx="1339436" cy="136664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08334CB-8A59-8FC7-4C86-9860EE5F6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68" y="1044017"/>
            <a:ext cx="3674312" cy="47699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9D91D5-CA77-FD31-4F49-AB988BCE899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87" y="5180296"/>
            <a:ext cx="921715" cy="11230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8282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07EC-6822-BEFB-A8DF-4EAB3061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043220-5183-E1F1-820C-D3192AEC7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3CC4F4A-8560-7A2B-75E3-85D89F3A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338" y="512775"/>
            <a:ext cx="4370068" cy="802648"/>
          </a:xfrm>
        </p:spPr>
        <p:txBody>
          <a:bodyPr>
            <a:normAutofit fontScale="90000"/>
          </a:bodyPr>
          <a:lstStyle/>
          <a:p>
            <a:r>
              <a:rPr lang="es-CO" b="1" dirty="0" smtClean="0"/>
              <a:t>Transferencia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46C217-C57A-2DB2-1698-CC805866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075" y="1395852"/>
            <a:ext cx="7626284" cy="324213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sz="2000" dirty="0"/>
              <a:t>Analogías facilita la transferencia de conocimiento al compartir experiencias educativas con otros establecimientos a través de la distribución a nivel nacional. Además, la metodología utilizada para su creación y publicación puede ser replicada por otras instituciones educativas, lo que contribuye a la difusión de buenas prácticas pedagógicas en el ámbito escolar</a:t>
            </a:r>
          </a:p>
          <a:p>
            <a:pPr algn="just"/>
            <a:r>
              <a:rPr lang="es-ES" sz="2000" b="1" dirty="0"/>
              <a:t>Ejemplo: </a:t>
            </a:r>
            <a:r>
              <a:rPr lang="es-ES" sz="2000" dirty="0"/>
              <a:t>Otras instituciones pueden replicar el modelo metodológico de la revista, lo que se ajusta a la idea de sistematizar y transferir experiencias pedagógicas del PEI.</a:t>
            </a:r>
            <a:endParaRPr lang="es-CO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53B366E-9983-FFD6-A83D-971D391F2C0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252" y="246236"/>
            <a:ext cx="1047902" cy="10691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2142F37-A943-BFA0-6139-CF93F42C2BF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412" y="4454540"/>
            <a:ext cx="1738634" cy="21184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B2DB5F-54F7-2D92-5EF2-35887B4738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26" y="985101"/>
            <a:ext cx="3745049" cy="488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65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22FC-404F-8A8E-1B08-DF4A48979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981B530-F77D-9299-3005-43C610B36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E9A9627-E5BB-FC58-C0A4-87862942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569" y="512775"/>
            <a:ext cx="4546258" cy="802648"/>
          </a:xfrm>
        </p:spPr>
        <p:txBody>
          <a:bodyPr>
            <a:normAutofit fontScale="90000"/>
          </a:bodyPr>
          <a:lstStyle/>
          <a:p>
            <a:r>
              <a:rPr lang="es-CO" b="1" dirty="0" smtClean="0"/>
              <a:t>Sostenibilidad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29D24-B447-06C6-E50E-2C0FEAD51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075" y="1395852"/>
            <a:ext cx="7626284" cy="3242136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ES" sz="2000" dirty="0"/>
              <a:t>La sostenibilidad del proyecto de la revista está garantizada por su integración con el plan lector institucional, que asegura que los contenidos de la revista sean evaluados y utilizados en las clases. Este enfoque de retroalimentación continua permite que Analogías permanezca en el tiempo, al igual que la sostenibilidad institucional, donde las iniciativas educativas deben perdurar y fortalecerse con la participación activa de todos los miembros de la comunidad.</a:t>
            </a:r>
          </a:p>
          <a:p>
            <a:pPr algn="just"/>
            <a:r>
              <a:rPr lang="es-ES" sz="2000" b="1" dirty="0"/>
              <a:t>Ejemplo: </a:t>
            </a:r>
            <a:r>
              <a:rPr lang="es-ES" sz="2000" dirty="0"/>
              <a:t>La revista no es un proyecto aislado, sino que está integrado a la planeación académica de cada año lectivo, garantizando su continuidad como lo propone el PEI.</a:t>
            </a:r>
            <a:endParaRPr lang="es-CO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E12A54F-5359-2157-4D83-9CC308E85A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252" y="246236"/>
            <a:ext cx="1047902" cy="10691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4BE8676-E4A8-1F14-A578-8F2BD872AEE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08" y="4718417"/>
            <a:ext cx="1389843" cy="16934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AB4CF3D-2A91-CE49-887C-A28789AFBE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1" y="1128859"/>
            <a:ext cx="3824634" cy="488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0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341E-0A4C-5F44-E9E4-12DE26023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081C97B-834D-AAEA-3CBD-38B646B33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4F522EB-043C-0BF4-904B-07BF7C67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339" y="512775"/>
            <a:ext cx="3881488" cy="802648"/>
          </a:xfrm>
        </p:spPr>
        <p:txBody>
          <a:bodyPr>
            <a:normAutofit/>
          </a:bodyPr>
          <a:lstStyle/>
          <a:p>
            <a:r>
              <a:rPr lang="es-CO" b="1" dirty="0" smtClean="0"/>
              <a:t>Innovación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588AC7-2CB2-320F-1066-0D488ADD8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26" y="1395851"/>
            <a:ext cx="7748833" cy="356264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CO" sz="2000" dirty="0">
                <a:effectLst/>
                <a:ea typeface="Calibri" panose="020F0502020204030204" pitchFamily="34" charset="0"/>
              </a:rPr>
              <a:t>Analogías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 fomenta la innovación pedagógica</a:t>
            </a:r>
            <a:r>
              <a:rPr lang="es-CO" sz="2000" dirty="0">
                <a:effectLst/>
                <a:ea typeface="Calibri" panose="020F0502020204030204" pitchFamily="34" charset="0"/>
              </a:rPr>
              <a:t> al integrar la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creatividad literaria y artística</a:t>
            </a:r>
            <a:r>
              <a:rPr lang="es-CO" sz="2000" dirty="0">
                <a:effectLst/>
                <a:ea typeface="Calibri" panose="020F0502020204030204" pitchFamily="34" charset="0"/>
              </a:rPr>
              <a:t> de los estudiantes en un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producto tangible</a:t>
            </a:r>
            <a:r>
              <a:rPr lang="es-CO" sz="2000" dirty="0">
                <a:effectLst/>
                <a:ea typeface="Calibri" panose="020F0502020204030204" pitchFamily="34" charset="0"/>
              </a:rPr>
              <a:t>. Esta innovación se ve reflejada en la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metodología activa</a:t>
            </a:r>
            <a:r>
              <a:rPr lang="es-CO" sz="2000" dirty="0">
                <a:effectLst/>
                <a:ea typeface="Calibri" panose="020F0502020204030204" pitchFamily="34" charset="0"/>
              </a:rPr>
              <a:t> de creación de textos y en el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uso de nuevas tecnologías</a:t>
            </a:r>
            <a:r>
              <a:rPr lang="es-CO" sz="2000" dirty="0">
                <a:effectLst/>
                <a:ea typeface="Calibri" panose="020F0502020204030204" pitchFamily="34" charset="0"/>
              </a:rPr>
              <a:t> para la edición y distribución de la revista. Además, la posibilidad de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publicar</a:t>
            </a:r>
            <a:r>
              <a:rPr lang="es-CO" sz="2000" dirty="0">
                <a:effectLst/>
                <a:ea typeface="Calibri" panose="020F0502020204030204" pitchFamily="34" charset="0"/>
              </a:rPr>
              <a:t> la revista con un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código ISBN</a:t>
            </a:r>
            <a:r>
              <a:rPr lang="es-CO" sz="2000" dirty="0">
                <a:effectLst/>
                <a:ea typeface="Calibri" panose="020F0502020204030204" pitchFamily="34" charset="0"/>
              </a:rPr>
              <a:t> y distribuirla nacionalmente introduce un enfoque innovador de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difusión cultural</a:t>
            </a:r>
            <a:r>
              <a:rPr lang="es-CO" sz="2000" dirty="0">
                <a:effectLst/>
                <a:ea typeface="Calibri" panose="020F0502020204030204" pitchFamily="34" charset="0"/>
              </a:rPr>
              <a:t> en el ámbito educativo, en línea con el </a:t>
            </a:r>
            <a:r>
              <a:rPr lang="es-CO" sz="2000" b="1" dirty="0">
                <a:effectLst/>
                <a:ea typeface="Calibri" panose="020F0502020204030204" pitchFamily="34" charset="0"/>
              </a:rPr>
              <a:t>enfoque innovador</a:t>
            </a:r>
            <a:r>
              <a:rPr lang="es-CO" sz="2000" dirty="0">
                <a:effectLst/>
                <a:ea typeface="Calibri" panose="020F0502020204030204" pitchFamily="34" charset="0"/>
              </a:rPr>
              <a:t> del PEI.</a:t>
            </a:r>
            <a:endParaRPr lang="es-ES" sz="2000" dirty="0"/>
          </a:p>
          <a:p>
            <a:pPr algn="just"/>
            <a:r>
              <a:rPr lang="es-ES" sz="2000" b="1" dirty="0"/>
              <a:t>Ejemplo: </a:t>
            </a:r>
            <a:r>
              <a:rPr lang="es-ES" sz="2000" dirty="0"/>
              <a:t>La inclusión de estudiantes en procesos de diseño gráfico, ilustración y uso de redes sociales para la difusión muestra cómo la revista se convierte en un espacio de innovación pedagógica.</a:t>
            </a:r>
            <a:endParaRPr lang="es-CO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6EB7C9F-1D17-83F0-2A83-A1ED685FBBF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252" y="246236"/>
            <a:ext cx="1047902" cy="10691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48A90DB-E2CC-BBA9-4B35-FC46C50EB5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67" y="1122606"/>
            <a:ext cx="3570840" cy="46127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1A8B272-7927-61DD-1908-17B6283955E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376" y="5353797"/>
            <a:ext cx="626366" cy="7631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7B657C4-6F4C-5577-F7DA-117906354A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95" y="5125785"/>
            <a:ext cx="518316" cy="52322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E742558-6727-7285-CB61-611F03734218}"/>
              </a:ext>
            </a:extLst>
          </p:cNvPr>
          <p:cNvSpPr txBox="1"/>
          <p:nvPr/>
        </p:nvSpPr>
        <p:spPr>
          <a:xfrm>
            <a:off x="5327244" y="5252962"/>
            <a:ext cx="130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Analogias LSA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2C92AF4-0843-F62A-CCAD-53E43EE84C3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801" y="5129147"/>
            <a:ext cx="794892" cy="69121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C1563E0-DF14-C52B-D733-34DBCBADADE1}"/>
              </a:ext>
            </a:extLst>
          </p:cNvPr>
          <p:cNvSpPr txBox="1"/>
          <p:nvPr/>
        </p:nvSpPr>
        <p:spPr>
          <a:xfrm>
            <a:off x="8102693" y="5169910"/>
            <a:ext cx="130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Analogías Revista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14991D7-F568-754F-A80F-555FF35F8E95}"/>
              </a:ext>
            </a:extLst>
          </p:cNvPr>
          <p:cNvSpPr txBox="1"/>
          <p:nvPr/>
        </p:nvSpPr>
        <p:spPr>
          <a:xfrm>
            <a:off x="10539165" y="5270696"/>
            <a:ext cx="1455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analogias25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4F1D7F5-B33A-3253-A280-B05024A096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15945" y="5184014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921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1195</Words>
  <Application>Microsoft Office PowerPoint</Application>
  <PresentationFormat>Panorámica</PresentationFormat>
  <Paragraphs>53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Tema de Office</vt:lpstr>
      <vt:lpstr>Presentación de PowerPoint</vt:lpstr>
      <vt:lpstr> Fundamentación </vt:lpstr>
      <vt:lpstr> Pertinencia </vt:lpstr>
      <vt:lpstr>Consistencia </vt:lpstr>
      <vt:lpstr>Madurez</vt:lpstr>
      <vt:lpstr>Empoderamiento</vt:lpstr>
      <vt:lpstr>Evaluación y Seguimiento</vt:lpstr>
      <vt:lpstr>Resultados</vt:lpstr>
      <vt:lpstr>Transferencia</vt:lpstr>
      <vt:lpstr>Sostenibilidad</vt:lpstr>
      <vt:lpstr>Innovación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20</cp:revision>
  <dcterms:created xsi:type="dcterms:W3CDTF">2025-07-23T15:35:07Z</dcterms:created>
  <dcterms:modified xsi:type="dcterms:W3CDTF">2026-06-10T19:24:13Z</dcterms:modified>
</cp:coreProperties>
</file>