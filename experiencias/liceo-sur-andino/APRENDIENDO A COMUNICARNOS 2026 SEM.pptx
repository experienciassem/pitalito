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p:cViewPr>
        <p:scale>
          <a:sx n="172" d="100"/>
          <a:sy n="172" d="100"/>
        </p:scale>
        <p:origin x="-1890"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FB5723-F0C3-4299-8E0E-2AA26A5DAD51}" type="datetimeFigureOut">
              <a:rPr lang="es-CO" smtClean="0"/>
              <a:t>10/06/2026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7386D-400C-4FB6-9065-80FDF2A6315F}" type="slidenum">
              <a:rPr lang="es-CO" smtClean="0"/>
              <a:t>‹Nº›</a:t>
            </a:fld>
            <a:endParaRPr lang="es-CO"/>
          </a:p>
        </p:txBody>
      </p:sp>
    </p:spTree>
    <p:extLst>
      <p:ext uri="{BB962C8B-B14F-4D97-AF65-F5344CB8AC3E}">
        <p14:creationId xmlns:p14="http://schemas.microsoft.com/office/powerpoint/2010/main" val="858125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8237386D-400C-4FB6-9065-80FDF2A6315F}" type="slidenum">
              <a:rPr lang="es-CO" smtClean="0"/>
              <a:t>2</a:t>
            </a:fld>
            <a:endParaRPr lang="es-CO"/>
          </a:p>
        </p:txBody>
      </p:sp>
    </p:spTree>
    <p:extLst>
      <p:ext uri="{BB962C8B-B14F-4D97-AF65-F5344CB8AC3E}">
        <p14:creationId xmlns:p14="http://schemas.microsoft.com/office/powerpoint/2010/main" val="317165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3B46F3-BD87-1244-C518-539103D7FDA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1DB866E-528A-E7A1-888D-047A34E55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0E838C8-B107-769B-CA23-0886E2F73C86}"/>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B0DF867A-4E8F-A03F-A929-7DA6ACDDBE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D2D83F-DADF-BCE9-05D8-3A899D9B102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57089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CE0EBB-9626-1753-03B1-50B133A5A6B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6BFEC1A-5FED-A861-DCEA-C205BB94BE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4A9250-4773-1F58-BB28-B7EABC3DD0AE}"/>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F60FA128-B7B8-B0EF-D31D-231A72A302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30F846C-CD29-FC4E-6C35-B35E945D22D3}"/>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7040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948D9-1D84-100B-E086-763A0B5A14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1287FC-DE40-5FEE-99C0-5E106C5E6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EB6DCD-998D-79C6-A391-68F2326B2345}"/>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9F42B1B5-98B4-F2C6-D48C-D991606427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F1E9B-C3BA-795B-EDC3-183AD742781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418974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F2BB7-E88B-5479-E88F-1FF94E10104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0D1765-B4DF-B8A8-267B-23D3D8FC0C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A175493-7780-2FBB-7845-55FB500A68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15E3D2A-5DA3-B8EE-6513-1EE2D2F1691B}"/>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485006BB-22EF-6C17-9AC9-8BC0A6CFEBB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6ED5FB5-C590-9217-D3CB-C4EBF32E9BA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03847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527-F461-E0E3-CBD4-91A3E821E06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B32A59-9727-6758-5DA4-C470274EC0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5B3E9-34E1-6718-763E-F143E9540C7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4176C83-F680-A73B-26CC-0CF5D7F5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9EBE45-361A-12BD-E0BF-240F81DE58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40406-BB14-9140-A36E-57E06C84B7B9}"/>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8" name="Marcador de pie de página 7">
            <a:extLst>
              <a:ext uri="{FF2B5EF4-FFF2-40B4-BE49-F238E27FC236}">
                <a16:creationId xmlns:a16="http://schemas.microsoft.com/office/drawing/2014/main" id="{A8A04C30-EDA6-E8D8-17E5-6FFC31775E7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15371C-606E-D71B-7E87-18750CB7B2CC}"/>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86970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86D20-6E3E-3281-0F95-BBF3C95D2EB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FA1186-6ED9-F6E4-97BA-3A4F960A7318}"/>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4" name="Marcador de pie de página 3">
            <a:extLst>
              <a:ext uri="{FF2B5EF4-FFF2-40B4-BE49-F238E27FC236}">
                <a16:creationId xmlns:a16="http://schemas.microsoft.com/office/drawing/2014/main" id="{E00C95CA-1239-B99E-77D3-7A6FDE08221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376426A-9ABC-5EF1-AEB1-C0CFC2215C37}"/>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91536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A8B009-C69D-1D5D-2898-3FAB863565E3}"/>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3" name="Marcador de pie de página 2">
            <a:extLst>
              <a:ext uri="{FF2B5EF4-FFF2-40B4-BE49-F238E27FC236}">
                <a16:creationId xmlns:a16="http://schemas.microsoft.com/office/drawing/2014/main" id="{914A400F-EF69-18E2-03A6-884F1D73A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CBCE93-02A5-2D01-14B0-951F79F14B7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58755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E0CD9-7BCB-2025-6D74-C27F3B345F8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10EA8B7-9869-5158-E183-19819CDE3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41FCE9D-FC78-3797-E9CE-C3F4DD2CF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142166-3168-72E8-7E91-C1FC8816A97A}"/>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8B384531-13AD-3876-2B69-E6BF5C86C9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634F09-C68B-DFE7-CDD2-5D12307D1031}"/>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27999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B0B6-178A-2DE2-9D4C-1EA48B40C0E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FED4931-6DD5-8470-00B4-4AD729FB1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20390BD-29BD-3EF3-3F42-30FB741D8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F85192-11DA-8CCF-60ED-9C2E23CB8A2B}"/>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10B09ACD-B38C-A414-7D9B-22F6970DF23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64F253-73AE-4A50-5D78-FA299CF7DE26}"/>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20839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D14DF-6133-7225-5208-6F1F8F738C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9A2C64-4BCF-8878-42A2-2B7E30B623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B21BBE-E8B9-71AD-99D2-9280106CF287}"/>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EB04BB80-30DC-4522-9F3A-F376EF2E44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7D9122F-2D63-7AAC-D358-2F25E455CF39}"/>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23708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AD4C63-322B-9289-95FE-95F8B78D34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DCC26B-B15B-4664-3A32-C1A29ADA1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1FA146-87B7-F736-BB5A-46426D064BBA}"/>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099FD83E-D958-4ABA-64A4-1CD41203CD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32301AD-C2B3-B9CB-1E65-9B2DA6E56E38}"/>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200097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C9864D-1483-2AE5-0FEA-488555370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FD254BB-B860-F144-7BF3-315B8786E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F5BED5-0585-53C3-A724-BE9242651E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F0016D93-5AFA-DE80-D034-217A49DEC6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8A8A3A-02BF-B19A-B382-EB9221EEB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E74EE6-D869-4078-805E-69EBC1C524E1}" type="slidenum">
              <a:rPr lang="es-CO" smtClean="0"/>
              <a:t>‹Nº›</a:t>
            </a:fld>
            <a:endParaRPr lang="es-CO"/>
          </a:p>
        </p:txBody>
      </p:sp>
    </p:spTree>
    <p:extLst>
      <p:ext uri="{BB962C8B-B14F-4D97-AF65-F5344CB8AC3E}">
        <p14:creationId xmlns:p14="http://schemas.microsoft.com/office/powerpoint/2010/main" val="42281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20.png"/><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1E2251-D51D-E043-921A-7495EE8A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8" y="-170121"/>
            <a:ext cx="12192000" cy="6858000"/>
          </a:xfrm>
          <a:prstGeom prst="rect">
            <a:avLst/>
          </a:prstGeom>
        </p:spPr>
      </p:pic>
      <p:sp>
        <p:nvSpPr>
          <p:cNvPr id="2" name="Título 1"/>
          <p:cNvSpPr>
            <a:spLocks noGrp="1"/>
          </p:cNvSpPr>
          <p:nvPr>
            <p:ph type="ctrTitle"/>
          </p:nvPr>
        </p:nvSpPr>
        <p:spPr>
          <a:xfrm>
            <a:off x="1325101" y="170121"/>
            <a:ext cx="8733300" cy="2175344"/>
          </a:xfrm>
        </p:spPr>
        <p:txBody>
          <a:bodyPr>
            <a:normAutofit fontScale="90000"/>
          </a:bodyPr>
          <a:lstStyle/>
          <a:p>
            <a:r>
              <a:rPr lang="es-CO" b="1" dirty="0">
                <a:latin typeface="Algerian" panose="04020705040A02060702" pitchFamily="82" charset="0"/>
              </a:rPr>
              <a:t>APRENDIENDO A COMUNCARNOS</a:t>
            </a:r>
            <a:r>
              <a:rPr lang="es-CO" sz="4800" b="1" dirty="0">
                <a:latin typeface="Algerian" panose="04020705040A02060702" pitchFamily="82" charset="0"/>
              </a:rPr>
              <a:t/>
            </a:r>
            <a:br>
              <a:rPr lang="es-CO" sz="4800" b="1" dirty="0">
                <a:latin typeface="Algerian" panose="04020705040A02060702" pitchFamily="82" charset="0"/>
              </a:rPr>
            </a:br>
            <a:r>
              <a:rPr lang="es-CO" sz="4400" b="1" dirty="0">
                <a:latin typeface="Algerian" panose="04020705040A02060702" pitchFamily="82" charset="0"/>
              </a:rPr>
              <a:t>EN LENGUA DE SEÑAS COLOMBIANA</a:t>
            </a:r>
            <a:endParaRPr lang="es-CO" sz="4800" b="1" dirty="0">
              <a:latin typeface="Algerian" panose="04020705040A02060702" pitchFamily="82" charset="0"/>
            </a:endParaRPr>
          </a:p>
        </p:txBody>
      </p:sp>
      <p:sp>
        <p:nvSpPr>
          <p:cNvPr id="3" name="Subtítulo 2"/>
          <p:cNvSpPr>
            <a:spLocks noGrp="1"/>
          </p:cNvSpPr>
          <p:nvPr>
            <p:ph type="subTitle" idx="1"/>
          </p:nvPr>
        </p:nvSpPr>
        <p:spPr>
          <a:xfrm>
            <a:off x="1524000" y="2923954"/>
            <a:ext cx="6176211" cy="3062176"/>
          </a:xfrm>
        </p:spPr>
        <p:txBody>
          <a:bodyPr>
            <a:normAutofit/>
          </a:bodyPr>
          <a:lstStyle/>
          <a:p>
            <a:r>
              <a:rPr lang="es-ES" b="1" dirty="0"/>
              <a:t>OFELIA GUZMÁN RUÍZ </a:t>
            </a:r>
          </a:p>
          <a:p>
            <a:r>
              <a:rPr lang="es-ES" b="1" dirty="0"/>
              <a:t> MARIO F. HERNÁNDEZ HERMIDA</a:t>
            </a:r>
          </a:p>
          <a:p>
            <a:r>
              <a:rPr lang="es-ES" b="1" dirty="0"/>
              <a:t>COMUNIDAD SORDA</a:t>
            </a:r>
          </a:p>
          <a:p>
            <a:endParaRPr lang="es-ES" b="1" dirty="0"/>
          </a:p>
          <a:p>
            <a:endParaRPr lang="es-ES" b="1" dirty="0"/>
          </a:p>
          <a:p>
            <a:r>
              <a:rPr lang="es-ES" b="1" dirty="0"/>
              <a:t>INSTITUCIÓN EDUCATIVA MUNICIPAL LICEO SUR ANDINO</a:t>
            </a:r>
          </a:p>
          <a:p>
            <a:endParaRPr lang="es-CO" dirty="0"/>
          </a:p>
        </p:txBody>
      </p:sp>
      <p:pic>
        <p:nvPicPr>
          <p:cNvPr id="4" name="Imagen 3">
            <a:extLst>
              <a:ext uri="{FF2B5EF4-FFF2-40B4-BE49-F238E27FC236}">
                <a16:creationId xmlns:a16="http://schemas.microsoft.com/office/drawing/2014/main" id="{130A71DB-C538-7668-332C-278FE04FE023}"/>
              </a:ext>
            </a:extLst>
          </p:cNvPr>
          <p:cNvPicPr>
            <a:picLocks noChangeAspect="1"/>
          </p:cNvPicPr>
          <p:nvPr/>
        </p:nvPicPr>
        <p:blipFill>
          <a:blip r:embed="rId3"/>
          <a:stretch>
            <a:fillRect/>
          </a:stretch>
        </p:blipFill>
        <p:spPr>
          <a:xfrm>
            <a:off x="7421466" y="2497072"/>
            <a:ext cx="3564630" cy="2415171"/>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D8617745-1394-29F6-2047-03B4F0F3272D}"/>
              </a:ext>
            </a:extLst>
          </p:cNvPr>
          <p:cNvPicPr>
            <a:picLocks noChangeAspect="1"/>
          </p:cNvPicPr>
          <p:nvPr/>
        </p:nvPicPr>
        <p:blipFill>
          <a:blip r:embed="rId4"/>
          <a:stretch>
            <a:fillRect/>
          </a:stretch>
        </p:blipFill>
        <p:spPr>
          <a:xfrm>
            <a:off x="9286169" y="170121"/>
            <a:ext cx="1801817" cy="1775637"/>
          </a:xfrm>
          <a:prstGeom prst="rect">
            <a:avLst/>
          </a:prstGeom>
        </p:spPr>
      </p:pic>
    </p:spTree>
    <p:extLst>
      <p:ext uri="{BB962C8B-B14F-4D97-AF65-F5344CB8AC3E}">
        <p14:creationId xmlns:p14="http://schemas.microsoft.com/office/powerpoint/2010/main" val="369793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88AC51-D933-785F-6FF3-0EAB785E7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7952"/>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093056609"/>
              </p:ext>
            </p:extLst>
          </p:nvPr>
        </p:nvGraphicFramePr>
        <p:xfrm>
          <a:off x="1237772" y="861239"/>
          <a:ext cx="9716456" cy="5300603"/>
        </p:xfrm>
        <a:graphic>
          <a:graphicData uri="http://schemas.openxmlformats.org/drawingml/2006/table">
            <a:tbl>
              <a:tblPr>
                <a:tableStyleId>{5C22544A-7EE6-4342-B048-85BDC9FD1C3A}</a:tableStyleId>
              </a:tblPr>
              <a:tblGrid>
                <a:gridCol w="34964">
                  <a:extLst>
                    <a:ext uri="{9D8B030D-6E8A-4147-A177-3AD203B41FA5}">
                      <a16:colId xmlns:a16="http://schemas.microsoft.com/office/drawing/2014/main" val="2215923136"/>
                    </a:ext>
                  </a:extLst>
                </a:gridCol>
                <a:gridCol w="9681492">
                  <a:extLst>
                    <a:ext uri="{9D8B030D-6E8A-4147-A177-3AD203B41FA5}">
                      <a16:colId xmlns:a16="http://schemas.microsoft.com/office/drawing/2014/main" val="1923169113"/>
                    </a:ext>
                  </a:extLst>
                </a:gridCol>
              </a:tblGrid>
              <a:tr h="4432817">
                <a:tc rowSpan="4">
                  <a:txBody>
                    <a:bodyPr/>
                    <a:lstStyle/>
                    <a:p>
                      <a:pPr algn="ctr" fontAlgn="ctr"/>
                      <a:endParaRPr lang="es-CO" sz="1800" b="1" i="0" u="none" strike="noStrike" dirty="0">
                        <a:solidFill>
                          <a:srgbClr val="000000"/>
                        </a:solidFill>
                        <a:effectLst/>
                        <a:latin typeface="Arial" panose="020B0604020202020204" pitchFamily="34" charset="0"/>
                      </a:endParaRPr>
                    </a:p>
                    <a:p>
                      <a:pPr algn="ctr" fontAlgn="ctr"/>
                      <a:endParaRPr lang="es-CO" sz="1800" b="1" i="0" u="none" strike="noStrike" dirty="0">
                        <a:solidFill>
                          <a:srgbClr val="000000"/>
                        </a:solidFill>
                        <a:effectLst/>
                        <a:latin typeface="Arial" panose="020B0604020202020204" pitchFamily="34" charset="0"/>
                      </a:endParaRPr>
                    </a:p>
                    <a:p>
                      <a:pPr algn="ctr" fontAlgn="ctr"/>
                      <a:r>
                        <a:rPr lang="es-CO" sz="1800" b="1" i="0" u="none" strike="noStrike" dirty="0">
                          <a:solidFill>
                            <a:srgbClr val="000000"/>
                          </a:solidFill>
                          <a:effectLst/>
                          <a:latin typeface="Arial" panose="020B0604020202020204" pitchFamily="34" charset="0"/>
                        </a:rPr>
                        <a:t>11</a:t>
                      </a:r>
                    </a:p>
                  </a:txBody>
                  <a:tcPr marL="4782" marR="4782" marT="4782" marB="0" anchor="ctr"/>
                </a:tc>
                <a:tc>
                  <a:txBody>
                    <a:bodyPr/>
                    <a:lstStyle/>
                    <a:p>
                      <a:pPr lvl="0"/>
                      <a:r>
                        <a:rPr lang="es-CO" sz="2000" b="1" kern="1200" dirty="0">
                          <a:solidFill>
                            <a:schemeClr val="dk1"/>
                          </a:solidFill>
                          <a:effectLst/>
                          <a:latin typeface="+mn-lt"/>
                          <a:ea typeface="+mn-ea"/>
                          <a:cs typeface="+mn-cs"/>
                        </a:rPr>
                        <a:t>OFERTA BILINGÜE Y BICULTURAL PARA SORDOS (INSOR)</a:t>
                      </a:r>
                    </a:p>
                    <a:p>
                      <a:pPr marL="342900" lvl="0" indent="-342900">
                        <a:buAutoNum type="arabicPeriod"/>
                      </a:pPr>
                      <a:r>
                        <a:rPr lang="es-CO" sz="1800" b="0" kern="1200" dirty="0" smtClean="0">
                          <a:solidFill>
                            <a:schemeClr val="dk1"/>
                          </a:solidFill>
                          <a:effectLst/>
                          <a:latin typeface="+mn-lt"/>
                          <a:ea typeface="+mn-ea"/>
                          <a:cs typeface="+mn-cs"/>
                        </a:rPr>
                        <a:t>Los </a:t>
                      </a:r>
                      <a:r>
                        <a:rPr lang="es-CO" sz="1800" b="0" kern="1200" dirty="0">
                          <a:solidFill>
                            <a:schemeClr val="dk1"/>
                          </a:solidFill>
                          <a:effectLst/>
                          <a:latin typeface="+mn-lt"/>
                          <a:ea typeface="+mn-ea"/>
                          <a:cs typeface="+mn-cs"/>
                        </a:rPr>
                        <a:t>sordos son considerados como personas con plenas capacidades para desarrollarse integralmente; </a:t>
                      </a:r>
                    </a:p>
                    <a:p>
                      <a:pPr marL="0" lvl="0" indent="0">
                        <a:buNone/>
                      </a:pPr>
                      <a:r>
                        <a:rPr lang="es-CO" sz="1800" b="0" kern="1200" dirty="0">
                          <a:solidFill>
                            <a:schemeClr val="dk1"/>
                          </a:solidFill>
                          <a:effectLst/>
                          <a:latin typeface="+mn-lt"/>
                          <a:ea typeface="+mn-ea"/>
                          <a:cs typeface="+mn-cs"/>
                        </a:rPr>
                        <a:t>2. Se reconoce y respeta que adquieren y usan la lengua de señas como primera lengua; </a:t>
                      </a:r>
                    </a:p>
                    <a:p>
                      <a:pPr marL="0" lvl="0" indent="0">
                        <a:buNone/>
                      </a:pPr>
                      <a:r>
                        <a:rPr lang="es-CO" sz="1800" b="0" kern="1200" dirty="0">
                          <a:solidFill>
                            <a:schemeClr val="dk1"/>
                          </a:solidFill>
                          <a:effectLst/>
                          <a:latin typeface="+mn-lt"/>
                          <a:ea typeface="+mn-ea"/>
                          <a:cs typeface="+mn-cs"/>
                        </a:rPr>
                        <a:t>3. Conforman una comunidad lingüística minoritaria </a:t>
                      </a:r>
                    </a:p>
                    <a:p>
                      <a:pPr marL="0" lvl="0" indent="0">
                        <a:buNone/>
                      </a:pPr>
                      <a:r>
                        <a:rPr lang="es-CO" sz="1800" b="0" kern="1200" dirty="0">
                          <a:solidFill>
                            <a:schemeClr val="dk1"/>
                          </a:solidFill>
                          <a:effectLst/>
                          <a:latin typeface="+mn-lt"/>
                          <a:ea typeface="+mn-ea"/>
                          <a:cs typeface="+mn-cs"/>
                        </a:rPr>
                        <a:t> 4. Dicha comunidad se denomina comunidad sorda</a:t>
                      </a:r>
                    </a:p>
                    <a:p>
                      <a:pPr marL="0" lvl="0" indent="0">
                        <a:buNone/>
                      </a:pPr>
                      <a:r>
                        <a:rPr lang="es-MX" sz="1800" b="0" kern="1200" dirty="0" smtClean="0">
                          <a:solidFill>
                            <a:schemeClr val="dk1"/>
                          </a:solidFill>
                          <a:effectLst/>
                          <a:latin typeface="+mn-lt"/>
                          <a:ea typeface="+mn-ea"/>
                          <a:cs typeface="+mn-cs"/>
                        </a:rPr>
                        <a:t>La </a:t>
                      </a:r>
                      <a:r>
                        <a:rPr lang="es-MX" sz="1800" b="0" kern="1200" dirty="0">
                          <a:solidFill>
                            <a:schemeClr val="dk1"/>
                          </a:solidFill>
                          <a:effectLst/>
                          <a:latin typeface="+mn-lt"/>
                          <a:ea typeface="+mn-ea"/>
                          <a:cs typeface="+mn-cs"/>
                        </a:rPr>
                        <a:t>lengua de señas colombiana es un elemento fundamental para la comunicación y el desarrollo de la comunidad sorda en Colombia. Según el Decreto 1421 de 2017, artículo 2.3.3.5.1.4, la lengua de señas colombiana es un derecho fundamental de las personas sordas y un elemento clave para su inclusión social y educativa.</a:t>
                      </a:r>
                      <a:endParaRPr lang="es-CO" sz="1800" b="0" kern="1200" dirty="0">
                        <a:solidFill>
                          <a:schemeClr val="dk1"/>
                        </a:solidFill>
                        <a:effectLst/>
                        <a:latin typeface="+mn-lt"/>
                        <a:ea typeface="+mn-ea"/>
                        <a:cs typeface="+mn-cs"/>
                      </a:endParaRPr>
                    </a:p>
                    <a:p>
                      <a:pPr lvl="0"/>
                      <a:endParaRPr lang="es-CO" sz="1800" b="0" kern="1200" dirty="0">
                        <a:solidFill>
                          <a:schemeClr val="dk1"/>
                        </a:solidFill>
                        <a:effectLst/>
                        <a:latin typeface="+mn-lt"/>
                        <a:ea typeface="+mn-ea"/>
                        <a:cs typeface="+mn-cs"/>
                      </a:endParaRPr>
                    </a:p>
                  </a:txBody>
                  <a:tcPr marL="4782" marR="4782" marT="4782" marB="0" anchor="ctr"/>
                </a:tc>
                <a:extLst>
                  <a:ext uri="{0D108BD9-81ED-4DB2-BD59-A6C34878D82A}">
                    <a16:rowId xmlns:a16="http://schemas.microsoft.com/office/drawing/2014/main" val="3714961306"/>
                  </a:ext>
                </a:extLst>
              </a:tr>
              <a:tr h="258277">
                <a:tc vMerge="1">
                  <a:txBody>
                    <a:bodyPr/>
                    <a:lstStyle/>
                    <a:p>
                      <a:endParaRPr lang="es-CO"/>
                    </a:p>
                  </a:txBody>
                  <a:tcPr/>
                </a:tc>
                <a:tc>
                  <a:txBody>
                    <a:bodyPr/>
                    <a:lstStyle/>
                    <a:p>
                      <a:pPr algn="just" fontAlgn="ct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3488044358"/>
                  </a:ext>
                </a:extLst>
              </a:tr>
              <a:tr h="232848">
                <a:tc vMerge="1">
                  <a:txBody>
                    <a:bodyPr/>
                    <a:lstStyle/>
                    <a:p>
                      <a:endParaRPr lang="es-CO"/>
                    </a:p>
                  </a:txBody>
                  <a:tcPr/>
                </a:tc>
                <a:tc>
                  <a:txBody>
                    <a:bodyPr/>
                    <a:lstStyle/>
                    <a:p>
                      <a:pPr algn="just" fontAlgn="ctr"/>
                      <a:endParaRPr lang="es-ES" sz="1800" b="0" i="0" u="none" strike="noStrike" dirty="0">
                        <a:solidFill>
                          <a:srgbClr val="000000"/>
                        </a:solidFill>
                        <a:effectLst/>
                        <a:latin typeface="+mj-lt"/>
                      </a:endParaRPr>
                    </a:p>
                  </a:txBody>
                  <a:tcPr marL="4782" marR="4782" marT="4782" marB="0" anchor="ctr"/>
                </a:tc>
                <a:extLst>
                  <a:ext uri="{0D108BD9-81ED-4DB2-BD59-A6C34878D82A}">
                    <a16:rowId xmlns:a16="http://schemas.microsoft.com/office/drawing/2014/main" val="2166883621"/>
                  </a:ext>
                </a:extLst>
              </a:tr>
              <a:tr h="232848">
                <a:tc vMerge="1">
                  <a:txBody>
                    <a:bodyPr/>
                    <a:lstStyle/>
                    <a:p>
                      <a:endParaRPr lang="es-CO"/>
                    </a:p>
                  </a:txBody>
                  <a:tcPr/>
                </a:tc>
                <a:tc>
                  <a:txBody>
                    <a:bodyPr/>
                    <a:lstStyle/>
                    <a:p>
                      <a:pPr algn="l" fontAlgn="ct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062487577"/>
                  </a:ext>
                </a:extLst>
              </a:tr>
            </a:tbl>
          </a:graphicData>
        </a:graphic>
      </p:graphicFrame>
      <p:sp>
        <p:nvSpPr>
          <p:cNvPr id="3" name="CuadroTexto 2">
            <a:extLst>
              <a:ext uri="{FF2B5EF4-FFF2-40B4-BE49-F238E27FC236}">
                <a16:creationId xmlns:a16="http://schemas.microsoft.com/office/drawing/2014/main" id="{11220CD4-A376-03F9-8A00-94D7E6073C9C}"/>
              </a:ext>
            </a:extLst>
          </p:cNvPr>
          <p:cNvSpPr txBox="1"/>
          <p:nvPr/>
        </p:nvSpPr>
        <p:spPr>
          <a:xfrm>
            <a:off x="2721935" y="384362"/>
            <a:ext cx="4572000" cy="1508105"/>
          </a:xfrm>
          <a:prstGeom prst="rect">
            <a:avLst/>
          </a:prstGeom>
          <a:noFill/>
        </p:spPr>
        <p:txBody>
          <a:bodyPr wrap="square" rtlCol="0">
            <a:spAutoFit/>
          </a:bodyPr>
          <a:lstStyle/>
          <a:p>
            <a:r>
              <a:rPr lang="es-CO" sz="3600" b="1" dirty="0">
                <a:latin typeface="Algerian" panose="04020705040A02060702" pitchFamily="82" charset="0"/>
              </a:rPr>
              <a:t>FUNDAMENTACIÓN</a:t>
            </a:r>
            <a:endParaRPr lang="es-CO" sz="3600" b="1" dirty="0">
              <a:solidFill>
                <a:srgbClr val="000000"/>
              </a:solidFill>
              <a:latin typeface="Algerian" panose="04020705040A02060702" pitchFamily="82" charset="0"/>
            </a:endParaRPr>
          </a:p>
          <a:p>
            <a:endParaRPr lang="es-CO" sz="2800" dirty="0"/>
          </a:p>
          <a:p>
            <a:endParaRPr lang="es-CO" sz="2800" dirty="0"/>
          </a:p>
        </p:txBody>
      </p:sp>
      <p:pic>
        <p:nvPicPr>
          <p:cNvPr id="4" name="Imagen 3">
            <a:extLst>
              <a:ext uri="{FF2B5EF4-FFF2-40B4-BE49-F238E27FC236}">
                <a16:creationId xmlns:a16="http://schemas.microsoft.com/office/drawing/2014/main" id="{3187E3A1-74EF-2AC9-376E-59632F33FCD9}"/>
              </a:ext>
            </a:extLst>
          </p:cNvPr>
          <p:cNvPicPr>
            <a:picLocks noChangeAspect="1"/>
          </p:cNvPicPr>
          <p:nvPr/>
        </p:nvPicPr>
        <p:blipFill>
          <a:blip r:embed="rId4"/>
          <a:stretch>
            <a:fillRect/>
          </a:stretch>
        </p:blipFill>
        <p:spPr>
          <a:xfrm flipH="1">
            <a:off x="7219506" y="4646426"/>
            <a:ext cx="2838893" cy="174804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6832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11"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527150150"/>
              </p:ext>
            </p:extLst>
          </p:nvPr>
        </p:nvGraphicFramePr>
        <p:xfrm>
          <a:off x="2851626" y="212651"/>
          <a:ext cx="8367629" cy="6222702"/>
        </p:xfrm>
        <a:graphic>
          <a:graphicData uri="http://schemas.openxmlformats.org/drawingml/2006/table">
            <a:tbl>
              <a:tblPr>
                <a:tableStyleId>{5C22544A-7EE6-4342-B048-85BDC9FD1C3A}</a:tableStyleId>
              </a:tblPr>
              <a:tblGrid>
                <a:gridCol w="359407">
                  <a:extLst>
                    <a:ext uri="{9D8B030D-6E8A-4147-A177-3AD203B41FA5}">
                      <a16:colId xmlns:a16="http://schemas.microsoft.com/office/drawing/2014/main" val="2667395497"/>
                    </a:ext>
                  </a:extLst>
                </a:gridCol>
                <a:gridCol w="8008222">
                  <a:extLst>
                    <a:ext uri="{9D8B030D-6E8A-4147-A177-3AD203B41FA5}">
                      <a16:colId xmlns:a16="http://schemas.microsoft.com/office/drawing/2014/main" val="539675217"/>
                    </a:ext>
                  </a:extLst>
                </a:gridCol>
              </a:tblGrid>
              <a:tr h="4921883">
                <a:tc>
                  <a:txBody>
                    <a:bodyPr/>
                    <a:lstStyle/>
                    <a:p>
                      <a:pPr algn="l" fontAlgn="ctr"/>
                      <a:endParaRPr lang="es-CO" sz="32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CO" sz="2400" kern="1200" dirty="0">
                          <a:solidFill>
                            <a:schemeClr val="dk1"/>
                          </a:solidFill>
                          <a:effectLst/>
                          <a:latin typeface="+mn-lt"/>
                          <a:ea typeface="+mn-ea"/>
                          <a:cs typeface="+mn-cs"/>
                        </a:rPr>
                        <a:t>La vinculación y atención educativa de la población sorda al sistema educativo, con una comunicación en lengua de señas colombiana, se constituye en un reto para la familia, los compañeros de estudio, los docentes, administrativos, directivos y comunidad en general, Por esta razón surge la necesidad, generar canales de comunicación efectivos que garanticen la canales de comunicación efectivos que garanticen la equidad en la formación integral de los estudiantes sordos a través del aprendizaje  en lengua de señas colombiana utilizando estrategias metodológicas que permitan eliminar barreras comunicativas y un acercamiento a la comunidad sorda.</a:t>
                      </a:r>
                      <a:r>
                        <a:rPr lang="es-ES" sz="2400" u="none" strike="noStrike" dirty="0">
                          <a:effectLst/>
                        </a:rPr>
                        <a:t>.</a:t>
                      </a:r>
                      <a:endParaRPr lang="es-ES" sz="2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pic>
        <p:nvPicPr>
          <p:cNvPr id="3" name="Imagen 2">
            <a:extLst>
              <a:ext uri="{FF2B5EF4-FFF2-40B4-BE49-F238E27FC236}">
                <a16:creationId xmlns:a16="http://schemas.microsoft.com/office/drawing/2014/main" id="{D9E0AC6C-D98C-B359-0518-8B5002D8C28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80891" y="1429433"/>
            <a:ext cx="2001114" cy="1420977"/>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CBC9D5E5-0D8B-1DA4-F4A9-B7CBF68B642C}"/>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80891" y="3195084"/>
            <a:ext cx="2099888" cy="1373654"/>
          </a:xfrm>
          <a:prstGeom prst="rect">
            <a:avLst/>
          </a:prstGeom>
          <a:ln w="88900" cap="sq" cmpd="thickThin">
            <a:solidFill>
              <a:srgbClr val="000000"/>
            </a:solidFill>
            <a:prstDash val="solid"/>
            <a:miter lim="800000"/>
          </a:ln>
          <a:effectLst>
            <a:innerShdw blurRad="76200">
              <a:srgbClr val="000000"/>
            </a:innerShdw>
          </a:effectLst>
        </p:spPr>
      </p:pic>
      <p:sp>
        <p:nvSpPr>
          <p:cNvPr id="6" name="CuadroTexto 5">
            <a:extLst>
              <a:ext uri="{FF2B5EF4-FFF2-40B4-BE49-F238E27FC236}">
                <a16:creationId xmlns:a16="http://schemas.microsoft.com/office/drawing/2014/main" id="{B6939FCB-51D8-44D6-F3BB-5611685B4017}"/>
              </a:ext>
            </a:extLst>
          </p:cNvPr>
          <p:cNvSpPr txBox="1"/>
          <p:nvPr/>
        </p:nvSpPr>
        <p:spPr>
          <a:xfrm>
            <a:off x="394312" y="776177"/>
            <a:ext cx="2574274" cy="800219"/>
          </a:xfrm>
          <a:prstGeom prst="rect">
            <a:avLst/>
          </a:prstGeom>
          <a:noFill/>
        </p:spPr>
        <p:txBody>
          <a:bodyPr wrap="square" rtlCol="0">
            <a:spAutoFit/>
          </a:bodyPr>
          <a:lstStyle/>
          <a:p>
            <a:r>
              <a:rPr lang="es-CO" sz="2800" dirty="0">
                <a:latin typeface="Algerian" panose="04020705040A02060702" pitchFamily="82" charset="0"/>
              </a:rPr>
              <a:t>Pertinencia</a:t>
            </a:r>
            <a:endParaRPr lang="es-CO" sz="28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373137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159"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849903849"/>
              </p:ext>
            </p:extLst>
          </p:nvPr>
        </p:nvGraphicFramePr>
        <p:xfrm>
          <a:off x="462054" y="578038"/>
          <a:ext cx="10287000" cy="4452346"/>
        </p:xfrm>
        <a:graphic>
          <a:graphicData uri="http://schemas.openxmlformats.org/drawingml/2006/table">
            <a:tbl>
              <a:tblPr>
                <a:tableStyleId>{5C22544A-7EE6-4342-B048-85BDC9FD1C3A}</a:tableStyleId>
              </a:tblPr>
              <a:tblGrid>
                <a:gridCol w="1893277">
                  <a:extLst>
                    <a:ext uri="{9D8B030D-6E8A-4147-A177-3AD203B41FA5}">
                      <a16:colId xmlns:a16="http://schemas.microsoft.com/office/drawing/2014/main" val="2667395497"/>
                    </a:ext>
                  </a:extLst>
                </a:gridCol>
                <a:gridCol w="8393723">
                  <a:extLst>
                    <a:ext uri="{9D8B030D-6E8A-4147-A177-3AD203B41FA5}">
                      <a16:colId xmlns:a16="http://schemas.microsoft.com/office/drawing/2014/main" val="539675217"/>
                    </a:ext>
                  </a:extLst>
                </a:gridCol>
              </a:tblGrid>
              <a:tr h="4452346">
                <a:tc>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buNone/>
                      </a:pPr>
                      <a:r>
                        <a:rPr lang="es-CO" sz="1600" b="1" dirty="0">
                          <a:effectLst/>
                          <a:latin typeface="Arial" panose="020B0604020202020204" pitchFamily="34" charset="0"/>
                          <a:ea typeface="Calibri" panose="020F0502020204030204" pitchFamily="34" charset="0"/>
                          <a:cs typeface="Times New Roman" panose="02020603050405020304" pitchFamily="18" charset="0"/>
                        </a:rPr>
                        <a:t>FORTALECIMIENTO DE LA LENGUA DE SEÑAS COLOMBIANA EN ESTUDIANTES SORDOS</a:t>
                      </a:r>
                      <a:r>
                        <a:rPr lang="es-CO" sz="1600" b="0" dirty="0">
                          <a:effectLst/>
                          <a:latin typeface="Arial" panose="020B0604020202020204" pitchFamily="34" charset="0"/>
                          <a:ea typeface="Calibri" panose="020F0502020204030204" pitchFamily="34" charset="0"/>
                          <a:cs typeface="Times New Roman" panose="02020603050405020304" pitchFamily="18" charset="0"/>
                        </a:rPr>
                        <a:t>:  Elaboración de material viso gestual y de trabajo relacionado con las actividades académicas y del entorno, utilizando a los estudiantes como modelos lingüísticos, situación que permite la participación integral de los educandos sordos. </a:t>
                      </a:r>
                    </a:p>
                    <a:p>
                      <a:pPr algn="just">
                        <a:buNone/>
                      </a:pPr>
                      <a:endParaRPr lang="es-CO" sz="1400" b="1" dirty="0">
                        <a:effectLst/>
                        <a:latin typeface="Calibri" panose="020F0502020204030204" pitchFamily="34" charset="0"/>
                        <a:ea typeface="Calibri" panose="020F0502020204030204" pitchFamily="34" charset="0"/>
                        <a:cs typeface="Times New Roman" panose="02020603050405020304" pitchFamily="18" charset="0"/>
                      </a:endParaRPr>
                    </a:p>
                    <a:p>
                      <a:pPr algn="just">
                        <a:buNone/>
                      </a:pPr>
                      <a:r>
                        <a:rPr lang="es-CO" sz="1600" b="1" dirty="0">
                          <a:effectLst/>
                          <a:latin typeface="Arial" panose="020B0604020202020204" pitchFamily="34" charset="0"/>
                          <a:ea typeface="Calibri" panose="020F0502020204030204" pitchFamily="34" charset="0"/>
                          <a:cs typeface="Times New Roman" panose="02020603050405020304" pitchFamily="18" charset="0"/>
                        </a:rPr>
                        <a:t>MEJORAR LA COMUNICACIÓN FAMILIAR EN LENGUA</a:t>
                      </a:r>
                      <a:r>
                        <a:rPr lang="es-CO" sz="1600" b="0" dirty="0">
                          <a:effectLst/>
                          <a:latin typeface="Arial" panose="020B0604020202020204" pitchFamily="34" charset="0"/>
                          <a:ea typeface="Calibri" panose="020F0502020204030204" pitchFamily="34" charset="0"/>
                          <a:cs typeface="Times New Roman" panose="02020603050405020304" pitchFamily="18" charset="0"/>
                        </a:rPr>
                        <a:t> </a:t>
                      </a:r>
                      <a:r>
                        <a:rPr lang="es-CO" sz="1600" b="1" dirty="0">
                          <a:effectLst/>
                          <a:latin typeface="Arial" panose="020B0604020202020204" pitchFamily="34" charset="0"/>
                          <a:ea typeface="Calibri" panose="020F0502020204030204" pitchFamily="34" charset="0"/>
                          <a:cs typeface="Times New Roman" panose="02020603050405020304" pitchFamily="18" charset="0"/>
                        </a:rPr>
                        <a:t>DE SEÑAS COLOMBIANA:</a:t>
                      </a:r>
                      <a:r>
                        <a:rPr lang="es-CO" sz="1600" b="0" dirty="0">
                          <a:effectLst/>
                          <a:latin typeface="Arial" panose="020B0604020202020204" pitchFamily="34" charset="0"/>
                          <a:ea typeface="Calibri" panose="020F0502020204030204" pitchFamily="34" charset="0"/>
                          <a:cs typeface="Times New Roman" panose="02020603050405020304" pitchFamily="18" charset="0"/>
                        </a:rPr>
                        <a:t> Motivar a la familia a comunicarse utilizando la lengua de señas y generar espacios de sana convivencia y formación en escuela para padres.</a:t>
                      </a:r>
                      <a:endParaRPr lang="es-CO" sz="1400" b="1" dirty="0">
                        <a:effectLst/>
                        <a:latin typeface="Calibri" panose="020F0502020204030204" pitchFamily="34" charset="0"/>
                        <a:ea typeface="Calibri" panose="020F0502020204030204" pitchFamily="34" charset="0"/>
                        <a:cs typeface="Times New Roman" panose="02020603050405020304" pitchFamily="18" charset="0"/>
                      </a:endParaRPr>
                    </a:p>
                    <a:p>
                      <a:pPr algn="just">
                        <a:buNone/>
                      </a:pPr>
                      <a:r>
                        <a:rPr lang="es-CO" sz="1600" b="1" dirty="0">
                          <a:effectLst/>
                          <a:latin typeface="Arial" panose="020B0604020202020204" pitchFamily="34" charset="0"/>
                          <a:ea typeface="Calibri" panose="020F0502020204030204" pitchFamily="34" charset="0"/>
                          <a:cs typeface="Times New Roman" panose="02020603050405020304" pitchFamily="18" charset="0"/>
                        </a:rPr>
                        <a:t>SENCIBILIZAR A LA COMUNIDAD EDUCATIVA EN LA CULTURA SORDA Y COMUNICACIONEN LENGUA DE SEÑAS:</a:t>
                      </a:r>
                      <a:r>
                        <a:rPr lang="es-CO" sz="1600" b="0" dirty="0">
                          <a:effectLst/>
                          <a:latin typeface="Arial" panose="020B0604020202020204" pitchFamily="34" charset="0"/>
                          <a:ea typeface="Calibri" panose="020F0502020204030204" pitchFamily="34" charset="0"/>
                          <a:cs typeface="Times New Roman" panose="02020603050405020304" pitchFamily="18" charset="0"/>
                        </a:rPr>
                        <a:t> Talleres de sensibilización y manejo de la lengua de señas colombiana y características especiales de la comunidad sorda.</a:t>
                      </a:r>
                    </a:p>
                    <a:p>
                      <a:pPr algn="just">
                        <a:buNone/>
                      </a:pPr>
                      <a:endParaRPr lang="es-CO" sz="1400" b="1" dirty="0">
                        <a:effectLst/>
                        <a:latin typeface="Calibri" panose="020F0502020204030204" pitchFamily="34" charset="0"/>
                        <a:ea typeface="Calibri" panose="020F0502020204030204" pitchFamily="34" charset="0"/>
                        <a:cs typeface="Times New Roman" panose="02020603050405020304" pitchFamily="18" charset="0"/>
                      </a:endParaRPr>
                    </a:p>
                    <a:p>
                      <a:pPr algn="just">
                        <a:buNone/>
                      </a:pPr>
                      <a:r>
                        <a:rPr lang="es-CO" sz="1600" b="1" dirty="0">
                          <a:effectLst/>
                          <a:latin typeface="Arial" panose="020B0604020202020204" pitchFamily="34" charset="0"/>
                          <a:ea typeface="Calibri" panose="020F0502020204030204" pitchFamily="34" charset="0"/>
                          <a:cs typeface="Times New Roman" panose="02020603050405020304" pitchFamily="18" charset="0"/>
                        </a:rPr>
                        <a:t>DESARROLLO DE ACTIVIDADES PROPIAS DE COMUNIDAD SORDA</a:t>
                      </a:r>
                      <a:r>
                        <a:rPr lang="es-CO" sz="1600" b="0" dirty="0">
                          <a:effectLst/>
                          <a:latin typeface="Arial" panose="020B0604020202020204" pitchFamily="34" charset="0"/>
                          <a:ea typeface="Calibri" panose="020F0502020204030204" pitchFamily="34" charset="0"/>
                          <a:cs typeface="Times New Roman" panose="02020603050405020304" pitchFamily="18" charset="0"/>
                        </a:rPr>
                        <a:t>: Programar actividades que permitan fortalecer los vínculos de la comunidad, visualizándola ante la comunidad laboyana garantizando sus derechos.</a:t>
                      </a:r>
                      <a:endParaRPr lang="es-CO"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2949291"/>
                  </a:ext>
                </a:extLst>
              </a:tr>
            </a:tbl>
          </a:graphicData>
        </a:graphic>
      </p:graphicFrame>
      <p:pic>
        <p:nvPicPr>
          <p:cNvPr id="3" name="Imagen 2">
            <a:extLst>
              <a:ext uri="{FF2B5EF4-FFF2-40B4-BE49-F238E27FC236}">
                <a16:creationId xmlns:a16="http://schemas.microsoft.com/office/drawing/2014/main" id="{9EF9CEE7-33E8-9DEB-BCEE-430F47973137}"/>
              </a:ext>
            </a:extLst>
          </p:cNvPr>
          <p:cNvPicPr>
            <a:picLocks noChangeAspect="1"/>
          </p:cNvPicPr>
          <p:nvPr/>
        </p:nvPicPr>
        <p:blipFill>
          <a:blip r:embed="rId3"/>
          <a:stretch>
            <a:fillRect/>
          </a:stretch>
        </p:blipFill>
        <p:spPr>
          <a:xfrm>
            <a:off x="-1" y="1190071"/>
            <a:ext cx="2148799" cy="1433585"/>
          </a:xfrm>
          <a:prstGeom prst="rect">
            <a:avLst/>
          </a:prstGeom>
        </p:spPr>
      </p:pic>
      <p:pic>
        <p:nvPicPr>
          <p:cNvPr id="4" name="Imagen 3">
            <a:extLst>
              <a:ext uri="{FF2B5EF4-FFF2-40B4-BE49-F238E27FC236}">
                <a16:creationId xmlns:a16="http://schemas.microsoft.com/office/drawing/2014/main" id="{CF01AB28-B95F-27D8-1209-CA8568DF16E7}"/>
              </a:ext>
            </a:extLst>
          </p:cNvPr>
          <p:cNvPicPr>
            <a:picLocks noChangeAspect="1"/>
          </p:cNvPicPr>
          <p:nvPr/>
        </p:nvPicPr>
        <p:blipFill>
          <a:blip r:embed="rId4"/>
          <a:stretch>
            <a:fillRect/>
          </a:stretch>
        </p:blipFill>
        <p:spPr>
          <a:xfrm>
            <a:off x="-406733" y="2362314"/>
            <a:ext cx="2771394" cy="2378514"/>
          </a:xfrm>
          <a:prstGeom prst="rect">
            <a:avLst/>
          </a:prstGeom>
        </p:spPr>
      </p:pic>
      <p:sp>
        <p:nvSpPr>
          <p:cNvPr id="6" name="CuadroTexto 5">
            <a:extLst>
              <a:ext uri="{FF2B5EF4-FFF2-40B4-BE49-F238E27FC236}">
                <a16:creationId xmlns:a16="http://schemas.microsoft.com/office/drawing/2014/main" id="{4A3F8233-A905-2656-A293-8930F3083D6F}"/>
              </a:ext>
            </a:extLst>
          </p:cNvPr>
          <p:cNvSpPr txBox="1"/>
          <p:nvPr/>
        </p:nvSpPr>
        <p:spPr>
          <a:xfrm>
            <a:off x="179147" y="578038"/>
            <a:ext cx="2287605" cy="738664"/>
          </a:xfrm>
          <a:prstGeom prst="rect">
            <a:avLst/>
          </a:prstGeom>
          <a:noFill/>
        </p:spPr>
        <p:txBody>
          <a:bodyPr wrap="square" rtlCol="0">
            <a:spAutoFit/>
          </a:bodyPr>
          <a:lstStyle/>
          <a:p>
            <a:r>
              <a:rPr lang="es-CO" sz="2400" b="1" dirty="0">
                <a:latin typeface="Algerian" panose="04020705040A02060702" pitchFamily="82" charset="0"/>
              </a:rPr>
              <a:t>CONSISTENCIA</a:t>
            </a:r>
            <a:endParaRPr lang="es-CO" sz="24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15238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115623027"/>
              </p:ext>
            </p:extLst>
          </p:nvPr>
        </p:nvGraphicFramePr>
        <p:xfrm>
          <a:off x="692548" y="835880"/>
          <a:ext cx="7675276" cy="3613706"/>
        </p:xfrm>
        <a:graphic>
          <a:graphicData uri="http://schemas.openxmlformats.org/drawingml/2006/table">
            <a:tbl>
              <a:tblPr>
                <a:tableStyleId>{5C22544A-7EE6-4342-B048-85BDC9FD1C3A}</a:tableStyleId>
              </a:tblPr>
              <a:tblGrid>
                <a:gridCol w="531100">
                  <a:extLst>
                    <a:ext uri="{9D8B030D-6E8A-4147-A177-3AD203B41FA5}">
                      <a16:colId xmlns:a16="http://schemas.microsoft.com/office/drawing/2014/main" val="2667395497"/>
                    </a:ext>
                  </a:extLst>
                </a:gridCol>
                <a:gridCol w="7144176">
                  <a:extLst>
                    <a:ext uri="{9D8B030D-6E8A-4147-A177-3AD203B41FA5}">
                      <a16:colId xmlns:a16="http://schemas.microsoft.com/office/drawing/2014/main" val="539675217"/>
                    </a:ext>
                  </a:extLst>
                </a:gridCol>
              </a:tblGrid>
              <a:tr h="3613706">
                <a:tc>
                  <a:txBody>
                    <a:bodyPr/>
                    <a:lstStyle/>
                    <a:p>
                      <a:pPr algn="l" fontAlgn="ct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ES" sz="1800" b="0" i="0" u="none" strike="noStrike" dirty="0">
                          <a:solidFill>
                            <a:srgbClr val="000000"/>
                          </a:solidFill>
                          <a:effectLst/>
                          <a:latin typeface="Arial" panose="020B0604020202020204" pitchFamily="34" charset="0"/>
                        </a:rPr>
                        <a:t>Desde el año 2017 iniciamos una serie de actividades y programaos que permitieran la formación integral de nuestros estudiantes sordos, sus familias y la comunidad educativa en general. Con el tiempo a prendiendo de la experiencia, basados en la normatividad vigente y las necesidades de la comunidad se ha venido transformando hasta ser una experiencia significativa que aporta y nutre los diferentes proyectos y actividades pedagógicas, culturales y sociales. Y lo mas importante fortalece las competencias comunicativas de la comunidad</a:t>
                      </a:r>
                    </a:p>
                  </a:txBody>
                  <a:tcPr marL="4782" marR="4782" marT="4782" marB="0" anchor="ctr"/>
                </a:tc>
                <a:extLst>
                  <a:ext uri="{0D108BD9-81ED-4DB2-BD59-A6C34878D82A}">
                    <a16:rowId xmlns:a16="http://schemas.microsoft.com/office/drawing/2014/main" val="782949291"/>
                  </a:ext>
                </a:extLst>
              </a:tr>
            </a:tbl>
          </a:graphicData>
        </a:graphic>
      </p:graphicFrame>
      <p:pic>
        <p:nvPicPr>
          <p:cNvPr id="3" name="Imagen 2">
            <a:extLst>
              <a:ext uri="{FF2B5EF4-FFF2-40B4-BE49-F238E27FC236}">
                <a16:creationId xmlns:a16="http://schemas.microsoft.com/office/drawing/2014/main" id="{7BBB3FB9-486B-1098-537B-38A7B46CDF09}"/>
              </a:ext>
            </a:extLst>
          </p:cNvPr>
          <p:cNvPicPr>
            <a:picLocks noChangeAspect="1"/>
          </p:cNvPicPr>
          <p:nvPr/>
        </p:nvPicPr>
        <p:blipFill>
          <a:blip r:embed="rId3"/>
          <a:stretch>
            <a:fillRect/>
          </a:stretch>
        </p:blipFill>
        <p:spPr>
          <a:xfrm>
            <a:off x="8568434" y="1965243"/>
            <a:ext cx="2232015" cy="1223912"/>
          </a:xfrm>
          <a:prstGeom prst="rect">
            <a:avLst/>
          </a:prstGeom>
        </p:spPr>
      </p:pic>
      <p:pic>
        <p:nvPicPr>
          <p:cNvPr id="4" name="Imagen 3">
            <a:extLst>
              <a:ext uri="{FF2B5EF4-FFF2-40B4-BE49-F238E27FC236}">
                <a16:creationId xmlns:a16="http://schemas.microsoft.com/office/drawing/2014/main" id="{7F90D436-C317-57F4-F26E-57FB1E8E9EA9}"/>
              </a:ext>
            </a:extLst>
          </p:cNvPr>
          <p:cNvPicPr>
            <a:picLocks noChangeAspect="1"/>
          </p:cNvPicPr>
          <p:nvPr/>
        </p:nvPicPr>
        <p:blipFill>
          <a:blip r:embed="rId4"/>
          <a:stretch>
            <a:fillRect/>
          </a:stretch>
        </p:blipFill>
        <p:spPr>
          <a:xfrm rot="320729">
            <a:off x="8635494" y="297974"/>
            <a:ext cx="2476929" cy="1555274"/>
          </a:xfrm>
          <a:prstGeom prst="rect">
            <a:avLst/>
          </a:prstGeom>
        </p:spPr>
      </p:pic>
      <p:pic>
        <p:nvPicPr>
          <p:cNvPr id="6" name="Imagen 5">
            <a:extLst>
              <a:ext uri="{FF2B5EF4-FFF2-40B4-BE49-F238E27FC236}">
                <a16:creationId xmlns:a16="http://schemas.microsoft.com/office/drawing/2014/main" id="{30B7D056-386A-5FB3-4BB4-DC31C5539B23}"/>
              </a:ext>
            </a:extLst>
          </p:cNvPr>
          <p:cNvPicPr>
            <a:picLocks noChangeAspect="1"/>
          </p:cNvPicPr>
          <p:nvPr/>
        </p:nvPicPr>
        <p:blipFill>
          <a:blip r:embed="rId5"/>
          <a:stretch>
            <a:fillRect/>
          </a:stretch>
        </p:blipFill>
        <p:spPr>
          <a:xfrm rot="21054316">
            <a:off x="9039108" y="3254454"/>
            <a:ext cx="1968305" cy="1090423"/>
          </a:xfrm>
          <a:prstGeom prst="rect">
            <a:avLst/>
          </a:prstGeom>
        </p:spPr>
      </p:pic>
      <p:sp>
        <p:nvSpPr>
          <p:cNvPr id="7" name="CuadroTexto 6">
            <a:extLst>
              <a:ext uri="{FF2B5EF4-FFF2-40B4-BE49-F238E27FC236}">
                <a16:creationId xmlns:a16="http://schemas.microsoft.com/office/drawing/2014/main" id="{5263D5AC-8AD6-DA70-8F0E-E6456B59C30A}"/>
              </a:ext>
            </a:extLst>
          </p:cNvPr>
          <p:cNvSpPr txBox="1"/>
          <p:nvPr/>
        </p:nvSpPr>
        <p:spPr>
          <a:xfrm>
            <a:off x="2477386" y="835880"/>
            <a:ext cx="3476847" cy="984885"/>
          </a:xfrm>
          <a:prstGeom prst="rect">
            <a:avLst/>
          </a:prstGeom>
          <a:noFill/>
        </p:spPr>
        <p:txBody>
          <a:bodyPr wrap="square" rtlCol="0">
            <a:spAutoFit/>
          </a:bodyPr>
          <a:lstStyle/>
          <a:p>
            <a:r>
              <a:rPr lang="es-CO" sz="4000" b="1" dirty="0">
                <a:latin typeface="Algerian" panose="04020705040A02060702" pitchFamily="82" charset="0"/>
              </a:rPr>
              <a:t>MADUREZ</a:t>
            </a:r>
            <a:endParaRPr lang="es-CO" sz="40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353884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785801913"/>
              </p:ext>
            </p:extLst>
          </p:nvPr>
        </p:nvGraphicFramePr>
        <p:xfrm>
          <a:off x="853543" y="1287074"/>
          <a:ext cx="5773479" cy="2747982"/>
        </p:xfrm>
        <a:graphic>
          <a:graphicData uri="http://schemas.openxmlformats.org/drawingml/2006/table">
            <a:tbl>
              <a:tblPr>
                <a:tableStyleId>{5C22544A-7EE6-4342-B048-85BDC9FD1C3A}</a:tableStyleId>
              </a:tblPr>
              <a:tblGrid>
                <a:gridCol w="101900">
                  <a:extLst>
                    <a:ext uri="{9D8B030D-6E8A-4147-A177-3AD203B41FA5}">
                      <a16:colId xmlns:a16="http://schemas.microsoft.com/office/drawing/2014/main" val="2667395497"/>
                    </a:ext>
                  </a:extLst>
                </a:gridCol>
                <a:gridCol w="5671579">
                  <a:extLst>
                    <a:ext uri="{9D8B030D-6E8A-4147-A177-3AD203B41FA5}">
                      <a16:colId xmlns:a16="http://schemas.microsoft.com/office/drawing/2014/main" val="539675217"/>
                    </a:ext>
                  </a:extLst>
                </a:gridCol>
              </a:tblGrid>
              <a:tr h="2545562">
                <a:tc>
                  <a:txBody>
                    <a:bodyPr/>
                    <a:lstStyle/>
                    <a:p>
                      <a:pPr algn="l" fontAlgn="ct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ES" sz="1800" b="0" i="0" u="none" strike="noStrike" dirty="0">
                          <a:solidFill>
                            <a:srgbClr val="000000"/>
                          </a:solidFill>
                          <a:effectLst/>
                          <a:latin typeface="Arial" panose="020B0604020202020204" pitchFamily="34" charset="0"/>
                        </a:rPr>
                        <a:t>En esta experiencia cabemos todos los integrantes de la comunidad educativa, además que se nutre de las diferentes oportunidades y estrategias para llegar a toda la comunidad educativa en forma virtual (página institucional y Analogías), presencial(capacitaciones, talleres, sensibilizaciones, presentaciones, exposiciones,  y actos culturales o izadas de bandera) escrita</a:t>
                      </a:r>
                    </a:p>
                    <a:p>
                      <a:pPr algn="just" fontAlgn="ctr"/>
                      <a:r>
                        <a:rPr lang="es-ES" sz="1800" b="0" i="0" u="none" strike="noStrike" dirty="0">
                          <a:solidFill>
                            <a:srgbClr val="000000"/>
                          </a:solidFill>
                          <a:effectLst/>
                          <a:latin typeface="Arial" panose="020B0604020202020204" pitchFamily="34" charset="0"/>
                        </a:rPr>
                        <a:t>(material didáctico, escrito revista Analogía y periódico La voz liceísta)</a:t>
                      </a:r>
                    </a:p>
                  </a:txBody>
                  <a:tcPr marL="4782" marR="4782" marT="4782" marB="0" anchor="ctr"/>
                </a:tc>
                <a:extLst>
                  <a:ext uri="{0D108BD9-81ED-4DB2-BD59-A6C34878D82A}">
                    <a16:rowId xmlns:a16="http://schemas.microsoft.com/office/drawing/2014/main" val="1597408403"/>
                  </a:ext>
                </a:extLst>
              </a:tr>
            </a:tbl>
          </a:graphicData>
        </a:graphic>
      </p:graphicFrame>
      <p:pic>
        <p:nvPicPr>
          <p:cNvPr id="3" name="Imagen 2">
            <a:extLst>
              <a:ext uri="{FF2B5EF4-FFF2-40B4-BE49-F238E27FC236}">
                <a16:creationId xmlns:a16="http://schemas.microsoft.com/office/drawing/2014/main" id="{E89C4191-FF9F-7979-42B4-22F6E71776CB}"/>
              </a:ext>
            </a:extLst>
          </p:cNvPr>
          <p:cNvPicPr>
            <a:picLocks noChangeAspect="1"/>
          </p:cNvPicPr>
          <p:nvPr/>
        </p:nvPicPr>
        <p:blipFill>
          <a:blip r:embed="rId3"/>
          <a:stretch>
            <a:fillRect/>
          </a:stretch>
        </p:blipFill>
        <p:spPr>
          <a:xfrm>
            <a:off x="7224360" y="2780048"/>
            <a:ext cx="3536626" cy="1843814"/>
          </a:xfrm>
          <a:prstGeom prst="rect">
            <a:avLst/>
          </a:prstGeom>
          <a:ln w="889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3C0CC4AC-3362-CB22-8E23-6E7A4CFBED8A}"/>
              </a:ext>
            </a:extLst>
          </p:cNvPr>
          <p:cNvPicPr>
            <a:picLocks noChangeAspect="1"/>
          </p:cNvPicPr>
          <p:nvPr/>
        </p:nvPicPr>
        <p:blipFill>
          <a:blip r:embed="rId4"/>
          <a:stretch>
            <a:fillRect/>
          </a:stretch>
        </p:blipFill>
        <p:spPr>
          <a:xfrm>
            <a:off x="7078744" y="701747"/>
            <a:ext cx="3794382" cy="1748693"/>
          </a:xfrm>
          <a:prstGeom prst="rect">
            <a:avLst/>
          </a:prstGeom>
          <a:ln w="88900" cap="sq" cmpd="thickThin">
            <a:solidFill>
              <a:srgbClr val="000000"/>
            </a:solidFill>
            <a:prstDash val="solid"/>
            <a:miter lim="800000"/>
          </a:ln>
          <a:effectLst>
            <a:innerShdw blurRad="76200">
              <a:srgbClr val="000000"/>
            </a:innerShdw>
          </a:effectLst>
        </p:spPr>
      </p:pic>
      <p:sp>
        <p:nvSpPr>
          <p:cNvPr id="4" name="CuadroTexto 3">
            <a:extLst>
              <a:ext uri="{FF2B5EF4-FFF2-40B4-BE49-F238E27FC236}">
                <a16:creationId xmlns:a16="http://schemas.microsoft.com/office/drawing/2014/main" id="{4EFBF5CF-2E72-8B82-DCFF-6BC376220769}"/>
              </a:ext>
            </a:extLst>
          </p:cNvPr>
          <p:cNvSpPr txBox="1"/>
          <p:nvPr/>
        </p:nvSpPr>
        <p:spPr>
          <a:xfrm>
            <a:off x="2200940" y="701747"/>
            <a:ext cx="3476846" cy="800219"/>
          </a:xfrm>
          <a:prstGeom prst="rect">
            <a:avLst/>
          </a:prstGeom>
          <a:noFill/>
        </p:spPr>
        <p:txBody>
          <a:bodyPr wrap="square" rtlCol="0">
            <a:spAutoFit/>
          </a:bodyPr>
          <a:lstStyle/>
          <a:p>
            <a:r>
              <a:rPr lang="es-CO" sz="2800" b="1" dirty="0">
                <a:latin typeface="Algerian" panose="04020705040A02060702" pitchFamily="82" charset="0"/>
              </a:rPr>
              <a:t>EMPODERAMIENTO</a:t>
            </a:r>
            <a:endParaRPr lang="es-CO" sz="28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943985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435207967"/>
              </p:ext>
            </p:extLst>
          </p:nvPr>
        </p:nvGraphicFramePr>
        <p:xfrm>
          <a:off x="3327875" y="1029547"/>
          <a:ext cx="6273325" cy="3570942"/>
        </p:xfrm>
        <a:graphic>
          <a:graphicData uri="http://schemas.openxmlformats.org/drawingml/2006/table">
            <a:tbl>
              <a:tblPr>
                <a:tableStyleId>{5C22544A-7EE6-4342-B048-85BDC9FD1C3A}</a:tableStyleId>
              </a:tblPr>
              <a:tblGrid>
                <a:gridCol w="1884908">
                  <a:extLst>
                    <a:ext uri="{9D8B030D-6E8A-4147-A177-3AD203B41FA5}">
                      <a16:colId xmlns:a16="http://schemas.microsoft.com/office/drawing/2014/main" val="2667395497"/>
                    </a:ext>
                  </a:extLst>
                </a:gridCol>
                <a:gridCol w="4388417">
                  <a:extLst>
                    <a:ext uri="{9D8B030D-6E8A-4147-A177-3AD203B41FA5}">
                      <a16:colId xmlns:a16="http://schemas.microsoft.com/office/drawing/2014/main" val="539675217"/>
                    </a:ext>
                  </a:extLst>
                </a:gridCol>
              </a:tblGrid>
              <a:tr h="3000731">
                <a:tc>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b="0" kern="1200" dirty="0">
                          <a:solidFill>
                            <a:schemeClr val="dk1"/>
                          </a:solidFill>
                          <a:effectLst/>
                          <a:latin typeface="+mn-lt"/>
                          <a:ea typeface="+mn-ea"/>
                          <a:cs typeface="+mn-cs"/>
                        </a:rPr>
                        <a:t>Se realiza periódicamente teniendo en cuenta el cronograma de actividades propuesto y haciendo los ajustes necesarios.  Se anexan actividades que acompañen a otros proyectos o experiencias significativas.</a:t>
                      </a:r>
                      <a:endParaRPr lang="es-CO" sz="1800" b="1" kern="1200" dirty="0">
                        <a:solidFill>
                          <a:schemeClr val="dk1"/>
                        </a:solidFill>
                        <a:effectLst/>
                        <a:latin typeface="+mn-lt"/>
                        <a:ea typeface="+mn-ea"/>
                        <a:cs typeface="+mn-cs"/>
                      </a:endParaRPr>
                    </a:p>
                    <a:p>
                      <a:pPr algn="just"/>
                      <a:r>
                        <a:rPr lang="es-CO" sz="1800" kern="1200" dirty="0">
                          <a:solidFill>
                            <a:schemeClr val="dk1"/>
                          </a:solidFill>
                          <a:effectLst/>
                          <a:latin typeface="+mn-lt"/>
                          <a:ea typeface="+mn-ea"/>
                          <a:cs typeface="+mn-cs"/>
                        </a:rPr>
                        <a:t>Se realizan dos procesos de evaluación cualitativa: una en el mes de mayo para valorar el avance de los proyectos y las acciones de mejoramiento y otra final en el mes de noviembre</a:t>
                      </a: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pic>
        <p:nvPicPr>
          <p:cNvPr id="3" name="Imagen 2">
            <a:extLst>
              <a:ext uri="{FF2B5EF4-FFF2-40B4-BE49-F238E27FC236}">
                <a16:creationId xmlns:a16="http://schemas.microsoft.com/office/drawing/2014/main" id="{39A55909-37F8-7FF6-C384-BC60464799CA}"/>
              </a:ext>
            </a:extLst>
          </p:cNvPr>
          <p:cNvPicPr>
            <a:picLocks noChangeAspect="1"/>
          </p:cNvPicPr>
          <p:nvPr/>
        </p:nvPicPr>
        <p:blipFill>
          <a:blip r:embed="rId3"/>
          <a:stretch>
            <a:fillRect/>
          </a:stretch>
        </p:blipFill>
        <p:spPr>
          <a:xfrm>
            <a:off x="2242169" y="447254"/>
            <a:ext cx="1933834" cy="1721101"/>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4E34D459-6C02-FC0B-43F9-03F7D3C983C7}"/>
              </a:ext>
            </a:extLst>
          </p:cNvPr>
          <p:cNvPicPr>
            <a:picLocks noChangeAspect="1"/>
          </p:cNvPicPr>
          <p:nvPr/>
        </p:nvPicPr>
        <p:blipFill>
          <a:blip r:embed="rId4"/>
          <a:stretch>
            <a:fillRect/>
          </a:stretch>
        </p:blipFill>
        <p:spPr>
          <a:xfrm>
            <a:off x="1263978" y="2381382"/>
            <a:ext cx="2653643" cy="1785132"/>
          </a:xfrm>
          <a:prstGeom prst="rect">
            <a:avLst/>
          </a:prstGeom>
          <a:ln w="88900" cap="sq" cmpd="thickThin">
            <a:solidFill>
              <a:srgbClr val="000000"/>
            </a:solidFill>
            <a:prstDash val="solid"/>
            <a:miter lim="800000"/>
          </a:ln>
          <a:effectLst>
            <a:innerShdw blurRad="76200">
              <a:srgbClr val="000000"/>
            </a:innerShdw>
          </a:effectLst>
        </p:spPr>
      </p:pic>
      <p:sp>
        <p:nvSpPr>
          <p:cNvPr id="6" name="CuadroTexto 5">
            <a:extLst>
              <a:ext uri="{FF2B5EF4-FFF2-40B4-BE49-F238E27FC236}">
                <a16:creationId xmlns:a16="http://schemas.microsoft.com/office/drawing/2014/main" id="{EF1905FD-453E-B94C-4273-C0EF9C5E4396}"/>
              </a:ext>
            </a:extLst>
          </p:cNvPr>
          <p:cNvSpPr txBox="1"/>
          <p:nvPr/>
        </p:nvSpPr>
        <p:spPr>
          <a:xfrm>
            <a:off x="4571999" y="542260"/>
            <a:ext cx="5762847" cy="861774"/>
          </a:xfrm>
          <a:prstGeom prst="rect">
            <a:avLst/>
          </a:prstGeom>
          <a:noFill/>
        </p:spPr>
        <p:txBody>
          <a:bodyPr wrap="square" rtlCol="0">
            <a:spAutoFit/>
          </a:bodyPr>
          <a:lstStyle/>
          <a:p>
            <a:r>
              <a:rPr lang="es-CO" sz="3200" b="1" dirty="0">
                <a:latin typeface="Algerian" panose="04020705040A02060702" pitchFamily="82" charset="0"/>
              </a:rPr>
              <a:t>EVALUACIÓN Y SEGUIMIENTO</a:t>
            </a:r>
            <a:endParaRPr lang="es-CO" sz="32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308554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59469272"/>
              </p:ext>
            </p:extLst>
          </p:nvPr>
        </p:nvGraphicFramePr>
        <p:xfrm>
          <a:off x="-467833" y="858238"/>
          <a:ext cx="7697973" cy="7082326"/>
        </p:xfrm>
        <a:graphic>
          <a:graphicData uri="http://schemas.openxmlformats.org/drawingml/2006/table">
            <a:tbl>
              <a:tblPr>
                <a:tableStyleId>{5C22544A-7EE6-4342-B048-85BDC9FD1C3A}</a:tableStyleId>
              </a:tblPr>
              <a:tblGrid>
                <a:gridCol w="1252365">
                  <a:extLst>
                    <a:ext uri="{9D8B030D-6E8A-4147-A177-3AD203B41FA5}">
                      <a16:colId xmlns:a16="http://schemas.microsoft.com/office/drawing/2014/main" val="2667395497"/>
                    </a:ext>
                  </a:extLst>
                </a:gridCol>
                <a:gridCol w="6445608">
                  <a:extLst>
                    <a:ext uri="{9D8B030D-6E8A-4147-A177-3AD203B41FA5}">
                      <a16:colId xmlns:a16="http://schemas.microsoft.com/office/drawing/2014/main" val="539675217"/>
                    </a:ext>
                  </a:extLst>
                </a:gridCol>
              </a:tblGrid>
              <a:tr h="3585658">
                <a:tc rowSpan="4">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b="0" kern="1200" dirty="0">
                          <a:solidFill>
                            <a:schemeClr val="dk1"/>
                          </a:solidFill>
                          <a:effectLst/>
                          <a:latin typeface="+mn-lt"/>
                          <a:ea typeface="+mn-ea"/>
                          <a:cs typeface="+mn-cs"/>
                        </a:rPr>
                        <a:t>Lo más positivo es visualizar la comunidad sorda garantizando su derecho a la comunicación de acuerdo a sus necesidades y características propias de la lengua de señas colombiana</a:t>
                      </a:r>
                      <a:endParaRPr lang="es-CO" sz="1800" b="1" kern="1200" dirty="0">
                        <a:solidFill>
                          <a:schemeClr val="dk1"/>
                        </a:solidFill>
                        <a:effectLst/>
                        <a:latin typeface="+mn-lt"/>
                        <a:ea typeface="+mn-ea"/>
                        <a:cs typeface="+mn-cs"/>
                      </a:endParaRPr>
                    </a:p>
                    <a:p>
                      <a:pPr algn="just"/>
                      <a:r>
                        <a:rPr lang="es-CO" sz="1800" b="0" kern="1200" dirty="0">
                          <a:solidFill>
                            <a:schemeClr val="dk1"/>
                          </a:solidFill>
                          <a:effectLst/>
                          <a:latin typeface="+mn-lt"/>
                          <a:ea typeface="+mn-ea"/>
                          <a:cs typeface="+mn-cs"/>
                        </a:rPr>
                        <a:t> </a:t>
                      </a:r>
                      <a:endParaRPr lang="es-CO" sz="1800" b="1" kern="1200" dirty="0">
                        <a:solidFill>
                          <a:schemeClr val="dk1"/>
                        </a:solidFill>
                        <a:effectLst/>
                        <a:latin typeface="+mn-lt"/>
                        <a:ea typeface="+mn-ea"/>
                        <a:cs typeface="+mn-cs"/>
                      </a:endParaRPr>
                    </a:p>
                    <a:p>
                      <a:pPr algn="just"/>
                      <a:r>
                        <a:rPr lang="es-CO" sz="1800" b="0" kern="1200" dirty="0">
                          <a:solidFill>
                            <a:schemeClr val="dk1"/>
                          </a:solidFill>
                          <a:effectLst/>
                          <a:latin typeface="+mn-lt"/>
                          <a:ea typeface="+mn-ea"/>
                          <a:cs typeface="+mn-cs"/>
                        </a:rPr>
                        <a:t>También hemos fortalecido las relaciones familiares a través de talleres prácticos y divertidos que permiten un aprendizaje colaborativo y la formación integral de los educandos, además de mejorar la comunicación de la institución con la familia.</a:t>
                      </a:r>
                      <a:endParaRPr lang="es-CO" sz="1800" b="1" kern="1200" dirty="0">
                        <a:solidFill>
                          <a:schemeClr val="dk1"/>
                        </a:solidFill>
                        <a:effectLst/>
                        <a:latin typeface="+mn-lt"/>
                        <a:ea typeface="+mn-ea"/>
                        <a:cs typeface="+mn-cs"/>
                      </a:endParaRPr>
                    </a:p>
                    <a:p>
                      <a:pPr algn="just"/>
                      <a:r>
                        <a:rPr lang="es-CO" sz="1800" b="0" kern="1200" dirty="0">
                          <a:solidFill>
                            <a:schemeClr val="dk1"/>
                          </a:solidFill>
                          <a:effectLst/>
                          <a:latin typeface="+mn-lt"/>
                          <a:ea typeface="+mn-ea"/>
                          <a:cs typeface="+mn-cs"/>
                        </a:rPr>
                        <a:t> </a:t>
                      </a:r>
                      <a:endParaRPr lang="es-CO" sz="1800" b="1" kern="1200" dirty="0">
                        <a:solidFill>
                          <a:schemeClr val="dk1"/>
                        </a:solidFill>
                        <a:effectLst/>
                        <a:latin typeface="+mn-lt"/>
                        <a:ea typeface="+mn-ea"/>
                        <a:cs typeface="+mn-cs"/>
                      </a:endParaRPr>
                    </a:p>
                    <a:p>
                      <a:r>
                        <a:rPr lang="es-CO" sz="1800" b="0" kern="1200" dirty="0">
                          <a:solidFill>
                            <a:schemeClr val="dk1"/>
                          </a:solidFill>
                          <a:effectLst/>
                          <a:latin typeface="+mn-lt"/>
                          <a:ea typeface="+mn-ea"/>
                          <a:cs typeface="+mn-cs"/>
                        </a:rPr>
                        <a:t>La mayor dificultad que se presenta es que el equipo de trabajo son las profesionales de apoyo y se depende de las fechas y condiciones de contratación y además de la disposición de las compañeras para el desarrollo de trabajo.</a:t>
                      </a:r>
                      <a:endParaRPr lang="es-CO" sz="1800" b="1" kern="1200" dirty="0">
                        <a:solidFill>
                          <a:schemeClr val="dk1"/>
                        </a:solidFill>
                        <a:effectLst/>
                        <a:latin typeface="+mn-lt"/>
                        <a:ea typeface="+mn-ea"/>
                        <a:cs typeface="+mn-cs"/>
                      </a:endParaRPr>
                    </a:p>
                  </a:txBody>
                  <a:tcPr marL="4782" marR="4782" marT="4782" marB="0" anchor="ctr"/>
                </a:tc>
                <a:extLst>
                  <a:ext uri="{0D108BD9-81ED-4DB2-BD59-A6C34878D82A}">
                    <a16:rowId xmlns:a16="http://schemas.microsoft.com/office/drawing/2014/main" val="2517312088"/>
                  </a:ext>
                </a:extLst>
              </a:tr>
              <a:tr h="605865">
                <a:tc vMerge="1">
                  <a:txBody>
                    <a:bodyPr/>
                    <a:lstStyle/>
                    <a:p>
                      <a:endParaRPr lang="es-CO"/>
                    </a:p>
                  </a:txBody>
                  <a:tcPr/>
                </a:tc>
                <a:tc>
                  <a:txBody>
                    <a:bodyPr/>
                    <a:lstStyle/>
                    <a:p>
                      <a:pPr marL="285750" indent="-285750" algn="l" fontAlgn="ctr">
                        <a:buFont typeface="Arial" panose="020B0604020202020204" pitchFamily="34" charset="0"/>
                        <a:buChar char="•"/>
                      </a:pPr>
                      <a:endParaRPr lang="es-ES" sz="2000" b="0" i="0" u="none" strike="noStrike" dirty="0">
                        <a:solidFill>
                          <a:srgbClr val="000000"/>
                        </a:solidFill>
                        <a:effectLst/>
                        <a:latin typeface="Symbol" panose="05050102010706020507" pitchFamily="18" charset="2"/>
                      </a:endParaRPr>
                    </a:p>
                  </a:txBody>
                  <a:tcPr marL="114761" marR="4782" marT="4782" marB="0" anchor="ctr"/>
                </a:tc>
                <a:extLst>
                  <a:ext uri="{0D108BD9-81ED-4DB2-BD59-A6C34878D82A}">
                    <a16:rowId xmlns:a16="http://schemas.microsoft.com/office/drawing/2014/main" val="1558713013"/>
                  </a:ext>
                </a:extLst>
              </a:tr>
              <a:tr h="605865">
                <a:tc vMerge="1">
                  <a:txBody>
                    <a:bodyPr/>
                    <a:lstStyle/>
                    <a:p>
                      <a:endParaRPr lang="es-CO"/>
                    </a:p>
                  </a:txBody>
                  <a:tcPr/>
                </a:tc>
                <a:tc>
                  <a:txBody>
                    <a:bodyPr/>
                    <a:lstStyle/>
                    <a:p>
                      <a:pPr marL="285750" indent="-285750" algn="l" fontAlgn="ctr">
                        <a:buFont typeface="Arial" panose="020B0604020202020204" pitchFamily="34" charset="0"/>
                        <a:buChar char="•"/>
                      </a:pPr>
                      <a:endParaRPr lang="es-CO" sz="2000" b="0" i="0" u="none" strike="noStrike" dirty="0">
                        <a:solidFill>
                          <a:srgbClr val="000000"/>
                        </a:solidFill>
                        <a:effectLst/>
                        <a:latin typeface="Symbol" panose="05050102010706020507" pitchFamily="18" charset="2"/>
                      </a:endParaRPr>
                    </a:p>
                  </a:txBody>
                  <a:tcPr marL="114761" marR="4782" marT="4782" marB="0" anchor="ctr"/>
                </a:tc>
                <a:extLst>
                  <a:ext uri="{0D108BD9-81ED-4DB2-BD59-A6C34878D82A}">
                    <a16:rowId xmlns:a16="http://schemas.microsoft.com/office/drawing/2014/main" val="2484773483"/>
                  </a:ext>
                </a:extLst>
              </a:tr>
              <a:tr h="1202374">
                <a:tc vMerge="1">
                  <a:txBody>
                    <a:bodyPr/>
                    <a:lstStyle/>
                    <a:p>
                      <a:endParaRPr lang="es-CO"/>
                    </a:p>
                  </a:txBody>
                  <a:tcPr/>
                </a:tc>
                <a:tc>
                  <a:txBody>
                    <a:bodyPr/>
                    <a:lstStyle/>
                    <a:p>
                      <a:pPr marL="285750" indent="-285750" algn="l" fontAlgn="ctr">
                        <a:buFont typeface="Arial" panose="020B0604020202020204" pitchFamily="34" charset="0"/>
                        <a:buChar char="•"/>
                      </a:pPr>
                      <a:endParaRPr lang="es-ES" sz="2000" b="0" i="0" u="none" strike="noStrike" dirty="0">
                        <a:solidFill>
                          <a:srgbClr val="000000"/>
                        </a:solidFill>
                        <a:effectLst/>
                        <a:latin typeface="Symbol" panose="05050102010706020507" pitchFamily="18" charset="2"/>
                      </a:endParaRPr>
                    </a:p>
                  </a:txBody>
                  <a:tcPr marL="114761" marR="4782" marT="4782" marB="0" anchor="ctr"/>
                </a:tc>
                <a:extLst>
                  <a:ext uri="{0D108BD9-81ED-4DB2-BD59-A6C34878D82A}">
                    <a16:rowId xmlns:a16="http://schemas.microsoft.com/office/drawing/2014/main" val="1550489227"/>
                  </a:ext>
                </a:extLst>
              </a:tr>
            </a:tbl>
          </a:graphicData>
        </a:graphic>
      </p:graphicFrame>
      <p:pic>
        <p:nvPicPr>
          <p:cNvPr id="3" name="Imagen 2">
            <a:extLst>
              <a:ext uri="{FF2B5EF4-FFF2-40B4-BE49-F238E27FC236}">
                <a16:creationId xmlns:a16="http://schemas.microsoft.com/office/drawing/2014/main" id="{F2136643-A00F-BEF4-72AB-3D9A0B9EBAA0}"/>
              </a:ext>
            </a:extLst>
          </p:cNvPr>
          <p:cNvPicPr>
            <a:picLocks noChangeAspect="1"/>
          </p:cNvPicPr>
          <p:nvPr/>
        </p:nvPicPr>
        <p:blipFill>
          <a:blip r:embed="rId3"/>
          <a:stretch>
            <a:fillRect/>
          </a:stretch>
        </p:blipFill>
        <p:spPr>
          <a:xfrm>
            <a:off x="7875142" y="3016147"/>
            <a:ext cx="2649269" cy="1382731"/>
          </a:xfrm>
          <a:prstGeom prst="rect">
            <a:avLst/>
          </a:prstGeom>
        </p:spPr>
      </p:pic>
      <p:pic>
        <p:nvPicPr>
          <p:cNvPr id="4" name="Imagen 3">
            <a:extLst>
              <a:ext uri="{FF2B5EF4-FFF2-40B4-BE49-F238E27FC236}">
                <a16:creationId xmlns:a16="http://schemas.microsoft.com/office/drawing/2014/main" id="{6D1281F9-C3E5-A21C-647B-1B1A703596A4}"/>
              </a:ext>
            </a:extLst>
          </p:cNvPr>
          <p:cNvPicPr>
            <a:picLocks noChangeAspect="1"/>
          </p:cNvPicPr>
          <p:nvPr/>
        </p:nvPicPr>
        <p:blipFill>
          <a:blip r:embed="rId4"/>
          <a:stretch>
            <a:fillRect/>
          </a:stretch>
        </p:blipFill>
        <p:spPr>
          <a:xfrm>
            <a:off x="7546583" y="858238"/>
            <a:ext cx="2977828" cy="1861979"/>
          </a:xfrm>
          <a:prstGeom prst="rect">
            <a:avLst/>
          </a:prstGeom>
        </p:spPr>
      </p:pic>
      <p:sp>
        <p:nvSpPr>
          <p:cNvPr id="6" name="CuadroTexto 5">
            <a:extLst>
              <a:ext uri="{FF2B5EF4-FFF2-40B4-BE49-F238E27FC236}">
                <a16:creationId xmlns:a16="http://schemas.microsoft.com/office/drawing/2014/main" id="{77F1BA07-9159-E3AA-C570-2A61DC4D0F7A}"/>
              </a:ext>
            </a:extLst>
          </p:cNvPr>
          <p:cNvSpPr txBox="1"/>
          <p:nvPr/>
        </p:nvSpPr>
        <p:spPr>
          <a:xfrm>
            <a:off x="2434856" y="372140"/>
            <a:ext cx="4274288" cy="800219"/>
          </a:xfrm>
          <a:prstGeom prst="rect">
            <a:avLst/>
          </a:prstGeom>
          <a:noFill/>
        </p:spPr>
        <p:txBody>
          <a:bodyPr wrap="square" rtlCol="0">
            <a:spAutoFit/>
          </a:bodyPr>
          <a:lstStyle/>
          <a:p>
            <a:r>
              <a:rPr lang="es-CO" sz="2800" b="1" dirty="0">
                <a:latin typeface="Algerian" panose="04020705040A02060702" pitchFamily="82" charset="0"/>
              </a:rPr>
              <a:t>RESULTADOS</a:t>
            </a:r>
            <a:endParaRPr lang="es-CO" sz="28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4134727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74871608"/>
              </p:ext>
            </p:extLst>
          </p:nvPr>
        </p:nvGraphicFramePr>
        <p:xfrm>
          <a:off x="1031358" y="789762"/>
          <a:ext cx="9282223" cy="2617421"/>
        </p:xfrm>
        <a:graphic>
          <a:graphicData uri="http://schemas.openxmlformats.org/drawingml/2006/table">
            <a:tbl>
              <a:tblPr>
                <a:tableStyleId>{5C22544A-7EE6-4342-B048-85BDC9FD1C3A}</a:tableStyleId>
              </a:tblPr>
              <a:tblGrid>
                <a:gridCol w="182158">
                  <a:extLst>
                    <a:ext uri="{9D8B030D-6E8A-4147-A177-3AD203B41FA5}">
                      <a16:colId xmlns:a16="http://schemas.microsoft.com/office/drawing/2014/main" val="2667395497"/>
                    </a:ext>
                  </a:extLst>
                </a:gridCol>
                <a:gridCol w="9100065">
                  <a:extLst>
                    <a:ext uri="{9D8B030D-6E8A-4147-A177-3AD203B41FA5}">
                      <a16:colId xmlns:a16="http://schemas.microsoft.com/office/drawing/2014/main" val="539675217"/>
                    </a:ext>
                  </a:extLst>
                </a:gridCol>
              </a:tblGrid>
              <a:tr h="2617421">
                <a:tc>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CO" sz="1800" b="0" kern="1200" dirty="0">
                          <a:solidFill>
                            <a:schemeClr val="dk1"/>
                          </a:solidFill>
                          <a:effectLst/>
                          <a:latin typeface="+mn-lt"/>
                          <a:ea typeface="+mn-ea"/>
                          <a:cs typeface="+mn-cs"/>
                        </a:rPr>
                        <a:t>Se desarrolla un proyecto de escuela de padres de familia de estudiantes sordos que contienen actividades de comunicación, celebración y capacitación a las familias de los sordos.</a:t>
                      </a:r>
                      <a:endParaRPr lang="es-CO" sz="1800" b="1" kern="1200" dirty="0">
                        <a:solidFill>
                          <a:schemeClr val="dk1"/>
                        </a:solidFill>
                        <a:effectLst/>
                        <a:latin typeface="+mn-lt"/>
                        <a:ea typeface="+mn-ea"/>
                        <a:cs typeface="+mn-cs"/>
                      </a:endParaRPr>
                    </a:p>
                    <a:p>
                      <a:pPr algn="just"/>
                      <a:r>
                        <a:rPr lang="es-CO" sz="1800" b="0" kern="1200" dirty="0">
                          <a:solidFill>
                            <a:schemeClr val="dk1"/>
                          </a:solidFill>
                          <a:effectLst/>
                          <a:latin typeface="+mn-lt"/>
                          <a:ea typeface="+mn-ea"/>
                          <a:cs typeface="+mn-cs"/>
                        </a:rPr>
                        <a:t>Se socializa al equipo de apoyo incluyendo la parte directiva y docente orientadora, la evaluación del ejercicio permite las adecuaciones para mejorar los resultados para el siguiente año.</a:t>
                      </a:r>
                      <a:endParaRPr lang="es-CO" sz="1800" b="1" kern="1200" dirty="0">
                        <a:solidFill>
                          <a:schemeClr val="dk1"/>
                        </a:solidFill>
                        <a:effectLst/>
                        <a:latin typeface="+mn-lt"/>
                        <a:ea typeface="+mn-ea"/>
                        <a:cs typeface="+mn-cs"/>
                      </a:endParaRPr>
                    </a:p>
                    <a:p>
                      <a:pPr algn="l" fontAlgn="ct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878609262"/>
                  </a:ext>
                </a:extLst>
              </a:tr>
            </a:tbl>
          </a:graphicData>
        </a:graphic>
      </p:graphicFrame>
      <p:pic>
        <p:nvPicPr>
          <p:cNvPr id="3" name="Imagen 2">
            <a:extLst>
              <a:ext uri="{FF2B5EF4-FFF2-40B4-BE49-F238E27FC236}">
                <a16:creationId xmlns:a16="http://schemas.microsoft.com/office/drawing/2014/main" id="{F6835003-876A-A312-2709-2F8641E5D4A0}"/>
              </a:ext>
            </a:extLst>
          </p:cNvPr>
          <p:cNvPicPr>
            <a:picLocks noChangeAspect="1"/>
          </p:cNvPicPr>
          <p:nvPr/>
        </p:nvPicPr>
        <p:blipFill>
          <a:blip r:embed="rId3"/>
          <a:srcRect b="10540"/>
          <a:stretch>
            <a:fillRect/>
          </a:stretch>
        </p:blipFill>
        <p:spPr>
          <a:xfrm>
            <a:off x="3610981" y="3031522"/>
            <a:ext cx="5302374" cy="1866816"/>
          </a:xfrm>
          <a:prstGeom prst="rect">
            <a:avLst/>
          </a:prstGeom>
          <a:ln w="88900" cap="sq" cmpd="thickThin">
            <a:solidFill>
              <a:srgbClr val="000000"/>
            </a:solidFill>
            <a:prstDash val="solid"/>
            <a:miter lim="800000"/>
          </a:ln>
          <a:effectLst>
            <a:innerShdw blurRad="76200">
              <a:srgbClr val="000000"/>
            </a:innerShdw>
          </a:effectLst>
        </p:spPr>
      </p:pic>
      <p:sp>
        <p:nvSpPr>
          <p:cNvPr id="4" name="CuadroTexto 3">
            <a:extLst>
              <a:ext uri="{FF2B5EF4-FFF2-40B4-BE49-F238E27FC236}">
                <a16:creationId xmlns:a16="http://schemas.microsoft.com/office/drawing/2014/main" id="{0655F991-4696-8CF4-D85A-120FB90045A6}"/>
              </a:ext>
            </a:extLst>
          </p:cNvPr>
          <p:cNvSpPr txBox="1"/>
          <p:nvPr/>
        </p:nvSpPr>
        <p:spPr>
          <a:xfrm>
            <a:off x="2551814" y="467833"/>
            <a:ext cx="3976577" cy="861774"/>
          </a:xfrm>
          <a:prstGeom prst="rect">
            <a:avLst/>
          </a:prstGeom>
          <a:noFill/>
        </p:spPr>
        <p:txBody>
          <a:bodyPr wrap="square" rtlCol="0">
            <a:spAutoFit/>
          </a:bodyPr>
          <a:lstStyle/>
          <a:p>
            <a:pPr algn="ctr"/>
            <a:r>
              <a:rPr lang="es-CO" sz="3200" b="1" dirty="0">
                <a:latin typeface="Algerian" panose="04020705040A02060702" pitchFamily="82" charset="0"/>
              </a:rPr>
              <a:t>TRANSFERENCIA</a:t>
            </a:r>
            <a:endParaRPr lang="es-CO" sz="32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133866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319386301"/>
              </p:ext>
            </p:extLst>
          </p:nvPr>
        </p:nvGraphicFramePr>
        <p:xfrm>
          <a:off x="3785710" y="981894"/>
          <a:ext cx="6589213" cy="4315426"/>
        </p:xfrm>
        <a:graphic>
          <a:graphicData uri="http://schemas.openxmlformats.org/drawingml/2006/table">
            <a:tbl>
              <a:tblPr>
                <a:tableStyleId>{5C22544A-7EE6-4342-B048-85BDC9FD1C3A}</a:tableStyleId>
              </a:tblPr>
              <a:tblGrid>
                <a:gridCol w="400102">
                  <a:extLst>
                    <a:ext uri="{9D8B030D-6E8A-4147-A177-3AD203B41FA5}">
                      <a16:colId xmlns:a16="http://schemas.microsoft.com/office/drawing/2014/main" val="2667395497"/>
                    </a:ext>
                  </a:extLst>
                </a:gridCol>
                <a:gridCol w="6189111">
                  <a:extLst>
                    <a:ext uri="{9D8B030D-6E8A-4147-A177-3AD203B41FA5}">
                      <a16:colId xmlns:a16="http://schemas.microsoft.com/office/drawing/2014/main" val="539675217"/>
                    </a:ext>
                  </a:extLst>
                </a:gridCol>
              </a:tblGrid>
              <a:tr h="4315426">
                <a:tc>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ES" sz="2000" b="0" i="0" u="none" strike="noStrike" dirty="0">
                          <a:solidFill>
                            <a:srgbClr val="000000"/>
                          </a:solidFill>
                          <a:effectLst/>
                          <a:latin typeface="Arial" panose="020B0604020202020204" pitchFamily="34" charset="0"/>
                        </a:rPr>
                        <a:t>Nuestro proyecto está basado en los principios y lineamientos de la educación bilingüe y bicultural para sordos, además fortalece los procesos de formación inclusiva basados en la equidad, oportunidad, y variación neurolingüística; además fortalece la comunicación en la comunidad educativa, ya que cuenta con actividades dirigidas a </a:t>
                      </a:r>
                      <a:r>
                        <a:rPr lang="es-ES" sz="2000" b="1" i="0" u="none" strike="noStrike" dirty="0">
                          <a:solidFill>
                            <a:srgbClr val="000000"/>
                          </a:solidFill>
                          <a:effectLst/>
                          <a:latin typeface="Arial" panose="020B0604020202020204" pitchFamily="34" charset="0"/>
                        </a:rPr>
                        <a:t>estudiantes sordos,  sus familias, estudiantes oyentes, docentes y comunidad en general,  </a:t>
                      </a:r>
                      <a:r>
                        <a:rPr lang="es-ES" sz="2000" b="0" i="0" u="none" strike="noStrike" dirty="0">
                          <a:solidFill>
                            <a:srgbClr val="000000"/>
                          </a:solidFill>
                          <a:effectLst/>
                          <a:latin typeface="Arial" panose="020B0604020202020204" pitchFamily="34" charset="0"/>
                        </a:rPr>
                        <a:t>a través de la participación de otras experiencias significativas que se desarrollan en nuestra institución.</a:t>
                      </a:r>
                    </a:p>
                  </a:txBody>
                  <a:tcPr marL="4782" marR="4782" marT="4782" marB="0" anchor="ctr"/>
                </a:tc>
                <a:extLst>
                  <a:ext uri="{0D108BD9-81ED-4DB2-BD59-A6C34878D82A}">
                    <a16:rowId xmlns:a16="http://schemas.microsoft.com/office/drawing/2014/main" val="648028817"/>
                  </a:ext>
                </a:extLst>
              </a:tr>
            </a:tbl>
          </a:graphicData>
        </a:graphic>
      </p:graphicFrame>
      <p:pic>
        <p:nvPicPr>
          <p:cNvPr id="3" name="Imagen 2">
            <a:extLst>
              <a:ext uri="{FF2B5EF4-FFF2-40B4-BE49-F238E27FC236}">
                <a16:creationId xmlns:a16="http://schemas.microsoft.com/office/drawing/2014/main" id="{C16BE4F7-3E62-9EAC-DAC7-F15B872FE0A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04298" y="1541522"/>
            <a:ext cx="3009533" cy="1738315"/>
          </a:xfrm>
          <a:prstGeom prst="rect">
            <a:avLst/>
          </a:prstGeom>
          <a:ln w="88900" cap="sq" cmpd="thickThin">
            <a:solidFill>
              <a:srgbClr val="000000"/>
            </a:solidFill>
            <a:prstDash val="solid"/>
            <a:miter lim="800000"/>
          </a:ln>
          <a:effectLst>
            <a:innerShdw blurRad="76200">
              <a:srgbClr val="000000"/>
            </a:innerShdw>
          </a:effectLst>
        </p:spPr>
      </p:pic>
      <p:sp>
        <p:nvSpPr>
          <p:cNvPr id="4" name="CuadroTexto 3">
            <a:extLst>
              <a:ext uri="{FF2B5EF4-FFF2-40B4-BE49-F238E27FC236}">
                <a16:creationId xmlns:a16="http://schemas.microsoft.com/office/drawing/2014/main" id="{F7AF9348-84E3-670E-D32F-3FED96BAE4D8}"/>
              </a:ext>
            </a:extLst>
          </p:cNvPr>
          <p:cNvSpPr txBox="1"/>
          <p:nvPr/>
        </p:nvSpPr>
        <p:spPr>
          <a:xfrm>
            <a:off x="776177" y="911556"/>
            <a:ext cx="3009533" cy="800219"/>
          </a:xfrm>
          <a:prstGeom prst="rect">
            <a:avLst/>
          </a:prstGeom>
          <a:noFill/>
        </p:spPr>
        <p:txBody>
          <a:bodyPr wrap="square" rtlCol="0">
            <a:spAutoFit/>
          </a:bodyPr>
          <a:lstStyle/>
          <a:p>
            <a:r>
              <a:rPr lang="es-CO" sz="2800" b="1" dirty="0">
                <a:latin typeface="Algerian" panose="04020705040A02060702" pitchFamily="82" charset="0"/>
              </a:rPr>
              <a:t>SOSTENIBILIDAD</a:t>
            </a:r>
            <a:endParaRPr lang="es-CO" sz="28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2830353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6958"/>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738279209"/>
              </p:ext>
            </p:extLst>
          </p:nvPr>
        </p:nvGraphicFramePr>
        <p:xfrm>
          <a:off x="1063256" y="851024"/>
          <a:ext cx="9069572" cy="3711277"/>
        </p:xfrm>
        <a:graphic>
          <a:graphicData uri="http://schemas.openxmlformats.org/drawingml/2006/table">
            <a:tbl>
              <a:tblPr>
                <a:tableStyleId>{5C22544A-7EE6-4342-B048-85BDC9FD1C3A}</a:tableStyleId>
              </a:tblPr>
              <a:tblGrid>
                <a:gridCol w="63390">
                  <a:extLst>
                    <a:ext uri="{9D8B030D-6E8A-4147-A177-3AD203B41FA5}">
                      <a16:colId xmlns:a16="http://schemas.microsoft.com/office/drawing/2014/main" val="2667395497"/>
                    </a:ext>
                  </a:extLst>
                </a:gridCol>
                <a:gridCol w="9006182">
                  <a:extLst>
                    <a:ext uri="{9D8B030D-6E8A-4147-A177-3AD203B41FA5}">
                      <a16:colId xmlns:a16="http://schemas.microsoft.com/office/drawing/2014/main" val="539675217"/>
                    </a:ext>
                  </a:extLst>
                </a:gridCol>
              </a:tblGrid>
              <a:tr h="3036561">
                <a:tc rowSpan="3">
                  <a:txBody>
                    <a:bodyPr/>
                    <a:lstStyle/>
                    <a:p>
                      <a:pPr algn="l" fontAlgn="ct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lvl="0"/>
                      <a:r>
                        <a:rPr lang="es-CO" sz="1800" dirty="0">
                          <a:solidFill>
                            <a:sysClr val="windowText" lastClr="000000"/>
                          </a:solidFill>
                        </a:rPr>
                        <a:t>Nuestra experiencia esta basada en  el aprendizaje de la lengua de señas colombiana a la comunidad educativa en comunidad sorda-</a:t>
                      </a:r>
                    </a:p>
                    <a:p>
                      <a:pPr lvl="0"/>
                      <a:endParaRPr lang="es-CO" sz="1800" dirty="0">
                        <a:solidFill>
                          <a:sysClr val="windowText" lastClr="000000"/>
                        </a:solidFill>
                      </a:endParaRPr>
                    </a:p>
                    <a:p>
                      <a:pPr lvl="0"/>
                      <a:r>
                        <a:rPr lang="es-CO" sz="1800" dirty="0">
                          <a:solidFill>
                            <a:sysClr val="windowText" lastClr="000000"/>
                          </a:solidFill>
                        </a:rPr>
                        <a:t>Garantizar los derechos de las personas sordas de acuerdo a la equidad y diversidad a través de la comunicación en lengua de señas colombiana</a:t>
                      </a:r>
                    </a:p>
                    <a:p>
                      <a:pPr lvl="0"/>
                      <a:endParaRPr lang="es-CO" sz="1800" dirty="0">
                        <a:solidFill>
                          <a:sysClr val="windowText" lastClr="000000"/>
                        </a:solidFill>
                      </a:endParaRPr>
                    </a:p>
                    <a:p>
                      <a:pPr lvl="0"/>
                      <a:r>
                        <a:rPr lang="es-CO" sz="1800" dirty="0">
                          <a:solidFill>
                            <a:sysClr val="windowText" lastClr="000000"/>
                          </a:solidFill>
                        </a:rPr>
                        <a:t>Involucra a toda la comunidad educativa de forma indirecta ya que aprovecha el desarrollo de diferentes experiencias significativas y proyectos para visibilizar a la comunidad sorda y trasmitir un mensaje sobre cultura sorda y lengua de señas colombiana.</a:t>
                      </a:r>
                    </a:p>
                  </a:txBody>
                  <a:tcPr marL="4782" marR="4782" marT="4782" marB="0" anchor="ctr"/>
                </a:tc>
                <a:extLst>
                  <a:ext uri="{0D108BD9-81ED-4DB2-BD59-A6C34878D82A}">
                    <a16:rowId xmlns:a16="http://schemas.microsoft.com/office/drawing/2014/main" val="1990812606"/>
                  </a:ext>
                </a:extLst>
              </a:tr>
              <a:tr h="289379">
                <a:tc vMerge="1">
                  <a:txBody>
                    <a:bodyPr/>
                    <a:lstStyle/>
                    <a:p>
                      <a:endParaRPr lang="es-CO"/>
                    </a:p>
                  </a:txBody>
                  <a:tcPr/>
                </a:tc>
                <a:tc>
                  <a:txBody>
                    <a:bodyPr/>
                    <a:lstStyle/>
                    <a:p>
                      <a:pPr algn="l" fontAlgn="ctr"/>
                      <a:endParaRPr lang="es-ES" sz="1800" b="0" i="0" u="none" strike="noStrike" dirty="0">
                        <a:solidFill>
                          <a:srgbClr val="000000"/>
                        </a:solidFill>
                        <a:effectLst/>
                        <a:latin typeface="Symbol" panose="05050102010706020507" pitchFamily="18" charset="2"/>
                      </a:endParaRPr>
                    </a:p>
                  </a:txBody>
                  <a:tcPr marL="114761" marR="4782" marT="4782" marB="0" anchor="ctr"/>
                </a:tc>
                <a:extLst>
                  <a:ext uri="{0D108BD9-81ED-4DB2-BD59-A6C34878D82A}">
                    <a16:rowId xmlns:a16="http://schemas.microsoft.com/office/drawing/2014/main" val="4166287931"/>
                  </a:ext>
                </a:extLst>
              </a:tr>
              <a:tr h="385337">
                <a:tc vMerge="1">
                  <a:txBody>
                    <a:bodyPr/>
                    <a:lstStyle/>
                    <a:p>
                      <a:endParaRPr lang="es-CO"/>
                    </a:p>
                  </a:txBody>
                  <a:tcPr/>
                </a:tc>
                <a:tc>
                  <a:txBody>
                    <a:bodyPr/>
                    <a:lstStyle/>
                    <a:p>
                      <a:pPr algn="l" fontAlgn="ctr"/>
                      <a:endParaRPr lang="es-ES" sz="2000" b="0" i="0" u="none" strike="noStrike" dirty="0">
                        <a:solidFill>
                          <a:srgbClr val="000000"/>
                        </a:solidFill>
                        <a:effectLst/>
                        <a:latin typeface="Symbol" panose="05050102010706020507" pitchFamily="18" charset="2"/>
                      </a:endParaRPr>
                    </a:p>
                  </a:txBody>
                  <a:tcPr marL="114761" marR="4782" marT="4782" marB="0" anchor="ctr"/>
                </a:tc>
                <a:extLst>
                  <a:ext uri="{0D108BD9-81ED-4DB2-BD59-A6C34878D82A}">
                    <a16:rowId xmlns:a16="http://schemas.microsoft.com/office/drawing/2014/main" val="1724067045"/>
                  </a:ext>
                </a:extLst>
              </a:tr>
            </a:tbl>
          </a:graphicData>
        </a:graphic>
      </p:graphicFrame>
      <p:pic>
        <p:nvPicPr>
          <p:cNvPr id="3" name="Imagen 2">
            <a:extLst>
              <a:ext uri="{FF2B5EF4-FFF2-40B4-BE49-F238E27FC236}">
                <a16:creationId xmlns:a16="http://schemas.microsoft.com/office/drawing/2014/main" id="{08363A02-822E-614C-63EB-32B9A36AA7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383906" y="4037978"/>
            <a:ext cx="4214136" cy="1968998"/>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3E1B6962-7C10-24D3-4378-B9C4196CA353}"/>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5918692" y="4037978"/>
            <a:ext cx="3542083" cy="1968998"/>
          </a:xfrm>
          <a:prstGeom prst="rect">
            <a:avLst/>
          </a:prstGeom>
          <a:ln w="88900" cap="sq" cmpd="thickThin">
            <a:solidFill>
              <a:srgbClr val="000000"/>
            </a:solidFill>
            <a:prstDash val="solid"/>
            <a:miter lim="800000"/>
          </a:ln>
          <a:effectLst>
            <a:innerShdw blurRad="76200">
              <a:srgbClr val="000000"/>
            </a:innerShdw>
          </a:effectLst>
        </p:spPr>
      </p:pic>
      <p:sp>
        <p:nvSpPr>
          <p:cNvPr id="6" name="CuadroTexto 5">
            <a:extLst>
              <a:ext uri="{FF2B5EF4-FFF2-40B4-BE49-F238E27FC236}">
                <a16:creationId xmlns:a16="http://schemas.microsoft.com/office/drawing/2014/main" id="{74B711EB-5C23-92A4-0917-1CC97531902B}"/>
              </a:ext>
            </a:extLst>
          </p:cNvPr>
          <p:cNvSpPr txBox="1"/>
          <p:nvPr/>
        </p:nvSpPr>
        <p:spPr>
          <a:xfrm>
            <a:off x="3083442" y="297712"/>
            <a:ext cx="3562650" cy="923330"/>
          </a:xfrm>
          <a:prstGeom prst="rect">
            <a:avLst/>
          </a:prstGeom>
          <a:noFill/>
        </p:spPr>
        <p:txBody>
          <a:bodyPr wrap="square" rtlCol="0">
            <a:spAutoFit/>
          </a:bodyPr>
          <a:lstStyle/>
          <a:p>
            <a:r>
              <a:rPr lang="es-CO" sz="3600" b="1" dirty="0">
                <a:latin typeface="Algerian" panose="04020705040A02060702" pitchFamily="82" charset="0"/>
              </a:rPr>
              <a:t>INNOVACIÓN</a:t>
            </a:r>
            <a:endParaRPr lang="es-CO" sz="3600" b="1" dirty="0">
              <a:solidFill>
                <a:srgbClr val="000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27616680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2967</TotalTime>
  <Words>864</Words>
  <Application>Microsoft Office PowerPoint</Application>
  <PresentationFormat>Panorámica</PresentationFormat>
  <Paragraphs>52</Paragraphs>
  <Slides>11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Algerian</vt:lpstr>
      <vt:lpstr>Aptos</vt:lpstr>
      <vt:lpstr>Aptos Display</vt:lpstr>
      <vt:lpstr>Arial</vt:lpstr>
      <vt:lpstr>Calibri</vt:lpstr>
      <vt:lpstr>Symbol</vt:lpstr>
      <vt:lpstr>Times New Roman</vt:lpstr>
      <vt:lpstr>Tema de Office</vt:lpstr>
      <vt:lpstr>APRENDIENDO A COMUNCARNOS EN LENGUA DE SEÑAS COLOMBIANA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Nombre de la Experiencia Significativa</dc:title>
  <dc:creator>Sebastian Santamaria</dc:creator>
  <cp:lastModifiedBy>CALIDAD-MEJORAMIENTO</cp:lastModifiedBy>
  <cp:revision>10</cp:revision>
  <dcterms:created xsi:type="dcterms:W3CDTF">2025-07-23T15:35:07Z</dcterms:created>
  <dcterms:modified xsi:type="dcterms:W3CDTF">2026-06-10T19:32:54Z</dcterms:modified>
</cp:coreProperties>
</file>