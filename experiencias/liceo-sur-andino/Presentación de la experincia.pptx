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3" r:id="rId4"/>
    <p:sldId id="267" r:id="rId5"/>
    <p:sldId id="268" r:id="rId6"/>
    <p:sldId id="264" r:id="rId7"/>
    <p:sldId id="265" r:id="rId8"/>
    <p:sldId id="266" r:id="rId9"/>
    <p:sldId id="262" r:id="rId10"/>
    <p:sldId id="261" r:id="rId1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F8AF11-E97C-4622-B0C1-E2BECE0B539C}" type="datetimeFigureOut">
              <a:rPr lang="es-CO" smtClean="0"/>
              <a:t>24/04/2026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2924A-31AD-4381-BBE1-4705D207F0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89960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24/04/2026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24/04/2026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24/04/2026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24/04/2026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24/04/2026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24/04/2026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24/04/2026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24/04/2026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24/04/2026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24/04/2026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24/04/2026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24/04/2026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BE18AA7-6786-4FE0-AEE7-51C0988954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237" y="3195058"/>
            <a:ext cx="4862731" cy="296651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D393296-FE98-4523-BC63-E413D3A183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195057"/>
            <a:ext cx="5284763" cy="296651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9A9389E2-3BAE-46BF-B346-01E042D4952E}"/>
              </a:ext>
            </a:extLst>
          </p:cNvPr>
          <p:cNvSpPr txBox="1"/>
          <p:nvPr/>
        </p:nvSpPr>
        <p:spPr>
          <a:xfrm>
            <a:off x="2602522" y="1544521"/>
            <a:ext cx="825773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s-CO" sz="2800" b="1" dirty="0"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ARMONÍAS PAR </a:t>
            </a:r>
            <a:r>
              <a:rPr lang="es-CO" sz="2800" b="1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PAZ: TRANSFORMANDO EL MUNDO DESDE EL AULA</a:t>
            </a:r>
            <a:endParaRPr lang="es-CO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B207A8E-344B-45BD-8025-291A93ACE8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293" y="1051560"/>
            <a:ext cx="1765494" cy="176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93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135" y="18596"/>
            <a:ext cx="121920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61DD5D8-C8C5-41D2-8F34-BA92A65E33F9}"/>
              </a:ext>
            </a:extLst>
          </p:cNvPr>
          <p:cNvSpPr txBox="1"/>
          <p:nvPr/>
        </p:nvSpPr>
        <p:spPr>
          <a:xfrm>
            <a:off x="737967" y="889843"/>
            <a:ext cx="1071606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dirty="0"/>
              <a:t>Objetivo General</a:t>
            </a:r>
          </a:p>
          <a:p>
            <a:pPr algn="ctr"/>
            <a:endParaRPr lang="es-ES" sz="3600" b="1" dirty="0"/>
          </a:p>
          <a:p>
            <a:pPr algn="just"/>
            <a:r>
              <a:rPr lang="es-ES" sz="3600" dirty="0"/>
              <a:t>Propiciar, a través del Concierto Liceísta por la Paz, un espacio formativo en el que los estudiantes entren en contacto con otras dimensiones del aprendizaje, como la sensibilidad estética, la expresión artística y la construcción de paz, fortaleciendo así procesos de formación integral y cultura democrática en la comunidad educativa.</a:t>
            </a:r>
            <a:endParaRPr lang="es-CO" sz="3600" dirty="0"/>
          </a:p>
        </p:txBody>
      </p:sp>
    </p:spTree>
    <p:extLst>
      <p:ext uri="{BB962C8B-B14F-4D97-AF65-F5344CB8AC3E}">
        <p14:creationId xmlns:p14="http://schemas.microsoft.com/office/powerpoint/2010/main" val="568321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A006CD3-B0DF-417F-B416-498AF2CF549A}"/>
              </a:ext>
            </a:extLst>
          </p:cNvPr>
          <p:cNvSpPr txBox="1"/>
          <p:nvPr/>
        </p:nvSpPr>
        <p:spPr>
          <a:xfrm>
            <a:off x="594359" y="1067571"/>
            <a:ext cx="1080633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b="1" dirty="0"/>
              <a:t>Objetivo específicos</a:t>
            </a:r>
          </a:p>
          <a:p>
            <a:endParaRPr lang="es-ES" sz="2400" b="1" dirty="0"/>
          </a:p>
          <a:p>
            <a:pPr lvl="1"/>
            <a:r>
              <a:rPr lang="es-ES" sz="2400" dirty="0"/>
              <a:t>o	Fomentar en los estudiantes la </a:t>
            </a:r>
            <a:r>
              <a:rPr lang="es-ES" sz="2400" b="1" dirty="0"/>
              <a:t>valoración del arte y la música </a:t>
            </a:r>
            <a:r>
              <a:rPr lang="es-ES" sz="2400" dirty="0"/>
              <a:t>como expresiones que fortalecen la sensibilidad estética, la creatividad y la formación integral.</a:t>
            </a:r>
            <a:endParaRPr lang="es-CO" sz="24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2E82628-19D1-4AA2-9A4C-AB60505B1903}"/>
              </a:ext>
            </a:extLst>
          </p:cNvPr>
          <p:cNvSpPr txBox="1"/>
          <p:nvPr/>
        </p:nvSpPr>
        <p:spPr>
          <a:xfrm>
            <a:off x="594359" y="3230142"/>
            <a:ext cx="1071606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s-ES" sz="2400" dirty="0"/>
              <a:t>o	Sensibilizar a la comunidad educativa </a:t>
            </a:r>
            <a:r>
              <a:rPr lang="es-ES" sz="2400" b="1" dirty="0"/>
              <a:t>frente a la importancia de la paz</a:t>
            </a:r>
            <a:r>
              <a:rPr lang="es-ES" sz="2400" dirty="0"/>
              <a:t>, la convivencia y los derechos humanos, a través de experiencias artísticas que favorezcan la reflexión y el reconocimiento del otro.</a:t>
            </a:r>
            <a:endParaRPr lang="es-CO" sz="24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897027B-6C0B-4D55-A52A-2A8EA326C096}"/>
              </a:ext>
            </a:extLst>
          </p:cNvPr>
          <p:cNvSpPr txBox="1"/>
          <p:nvPr/>
        </p:nvSpPr>
        <p:spPr>
          <a:xfrm>
            <a:off x="594359" y="4928655"/>
            <a:ext cx="105191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s-ES" sz="2400" dirty="0"/>
              <a:t>o	Promover espacios de </a:t>
            </a:r>
            <a:r>
              <a:rPr lang="es-ES" sz="2400" b="1" dirty="0"/>
              <a:t>participación y expresión artística </a:t>
            </a:r>
            <a:r>
              <a:rPr lang="es-ES" sz="2400" dirty="0"/>
              <a:t>que consoliden una cultura democrática y de respeto mutuo en la institución educativa.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2899782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42" y="14068"/>
            <a:ext cx="12192000" cy="68580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9A9389E2-3BAE-46BF-B346-01E042D4952E}"/>
              </a:ext>
            </a:extLst>
          </p:cNvPr>
          <p:cNvSpPr txBox="1"/>
          <p:nvPr/>
        </p:nvSpPr>
        <p:spPr>
          <a:xfrm>
            <a:off x="2588454" y="1934307"/>
            <a:ext cx="825773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s-CO" sz="4000" b="1" dirty="0"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ARMONÍAS PAR </a:t>
            </a:r>
            <a:r>
              <a:rPr lang="es-CO" sz="4000" b="1" dirty="0">
                <a:effectLst/>
                <a:latin typeface="Bodoni MT" panose="020706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PAZ: TRANSFORMANDO EL MUNDO DESDE EL AULA</a:t>
            </a:r>
            <a:endParaRPr lang="es-CO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B207A8E-344B-45BD-8025-291A93ACE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293" y="1051560"/>
            <a:ext cx="1765494" cy="176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721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4" y="0"/>
            <a:ext cx="12192000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07DA4EA-CBDC-46F7-8ADC-200F4A31AC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82" y="103909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540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A006CD3-B0DF-417F-B416-498AF2CF549A}"/>
              </a:ext>
            </a:extLst>
          </p:cNvPr>
          <p:cNvSpPr txBox="1"/>
          <p:nvPr/>
        </p:nvSpPr>
        <p:spPr>
          <a:xfrm>
            <a:off x="594359" y="476721"/>
            <a:ext cx="1080633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b="1" dirty="0"/>
              <a:t>Cronograma </a:t>
            </a:r>
          </a:p>
          <a:p>
            <a:endParaRPr lang="es-ES" sz="2400" b="1" dirty="0"/>
          </a:p>
        </p:txBody>
      </p: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B7A1600A-9AFA-48ED-9063-844C71D65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790262"/>
              </p:ext>
            </p:extLst>
          </p:nvPr>
        </p:nvGraphicFramePr>
        <p:xfrm>
          <a:off x="590846" y="1091634"/>
          <a:ext cx="1090832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6109">
                  <a:extLst>
                    <a:ext uri="{9D8B030D-6E8A-4147-A177-3AD203B41FA5}">
                      <a16:colId xmlns:a16="http://schemas.microsoft.com/office/drawing/2014/main" val="2689840682"/>
                    </a:ext>
                  </a:extLst>
                </a:gridCol>
                <a:gridCol w="3636109">
                  <a:extLst>
                    <a:ext uri="{9D8B030D-6E8A-4147-A177-3AD203B41FA5}">
                      <a16:colId xmlns:a16="http://schemas.microsoft.com/office/drawing/2014/main" val="1191639708"/>
                    </a:ext>
                  </a:extLst>
                </a:gridCol>
                <a:gridCol w="3636109">
                  <a:extLst>
                    <a:ext uri="{9D8B030D-6E8A-4147-A177-3AD203B41FA5}">
                      <a16:colId xmlns:a16="http://schemas.microsoft.com/office/drawing/2014/main" val="15480092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O" sz="2800" dirty="0"/>
                        <a:t>Actividad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800" dirty="0"/>
                        <a:t>Fecha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800" dirty="0"/>
                        <a:t>Producto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684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Realizar en formato el cronograma de actividades </a:t>
                      </a:r>
                      <a:endParaRPr lang="es-CO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800" dirty="0"/>
                        <a:t>Enero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800" dirty="0"/>
                        <a:t>Cronograma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462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Elaborar el subproyecto de servicio social </a:t>
                      </a:r>
                      <a:endParaRPr lang="es-CO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800" dirty="0"/>
                        <a:t>Febrero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800" dirty="0"/>
                        <a:t>Proyecto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612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Realizar el diseño y estructura del material: guías de trabajo pedagógico en el aula para los grados 5, 6-7, 8-9 y 10-11</a:t>
                      </a:r>
                      <a:endParaRPr lang="es-CO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800" dirty="0"/>
                        <a:t>Marzo y abril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800" dirty="0"/>
                        <a:t>Guías pedagógicas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8227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1485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A006CD3-B0DF-417F-B416-498AF2CF549A}"/>
              </a:ext>
            </a:extLst>
          </p:cNvPr>
          <p:cNvSpPr txBox="1"/>
          <p:nvPr/>
        </p:nvSpPr>
        <p:spPr>
          <a:xfrm>
            <a:off x="594359" y="476721"/>
            <a:ext cx="1080633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b="1" dirty="0"/>
              <a:t>Cronograma </a:t>
            </a:r>
          </a:p>
          <a:p>
            <a:endParaRPr lang="es-ES" sz="2400" b="1" dirty="0"/>
          </a:p>
        </p:txBody>
      </p: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B7A1600A-9AFA-48ED-9063-844C71D65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208343"/>
              </p:ext>
            </p:extLst>
          </p:nvPr>
        </p:nvGraphicFramePr>
        <p:xfrm>
          <a:off x="590846" y="1091634"/>
          <a:ext cx="10908327" cy="463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7419">
                  <a:extLst>
                    <a:ext uri="{9D8B030D-6E8A-4147-A177-3AD203B41FA5}">
                      <a16:colId xmlns:a16="http://schemas.microsoft.com/office/drawing/2014/main" val="2689840682"/>
                    </a:ext>
                  </a:extLst>
                </a:gridCol>
                <a:gridCol w="2404799">
                  <a:extLst>
                    <a:ext uri="{9D8B030D-6E8A-4147-A177-3AD203B41FA5}">
                      <a16:colId xmlns:a16="http://schemas.microsoft.com/office/drawing/2014/main" val="1191639708"/>
                    </a:ext>
                  </a:extLst>
                </a:gridCol>
                <a:gridCol w="3636109">
                  <a:extLst>
                    <a:ext uri="{9D8B030D-6E8A-4147-A177-3AD203B41FA5}">
                      <a16:colId xmlns:a16="http://schemas.microsoft.com/office/drawing/2014/main" val="15480092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O" sz="2800" dirty="0"/>
                        <a:t>Actividad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800" dirty="0"/>
                        <a:t>Fecha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800" dirty="0"/>
                        <a:t>Producto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684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Aplicar las guías pedagógicas de la experiencia en las clases del área de ciencias sociales</a:t>
                      </a:r>
                      <a:endParaRPr lang="es-CO" sz="28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es-CO" sz="2800" dirty="0"/>
                    </a:p>
                    <a:p>
                      <a:endParaRPr lang="es-CO" sz="2800" dirty="0"/>
                    </a:p>
                    <a:p>
                      <a:r>
                        <a:rPr lang="es-CO" sz="2800" dirty="0"/>
                        <a:t>Mayo y Junio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800" dirty="0"/>
                        <a:t>Producto de la guía y evidencia fotografía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462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Realizar gestión ante diferentes entidades para solicitar apoyo para el concierto</a:t>
                      </a:r>
                      <a:endParaRPr lang="es-CO" sz="2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800" dirty="0"/>
                        <a:t>Convenio y cartas entregadas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612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Realizar audiciones para la selección de los artistas que participaran del concierto </a:t>
                      </a:r>
                      <a:endParaRPr lang="es-CO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800" dirty="0"/>
                        <a:t>Julio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800" dirty="0"/>
                        <a:t>Listado de participantes del concierto.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8227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7433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A006CD3-B0DF-417F-B416-498AF2CF549A}"/>
              </a:ext>
            </a:extLst>
          </p:cNvPr>
          <p:cNvSpPr txBox="1"/>
          <p:nvPr/>
        </p:nvSpPr>
        <p:spPr>
          <a:xfrm>
            <a:off x="594359" y="476721"/>
            <a:ext cx="1080633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b="1" dirty="0"/>
              <a:t>Cronograma </a:t>
            </a:r>
          </a:p>
          <a:p>
            <a:endParaRPr lang="es-ES" sz="2400" b="1" dirty="0"/>
          </a:p>
        </p:txBody>
      </p: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B7A1600A-9AFA-48ED-9063-844C71D65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719627"/>
              </p:ext>
            </p:extLst>
          </p:nvPr>
        </p:nvGraphicFramePr>
        <p:xfrm>
          <a:off x="590846" y="1091634"/>
          <a:ext cx="10908327" cy="463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7419">
                  <a:extLst>
                    <a:ext uri="{9D8B030D-6E8A-4147-A177-3AD203B41FA5}">
                      <a16:colId xmlns:a16="http://schemas.microsoft.com/office/drawing/2014/main" val="2689840682"/>
                    </a:ext>
                  </a:extLst>
                </a:gridCol>
                <a:gridCol w="2404799">
                  <a:extLst>
                    <a:ext uri="{9D8B030D-6E8A-4147-A177-3AD203B41FA5}">
                      <a16:colId xmlns:a16="http://schemas.microsoft.com/office/drawing/2014/main" val="1191639708"/>
                    </a:ext>
                  </a:extLst>
                </a:gridCol>
                <a:gridCol w="3636109">
                  <a:extLst>
                    <a:ext uri="{9D8B030D-6E8A-4147-A177-3AD203B41FA5}">
                      <a16:colId xmlns:a16="http://schemas.microsoft.com/office/drawing/2014/main" val="15480092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O" sz="2800" dirty="0"/>
                        <a:t>Actividad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800" dirty="0"/>
                        <a:t>Fecha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800" dirty="0"/>
                        <a:t>Producto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684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Organizar los resultados de las actividades pedagógicas realizadas con las </a:t>
                      </a:r>
                      <a:r>
                        <a:rPr lang="es-ES" sz="2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guias</a:t>
                      </a:r>
                      <a:r>
                        <a:rPr lang="es-E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es-CO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sz="2800" dirty="0"/>
                    </a:p>
                    <a:p>
                      <a:r>
                        <a:rPr lang="es-CO" sz="2800" dirty="0"/>
                        <a:t>Julio-Julio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800" dirty="0"/>
                        <a:t>Informe del resultado de la actividad.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462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 realiza las presentaciones </a:t>
                      </a:r>
                      <a:r>
                        <a:rPr lang="es-ES" sz="2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artisticas</a:t>
                      </a:r>
                      <a:endParaRPr lang="es-CO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sz="2800" dirty="0"/>
                    </a:p>
                    <a:p>
                      <a:r>
                        <a:rPr lang="es-CO" sz="2800" dirty="0"/>
                        <a:t>Septiembre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800" dirty="0"/>
                        <a:t>Concierto </a:t>
                      </a:r>
                      <a:r>
                        <a:rPr lang="es-CO" sz="2800" dirty="0" err="1"/>
                        <a:t>relizado</a:t>
                      </a:r>
                      <a:endParaRPr lang="es-CO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612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Realizar el proceso de evaluación de las actividades de la experiencia durante el año escolar</a:t>
                      </a:r>
                      <a:endParaRPr lang="es-CO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800" dirty="0"/>
                        <a:t>Octubre-noviembre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800" dirty="0"/>
                        <a:t>Informe de evaluación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8227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2929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C0CE7CA-AB5D-4D43-891D-322652493F37}"/>
              </a:ext>
            </a:extLst>
          </p:cNvPr>
          <p:cNvSpPr txBox="1"/>
          <p:nvPr/>
        </p:nvSpPr>
        <p:spPr>
          <a:xfrm>
            <a:off x="703382" y="366627"/>
            <a:ext cx="105226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>
                <a:ea typeface="Times New Roman" panose="02020603050405020304" pitchFamily="18" charset="0"/>
              </a:rPr>
              <a:t>“ARMONÍAS PARA LA PAZ: </a:t>
            </a:r>
          </a:p>
          <a:p>
            <a:pPr algn="ctr"/>
            <a:r>
              <a:rPr lang="es-CO" sz="2800" b="1" i="1" dirty="0">
                <a:ea typeface="Times New Roman" panose="02020603050405020304" pitchFamily="18" charset="0"/>
              </a:rPr>
              <a:t>Transformando el mundo desde </a:t>
            </a:r>
            <a:r>
              <a:rPr lang="es-CO" sz="2800" b="1" i="1">
                <a:ea typeface="Times New Roman" panose="02020603050405020304" pitchFamily="18" charset="0"/>
              </a:rPr>
              <a:t>el aula”</a:t>
            </a:r>
            <a:endParaRPr lang="es-CO" sz="2400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7CAC86D-EAC9-486D-9204-F933B9A095F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1128"/>
          <a:stretch/>
        </p:blipFill>
        <p:spPr>
          <a:xfrm>
            <a:off x="5971984" y="1626202"/>
            <a:ext cx="2959348" cy="359870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01AF504-57A1-4862-B40B-079464EC785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744"/>
          <a:stretch/>
        </p:blipFill>
        <p:spPr>
          <a:xfrm>
            <a:off x="3569502" y="2472675"/>
            <a:ext cx="2738973" cy="359870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7566BF3-01F5-4759-AD7A-E43C69B799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6987" y="2472675"/>
            <a:ext cx="2699029" cy="359870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8AE21FC-093A-46E5-B0AE-9EAD18D187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382" y="1069127"/>
            <a:ext cx="1909984" cy="190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323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75560EF-CD5D-495A-9762-26F1AA52718A}"/>
              </a:ext>
            </a:extLst>
          </p:cNvPr>
          <p:cNvSpPr txBox="1"/>
          <p:nvPr/>
        </p:nvSpPr>
        <p:spPr>
          <a:xfrm>
            <a:off x="1763486" y="2008414"/>
            <a:ext cx="85725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800" b="1" dirty="0"/>
              <a:t>GRACIAS</a:t>
            </a:r>
            <a:r>
              <a:rPr lang="es-CO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459308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5952</TotalTime>
  <Words>349</Words>
  <Application>Microsoft Office PowerPoint</Application>
  <PresentationFormat>Panorámica</PresentationFormat>
  <Paragraphs>55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Bodoni MT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Santamaria</dc:creator>
  <cp:lastModifiedBy>Lisette .</cp:lastModifiedBy>
  <cp:revision>26</cp:revision>
  <dcterms:created xsi:type="dcterms:W3CDTF">2025-07-23T15:35:07Z</dcterms:created>
  <dcterms:modified xsi:type="dcterms:W3CDTF">2026-04-25T09:55:30Z</dcterms:modified>
</cp:coreProperties>
</file>