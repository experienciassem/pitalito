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88D44CA-DB11-4EB4-9851-1F8F93C4DA64}" type="doc">
      <dgm:prSet loTypeId="urn:microsoft.com/office/officeart/2005/8/layout/arrow2" loCatId="process" qsTypeId="urn:microsoft.com/office/officeart/2005/8/quickstyle/simple1" qsCatId="simple" csTypeId="urn:microsoft.com/office/officeart/2005/8/colors/accent1_2" csCatId="accent1" phldr="1"/>
      <dgm:spPr/>
    </dgm:pt>
    <dgm:pt modelId="{1D8EC8CD-FDEC-4580-ABC1-081FF57837C8}">
      <dgm:prSet phldrT="[Texto]"/>
      <dgm:spPr/>
      <dgm:t>
        <a:bodyPr/>
        <a:lstStyle/>
        <a:p>
          <a:pPr algn="ctr"/>
          <a:r>
            <a:rPr lang="es-MX" b="1" dirty="0"/>
            <a:t>Estamos en la capacidad para llevar nuestra experiencia significativa del periódico a otras instituciones educativas, a diversas sedes, entidades para que puedan ser replicadas. </a:t>
          </a:r>
        </a:p>
      </dgm:t>
    </dgm:pt>
    <dgm:pt modelId="{CB1D9070-450A-4B5D-A437-0D227AD04716}" type="parTrans" cxnId="{15A14D0F-2E73-45C5-8BB1-249C0C246022}">
      <dgm:prSet/>
      <dgm:spPr/>
      <dgm:t>
        <a:bodyPr/>
        <a:lstStyle/>
        <a:p>
          <a:endParaRPr lang="es-MX"/>
        </a:p>
      </dgm:t>
    </dgm:pt>
    <dgm:pt modelId="{F876665D-4B62-470C-8333-C79DC72A82E2}" type="sibTrans" cxnId="{15A14D0F-2E73-45C5-8BB1-249C0C246022}">
      <dgm:prSet/>
      <dgm:spPr/>
      <dgm:t>
        <a:bodyPr/>
        <a:lstStyle/>
        <a:p>
          <a:endParaRPr lang="es-MX"/>
        </a:p>
      </dgm:t>
    </dgm:pt>
    <dgm:pt modelId="{03CA1988-E576-4153-9051-8B3090B1C67F}">
      <dgm:prSet phldrT="[Texto]"/>
      <dgm:spPr/>
      <dgm:t>
        <a:bodyPr/>
        <a:lstStyle/>
        <a:p>
          <a:pPr algn="just"/>
          <a:r>
            <a:rPr lang="es-MX" b="1" dirty="0"/>
            <a:t>Se debe seguir el proceso de autogestión, apoyo desde la institución educativa y desde la Secretaría de Educación. </a:t>
          </a:r>
        </a:p>
        <a:p>
          <a:pPr algn="just"/>
          <a:r>
            <a:rPr lang="es-MX" b="1" dirty="0"/>
            <a:t>Seguir ampliando la participación de toda la comunidad educativa. </a:t>
          </a:r>
        </a:p>
      </dgm:t>
    </dgm:pt>
    <dgm:pt modelId="{ABD5681A-A89D-4DAE-BA2D-B3028448180E}" type="parTrans" cxnId="{846E0EB9-8C73-4438-A9E5-185670299F1C}">
      <dgm:prSet/>
      <dgm:spPr/>
      <dgm:t>
        <a:bodyPr/>
        <a:lstStyle/>
        <a:p>
          <a:endParaRPr lang="es-MX"/>
        </a:p>
      </dgm:t>
    </dgm:pt>
    <dgm:pt modelId="{DACB4437-065D-4DCB-994E-02B204A21B7A}" type="sibTrans" cxnId="{846E0EB9-8C73-4438-A9E5-185670299F1C}">
      <dgm:prSet/>
      <dgm:spPr/>
      <dgm:t>
        <a:bodyPr/>
        <a:lstStyle/>
        <a:p>
          <a:endParaRPr lang="es-MX"/>
        </a:p>
      </dgm:t>
    </dgm:pt>
    <dgm:pt modelId="{AF997D71-D527-4488-83E7-FFDAD2A943C5}">
      <dgm:prSet phldrT="[Texto]"/>
      <dgm:spPr/>
      <dgm:t>
        <a:bodyPr/>
        <a:lstStyle/>
        <a:p>
          <a:r>
            <a:rPr lang="es-MX" b="1" dirty="0"/>
            <a:t>Proyecto de aula, se logra establecer también desde la pedagogía por proyectos, por lo tanto, desde la misma experiencia significativa se realiza investigación y es una investigación misma. </a:t>
          </a:r>
        </a:p>
      </dgm:t>
    </dgm:pt>
    <dgm:pt modelId="{3C5D06F8-226F-4620-9CCE-93263953F553}" type="parTrans" cxnId="{9A7DCF68-E438-4DD2-9C34-B33D1847EAF8}">
      <dgm:prSet/>
      <dgm:spPr/>
      <dgm:t>
        <a:bodyPr/>
        <a:lstStyle/>
        <a:p>
          <a:endParaRPr lang="es-MX"/>
        </a:p>
      </dgm:t>
    </dgm:pt>
    <dgm:pt modelId="{96E10ECD-CF2C-4BB5-AE49-C00C6E1FA353}" type="sibTrans" cxnId="{9A7DCF68-E438-4DD2-9C34-B33D1847EAF8}">
      <dgm:prSet/>
      <dgm:spPr/>
      <dgm:t>
        <a:bodyPr/>
        <a:lstStyle/>
        <a:p>
          <a:endParaRPr lang="es-MX"/>
        </a:p>
      </dgm:t>
    </dgm:pt>
    <dgm:pt modelId="{7C070BB5-DEE6-45E7-8207-F9D353863BCE}" type="pres">
      <dgm:prSet presAssocID="{988D44CA-DB11-4EB4-9851-1F8F93C4DA64}" presName="arrowDiagram" presStyleCnt="0">
        <dgm:presLayoutVars>
          <dgm:chMax val="5"/>
          <dgm:dir/>
          <dgm:resizeHandles val="exact"/>
        </dgm:presLayoutVars>
      </dgm:prSet>
      <dgm:spPr/>
    </dgm:pt>
    <dgm:pt modelId="{A34304F8-B876-437D-A297-A10B9E027613}" type="pres">
      <dgm:prSet presAssocID="{988D44CA-DB11-4EB4-9851-1F8F93C4DA64}" presName="arrow" presStyleLbl="bgShp" presStyleIdx="0" presStyleCnt="1" custLinFactNeighborX="-9844" custLinFactNeighborY="17500"/>
      <dgm:spPr/>
    </dgm:pt>
    <dgm:pt modelId="{4CFF2459-B0D3-4C4C-BF63-86B888A40517}" type="pres">
      <dgm:prSet presAssocID="{988D44CA-DB11-4EB4-9851-1F8F93C4DA64}" presName="arrowDiagram3" presStyleCnt="0"/>
      <dgm:spPr/>
    </dgm:pt>
    <dgm:pt modelId="{E26E8A24-0329-48D9-A85F-40FA71E0EA5E}" type="pres">
      <dgm:prSet presAssocID="{1D8EC8CD-FDEC-4580-ABC1-081FF57837C8}" presName="bullet3a" presStyleLbl="node1" presStyleIdx="0" presStyleCnt="3"/>
      <dgm:spPr/>
    </dgm:pt>
    <dgm:pt modelId="{D13F5D27-3504-4BB0-92DD-89542C29B7DF}" type="pres">
      <dgm:prSet presAssocID="{1D8EC8CD-FDEC-4580-ABC1-081FF57837C8}" presName="textBox3a" presStyleLbl="revTx" presStyleIdx="0" presStyleCnt="3" custLinFactNeighborX="-14334" custLinFactNeighborY="6439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F1BC7C3F-D20C-45D1-8D75-5F3E5A3195E4}" type="pres">
      <dgm:prSet presAssocID="{03CA1988-E576-4153-9051-8B3090B1C67F}" presName="bullet3b" presStyleLbl="node1" presStyleIdx="1" presStyleCnt="3"/>
      <dgm:spPr/>
    </dgm:pt>
    <dgm:pt modelId="{9A1BC371-0B0E-418F-9EC7-6923E05F4878}" type="pres">
      <dgm:prSet presAssocID="{03CA1988-E576-4153-9051-8B3090B1C67F}" presName="textBox3b" presStyleLbl="revTx" presStyleIdx="1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  <dgm:pt modelId="{59561024-F059-44C4-8087-6EA33ACA465C}" type="pres">
      <dgm:prSet presAssocID="{AF997D71-D527-4488-83E7-FFDAD2A943C5}" presName="bullet3c" presStyleLbl="node1" presStyleIdx="2" presStyleCnt="3"/>
      <dgm:spPr/>
    </dgm:pt>
    <dgm:pt modelId="{495AE54A-1DEE-4335-9F98-68DD75F951D5}" type="pres">
      <dgm:prSet presAssocID="{AF997D71-D527-4488-83E7-FFDAD2A943C5}" presName="textBox3c" presStyleLbl="revTx" presStyleIdx="2" presStyleCnt="3">
        <dgm:presLayoutVars>
          <dgm:bulletEnabled val="1"/>
        </dgm:presLayoutVars>
      </dgm:prSet>
      <dgm:spPr/>
      <dgm:t>
        <a:bodyPr/>
        <a:lstStyle/>
        <a:p>
          <a:endParaRPr lang="es-ES"/>
        </a:p>
      </dgm:t>
    </dgm:pt>
  </dgm:ptLst>
  <dgm:cxnLst>
    <dgm:cxn modelId="{9C10ABF0-6A80-4496-B5D6-0BF5B0F3F055}" type="presOf" srcId="{AF997D71-D527-4488-83E7-FFDAD2A943C5}" destId="{495AE54A-1DEE-4335-9F98-68DD75F951D5}" srcOrd="0" destOrd="0" presId="urn:microsoft.com/office/officeart/2005/8/layout/arrow2"/>
    <dgm:cxn modelId="{7CFCE763-BAF9-41EC-8B66-BC4AA530B6B5}" type="presOf" srcId="{988D44CA-DB11-4EB4-9851-1F8F93C4DA64}" destId="{7C070BB5-DEE6-45E7-8207-F9D353863BCE}" srcOrd="0" destOrd="0" presId="urn:microsoft.com/office/officeart/2005/8/layout/arrow2"/>
    <dgm:cxn modelId="{15A14D0F-2E73-45C5-8BB1-249C0C246022}" srcId="{988D44CA-DB11-4EB4-9851-1F8F93C4DA64}" destId="{1D8EC8CD-FDEC-4580-ABC1-081FF57837C8}" srcOrd="0" destOrd="0" parTransId="{CB1D9070-450A-4B5D-A437-0D227AD04716}" sibTransId="{F876665D-4B62-470C-8333-C79DC72A82E2}"/>
    <dgm:cxn modelId="{77546F96-B54D-4785-AB7D-5FB8ED925188}" type="presOf" srcId="{03CA1988-E576-4153-9051-8B3090B1C67F}" destId="{9A1BC371-0B0E-418F-9EC7-6923E05F4878}" srcOrd="0" destOrd="0" presId="urn:microsoft.com/office/officeart/2005/8/layout/arrow2"/>
    <dgm:cxn modelId="{9B585822-B3EF-4A5A-8F71-7E4DDE9E02C1}" type="presOf" srcId="{1D8EC8CD-FDEC-4580-ABC1-081FF57837C8}" destId="{D13F5D27-3504-4BB0-92DD-89542C29B7DF}" srcOrd="0" destOrd="0" presId="urn:microsoft.com/office/officeart/2005/8/layout/arrow2"/>
    <dgm:cxn modelId="{846E0EB9-8C73-4438-A9E5-185670299F1C}" srcId="{988D44CA-DB11-4EB4-9851-1F8F93C4DA64}" destId="{03CA1988-E576-4153-9051-8B3090B1C67F}" srcOrd="1" destOrd="0" parTransId="{ABD5681A-A89D-4DAE-BA2D-B3028448180E}" sibTransId="{DACB4437-065D-4DCB-994E-02B204A21B7A}"/>
    <dgm:cxn modelId="{9A7DCF68-E438-4DD2-9C34-B33D1847EAF8}" srcId="{988D44CA-DB11-4EB4-9851-1F8F93C4DA64}" destId="{AF997D71-D527-4488-83E7-FFDAD2A943C5}" srcOrd="2" destOrd="0" parTransId="{3C5D06F8-226F-4620-9CCE-93263953F553}" sibTransId="{96E10ECD-CF2C-4BB5-AE49-C00C6E1FA353}"/>
    <dgm:cxn modelId="{4CC022A6-0D06-4994-B912-470A5A33FE9E}" type="presParOf" srcId="{7C070BB5-DEE6-45E7-8207-F9D353863BCE}" destId="{A34304F8-B876-437D-A297-A10B9E027613}" srcOrd="0" destOrd="0" presId="urn:microsoft.com/office/officeart/2005/8/layout/arrow2"/>
    <dgm:cxn modelId="{83B46846-33A0-4CFA-9DCB-2EB9F6451C75}" type="presParOf" srcId="{7C070BB5-DEE6-45E7-8207-F9D353863BCE}" destId="{4CFF2459-B0D3-4C4C-BF63-86B888A40517}" srcOrd="1" destOrd="0" presId="urn:microsoft.com/office/officeart/2005/8/layout/arrow2"/>
    <dgm:cxn modelId="{05577491-795D-4049-9894-AD82E2D02C44}" type="presParOf" srcId="{4CFF2459-B0D3-4C4C-BF63-86B888A40517}" destId="{E26E8A24-0329-48D9-A85F-40FA71E0EA5E}" srcOrd="0" destOrd="0" presId="urn:microsoft.com/office/officeart/2005/8/layout/arrow2"/>
    <dgm:cxn modelId="{34767138-AFC4-48B3-95CC-DC91C202D30E}" type="presParOf" srcId="{4CFF2459-B0D3-4C4C-BF63-86B888A40517}" destId="{D13F5D27-3504-4BB0-92DD-89542C29B7DF}" srcOrd="1" destOrd="0" presId="urn:microsoft.com/office/officeart/2005/8/layout/arrow2"/>
    <dgm:cxn modelId="{40149B00-1396-4C3C-B566-8FD0DF32882C}" type="presParOf" srcId="{4CFF2459-B0D3-4C4C-BF63-86B888A40517}" destId="{F1BC7C3F-D20C-45D1-8D75-5F3E5A3195E4}" srcOrd="2" destOrd="0" presId="urn:microsoft.com/office/officeart/2005/8/layout/arrow2"/>
    <dgm:cxn modelId="{CBB4B0E7-70B2-4D4E-AB2F-F9166BD7DD47}" type="presParOf" srcId="{4CFF2459-B0D3-4C4C-BF63-86B888A40517}" destId="{9A1BC371-0B0E-418F-9EC7-6923E05F4878}" srcOrd="3" destOrd="0" presId="urn:microsoft.com/office/officeart/2005/8/layout/arrow2"/>
    <dgm:cxn modelId="{EA6E663C-026B-4135-AE10-1E0ECE0D5173}" type="presParOf" srcId="{4CFF2459-B0D3-4C4C-BF63-86B888A40517}" destId="{59561024-F059-44C4-8087-6EA33ACA465C}" srcOrd="4" destOrd="0" presId="urn:microsoft.com/office/officeart/2005/8/layout/arrow2"/>
    <dgm:cxn modelId="{D5010A4A-2959-48E8-A1F3-E11947D07A8B}" type="presParOf" srcId="{4CFF2459-B0D3-4C4C-BF63-86B888A40517}" destId="{495AE54A-1DEE-4335-9F98-68DD75F951D5}" srcOrd="5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4304F8-B876-437D-A297-A10B9E027613}">
      <dsp:nvSpPr>
        <dsp:cNvPr id="0" name=""/>
        <dsp:cNvSpPr/>
      </dsp:nvSpPr>
      <dsp:spPr>
        <a:xfrm>
          <a:off x="0" y="338667"/>
          <a:ext cx="8128000" cy="5079999"/>
        </a:xfrm>
        <a:prstGeom prst="swooshArrow">
          <a:avLst>
            <a:gd name="adj1" fmla="val 25000"/>
            <a:gd name="adj2" fmla="val 2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6E8A24-0329-48D9-A85F-40FA71E0EA5E}">
      <dsp:nvSpPr>
        <dsp:cNvPr id="0" name=""/>
        <dsp:cNvSpPr/>
      </dsp:nvSpPr>
      <dsp:spPr>
        <a:xfrm>
          <a:off x="1032256" y="3675549"/>
          <a:ext cx="211328" cy="21132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3F5D27-3504-4BB0-92DD-89542C29B7DF}">
      <dsp:nvSpPr>
        <dsp:cNvPr id="0" name=""/>
        <dsp:cNvSpPr/>
      </dsp:nvSpPr>
      <dsp:spPr>
        <a:xfrm>
          <a:off x="866459" y="3875745"/>
          <a:ext cx="1893824" cy="14681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978" tIns="0" rIns="0" bIns="0" numCol="1" spcCol="1270" anchor="t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000" b="1" kern="1200" dirty="0"/>
            <a:t>Estamos en la capacidad para llevar nuestra experiencia significativa del periódico a otras instituciones educativas, a diversas sedes, entidades para que puedan ser replicadas. </a:t>
          </a:r>
        </a:p>
      </dsp:txBody>
      <dsp:txXfrm>
        <a:off x="866459" y="3875745"/>
        <a:ext cx="1893824" cy="1468120"/>
      </dsp:txXfrm>
    </dsp:sp>
    <dsp:sp modelId="{F1BC7C3F-D20C-45D1-8D75-5F3E5A3195E4}">
      <dsp:nvSpPr>
        <dsp:cNvPr id="0" name=""/>
        <dsp:cNvSpPr/>
      </dsp:nvSpPr>
      <dsp:spPr>
        <a:xfrm>
          <a:off x="2897632" y="2294805"/>
          <a:ext cx="382016" cy="38201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1BC371-0B0E-418F-9EC7-6923E05F4878}">
      <dsp:nvSpPr>
        <dsp:cNvPr id="0" name=""/>
        <dsp:cNvSpPr/>
      </dsp:nvSpPr>
      <dsp:spPr>
        <a:xfrm>
          <a:off x="3088640" y="2485813"/>
          <a:ext cx="1950720" cy="2763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2422" tIns="0" rIns="0" bIns="0" numCol="1" spcCol="1270" anchor="t" anchorCtr="0">
          <a:noAutofit/>
        </a:bodyPr>
        <a:lstStyle/>
        <a:p>
          <a:pPr lvl="0" algn="just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000" b="1" kern="1200" dirty="0"/>
            <a:t>Se debe seguir el proceso de autogestión, apoyo desde la institución educativa y desde la Secretaría de Educación. </a:t>
          </a:r>
        </a:p>
        <a:p>
          <a:pPr lvl="0" algn="just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000" b="1" kern="1200" dirty="0"/>
            <a:t>Seguir ampliando la participación de toda la comunidad educativa. </a:t>
          </a:r>
        </a:p>
      </dsp:txBody>
      <dsp:txXfrm>
        <a:off x="3088640" y="2485813"/>
        <a:ext cx="1950720" cy="2763519"/>
      </dsp:txXfrm>
    </dsp:sp>
    <dsp:sp modelId="{59561024-F059-44C4-8087-6EA33ACA465C}">
      <dsp:nvSpPr>
        <dsp:cNvPr id="0" name=""/>
        <dsp:cNvSpPr/>
      </dsp:nvSpPr>
      <dsp:spPr>
        <a:xfrm>
          <a:off x="5140960" y="1454573"/>
          <a:ext cx="528320" cy="52832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5AE54A-1DEE-4335-9F98-68DD75F951D5}">
      <dsp:nvSpPr>
        <dsp:cNvPr id="0" name=""/>
        <dsp:cNvSpPr/>
      </dsp:nvSpPr>
      <dsp:spPr>
        <a:xfrm>
          <a:off x="5405120" y="1718733"/>
          <a:ext cx="1950720" cy="3530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946" tIns="0" rIns="0" bIns="0" numCol="1" spcCol="1270" anchor="t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MX" sz="1000" b="1" kern="1200" dirty="0"/>
            <a:t>Proyecto de aula, se logra establecer también desde la pedagogía por proyectos, por lo tanto, desde la misma experiencia significativa se realiza investigación y es una investigación misma. </a:t>
          </a:r>
        </a:p>
      </dsp:txBody>
      <dsp:txXfrm>
        <a:off x="5405120" y="1718733"/>
        <a:ext cx="1950720" cy="35306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3B46F3-BD87-1244-C518-539103D7F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1DB866E-528A-E7A1-888D-047A34E554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E838C8-B107-769B-CA23-0886E2F7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DF867A-4E8F-A03F-A929-7DA6ACDDB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D2D83F-DADF-BCE9-05D8-3A899D9B1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0897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E0EBB-9626-1753-03B1-50B133A5A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BFEC1A-5FED-A861-DCEA-C205BB94B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4A9250-4773-1F58-BB28-B7EABC3DD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60FA128-B7B8-B0EF-D31D-231A72A30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0F846C-CD29-FC4E-6C35-B35E945D2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401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3948D9-1D84-100B-E086-763A0B5A1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1287FC-DE40-5FEE-99C0-5E106C5E60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EB6DCD-998D-79C6-A391-68F2326B2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42B1B5-98B4-F2C6-D48C-D99160642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FF1E9B-C3BA-795B-EDC3-183AD7427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9741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EF2BB7-E88B-5479-E88F-1FF94E101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0D1765-B4DF-B8A8-267B-23D3D8FC0C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A175493-7780-2FBB-7845-55FB500A6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15E3D2A-5DA3-B8EE-6513-1EE2D2F16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5006BB-22EF-6C17-9AC9-8BC0A6CFE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ED5FB5-C590-9217-D3CB-C4EBF32E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38476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384527-F461-E0E3-CBD4-91A3E821E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B32A59-9727-6758-5DA4-C470274EC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65B3E9-34E1-6718-763E-F143E9540C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4176C83-F680-A73B-26CC-0CF5D7F590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F9EBE45-361A-12BD-E0BF-240F81DE58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7D40406-BB14-9140-A36E-57E06C84B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8A04C30-EDA6-E8D8-17E5-6FFC3177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C15371C-606E-D71B-7E87-18750CB7B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6970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786D20-6E3E-3281-0F95-BBF3C95D2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CFA1186-6ED9-F6E4-97BA-3A4F960A7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00C95CA-1239-B99E-77D3-7A6FDE082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376426A-9ABC-5EF1-AEB1-C0CFC221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5364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CA8B009-C69D-1D5D-2898-3FAB86356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14A400F-EF69-18E2-03A6-884F1D73A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CBCE93-02A5-2D01-14B0-951F79F14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87554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CE0CD9-7BCB-2025-6D74-C27F3B345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0EA8B7-9869-5158-E183-19819CDE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41FCE9D-FC78-3797-E9CE-C3F4DD2CF3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142166-3168-72E8-7E91-C1FC8816A9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384531-13AD-3876-2B69-E6BF5C86C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F634F09-C68B-DFE7-CDD2-5D12307D1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7999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F0B0B6-178A-2DE2-9D4C-1EA48B40C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FED4931-6DD5-8470-00B4-4AD729FB19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0390BD-29BD-3EF3-3F42-30FB741D8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1F85192-11DA-8CCF-60ED-9C2E23CB8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0B09ACD-B38C-A414-7D9B-22F6970DF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864F253-73AE-4A50-5D78-FA299CF7D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08398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CD14DF-6133-7225-5208-6F1F8F738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9A2C64-4BCF-8878-42A2-2B7E30B623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B21BBE-E8B9-71AD-99D2-9280106CF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04BB80-30DC-4522-9F3A-F376EF2E4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D9122F-2D63-7AAC-D358-2F25E455C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3708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8AD4C63-322B-9289-95FE-95F8B78D3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3DCC26B-B15B-4664-3A32-C1A29ADA1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1FA146-87B7-F736-BB5A-46426D064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9FD83E-D958-4ABA-64A4-1CD41203C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2301AD-C2B3-B9CB-1E65-9B2DA6E56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0970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2C9864D-1483-2AE5-0FEA-488555370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FD254BB-B860-F144-7BF3-315B8786E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F5BED5-0585-53C3-A724-BE9242651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2DC3D-3364-4B98-B737-2FEA8DB4EEB9}" type="datetimeFigureOut">
              <a:rPr lang="es-CO" smtClean="0"/>
              <a:t>10/06/2026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016D93-5AFA-DE80-D034-217A49DEC6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8A8A3A-02BF-B19A-B382-EB9221EEB8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E74EE6-D869-4078-805E-69EBC1C524E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8135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7" Type="http://schemas.openxmlformats.org/officeDocument/2006/relationships/image" Target="../media/image1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D1E2251-D51D-E043-921A-7495EE8A4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F903F0A5-A2F1-0670-FB3E-E486C657E6C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487" y="1941492"/>
            <a:ext cx="1285875" cy="133909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BF3999B6-730B-AA09-E87F-7DD8E81C06C8}"/>
              </a:ext>
            </a:extLst>
          </p:cNvPr>
          <p:cNvSpPr txBox="1"/>
          <p:nvPr/>
        </p:nvSpPr>
        <p:spPr>
          <a:xfrm>
            <a:off x="2725340" y="4884629"/>
            <a:ext cx="71044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b="1" dirty="0"/>
              <a:t>Experiencia significativa Institución Educativa Liceo Sur Andino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C4C2439-2EFD-EF9D-48BF-66441CD6F454}"/>
              </a:ext>
            </a:extLst>
          </p:cNvPr>
          <p:cNvSpPr txBox="1"/>
          <p:nvPr/>
        </p:nvSpPr>
        <p:spPr>
          <a:xfrm>
            <a:off x="3736181" y="2357260"/>
            <a:ext cx="60936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5400" dirty="0">
                <a:latin typeface="Arial Black" panose="020B0A04020102020204" pitchFamily="34" charset="0"/>
              </a:rPr>
              <a:t>La voz Liceísta </a:t>
            </a:r>
          </a:p>
        </p:txBody>
      </p:sp>
    </p:spTree>
    <p:extLst>
      <p:ext uri="{BB962C8B-B14F-4D97-AF65-F5344CB8AC3E}">
        <p14:creationId xmlns:p14="http://schemas.microsoft.com/office/powerpoint/2010/main" val="3697933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E88AC51-D933-785F-6FF3-0EAB785E7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1EB3D5C9-019D-BD66-40AB-5B7A457BDB2A}"/>
              </a:ext>
            </a:extLst>
          </p:cNvPr>
          <p:cNvSpPr txBox="1"/>
          <p:nvPr/>
        </p:nvSpPr>
        <p:spPr>
          <a:xfrm>
            <a:off x="2957513" y="1028701"/>
            <a:ext cx="61513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5400" b="1" dirty="0"/>
              <a:t>Fundamentación</a:t>
            </a:r>
            <a:r>
              <a:rPr lang="es-MX" b="1" dirty="0"/>
              <a:t> </a:t>
            </a: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62894F84-64DA-2C54-CEE3-B42CAD84B68C}"/>
              </a:ext>
            </a:extLst>
          </p:cNvPr>
          <p:cNvCxnSpPr/>
          <p:nvPr/>
        </p:nvCxnSpPr>
        <p:spPr>
          <a:xfrm>
            <a:off x="1228725" y="2371725"/>
            <a:ext cx="0" cy="1057275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446E810-7EB0-8F53-E7FC-934B03538ADB}"/>
              </a:ext>
            </a:extLst>
          </p:cNvPr>
          <p:cNvCxnSpPr/>
          <p:nvPr/>
        </p:nvCxnSpPr>
        <p:spPr>
          <a:xfrm>
            <a:off x="1200149" y="2371725"/>
            <a:ext cx="9129713" cy="0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F4F092F1-C4C6-B61A-35EE-B20E973C52EA}"/>
              </a:ext>
            </a:extLst>
          </p:cNvPr>
          <p:cNvCxnSpPr/>
          <p:nvPr/>
        </p:nvCxnSpPr>
        <p:spPr>
          <a:xfrm>
            <a:off x="5765005" y="2324098"/>
            <a:ext cx="0" cy="1057275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C3724307-259E-99EE-BC49-94DD55815756}"/>
              </a:ext>
            </a:extLst>
          </p:cNvPr>
          <p:cNvCxnSpPr/>
          <p:nvPr/>
        </p:nvCxnSpPr>
        <p:spPr>
          <a:xfrm>
            <a:off x="10329862" y="2324099"/>
            <a:ext cx="0" cy="1057275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ángulo 9">
            <a:extLst>
              <a:ext uri="{FF2B5EF4-FFF2-40B4-BE49-F238E27FC236}">
                <a16:creationId xmlns:a16="http://schemas.microsoft.com/office/drawing/2014/main" id="{49877C05-C2C3-1A54-E592-F7253AD3A299}"/>
              </a:ext>
            </a:extLst>
          </p:cNvPr>
          <p:cNvSpPr/>
          <p:nvPr/>
        </p:nvSpPr>
        <p:spPr>
          <a:xfrm>
            <a:off x="157167" y="3428994"/>
            <a:ext cx="2800347" cy="240029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Es una experiencia que se encuentra articula con el PEI de la institución educativa. 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1F61606-2A20-E3C2-2A38-579B53AD9BCA}"/>
              </a:ext>
            </a:extLst>
          </p:cNvPr>
          <p:cNvSpPr/>
          <p:nvPr/>
        </p:nvSpPr>
        <p:spPr>
          <a:xfrm>
            <a:off x="4364831" y="3428999"/>
            <a:ext cx="2800347" cy="240029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Integra la misión y la visión de la Institución educativa. </a:t>
            </a:r>
          </a:p>
          <a:p>
            <a:pPr algn="ctr"/>
            <a:r>
              <a:rPr lang="es-MX" dirty="0"/>
              <a:t>Ya que, busca una formación integral del estudiante, con proyecciones.</a:t>
            </a:r>
          </a:p>
          <a:p>
            <a:pPr algn="ctr"/>
            <a:r>
              <a:rPr lang="es-MX" dirty="0"/>
              <a:t>Mirada holística  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8371E74-09B0-9B24-7D4E-3E14FC1F8677}"/>
              </a:ext>
            </a:extLst>
          </p:cNvPr>
          <p:cNvSpPr/>
          <p:nvPr/>
        </p:nvSpPr>
        <p:spPr>
          <a:xfrm>
            <a:off x="8695138" y="3428999"/>
            <a:ext cx="2800347" cy="240028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Va guiado al Plan de Mejoramiento, ya que, es un referente de proyección y fortalece  el empoderamiento de la institución educativa, desde la diferentes gestiones </a:t>
            </a:r>
          </a:p>
        </p:txBody>
      </p:sp>
    </p:spTree>
    <p:extLst>
      <p:ext uri="{BB962C8B-B14F-4D97-AF65-F5344CB8AC3E}">
        <p14:creationId xmlns:p14="http://schemas.microsoft.com/office/powerpoint/2010/main" val="568321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F368CA2-4FB3-1EDE-CA76-9CC85A30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2E2040C7-70D0-697A-A85C-A393EDE848D9}"/>
              </a:ext>
            </a:extLst>
          </p:cNvPr>
          <p:cNvSpPr txBox="1"/>
          <p:nvPr/>
        </p:nvSpPr>
        <p:spPr>
          <a:xfrm rot="16200000">
            <a:off x="-1900236" y="2967335"/>
            <a:ext cx="59293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5400" b="1" dirty="0"/>
              <a:t>Pertinencia </a:t>
            </a:r>
            <a:r>
              <a:rPr lang="es-MX" b="1" dirty="0"/>
              <a:t> </a:t>
            </a:r>
          </a:p>
        </p:txBody>
      </p: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8851A436-2310-B1E8-E972-1AA804387C63}"/>
              </a:ext>
            </a:extLst>
          </p:cNvPr>
          <p:cNvCxnSpPr>
            <a:cxnSpLocks/>
          </p:cNvCxnSpPr>
          <p:nvPr/>
        </p:nvCxnSpPr>
        <p:spPr>
          <a:xfrm>
            <a:off x="1928813" y="1500187"/>
            <a:ext cx="1643063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879D816D-3DCA-7EFE-C72C-21418681A178}"/>
              </a:ext>
            </a:extLst>
          </p:cNvPr>
          <p:cNvCxnSpPr>
            <a:cxnSpLocks/>
          </p:cNvCxnSpPr>
          <p:nvPr/>
        </p:nvCxnSpPr>
        <p:spPr>
          <a:xfrm>
            <a:off x="1928813" y="2809874"/>
            <a:ext cx="1643063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CF864318-AE5E-DBDE-84CE-672D55570188}"/>
              </a:ext>
            </a:extLst>
          </p:cNvPr>
          <p:cNvCxnSpPr>
            <a:cxnSpLocks/>
          </p:cNvCxnSpPr>
          <p:nvPr/>
        </p:nvCxnSpPr>
        <p:spPr>
          <a:xfrm>
            <a:off x="1814513" y="4448175"/>
            <a:ext cx="1643063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BCADD73C-18FC-2CC3-A322-0E57A4E9CF3C}"/>
              </a:ext>
            </a:extLst>
          </p:cNvPr>
          <p:cNvCxnSpPr>
            <a:cxnSpLocks/>
          </p:cNvCxnSpPr>
          <p:nvPr/>
        </p:nvCxnSpPr>
        <p:spPr>
          <a:xfrm>
            <a:off x="1814513" y="5872163"/>
            <a:ext cx="1643063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ángulo 8">
            <a:extLst>
              <a:ext uri="{FF2B5EF4-FFF2-40B4-BE49-F238E27FC236}">
                <a16:creationId xmlns:a16="http://schemas.microsoft.com/office/drawing/2014/main" id="{46D59736-9362-47A0-4C6B-66EDA5FD73AE}"/>
              </a:ext>
            </a:extLst>
          </p:cNvPr>
          <p:cNvSpPr/>
          <p:nvPr/>
        </p:nvSpPr>
        <p:spPr>
          <a:xfrm>
            <a:off x="3900488" y="1157288"/>
            <a:ext cx="7229475" cy="72866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Respondiendo a una problemática: La falta de una cultura de escritura, cada vez se hace más fácil dejar de escribir y al mismo tiempo a pensar. 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02BD32A-E9B1-9B49-C823-F36DAD439829}"/>
              </a:ext>
            </a:extLst>
          </p:cNvPr>
          <p:cNvSpPr/>
          <p:nvPr/>
        </p:nvSpPr>
        <p:spPr>
          <a:xfrm>
            <a:off x="3900487" y="2445543"/>
            <a:ext cx="7229475" cy="72866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s-MX" dirty="0"/>
              <a:t>Incentivar el uso y lectura de medios de comunicación, es volver al periódico, dejar por un momento lo inmediato.  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37E9754A-2DF5-8F2E-CFEB-2054D5A1BF7D}"/>
              </a:ext>
            </a:extLst>
          </p:cNvPr>
          <p:cNvSpPr/>
          <p:nvPr/>
        </p:nvSpPr>
        <p:spPr>
          <a:xfrm>
            <a:off x="3900486" y="4083844"/>
            <a:ext cx="7229475" cy="72866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s-MX" dirty="0"/>
              <a:t>Empoderamiento de toda la comunidad educativa que rodea la institución educativa, estudiantes, docentes, directivos docentes, padres de familia, Secretaría de Educación e invitados. 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B88250A-5A5B-B51B-FCFF-909E95ED21CE}"/>
              </a:ext>
            </a:extLst>
          </p:cNvPr>
          <p:cNvSpPr/>
          <p:nvPr/>
        </p:nvSpPr>
        <p:spPr>
          <a:xfrm>
            <a:off x="3900486" y="5470922"/>
            <a:ext cx="7229475" cy="72866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s-MX" dirty="0"/>
              <a:t>Fortalece los procesos de lectura critica de la institución educativa. </a:t>
            </a:r>
          </a:p>
        </p:txBody>
      </p:sp>
    </p:spTree>
    <p:extLst>
      <p:ext uri="{BB962C8B-B14F-4D97-AF65-F5344CB8AC3E}">
        <p14:creationId xmlns:p14="http://schemas.microsoft.com/office/powerpoint/2010/main" val="3731378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0AAE6-D0B5-DAD8-DCA6-47532041B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17D91C1-BB3E-A3A6-18DA-5A868F0846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2875"/>
            <a:ext cx="12192000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1477E502-6137-A159-8655-4FC57566F7F3}"/>
              </a:ext>
            </a:extLst>
          </p:cNvPr>
          <p:cNvSpPr txBox="1"/>
          <p:nvPr/>
        </p:nvSpPr>
        <p:spPr>
          <a:xfrm>
            <a:off x="2414588" y="737324"/>
            <a:ext cx="8329613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800" b="1" dirty="0"/>
              <a:t>Consistencia  y madurez</a:t>
            </a:r>
            <a:r>
              <a:rPr lang="es-MX" sz="5400" b="1" dirty="0"/>
              <a:t> </a:t>
            </a:r>
            <a:r>
              <a:rPr lang="es-MX" b="1" dirty="0"/>
              <a:t> </a:t>
            </a:r>
          </a:p>
        </p:txBody>
      </p:sp>
      <p:sp>
        <p:nvSpPr>
          <p:cNvPr id="14" name="Globo: flecha cuádruple 13">
            <a:extLst>
              <a:ext uri="{FF2B5EF4-FFF2-40B4-BE49-F238E27FC236}">
                <a16:creationId xmlns:a16="http://schemas.microsoft.com/office/drawing/2014/main" id="{51E3DCE6-E1C1-D98C-5CA4-ED8175B8EA68}"/>
              </a:ext>
            </a:extLst>
          </p:cNvPr>
          <p:cNvSpPr/>
          <p:nvPr/>
        </p:nvSpPr>
        <p:spPr>
          <a:xfrm>
            <a:off x="4637486" y="2961174"/>
            <a:ext cx="2843212" cy="2500313"/>
          </a:xfrm>
          <a:prstGeom prst="quadArrowCallou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D278D82-6533-1B2E-A01D-8970787114A5}"/>
              </a:ext>
            </a:extLst>
          </p:cNvPr>
          <p:cNvSpPr txBox="1"/>
          <p:nvPr/>
        </p:nvSpPr>
        <p:spPr>
          <a:xfrm>
            <a:off x="3437336" y="2101515"/>
            <a:ext cx="52435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Si bien como experiencia significativa es nueva, desde la práctica pedagógica se viene trabajando hace algunos años. 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E72EBC8-11F7-852A-2D0A-31BC797F1D7D}"/>
              </a:ext>
            </a:extLst>
          </p:cNvPr>
          <p:cNvSpPr txBox="1"/>
          <p:nvPr/>
        </p:nvSpPr>
        <p:spPr>
          <a:xfrm>
            <a:off x="7812882" y="3607504"/>
            <a:ext cx="38671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Tuvo la primera publicación en el año 2024 en formato físico y con todo el proceso editorial 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6DDAA87-C522-7926-801F-4C3D0B8E6C4A}"/>
              </a:ext>
            </a:extLst>
          </p:cNvPr>
          <p:cNvSpPr txBox="1"/>
          <p:nvPr/>
        </p:nvSpPr>
        <p:spPr>
          <a:xfrm>
            <a:off x="4162425" y="5709822"/>
            <a:ext cx="38671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Tiene tres procesos:</a:t>
            </a:r>
          </a:p>
          <a:p>
            <a:pPr algn="ctr"/>
            <a:r>
              <a:rPr lang="es-MX" dirty="0"/>
              <a:t>Investigación - Escritura</a:t>
            </a:r>
          </a:p>
          <a:p>
            <a:pPr algn="ctr"/>
            <a:r>
              <a:rPr lang="es-MX" dirty="0"/>
              <a:t>Lectura</a:t>
            </a:r>
          </a:p>
          <a:p>
            <a:pPr algn="ctr"/>
            <a:r>
              <a:rPr lang="es-MX" dirty="0"/>
              <a:t>Metacognitivo y reflexivo 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58FE8F15-2527-C335-1793-BD76BD0B7BD5}"/>
              </a:ext>
            </a:extLst>
          </p:cNvPr>
          <p:cNvSpPr txBox="1"/>
          <p:nvPr/>
        </p:nvSpPr>
        <p:spPr>
          <a:xfrm>
            <a:off x="481013" y="3469004"/>
            <a:ext cx="38671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Resultado de dos mil ejemplares, un recurso de trabajo para cualquier área del saber y Plan lector.  </a:t>
            </a:r>
          </a:p>
        </p:txBody>
      </p:sp>
    </p:spTree>
    <p:extLst>
      <p:ext uri="{BB962C8B-B14F-4D97-AF65-F5344CB8AC3E}">
        <p14:creationId xmlns:p14="http://schemas.microsoft.com/office/powerpoint/2010/main" val="1070560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D5D80-28D4-D0DB-B3C6-DFADC781A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9A7F695-E02D-7A02-E992-FD355E70C4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2875"/>
            <a:ext cx="12192000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BA36E41A-6108-8E71-7ED8-A48C2E9A3EDE}"/>
              </a:ext>
            </a:extLst>
          </p:cNvPr>
          <p:cNvSpPr txBox="1"/>
          <p:nvPr/>
        </p:nvSpPr>
        <p:spPr>
          <a:xfrm>
            <a:off x="2414588" y="737324"/>
            <a:ext cx="83296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5400" b="1" dirty="0"/>
              <a:t>Empoderamiento  </a:t>
            </a:r>
            <a:r>
              <a:rPr lang="es-MX" b="1" dirty="0"/>
              <a:t>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41D02C7-8D5C-7482-4D7F-436441A76635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8250" y="4082920"/>
            <a:ext cx="3333750" cy="250031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E9A3CCE-B3A3-F9E0-F7F2-E46F7B1180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113" y="3429000"/>
            <a:ext cx="2743200" cy="3657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3BBB5BF-9900-C528-65AA-80F95C3005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953" y="4453235"/>
            <a:ext cx="5429249" cy="25003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26FBE96A-AF16-F603-028F-6D2B03882B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6140" y="1753790"/>
            <a:ext cx="4714876" cy="265211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7D5805BF-88EF-3E48-6C64-0D6DD7897C7C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0845" y="1429284"/>
            <a:ext cx="2981325" cy="223599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04CA8C00-E2E8-F23D-533A-289385A7BF2B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" y="1099869"/>
            <a:ext cx="2981326" cy="22359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89907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31CC2-F6A9-3B9B-CF5B-9C97BCDB1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5E6AC77-5A01-C756-0533-6C5BEEFE8F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2875"/>
            <a:ext cx="12192000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D6A49848-F473-D9DC-EB61-D0AFB5E9CDE9}"/>
              </a:ext>
            </a:extLst>
          </p:cNvPr>
          <p:cNvSpPr txBox="1"/>
          <p:nvPr/>
        </p:nvSpPr>
        <p:spPr>
          <a:xfrm>
            <a:off x="2414588" y="737324"/>
            <a:ext cx="83296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5400" b="1" dirty="0"/>
              <a:t>Empoderamiento  </a:t>
            </a:r>
            <a:r>
              <a:rPr lang="es-MX" b="1" dirty="0"/>
              <a:t> 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9A3E889-9CC8-0A32-DD89-EB944BA895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3921" y="3668316"/>
            <a:ext cx="3657600" cy="27432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5E16D5F-C430-6B3F-1BF8-D34433ABDF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9746" y="3300413"/>
            <a:ext cx="3442254" cy="27432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7414CEF9-3BC1-EDFF-B6BC-5E778B8DF404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1538" y="1684140"/>
            <a:ext cx="2414587" cy="18109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CBD7D1DA-850F-DD4D-B67F-5769B8E756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9052" y="1489473"/>
            <a:ext cx="2451199" cy="435768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7AAE2465-CC2C-78E4-93C6-A987015CC41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435" y="1674941"/>
            <a:ext cx="2735925" cy="48638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79509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BE8D6-96BF-82BE-B135-67A021F21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BE06DC3-787C-CF8E-78FD-3C512CC53C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2875"/>
            <a:ext cx="12192000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1239214E-C26B-60BC-5AC3-0F48BB9E6FC1}"/>
              </a:ext>
            </a:extLst>
          </p:cNvPr>
          <p:cNvSpPr txBox="1"/>
          <p:nvPr/>
        </p:nvSpPr>
        <p:spPr>
          <a:xfrm>
            <a:off x="2257426" y="880199"/>
            <a:ext cx="83296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5400" b="1" dirty="0"/>
              <a:t>Evaluación y seguimiento   </a:t>
            </a:r>
            <a:r>
              <a:rPr lang="es-MX" b="1" dirty="0"/>
              <a:t> 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CE1271D-29C0-6483-4E73-49688BAA7BE7}"/>
              </a:ext>
            </a:extLst>
          </p:cNvPr>
          <p:cNvSpPr/>
          <p:nvPr/>
        </p:nvSpPr>
        <p:spPr>
          <a:xfrm>
            <a:off x="500063" y="3243263"/>
            <a:ext cx="3743325" cy="24145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F586203-792F-6DA3-E81B-EB559673DC3B}"/>
              </a:ext>
            </a:extLst>
          </p:cNvPr>
          <p:cNvSpPr/>
          <p:nvPr/>
        </p:nvSpPr>
        <p:spPr>
          <a:xfrm>
            <a:off x="750093" y="3587814"/>
            <a:ext cx="3243263" cy="16287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Carpeta de seguimiento, evaluación, avances y cumplimiento de cronograma. 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F081866-3ABA-578A-4E3B-34E2189CDC37}"/>
              </a:ext>
            </a:extLst>
          </p:cNvPr>
          <p:cNvSpPr/>
          <p:nvPr/>
        </p:nvSpPr>
        <p:spPr>
          <a:xfrm rot="16200000">
            <a:off x="5953126" y="3194908"/>
            <a:ext cx="3743325" cy="24145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53E3820-C985-8CD5-FBCA-7A9D8C348F5B}"/>
              </a:ext>
            </a:extLst>
          </p:cNvPr>
          <p:cNvSpPr/>
          <p:nvPr/>
        </p:nvSpPr>
        <p:spPr>
          <a:xfrm rot="16200000">
            <a:off x="6203156" y="3541782"/>
            <a:ext cx="3243263" cy="16287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b="1" dirty="0"/>
              <a:t>Proceso de autoevaluación </a:t>
            </a:r>
          </a:p>
        </p:txBody>
      </p:sp>
      <p:sp>
        <p:nvSpPr>
          <p:cNvPr id="12" name="Flecha: a la derecha 11">
            <a:extLst>
              <a:ext uri="{FF2B5EF4-FFF2-40B4-BE49-F238E27FC236}">
                <a16:creationId xmlns:a16="http://schemas.microsoft.com/office/drawing/2014/main" id="{E85ABD95-9D8E-3235-E11F-6CE84DEF957C}"/>
              </a:ext>
            </a:extLst>
          </p:cNvPr>
          <p:cNvSpPr/>
          <p:nvPr/>
        </p:nvSpPr>
        <p:spPr>
          <a:xfrm>
            <a:off x="4814888" y="4309333"/>
            <a:ext cx="928687" cy="4967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45746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75242-60D3-8296-1940-F95D1317E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6FFC43F-7DD3-BC63-3A00-94E77FABBD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2875"/>
            <a:ext cx="12192000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98A6D1E3-1C5A-3279-FDDC-D0705DBB1515}"/>
              </a:ext>
            </a:extLst>
          </p:cNvPr>
          <p:cNvSpPr txBox="1"/>
          <p:nvPr/>
        </p:nvSpPr>
        <p:spPr>
          <a:xfrm>
            <a:off x="2257426" y="880199"/>
            <a:ext cx="83296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5400" b="1" dirty="0"/>
              <a:t>Resultados    </a:t>
            </a:r>
            <a:r>
              <a:rPr lang="es-MX" b="1" dirty="0"/>
              <a:t> </a:t>
            </a:r>
          </a:p>
        </p:txBody>
      </p:sp>
      <p:sp>
        <p:nvSpPr>
          <p:cNvPr id="7" name="Paralelogramo 6">
            <a:extLst>
              <a:ext uri="{FF2B5EF4-FFF2-40B4-BE49-F238E27FC236}">
                <a16:creationId xmlns:a16="http://schemas.microsoft.com/office/drawing/2014/main" id="{C714E18E-05E0-69F0-7A3B-1B86003A9E0E}"/>
              </a:ext>
            </a:extLst>
          </p:cNvPr>
          <p:cNvSpPr/>
          <p:nvPr/>
        </p:nvSpPr>
        <p:spPr>
          <a:xfrm>
            <a:off x="1166812" y="3086213"/>
            <a:ext cx="2757488" cy="1959710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Paralelogramo 10">
            <a:extLst>
              <a:ext uri="{FF2B5EF4-FFF2-40B4-BE49-F238E27FC236}">
                <a16:creationId xmlns:a16="http://schemas.microsoft.com/office/drawing/2014/main" id="{FA071035-95AA-F7F7-8C00-A9FCAC86DDEE}"/>
              </a:ext>
            </a:extLst>
          </p:cNvPr>
          <p:cNvSpPr/>
          <p:nvPr/>
        </p:nvSpPr>
        <p:spPr>
          <a:xfrm>
            <a:off x="1643063" y="3655800"/>
            <a:ext cx="2581275" cy="1730588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3" name="Paralelogramo 12">
            <a:extLst>
              <a:ext uri="{FF2B5EF4-FFF2-40B4-BE49-F238E27FC236}">
                <a16:creationId xmlns:a16="http://schemas.microsoft.com/office/drawing/2014/main" id="{097A67D6-C11F-1CB2-00E7-92B7140131D4}"/>
              </a:ext>
            </a:extLst>
          </p:cNvPr>
          <p:cNvSpPr/>
          <p:nvPr/>
        </p:nvSpPr>
        <p:spPr>
          <a:xfrm>
            <a:off x="2057401" y="4247213"/>
            <a:ext cx="2581275" cy="1730588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Paralelogramo 13">
            <a:extLst>
              <a:ext uri="{FF2B5EF4-FFF2-40B4-BE49-F238E27FC236}">
                <a16:creationId xmlns:a16="http://schemas.microsoft.com/office/drawing/2014/main" id="{E4638562-3B79-5237-34BB-5B5C6F6CCFD6}"/>
              </a:ext>
            </a:extLst>
          </p:cNvPr>
          <p:cNvSpPr/>
          <p:nvPr/>
        </p:nvSpPr>
        <p:spPr>
          <a:xfrm>
            <a:off x="2633663" y="4700700"/>
            <a:ext cx="2581275" cy="1730588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0037082A-5FDD-F6F7-EF94-BF9ED1A3C0C5}"/>
              </a:ext>
            </a:extLst>
          </p:cNvPr>
          <p:cNvCxnSpPr>
            <a:cxnSpLocks/>
          </p:cNvCxnSpPr>
          <p:nvPr/>
        </p:nvCxnSpPr>
        <p:spPr>
          <a:xfrm>
            <a:off x="3817144" y="3243262"/>
            <a:ext cx="1643063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93B96753-DB04-819D-D154-BA7AA417B834}"/>
              </a:ext>
            </a:extLst>
          </p:cNvPr>
          <p:cNvCxnSpPr>
            <a:cxnSpLocks/>
          </p:cNvCxnSpPr>
          <p:nvPr/>
        </p:nvCxnSpPr>
        <p:spPr>
          <a:xfrm>
            <a:off x="4112419" y="4052887"/>
            <a:ext cx="1643063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F9DE6476-6062-8139-F930-EB7D7F1CBCD4}"/>
              </a:ext>
            </a:extLst>
          </p:cNvPr>
          <p:cNvCxnSpPr>
            <a:cxnSpLocks/>
          </p:cNvCxnSpPr>
          <p:nvPr/>
        </p:nvCxnSpPr>
        <p:spPr>
          <a:xfrm>
            <a:off x="4452937" y="4467225"/>
            <a:ext cx="1643063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7CDF725A-0FF7-8AC8-0E2B-943E48572597}"/>
              </a:ext>
            </a:extLst>
          </p:cNvPr>
          <p:cNvCxnSpPr>
            <a:cxnSpLocks/>
          </p:cNvCxnSpPr>
          <p:nvPr/>
        </p:nvCxnSpPr>
        <p:spPr>
          <a:xfrm>
            <a:off x="4752976" y="5253037"/>
            <a:ext cx="1643063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F8F4196-53BF-BBBC-9CCF-6FBF55500167}"/>
              </a:ext>
            </a:extLst>
          </p:cNvPr>
          <p:cNvSpPr txBox="1"/>
          <p:nvPr/>
        </p:nvSpPr>
        <p:spPr>
          <a:xfrm>
            <a:off x="5755482" y="2943910"/>
            <a:ext cx="39743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Comunidad educativa empoderada en escritura y lectura 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CFE10E3B-8980-49FE-3D83-84A9FCDB4F9C}"/>
              </a:ext>
            </a:extLst>
          </p:cNvPr>
          <p:cNvSpPr txBox="1"/>
          <p:nvPr/>
        </p:nvSpPr>
        <p:spPr>
          <a:xfrm>
            <a:off x="6070997" y="3798480"/>
            <a:ext cx="3974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Integración con las áreas del saber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59F46B4-5A62-F757-772F-3BAB79653A58}"/>
              </a:ext>
            </a:extLst>
          </p:cNvPr>
          <p:cNvSpPr txBox="1"/>
          <p:nvPr/>
        </p:nvSpPr>
        <p:spPr>
          <a:xfrm>
            <a:off x="6070997" y="4333404"/>
            <a:ext cx="39743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Seguir mejorando en resultados de pruebas de estado.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50128B8-6EF8-297B-A390-952713442891}"/>
              </a:ext>
            </a:extLst>
          </p:cNvPr>
          <p:cNvSpPr txBox="1"/>
          <p:nvPr/>
        </p:nvSpPr>
        <p:spPr>
          <a:xfrm>
            <a:off x="6287691" y="5119346"/>
            <a:ext cx="39743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Reconocimiento como un medio de comunicación importante en el ámbito educativo en el municipio. </a:t>
            </a:r>
          </a:p>
        </p:txBody>
      </p:sp>
    </p:spTree>
    <p:extLst>
      <p:ext uri="{BB962C8B-B14F-4D97-AF65-F5344CB8AC3E}">
        <p14:creationId xmlns:p14="http://schemas.microsoft.com/office/powerpoint/2010/main" val="1286075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AB70A-0345-8BE8-08DB-7DC52151D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95F27BE-E21A-D04E-CA78-FEB49B688E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003" y="161241"/>
            <a:ext cx="12192000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F960E6B4-CCD4-943D-FC0D-19B572B364C8}"/>
              </a:ext>
            </a:extLst>
          </p:cNvPr>
          <p:cNvSpPr txBox="1"/>
          <p:nvPr/>
        </p:nvSpPr>
        <p:spPr>
          <a:xfrm>
            <a:off x="642938" y="880199"/>
            <a:ext cx="994410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5400" b="1" dirty="0"/>
              <a:t>Transferencia, sostenibilidad e innovación     </a:t>
            </a:r>
            <a:r>
              <a:rPr lang="es-MX" b="1" dirty="0"/>
              <a:t> </a:t>
            </a:r>
          </a:p>
        </p:txBody>
      </p:sp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41EF2298-C7E4-6898-AFC1-E7794B8DFC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68124875"/>
              </p:ext>
            </p:extLst>
          </p:nvPr>
        </p:nvGraphicFramePr>
        <p:xfrm>
          <a:off x="874712" y="1514142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9246006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1240</TotalTime>
  <Words>393</Words>
  <Application>Microsoft Office PowerPoint</Application>
  <PresentationFormat>Panorámica</PresentationFormat>
  <Paragraphs>36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Arial Black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Sebastian Santamaria</dc:creator>
  <cp:lastModifiedBy>CALIDAD-MEJORAMIENTO</cp:lastModifiedBy>
  <cp:revision>10</cp:revision>
  <dcterms:created xsi:type="dcterms:W3CDTF">2025-07-23T15:35:07Z</dcterms:created>
  <dcterms:modified xsi:type="dcterms:W3CDTF">2026-06-10T19:29:40Z</dcterms:modified>
</cp:coreProperties>
</file>